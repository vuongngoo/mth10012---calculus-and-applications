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8"/>
  </p:notesMasterIdLst>
  <p:handoutMasterIdLst>
    <p:handoutMasterId r:id="rId29"/>
  </p:handoutMasterIdLst>
  <p:sldIdLst>
    <p:sldId id="256" r:id="rId2"/>
    <p:sldId id="261" r:id="rId3"/>
    <p:sldId id="348" r:id="rId4"/>
    <p:sldId id="365" r:id="rId5"/>
    <p:sldId id="366" r:id="rId6"/>
    <p:sldId id="367" r:id="rId7"/>
    <p:sldId id="368" r:id="rId8"/>
    <p:sldId id="369" r:id="rId9"/>
    <p:sldId id="370" r:id="rId10"/>
    <p:sldId id="371" r:id="rId11"/>
    <p:sldId id="372" r:id="rId12"/>
    <p:sldId id="373" r:id="rId13"/>
    <p:sldId id="374" r:id="rId14"/>
    <p:sldId id="375" r:id="rId15"/>
    <p:sldId id="376" r:id="rId16"/>
    <p:sldId id="377" r:id="rId17"/>
    <p:sldId id="378" r:id="rId18"/>
    <p:sldId id="379" r:id="rId19"/>
    <p:sldId id="380" r:id="rId20"/>
    <p:sldId id="381" r:id="rId21"/>
    <p:sldId id="382" r:id="rId22"/>
    <p:sldId id="383" r:id="rId23"/>
    <p:sldId id="384" r:id="rId24"/>
    <p:sldId id="385" r:id="rId25"/>
    <p:sldId id="386" r:id="rId26"/>
    <p:sldId id="337" r:id="rId27"/>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C0000"/>
    <a:srgbClr val="E050C5"/>
    <a:srgbClr val="FFF2CC"/>
    <a:srgbClr val="FFEBB3"/>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56" autoAdjust="0"/>
    <p:restoredTop sz="96625" autoAdjust="0"/>
  </p:normalViewPr>
  <p:slideViewPr>
    <p:cSldViewPr snapToGrid="0">
      <p:cViewPr varScale="1">
        <p:scale>
          <a:sx n="107" d="100"/>
          <a:sy n="107" d="100"/>
        </p:scale>
        <p:origin x="120" y="29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9/18/2024</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18/09/2024</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9/18/2024</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18/09/2024</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18/09/2024</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18/09/2024</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18/09/2024</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18/09/2024</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18/09/2024</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18/09/2024</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18/09/2024</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18/09/2024</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18/09/2024</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18/09/2024</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geogebra.org/m/C4S6CEd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A close up of text on a whiteboard&#10;&#10;Description automatically generated">
            <a:extLst>
              <a:ext uri="{FF2B5EF4-FFF2-40B4-BE49-F238E27FC236}">
                <a16:creationId xmlns:a16="http://schemas.microsoft.com/office/drawing/2014/main" id="{9CBF2271-6786-48D8-8625-48074A2F58E8}"/>
              </a:ext>
            </a:extLst>
          </p:cNvPr>
          <p:cNvPicPr>
            <a:picLocks noChangeAspect="1"/>
          </p:cNvPicPr>
          <p:nvPr/>
        </p:nvPicPr>
        <p:blipFill>
          <a:blip r:embed="rId2">
            <a:duotone>
              <a:prstClr val="black"/>
              <a:srgbClr val="D9C3A5">
                <a:tint val="50000"/>
                <a:satMod val="180000"/>
              </a:srgbClr>
            </a:duotone>
            <a:alphaModFix amt="35000"/>
            <a:extLst>
              <a:ext uri="{28A0092B-C50C-407E-A947-70E740481C1C}">
                <a14:useLocalDpi xmlns:a14="http://schemas.microsoft.com/office/drawing/2010/main" val="0"/>
              </a:ext>
            </a:extLst>
          </a:blip>
          <a:stretch>
            <a:fillRect/>
          </a:stretch>
        </p:blipFill>
        <p:spPr>
          <a:xfrm>
            <a:off x="0" y="0"/>
            <a:ext cx="12192000" cy="4591665"/>
          </a:xfrm>
          <a:prstGeom prst="rect">
            <a:avLst/>
          </a:prstGeom>
        </p:spPr>
      </p:pic>
      <p:sp>
        <p:nvSpPr>
          <p:cNvPr id="5" name="Title 1">
            <a:extLst>
              <a:ext uri="{FF2B5EF4-FFF2-40B4-BE49-F238E27FC236}">
                <a16:creationId xmlns:a16="http://schemas.microsoft.com/office/drawing/2014/main" id="{50029B91-E5FE-43A6-9535-58B2F4EBB5EE}"/>
              </a:ext>
            </a:extLst>
          </p:cNvPr>
          <p:cNvSpPr txBox="1">
            <a:spLocks/>
          </p:cNvSpPr>
          <p:nvPr/>
        </p:nvSpPr>
        <p:spPr>
          <a:xfrm>
            <a:off x="0" y="-2"/>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7</a:t>
            </a:r>
          </a:p>
        </p:txBody>
      </p:sp>
      <p:sp>
        <p:nvSpPr>
          <p:cNvPr id="2" name="Title 1"/>
          <p:cNvSpPr>
            <a:spLocks noGrp="1"/>
          </p:cNvSpPr>
          <p:nvPr>
            <p:ph type="ctrTitle"/>
          </p:nvPr>
        </p:nvSpPr>
        <p:spPr>
          <a:xfrm>
            <a:off x="589935" y="248636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2" name="TextBox 11">
            <a:extLst>
              <a:ext uri="{FF2B5EF4-FFF2-40B4-BE49-F238E27FC236}">
                <a16:creationId xmlns:a16="http://schemas.microsoft.com/office/drawing/2014/main" id="{CAEC57D0-AC67-44EF-AAC1-EB45706D89C7}"/>
              </a:ext>
            </a:extLst>
          </p:cNvPr>
          <p:cNvSpPr txBox="1"/>
          <p:nvPr/>
        </p:nvSpPr>
        <p:spPr>
          <a:xfrm>
            <a:off x="1232187" y="1435202"/>
            <a:ext cx="10368142" cy="830997"/>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Derivative of inverse functions, and implicit functions</a:t>
            </a:r>
          </a:p>
          <a:p>
            <a:pPr marL="342900" indent="-342900">
              <a:buFont typeface="Arial" panose="020B0604020202020204" pitchFamily="34" charset="0"/>
              <a:buChar char="•"/>
            </a:pPr>
            <a:r>
              <a:rPr lang="en-AU" sz="2400" b="1" dirty="0">
                <a:latin typeface="+mj-lt"/>
              </a:rPr>
              <a:t>Higher order derivatives and optimisation; L’H</a:t>
            </a:r>
            <a:r>
              <a:rPr lang="en-GB" sz="2400" b="1" dirty="0" err="1">
                <a:latin typeface="+mj-lt"/>
              </a:rPr>
              <a:t>ôpital</a:t>
            </a:r>
            <a:r>
              <a:rPr lang="en-GB" sz="2400" b="1" dirty="0">
                <a:latin typeface="+mj-lt"/>
              </a:rPr>
              <a:t> rules</a:t>
            </a:r>
            <a:endParaRPr lang="en-AU" sz="2400" b="1" dirty="0">
              <a:latin typeface="+mj-lt"/>
            </a:endParaRPr>
          </a:p>
        </p:txBody>
      </p:sp>
      <p:sp>
        <p:nvSpPr>
          <p:cNvPr id="11" name="TextBox 10">
            <a:extLst>
              <a:ext uri="{FF2B5EF4-FFF2-40B4-BE49-F238E27FC236}">
                <a16:creationId xmlns:a16="http://schemas.microsoft.com/office/drawing/2014/main" id="{A61EC46B-21B4-4C87-946C-3EAD91A29AA1}"/>
              </a:ext>
            </a:extLst>
          </p:cNvPr>
          <p:cNvSpPr txBox="1"/>
          <p:nvPr/>
        </p:nvSpPr>
        <p:spPr>
          <a:xfrm>
            <a:off x="307593" y="1036182"/>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6</a:t>
            </a:r>
            <a:endParaRPr lang="en-GB" sz="2000" b="1" cap="small" dirty="0">
              <a:latin typeface="+mj-lt"/>
            </a:endParaRPr>
          </a:p>
        </p:txBody>
      </p:sp>
      <p:sp>
        <p:nvSpPr>
          <p:cNvPr id="13" name="TextBox 12">
            <a:extLst>
              <a:ext uri="{FF2B5EF4-FFF2-40B4-BE49-F238E27FC236}">
                <a16:creationId xmlns:a16="http://schemas.microsoft.com/office/drawing/2014/main" id="{EDAF658E-4D46-438A-89D3-59C69A018DE7}"/>
              </a:ext>
            </a:extLst>
          </p:cNvPr>
          <p:cNvSpPr txBox="1"/>
          <p:nvPr/>
        </p:nvSpPr>
        <p:spPr>
          <a:xfrm>
            <a:off x="307593" y="2283956"/>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7</a:t>
            </a:r>
            <a:endParaRPr lang="en-GB" sz="2000" b="1" cap="small" dirty="0">
              <a:latin typeface="+mj-lt"/>
            </a:endParaRPr>
          </a:p>
        </p:txBody>
      </p:sp>
      <p:sp>
        <p:nvSpPr>
          <p:cNvPr id="15" name="TextBox 14">
            <a:extLst>
              <a:ext uri="{FF2B5EF4-FFF2-40B4-BE49-F238E27FC236}">
                <a16:creationId xmlns:a16="http://schemas.microsoft.com/office/drawing/2014/main" id="{898798BC-1968-4592-A84D-9889D441C7B0}"/>
              </a:ext>
            </a:extLst>
          </p:cNvPr>
          <p:cNvSpPr txBox="1"/>
          <p:nvPr/>
        </p:nvSpPr>
        <p:spPr>
          <a:xfrm>
            <a:off x="1195978" y="3113863"/>
            <a:ext cx="10097756" cy="461665"/>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Taylor’s formula for approximating functions</a:t>
            </a:r>
          </a:p>
        </p:txBody>
      </p:sp>
      <p:cxnSp>
        <p:nvCxnSpPr>
          <p:cNvPr id="3" name="Straight Connector 2">
            <a:extLst>
              <a:ext uri="{FF2B5EF4-FFF2-40B4-BE49-F238E27FC236}">
                <a16:creationId xmlns:a16="http://schemas.microsoft.com/office/drawing/2014/main" id="{CD60D396-44DB-4720-AA20-0FECBBC96907}"/>
              </a:ext>
            </a:extLst>
          </p:cNvPr>
          <p:cNvCxnSpPr>
            <a:stCxn id="13" idx="3"/>
          </p:cNvCxnSpPr>
          <p:nvPr/>
        </p:nvCxnSpPr>
        <p:spPr>
          <a:xfrm>
            <a:off x="1195978" y="2484011"/>
            <a:ext cx="10404351"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5D933F3-BDCD-41B7-8B70-5B047253E6FA}"/>
              </a:ext>
            </a:extLst>
          </p:cNvPr>
          <p:cNvCxnSpPr>
            <a:cxnSpLocks/>
          </p:cNvCxnSpPr>
          <p:nvPr/>
        </p:nvCxnSpPr>
        <p:spPr>
          <a:xfrm flipV="1">
            <a:off x="1195978" y="1211598"/>
            <a:ext cx="10404351" cy="23549"/>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B8815BF5-1815-494B-8C1F-8AB3E9CBAD1F}"/>
              </a:ext>
            </a:extLst>
          </p:cNvPr>
          <p:cNvSpPr txBox="1"/>
          <p:nvPr/>
        </p:nvSpPr>
        <p:spPr>
          <a:xfrm>
            <a:off x="525480" y="2765464"/>
            <a:ext cx="1072972" cy="338554"/>
          </a:xfrm>
          <a:prstGeom prst="rect">
            <a:avLst/>
          </a:prstGeom>
          <a:noFill/>
          <a:ln>
            <a:solidFill>
              <a:schemeClr val="accent2">
                <a:lumMod val="50000"/>
              </a:schemeClr>
            </a:solidFill>
          </a:ln>
        </p:spPr>
        <p:txBody>
          <a:bodyPr wrap="square" rtlCol="0">
            <a:spAutoFit/>
          </a:bodyPr>
          <a:lstStyle/>
          <a:p>
            <a:r>
              <a:rPr lang="en-AU" sz="1600" b="1" dirty="0">
                <a:latin typeface="+mj-lt"/>
              </a:rPr>
              <a:t>MODULE 4</a:t>
            </a:r>
            <a:endParaRPr lang="en-GB" sz="1600" b="1" dirty="0">
              <a:latin typeface="+mj-lt"/>
            </a:endParaRPr>
          </a:p>
        </p:txBody>
      </p:sp>
      <p:sp>
        <p:nvSpPr>
          <p:cNvPr id="17" name="TextBox 16">
            <a:extLst>
              <a:ext uri="{FF2B5EF4-FFF2-40B4-BE49-F238E27FC236}">
                <a16:creationId xmlns:a16="http://schemas.microsoft.com/office/drawing/2014/main" id="{C75F0327-FC2D-4943-8211-A27F72BBEB38}"/>
              </a:ext>
            </a:extLst>
          </p:cNvPr>
          <p:cNvSpPr txBox="1"/>
          <p:nvPr/>
        </p:nvSpPr>
        <p:spPr>
          <a:xfrm>
            <a:off x="525480" y="3595308"/>
            <a:ext cx="1072972" cy="338554"/>
          </a:xfrm>
          <a:prstGeom prst="rect">
            <a:avLst/>
          </a:prstGeom>
          <a:noFill/>
          <a:ln>
            <a:solidFill>
              <a:schemeClr val="accent2">
                <a:lumMod val="50000"/>
              </a:schemeClr>
            </a:solidFill>
          </a:ln>
        </p:spPr>
        <p:txBody>
          <a:bodyPr wrap="square" rtlCol="0">
            <a:spAutoFit/>
          </a:bodyPr>
          <a:lstStyle/>
          <a:p>
            <a:r>
              <a:rPr lang="en-AU" sz="1600" b="1" dirty="0">
                <a:latin typeface="+mj-lt"/>
              </a:rPr>
              <a:t>MODULE 5</a:t>
            </a:r>
            <a:endParaRPr lang="en-GB" sz="1600" b="1" dirty="0">
              <a:latin typeface="+mj-lt"/>
            </a:endParaRPr>
          </a:p>
        </p:txBody>
      </p:sp>
      <p:sp>
        <p:nvSpPr>
          <p:cNvPr id="18" name="TextBox 17">
            <a:extLst>
              <a:ext uri="{FF2B5EF4-FFF2-40B4-BE49-F238E27FC236}">
                <a16:creationId xmlns:a16="http://schemas.microsoft.com/office/drawing/2014/main" id="{83F34354-4086-4731-BD25-91F233A36B56}"/>
              </a:ext>
            </a:extLst>
          </p:cNvPr>
          <p:cNvSpPr txBox="1"/>
          <p:nvPr/>
        </p:nvSpPr>
        <p:spPr>
          <a:xfrm>
            <a:off x="1195977" y="4066818"/>
            <a:ext cx="10216093" cy="1569660"/>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Antidifferentiation and fundamental integrals</a:t>
            </a:r>
          </a:p>
          <a:p>
            <a:pPr marL="342900" indent="-342900">
              <a:buFont typeface="Arial" panose="020B0604020202020204" pitchFamily="34" charset="0"/>
              <a:buChar char="•"/>
            </a:pPr>
            <a:r>
              <a:rPr lang="en-AU" sz="2400" b="1" dirty="0">
                <a:latin typeface="+mj-lt"/>
              </a:rPr>
              <a:t>Integration of expressions where the argument is a linear function</a:t>
            </a:r>
          </a:p>
          <a:p>
            <a:pPr marL="342900" indent="-342900">
              <a:buFont typeface="Arial" panose="020B0604020202020204" pitchFamily="34" charset="0"/>
              <a:buChar char="•"/>
            </a:pPr>
            <a:r>
              <a:rPr lang="en-AU" sz="2400" b="1" dirty="0">
                <a:latin typeface="+mj-lt"/>
              </a:rPr>
              <a:t>Integration by substitution</a:t>
            </a:r>
          </a:p>
          <a:p>
            <a:pPr marL="342900" indent="-342900">
              <a:buFont typeface="Arial" panose="020B0604020202020204" pitchFamily="34" charset="0"/>
              <a:buChar char="•"/>
            </a:pPr>
            <a:r>
              <a:rPr lang="en-AU" sz="2400" b="1" dirty="0">
                <a:latin typeface="+mj-lt"/>
              </a:rPr>
              <a:t>Integration of products of powers of trigonometric/hyperbolic functions (part 1)</a:t>
            </a: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animBg="1"/>
      <p:bldP spid="17"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E0E798E3-ED4D-4AEA-AD4B-C48F330B2D94}"/>
              </a:ext>
            </a:extLst>
          </p:cNvPr>
          <p:cNvSpPr txBox="1"/>
          <p:nvPr/>
        </p:nvSpPr>
        <p:spPr>
          <a:xfrm>
            <a:off x="3480265" y="5723837"/>
            <a:ext cx="5231468" cy="461665"/>
          </a:xfrm>
          <a:prstGeom prst="rect">
            <a:avLst/>
          </a:prstGeom>
          <a:noFill/>
        </p:spPr>
        <p:txBody>
          <a:bodyPr wrap="square">
            <a:spAutoFit/>
          </a:bodyPr>
          <a:lstStyle/>
          <a:p>
            <a:r>
              <a:rPr lang="en-GB" sz="2400" dirty="0">
                <a:latin typeface="+mj-lt"/>
                <a:hlinkClick r:id="rId2"/>
              </a:rPr>
              <a:t>https://www.geogebra.org/m/C4S6CEdm</a:t>
            </a:r>
            <a:r>
              <a:rPr lang="en-GB" sz="2400" dirty="0">
                <a:latin typeface="+mj-lt"/>
              </a:rPr>
              <a:t>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70B0540-CAA8-4DBD-94A6-959526E64062}"/>
                  </a:ext>
                </a:extLst>
              </p:cNvPr>
              <p:cNvSpPr txBox="1"/>
              <p:nvPr/>
            </p:nvSpPr>
            <p:spPr>
              <a:xfrm>
                <a:off x="240535" y="953300"/>
                <a:ext cx="11710929" cy="4770537"/>
              </a:xfrm>
              <a:prstGeom prst="rect">
                <a:avLst/>
              </a:prstGeom>
              <a:noFill/>
            </p:spPr>
            <p:txBody>
              <a:bodyPr wrap="square" rtlCol="0">
                <a:spAutoFit/>
              </a:bodyPr>
              <a:lstStyle/>
              <a:p>
                <a:pPr>
                  <a:spcAft>
                    <a:spcPts val="1200"/>
                  </a:spcAft>
                </a:pPr>
                <a:r>
                  <a:rPr lang="en-AU" sz="2400" dirty="0">
                    <a:latin typeface="+mj-lt"/>
                  </a:rPr>
                  <a:t>In many practical applications, there is often the need to approximate the value of a function </a:t>
                </a:r>
                <a14:m>
                  <m:oMath xmlns:m="http://schemas.openxmlformats.org/officeDocument/2006/math">
                    <m:r>
                      <a:rPr lang="en-AU" sz="2400" b="0" i="1" smtClean="0">
                        <a:latin typeface="Cambria Math" panose="02040503050406030204" pitchFamily="18" charset="0"/>
                      </a:rPr>
                      <m:t>𝑓</m:t>
                    </m:r>
                  </m:oMath>
                </a14:m>
                <a:r>
                  <a:rPr lang="en-GB" sz="2400" dirty="0">
                    <a:latin typeface="+mj-lt"/>
                  </a:rPr>
                  <a:t> at a point </a:t>
                </a:r>
                <a14:m>
                  <m:oMath xmlns:m="http://schemas.openxmlformats.org/officeDocument/2006/math">
                    <m:r>
                      <a:rPr lang="en-AU" sz="2400" b="0" i="1" smtClean="0">
                        <a:latin typeface="Cambria Math" panose="02040503050406030204" pitchFamily="18" charset="0"/>
                      </a:rPr>
                      <m:t>𝑥</m:t>
                    </m:r>
                  </m:oMath>
                </a14:m>
                <a:r>
                  <a:rPr lang="en-GB" sz="2400" dirty="0">
                    <a:latin typeface="+mj-lt"/>
                  </a:rPr>
                  <a:t>, because:</a:t>
                </a:r>
              </a:p>
              <a:p>
                <a:pPr marL="342900" indent="-342900">
                  <a:spcAft>
                    <a:spcPts val="1200"/>
                  </a:spcAft>
                  <a:buFont typeface="Arial" panose="020B0604020202020204" pitchFamily="34" charset="0"/>
                  <a:buChar char="•"/>
                </a:pPr>
                <a:r>
                  <a:rPr lang="en-GB" sz="2400" dirty="0">
                    <a:latin typeface="+mj-lt"/>
                  </a:rPr>
                  <a:t>A good approximation is sufficient for a problem and improving the accuracy would not impact the final result of the calculation; or</a:t>
                </a:r>
              </a:p>
              <a:p>
                <a:pPr marL="342900" indent="-342900">
                  <a:spcAft>
                    <a:spcPts val="1200"/>
                  </a:spcAft>
                  <a:buFont typeface="Arial" panose="020B0604020202020204" pitchFamily="34" charset="0"/>
                  <a:buChar char="•"/>
                </a:pPr>
                <a:r>
                  <a:rPr lang="en-GB" sz="2400" dirty="0">
                    <a:latin typeface="+mj-lt"/>
                  </a:rPr>
                  <a:t>A quick estimate is needed. For example, while testing different functions and we want to know the value they return at a specific point; or,</a:t>
                </a:r>
              </a:p>
              <a:p>
                <a:pPr marL="342900" indent="-342900">
                  <a:spcAft>
                    <a:spcPts val="1200"/>
                  </a:spcAft>
                  <a:buFont typeface="Arial" panose="020B0604020202020204" pitchFamily="34" charset="0"/>
                  <a:buChar char="•"/>
                </a:pPr>
                <a:r>
                  <a:rPr lang="en-GB" sz="2400" dirty="0">
                    <a:latin typeface="+mj-lt"/>
                  </a:rPr>
                  <a:t>There is a need to evaluate a function millions of times and the computational time required is much longer that the time needed to calculate an approximation.</a:t>
                </a:r>
              </a:p>
              <a:p>
                <a:pPr marL="342900" indent="-342900">
                  <a:spcAft>
                    <a:spcPts val="1200"/>
                  </a:spcAft>
                  <a:buFont typeface="Arial" panose="020B0604020202020204" pitchFamily="34" charset="0"/>
                  <a:buChar char="•"/>
                </a:pPr>
                <a:r>
                  <a:rPr lang="en-GB" sz="2400" dirty="0">
                    <a:latin typeface="+mj-lt"/>
                  </a:rPr>
                  <a:t>An exact formula for a function is not available or is impossible to calculate. For example, when we want the best possible expression for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in terms of </a:t>
                </a:r>
                <a14:m>
                  <m:oMath xmlns:m="http://schemas.openxmlformats.org/officeDocument/2006/math">
                    <m:r>
                      <a:rPr lang="en-AU" sz="2400" i="1">
                        <a:latin typeface="Cambria Math" panose="02040503050406030204" pitchFamily="18" charset="0"/>
                      </a:rPr>
                      <m:t>𝑥</m:t>
                    </m:r>
                  </m:oMath>
                </a14:m>
                <a:r>
                  <a:rPr lang="en-GB" sz="2400" dirty="0">
                    <a:latin typeface="+mj-lt"/>
                  </a:rPr>
                  <a:t> when dealing with an implicit function, at a value </a:t>
                </a:r>
                <a14:m>
                  <m:oMath xmlns:m="http://schemas.openxmlformats.org/officeDocument/2006/math">
                    <m:r>
                      <a:rPr lang="en-AU" sz="2400" i="1">
                        <a:latin typeface="Cambria Math" panose="02040503050406030204" pitchFamily="18" charset="0"/>
                      </a:rPr>
                      <m:t>𝑥</m:t>
                    </m:r>
                  </m:oMath>
                </a14:m>
                <a:r>
                  <a:rPr lang="en-GB" sz="2400" dirty="0">
                    <a:latin typeface="+mj-lt"/>
                  </a:rPr>
                  <a:t> where such a relation exists.</a:t>
                </a:r>
              </a:p>
            </p:txBody>
          </p:sp>
        </mc:Choice>
        <mc:Fallback xmlns="">
          <p:sp>
            <p:nvSpPr>
              <p:cNvPr id="5" name="TextBox 4">
                <a:extLst>
                  <a:ext uri="{FF2B5EF4-FFF2-40B4-BE49-F238E27FC236}">
                    <a16:creationId xmlns:a16="http://schemas.microsoft.com/office/drawing/2014/main" id="{570B0540-CAA8-4DBD-94A6-959526E64062}"/>
                  </a:ext>
                </a:extLst>
              </p:cNvPr>
              <p:cNvSpPr txBox="1">
                <a:spLocks noRot="1" noChangeAspect="1" noMove="1" noResize="1" noEditPoints="1" noAdjustHandles="1" noChangeArrowheads="1" noChangeShapeType="1" noTextEdit="1"/>
              </p:cNvSpPr>
              <p:nvPr/>
            </p:nvSpPr>
            <p:spPr>
              <a:xfrm>
                <a:off x="240535" y="953300"/>
                <a:ext cx="11710929" cy="4770537"/>
              </a:xfrm>
              <a:prstGeom prst="rect">
                <a:avLst/>
              </a:prstGeom>
              <a:blipFill>
                <a:blip r:embed="rId3"/>
                <a:stretch>
                  <a:fillRect l="-780" t="-1022" b="-1916"/>
                </a:stretch>
              </a:blipFill>
            </p:spPr>
            <p:txBody>
              <a:bodyPr/>
              <a:lstStyle/>
              <a:p>
                <a:r>
                  <a:rPr lang="en-GB">
                    <a:noFill/>
                  </a:rPr>
                  <a:t> </a:t>
                </a:r>
              </a:p>
            </p:txBody>
          </p:sp>
        </mc:Fallback>
      </mc:AlternateContent>
    </p:spTree>
    <p:extLst>
      <p:ext uri="{BB962C8B-B14F-4D97-AF65-F5344CB8AC3E}">
        <p14:creationId xmlns:p14="http://schemas.microsoft.com/office/powerpoint/2010/main" val="4112320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53300"/>
                <a:ext cx="11710929" cy="4879926"/>
              </a:xfrm>
              <a:prstGeom prst="rect">
                <a:avLst/>
              </a:prstGeom>
              <a:noFill/>
            </p:spPr>
            <p:txBody>
              <a:bodyPr wrap="square" rtlCol="0">
                <a:spAutoFit/>
              </a:bodyPr>
              <a:lstStyle/>
              <a:p>
                <a:pPr>
                  <a:spcAft>
                    <a:spcPts val="1200"/>
                  </a:spcAft>
                </a:pPr>
                <a:r>
                  <a:rPr lang="en-AU" sz="2400" dirty="0">
                    <a:latin typeface="+mj-lt"/>
                  </a:rPr>
                  <a:t>Theorem (Taylor’s formula with Lagrange remainder). Consider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which is differentiable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rPr>
                      <m:t>+1)</m:t>
                    </m:r>
                  </m:oMath>
                </a14:m>
                <a:r>
                  <a:rPr lang="en-GB" sz="2400" dirty="0">
                    <a:latin typeface="+mj-lt"/>
                  </a:rPr>
                  <a:t> times in </a:t>
                </a:r>
                <a14:m>
                  <m:oMath xmlns:m="http://schemas.openxmlformats.org/officeDocument/2006/math">
                    <m:r>
                      <a:rPr lang="en-AU" sz="2400" i="1">
                        <a:latin typeface="Cambria Math" panose="02040503050406030204" pitchFamily="18" charset="0"/>
                      </a:rPr>
                      <m:t>𝑋</m:t>
                    </m:r>
                  </m:oMath>
                </a14:m>
                <a:r>
                  <a:rPr lang="en-GB" sz="2400" dirty="0">
                    <a:latin typeface="+mj-lt"/>
                  </a:rPr>
                  <a:t>. Given two values</a:t>
                </a:r>
                <a:r>
                  <a:rPr lang="en-GB" sz="2400" i="1" dirty="0">
                    <a:latin typeface="+mj-lt"/>
                  </a:rPr>
                  <a:t>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oMath>
                </a14:m>
                <a:r>
                  <a:rPr lang="en-GB" sz="2400" dirty="0">
                    <a:latin typeface="+mj-lt"/>
                  </a:rPr>
                  <a:t>, there exists a value </a:t>
                </a:r>
                <a14:m>
                  <m:oMath xmlns:m="http://schemas.openxmlformats.org/officeDocument/2006/math">
                    <m:r>
                      <a:rPr lang="en-GB" sz="2400" i="1" smtClean="0">
                        <a:latin typeface="Cambria Math" panose="02040503050406030204" pitchFamily="18" charset="0"/>
                        <a:ea typeface="Cambria Math" panose="02040503050406030204" pitchFamily="18" charset="0"/>
                      </a:rPr>
                      <m:t>𝜉</m:t>
                    </m:r>
                  </m:oMath>
                </a14:m>
                <a:r>
                  <a:rPr lang="en-GB" sz="2400" dirty="0">
                    <a:latin typeface="+mj-lt"/>
                  </a:rPr>
                  <a:t> (</a:t>
                </a:r>
                <a:r>
                  <a:rPr lang="en-GB" sz="2400" i="1" dirty="0">
                    <a:latin typeface="+mj-lt"/>
                  </a:rPr>
                  <a:t>Xi</a:t>
                </a:r>
                <a:r>
                  <a:rPr lang="en-GB" sz="2400" dirty="0">
                    <a:latin typeface="+mj-lt"/>
                  </a:rPr>
                  <a:t>) in between </a:t>
                </a:r>
                <a14:m>
                  <m:oMath xmlns:m="http://schemas.openxmlformats.org/officeDocument/2006/math">
                    <m:r>
                      <a:rPr lang="en-AU" sz="2400" i="1">
                        <a:latin typeface="Cambria Math" panose="02040503050406030204" pitchFamily="18" charset="0"/>
                      </a:rPr>
                      <m:t>𝑥</m:t>
                    </m:r>
                    <m:r>
                      <a:rPr lang="en-AU" sz="2400" i="1">
                        <a:latin typeface="Cambria Math" panose="02040503050406030204" pitchFamily="18" charset="0"/>
                      </a:rPr>
                      <m:t> </m:t>
                    </m:r>
                  </m:oMath>
                </a14:m>
                <a:r>
                  <a:rPr lang="en-GB" sz="2400" dirty="0">
                    <a:latin typeface="+mj-lt"/>
                  </a:rPr>
                  <a:t>and </a:t>
                </a:r>
                <a14:m>
                  <m:oMath xmlns:m="http://schemas.openxmlformats.org/officeDocument/2006/math">
                    <m:r>
                      <a:rPr lang="en-AU" sz="2400" b="0" i="1" smtClean="0">
                        <a:latin typeface="Cambria Math" panose="02040503050406030204" pitchFamily="18" charset="0"/>
                      </a:rPr>
                      <m:t>𝑎</m:t>
                    </m:r>
                  </m:oMath>
                </a14:m>
                <a:r>
                  <a:rPr lang="en-GB" sz="2400" dirty="0">
                    <a:latin typeface="+mj-lt"/>
                  </a:rPr>
                  <a:t> such that:</a:t>
                </a:r>
              </a:p>
              <a:p>
                <a:pPr>
                  <a:spcAft>
                    <a:spcPts val="1200"/>
                  </a:spcAft>
                </a:pPr>
                <a:endParaRPr lang="en-GB" sz="2400" dirty="0">
                  <a:latin typeface="+mj-lt"/>
                </a:endParaRPr>
              </a:p>
              <a:p>
                <a:pPr>
                  <a:spcAft>
                    <a:spcPts val="1200"/>
                  </a:spcAf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num>
                        <m:den>
                          <m:r>
                            <a:rPr lang="en-AU" sz="2400" b="0" i="1" smtClean="0">
                              <a:latin typeface="Cambria Math" panose="02040503050406030204" pitchFamily="18" charset="0"/>
                            </a:rPr>
                            <m:t>2</m:t>
                          </m:r>
                        </m:den>
                      </m:f>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e>
                          </m:d>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num>
                        <m:den>
                          <m:r>
                            <a:rPr lang="en-AU" sz="2400" b="0" i="1" smtClean="0">
                              <a:latin typeface="Cambria Math" panose="02040503050406030204" pitchFamily="18" charset="0"/>
                            </a:rPr>
                            <m:t>3!</m:t>
                          </m:r>
                        </m:den>
                      </m:f>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e>
                          </m:d>
                        </m:e>
                        <m:sup>
                          <m:r>
                            <a:rPr lang="en-AU" sz="2400" b="0" i="1" smtClean="0">
                              <a:latin typeface="Cambria Math" panose="02040503050406030204" pitchFamily="18" charset="0"/>
                            </a:rPr>
                            <m:t>3</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𝑛</m:t>
                                  </m:r>
                                </m:e>
                              </m:d>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e>
                          </m:d>
                        </m:num>
                        <m:den>
                          <m:r>
                            <a:rPr lang="en-AU" sz="2400" b="0" i="1" smtClean="0">
                              <a:latin typeface="Cambria Math" panose="02040503050406030204" pitchFamily="18" charset="0"/>
                            </a:rPr>
                            <m:t>𝑛</m:t>
                          </m:r>
                          <m:r>
                            <a:rPr lang="en-AU" sz="2400" b="0" i="1" smtClean="0">
                              <a:latin typeface="Cambria Math" panose="02040503050406030204" pitchFamily="18" charset="0"/>
                            </a:rPr>
                            <m:t>!</m:t>
                          </m:r>
                        </m:den>
                      </m:f>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e>
                          </m:d>
                        </m:e>
                        <m:sup>
                          <m:r>
                            <a:rPr lang="en-AU" sz="2400" b="0" i="1" smtClean="0">
                              <a:latin typeface="Cambria Math" panose="02040503050406030204" pitchFamily="18" charset="0"/>
                            </a:rPr>
                            <m:t>𝑛</m:t>
                          </m:r>
                        </m:sup>
                      </m:sSup>
                    </m:oMath>
                    <m:oMath xmlns:m="http://schemas.openxmlformats.org/officeDocument/2006/math">
                      <m:r>
                        <a:rPr lang="en-AU" sz="2400" b="0" i="0" smtClean="0">
                          <a:latin typeface="Cambria Math" panose="02040503050406030204" pitchFamily="18" charset="0"/>
                        </a:rPr>
                        <m:t>             </m:t>
                      </m:r>
                      <m:r>
                        <a:rPr lang="en-AU" sz="2400" b="0" i="1" smtClean="0">
                          <a:latin typeface="Cambria Math" panose="02040503050406030204" pitchFamily="18" charset="0"/>
                        </a:rPr>
                        <m:t> +</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𝑛</m:t>
                                  </m:r>
                                  <m:r>
                                    <a:rPr lang="en-AU" sz="2400" b="0" i="1" smtClean="0">
                                      <a:latin typeface="Cambria Math" panose="02040503050406030204" pitchFamily="18" charset="0"/>
                                    </a:rPr>
                                    <m:t>+1</m:t>
                                  </m:r>
                                </m:e>
                              </m:d>
                            </m:sup>
                          </m:sSup>
                          <m:d>
                            <m:dPr>
                              <m:ctrlPr>
                                <a:rPr lang="en-AU" sz="2400" b="0" i="1" smtClean="0">
                                  <a:latin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𝜉</m:t>
                              </m:r>
                            </m:e>
                          </m:d>
                        </m:num>
                        <m:den>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+1</m:t>
                              </m:r>
                            </m:e>
                          </m:d>
                          <m:r>
                            <a:rPr lang="en-AU" sz="2400" b="0" i="1" smtClean="0">
                              <a:latin typeface="Cambria Math" panose="02040503050406030204" pitchFamily="18" charset="0"/>
                              <a:ea typeface="Cambria Math" panose="02040503050406030204" pitchFamily="18" charset="0"/>
                            </a:rPr>
                            <m:t>!</m:t>
                          </m:r>
                        </m:den>
                      </m:f>
                      <m:sSup>
                        <m:sSupPr>
                          <m:ctrlPr>
                            <a:rPr lang="en-AU" sz="2400" b="0" i="1" smtClean="0">
                              <a:latin typeface="Cambria Math" panose="02040503050406030204" pitchFamily="18" charset="0"/>
                              <a:ea typeface="Cambria Math" panose="02040503050406030204" pitchFamily="18" charset="0"/>
                            </a:rPr>
                          </m:ctrlPr>
                        </m:sSupPr>
                        <m:e>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e>
                          </m:d>
                        </m:e>
                        <m:sup>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+1</m:t>
                          </m:r>
                        </m:sup>
                      </m:sSup>
                    </m:oMath>
                  </m:oMathPara>
                </a14:m>
                <a:endParaRPr lang="en-AU" sz="2400" b="0" dirty="0">
                  <a:latin typeface="+mj-lt"/>
                </a:endParaRPr>
              </a:p>
              <a:p>
                <a:pPr>
                  <a:spcAft>
                    <a:spcPts val="1200"/>
                  </a:spcAft>
                </a:pPr>
                <a:endParaRPr lang="en-GB" sz="2400" dirty="0">
                  <a:latin typeface="+mj-lt"/>
                </a:endParaRPr>
              </a:p>
              <a:p>
                <a:pPr>
                  <a:spcAft>
                    <a:spcPts val="1200"/>
                  </a:spcAft>
                </a:pPr>
                <a:r>
                  <a:rPr lang="en-GB" sz="2400" dirty="0">
                    <a:latin typeface="+mj-lt"/>
                  </a:rPr>
                  <a:t>This is called Taylor’s formula or the Taylor expansion of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of order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and centred at value </a:t>
                </a:r>
                <a14:m>
                  <m:oMath xmlns:m="http://schemas.openxmlformats.org/officeDocument/2006/math">
                    <m:r>
                      <a:rPr lang="en-AU" sz="2400" b="0" i="1" smtClean="0">
                        <a:latin typeface="Cambria Math" panose="02040503050406030204" pitchFamily="18" charset="0"/>
                      </a:rPr>
                      <m:t>𝑎</m:t>
                    </m:r>
                  </m:oMath>
                </a14:m>
                <a:r>
                  <a:rPr lang="en-GB" sz="2400" dirty="0">
                    <a:latin typeface="+mj-lt"/>
                  </a:rPr>
                  <a:t>, with Lagrange </a:t>
                </a:r>
                <a:r>
                  <a:rPr lang="en-GB" sz="2400" u="sng" dirty="0">
                    <a:latin typeface="+mj-lt"/>
                  </a:rPr>
                  <a:t>remainder</a:t>
                </a:r>
                <a:r>
                  <a:rPr lang="en-GB" sz="2400" dirty="0">
                    <a:latin typeface="+mj-lt"/>
                  </a:rPr>
                  <a:t> of order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+1</m:t>
                    </m:r>
                  </m:oMath>
                </a14:m>
                <a:r>
                  <a:rPr lang="en-GB" sz="2400" dirty="0">
                    <a:latin typeface="+mj-lt"/>
                  </a:rPr>
                  <a:t>.</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53300"/>
                <a:ext cx="11710929" cy="4879926"/>
              </a:xfrm>
              <a:prstGeom prst="rect">
                <a:avLst/>
              </a:prstGeom>
              <a:blipFill>
                <a:blip r:embed="rId2"/>
                <a:stretch>
                  <a:fillRect l="-780" t="-999" b="-1873"/>
                </a:stretch>
              </a:blipFill>
            </p:spPr>
            <p:txBody>
              <a:bodyPr/>
              <a:lstStyle/>
              <a:p>
                <a:r>
                  <a:rPr lang="en-GB">
                    <a:noFill/>
                  </a:rPr>
                  <a:t> </a:t>
                </a:r>
              </a:p>
            </p:txBody>
          </p:sp>
        </mc:Fallback>
      </mc:AlternateContent>
    </p:spTree>
    <p:extLst>
      <p:ext uri="{BB962C8B-B14F-4D97-AF65-F5344CB8AC3E}">
        <p14:creationId xmlns:p14="http://schemas.microsoft.com/office/powerpoint/2010/main" val="4171414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53300"/>
                <a:ext cx="11710929" cy="4842095"/>
              </a:xfrm>
              <a:prstGeom prst="rect">
                <a:avLst/>
              </a:prstGeom>
              <a:noFill/>
            </p:spPr>
            <p:txBody>
              <a:bodyPr wrap="square" rtlCol="0">
                <a:spAutoFit/>
              </a:bodyPr>
              <a:lstStyle/>
              <a:p>
                <a:pPr>
                  <a:spcAft>
                    <a:spcPts val="1200"/>
                  </a:spcAft>
                </a:pPr>
                <a:r>
                  <a:rPr lang="en-GB" sz="2400" dirty="0">
                    <a:latin typeface="+mj-lt"/>
                  </a:rPr>
                  <a:t>The value </a:t>
                </a:r>
                <a14:m>
                  <m:oMath xmlns:m="http://schemas.openxmlformats.org/officeDocument/2006/math">
                    <m:r>
                      <a:rPr lang="en-GB" sz="2400" i="1" smtClean="0">
                        <a:latin typeface="Cambria Math" panose="02040503050406030204" pitchFamily="18" charset="0"/>
                        <a:ea typeface="Cambria Math" panose="02040503050406030204" pitchFamily="18" charset="0"/>
                      </a:rPr>
                      <m:t>𝜉</m:t>
                    </m:r>
                  </m:oMath>
                </a14:m>
                <a:r>
                  <a:rPr lang="en-GB" sz="2400" dirty="0">
                    <a:latin typeface="+mj-lt"/>
                  </a:rPr>
                  <a:t> is special because it is not know (yet) and the formula does not tell us how to calculate it. What the theorem says is that it surely exists and is somewhere between </a:t>
                </a:r>
                <a14:m>
                  <m:oMath xmlns:m="http://schemas.openxmlformats.org/officeDocument/2006/math">
                    <m:r>
                      <a:rPr lang="en-AU" sz="2400" i="1">
                        <a:latin typeface="Cambria Math" panose="02040503050406030204" pitchFamily="18" charset="0"/>
                      </a:rPr>
                      <m:t>𝑥</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𝑎</m:t>
                    </m:r>
                  </m:oMath>
                </a14:m>
                <a:r>
                  <a:rPr lang="en-GB" sz="2400" dirty="0">
                    <a:latin typeface="+mj-lt"/>
                  </a:rPr>
                  <a:t>.</a:t>
                </a:r>
              </a:p>
              <a:p>
                <a:pPr>
                  <a:spcAft>
                    <a:spcPts val="1200"/>
                  </a:spcAft>
                </a:pPr>
                <a:r>
                  <a:rPr lang="en-GB" sz="2400" dirty="0">
                    <a:latin typeface="+mj-lt"/>
                  </a:rPr>
                  <a:t>The Lagrange remainder is the difference between the real value of the function and the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terms calculated at </a:t>
                </a:r>
                <a14:m>
                  <m:oMath xmlns:m="http://schemas.openxmlformats.org/officeDocument/2006/math">
                    <m:r>
                      <a:rPr lang="en-AU" sz="2400" b="0" i="1" smtClean="0">
                        <a:latin typeface="Cambria Math" panose="02040503050406030204" pitchFamily="18" charset="0"/>
                      </a:rPr>
                      <m:t>𝑎</m:t>
                    </m:r>
                  </m:oMath>
                </a14:m>
                <a:r>
                  <a:rPr lang="en-GB" sz="2400" dirty="0">
                    <a:latin typeface="+mj-lt"/>
                  </a:rPr>
                  <a:t>, i.e.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a:t>
                </a:r>
              </a:p>
              <a:p>
                <a:pPr>
                  <a:spcAft>
                    <a:spcPts val="1200"/>
                  </a:spcAft>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𝑅</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𝑎</m:t>
                          </m:r>
                        </m:e>
                      </m:d>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rPr>
                                <m:t>+1)</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𝜉</m:t>
                              </m:r>
                            </m:e>
                          </m:d>
                        </m:num>
                        <m:den>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+1</m:t>
                              </m:r>
                            </m:e>
                          </m:d>
                          <m:r>
                            <a:rPr lang="en-AU" sz="2400" b="0" i="1" smtClean="0">
                              <a:latin typeface="Cambria Math" panose="02040503050406030204" pitchFamily="18" charset="0"/>
                              <a:ea typeface="Cambria Math" panose="02040503050406030204" pitchFamily="18" charset="0"/>
                            </a:rPr>
                            <m:t>!</m:t>
                          </m:r>
                        </m:den>
                      </m:f>
                      <m:sSup>
                        <m:sSupPr>
                          <m:ctrlPr>
                            <a:rPr lang="en-AU" sz="2400" b="0" i="1" smtClean="0">
                              <a:latin typeface="Cambria Math" panose="02040503050406030204" pitchFamily="18" charset="0"/>
                              <a:ea typeface="Cambria Math" panose="02040503050406030204" pitchFamily="18" charset="0"/>
                            </a:rPr>
                          </m:ctrlPr>
                        </m:sSupPr>
                        <m:e>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e>
                          </m:d>
                        </m:e>
                        <m: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+1)</m:t>
                          </m:r>
                        </m:sup>
                      </m:sSup>
                    </m:oMath>
                  </m:oMathPara>
                </a14:m>
                <a:endParaRPr lang="en-GB" sz="2400" dirty="0">
                  <a:latin typeface="+mj-lt"/>
                </a:endParaRPr>
              </a:p>
              <a:p>
                <a:pPr>
                  <a:spcAft>
                    <a:spcPts val="1200"/>
                  </a:spcAf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m:t>
                      </m:r>
                      <m:r>
                        <a:rPr lang="en-AU" sz="2400" i="1" smtClean="0">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r>
                            <a:rPr lang="en-AU" sz="2400" i="1">
                              <a:latin typeface="Cambria Math" panose="02040503050406030204" pitchFamily="18" charset="0"/>
                            </a:rPr>
                            <m:t>𝑓</m:t>
                          </m:r>
                          <m:d>
                            <m:dPr>
                              <m:ctrlPr>
                                <a:rPr lang="en-AU" sz="2400" i="1">
                                  <a:latin typeface="Cambria Math" panose="02040503050406030204" pitchFamily="18" charset="0"/>
                                </a:rPr>
                              </m:ctrlPr>
                            </m:dPr>
                            <m:e>
                              <m:r>
                                <a:rPr lang="en-AU" sz="2400" i="1">
                                  <a:latin typeface="Cambria Math" panose="02040503050406030204" pitchFamily="18" charset="0"/>
                                </a:rPr>
                                <m:t>𝑎</m:t>
                              </m:r>
                            </m:e>
                          </m:d>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𝑓</m:t>
                              </m:r>
                            </m:e>
                            <m:sup>
                              <m:r>
                                <a:rPr lang="en-AU" sz="2400" i="1">
                                  <a:latin typeface="Cambria Math" panose="02040503050406030204" pitchFamily="18" charset="0"/>
                                </a:rPr>
                                <m:t>′</m:t>
                              </m:r>
                            </m:sup>
                          </m:sSup>
                          <m:d>
                            <m:dPr>
                              <m:ctrlPr>
                                <a:rPr lang="en-AU" sz="2400" i="1">
                                  <a:latin typeface="Cambria Math" panose="02040503050406030204" pitchFamily="18" charset="0"/>
                                </a:rPr>
                              </m:ctrlPr>
                            </m:dPr>
                            <m:e>
                              <m:r>
                                <a:rPr lang="en-AU" sz="2400" i="1">
                                  <a:latin typeface="Cambria Math" panose="02040503050406030204" pitchFamily="18" charset="0"/>
                                </a:rPr>
                                <m:t>𝑎</m:t>
                              </m:r>
                            </m:e>
                          </m:d>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e>
                          </m:d>
                          <m:r>
                            <a:rPr lang="en-AU" sz="2400" i="1">
                              <a:latin typeface="Cambria Math" panose="02040503050406030204" pitchFamily="18" charset="0"/>
                            </a:rPr>
                            <m:t>+</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𝑓</m:t>
                                  </m:r>
                                </m:e>
                                <m:sup>
                                  <m:r>
                                    <a:rPr lang="en-AU" sz="2400" i="1">
                                      <a:latin typeface="Cambria Math" panose="02040503050406030204" pitchFamily="18" charset="0"/>
                                    </a:rPr>
                                    <m:t>′′</m:t>
                                  </m:r>
                                </m:sup>
                              </m:sSup>
                              <m:d>
                                <m:dPr>
                                  <m:ctrlPr>
                                    <a:rPr lang="en-AU" sz="2400" i="1">
                                      <a:latin typeface="Cambria Math" panose="02040503050406030204" pitchFamily="18" charset="0"/>
                                    </a:rPr>
                                  </m:ctrlPr>
                                </m:dPr>
                                <m:e>
                                  <m:r>
                                    <a:rPr lang="en-AU" sz="2400" i="1">
                                      <a:latin typeface="Cambria Math" panose="02040503050406030204" pitchFamily="18" charset="0"/>
                                    </a:rPr>
                                    <m:t>𝑎</m:t>
                                  </m:r>
                                </m:e>
                              </m:d>
                            </m:num>
                            <m:den>
                              <m:r>
                                <a:rPr lang="en-AU" sz="2400" i="1">
                                  <a:latin typeface="Cambria Math" panose="02040503050406030204" pitchFamily="18" charset="0"/>
                                </a:rPr>
                                <m:t>2</m:t>
                              </m:r>
                            </m:den>
                          </m:f>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e>
                              </m:d>
                            </m:e>
                            <m:sup>
                              <m:r>
                                <a:rPr lang="en-AU" sz="2400" i="1">
                                  <a:latin typeface="Cambria Math" panose="02040503050406030204" pitchFamily="18" charset="0"/>
                                </a:rPr>
                                <m:t>2</m:t>
                              </m:r>
                            </m:sup>
                          </m:sSup>
                          <m:r>
                            <a:rPr lang="en-AU" sz="2400" i="1">
                              <a:latin typeface="Cambria Math" panose="02040503050406030204" pitchFamily="18" charset="0"/>
                            </a:rPr>
                            <m:t>+…+</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𝑓</m:t>
                                  </m:r>
                                </m:e>
                                <m:sup>
                                  <m:d>
                                    <m:dPr>
                                      <m:ctrlPr>
                                        <a:rPr lang="en-AU" sz="2400" i="1">
                                          <a:latin typeface="Cambria Math" panose="02040503050406030204" pitchFamily="18" charset="0"/>
                                        </a:rPr>
                                      </m:ctrlPr>
                                    </m:dPr>
                                    <m:e>
                                      <m:r>
                                        <a:rPr lang="en-AU" sz="2400" i="1">
                                          <a:latin typeface="Cambria Math" panose="02040503050406030204" pitchFamily="18" charset="0"/>
                                        </a:rPr>
                                        <m:t>𝑛</m:t>
                                      </m:r>
                                    </m:e>
                                  </m:d>
                                </m:sup>
                              </m:sSup>
                              <m:d>
                                <m:dPr>
                                  <m:ctrlPr>
                                    <a:rPr lang="en-AU" sz="2400" i="1">
                                      <a:latin typeface="Cambria Math" panose="02040503050406030204" pitchFamily="18" charset="0"/>
                                    </a:rPr>
                                  </m:ctrlPr>
                                </m:dPr>
                                <m:e>
                                  <m:r>
                                    <a:rPr lang="en-AU" sz="2400" i="1">
                                      <a:latin typeface="Cambria Math" panose="02040503050406030204" pitchFamily="18" charset="0"/>
                                    </a:rPr>
                                    <m:t>𝑎</m:t>
                                  </m:r>
                                </m:e>
                              </m:d>
                            </m:num>
                            <m:den>
                              <m:r>
                                <a:rPr lang="en-AU" sz="2400" i="1">
                                  <a:latin typeface="Cambria Math" panose="02040503050406030204" pitchFamily="18" charset="0"/>
                                </a:rPr>
                                <m:t>𝑛</m:t>
                              </m:r>
                              <m:r>
                                <a:rPr lang="en-AU" sz="2400" i="1">
                                  <a:latin typeface="Cambria Math" panose="02040503050406030204" pitchFamily="18" charset="0"/>
                                </a:rPr>
                                <m:t>!</m:t>
                              </m:r>
                            </m:den>
                          </m:f>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r>
                                    <a:rPr lang="en-AU" sz="2400" i="1">
                                      <a:latin typeface="Cambria Math" panose="02040503050406030204" pitchFamily="18" charset="0"/>
                                    </a:rPr>
                                    <m:t>𝑥</m:t>
                                  </m:r>
                                  <m:r>
                                    <a:rPr lang="en-AU" sz="2400" i="1">
                                      <a:latin typeface="Cambria Math" panose="02040503050406030204" pitchFamily="18" charset="0"/>
                                    </a:rPr>
                                    <m:t>−</m:t>
                                  </m:r>
                                  <m:r>
                                    <a:rPr lang="en-AU" sz="2400" i="1">
                                      <a:latin typeface="Cambria Math" panose="02040503050406030204" pitchFamily="18" charset="0"/>
                                    </a:rPr>
                                    <m:t>𝑎</m:t>
                                  </m:r>
                                </m:e>
                              </m:d>
                            </m:e>
                            <m:sup>
                              <m:r>
                                <a:rPr lang="en-AU" sz="2400" i="1">
                                  <a:latin typeface="Cambria Math" panose="02040503050406030204" pitchFamily="18" charset="0"/>
                                </a:rPr>
                                <m:t>𝑛</m:t>
                              </m:r>
                            </m:sup>
                          </m:sSup>
                        </m:e>
                      </m:d>
                    </m:oMath>
                  </m:oMathPara>
                </a14:m>
                <a:endParaRPr lang="en-GB" sz="2400" dirty="0">
                  <a:latin typeface="+mj-lt"/>
                </a:endParaRPr>
              </a:p>
              <a:p>
                <a:pPr>
                  <a:spcAft>
                    <a:spcPts val="1200"/>
                  </a:spcAf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GB" sz="2400" dirty="0">
                  <a:latin typeface="+mj-lt"/>
                </a:endParaRPr>
              </a:p>
              <a:p>
                <a:pPr>
                  <a:spcAft>
                    <a:spcPts val="1200"/>
                  </a:spcAft>
                </a:pP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𝑃</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called the Taylor polynomial of order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53300"/>
                <a:ext cx="11710929" cy="4842095"/>
              </a:xfrm>
              <a:prstGeom prst="rect">
                <a:avLst/>
              </a:prstGeom>
              <a:blipFill>
                <a:blip r:embed="rId2"/>
                <a:stretch>
                  <a:fillRect l="-780" t="-1006" b="-1887"/>
                </a:stretch>
              </a:blipFill>
            </p:spPr>
            <p:txBody>
              <a:bodyPr/>
              <a:lstStyle/>
              <a:p>
                <a:r>
                  <a:rPr lang="en-GB">
                    <a:noFill/>
                  </a:rPr>
                  <a:t> </a:t>
                </a:r>
              </a:p>
            </p:txBody>
          </p:sp>
        </mc:Fallback>
      </mc:AlternateContent>
    </p:spTree>
    <p:extLst>
      <p:ext uri="{BB962C8B-B14F-4D97-AF65-F5344CB8AC3E}">
        <p14:creationId xmlns:p14="http://schemas.microsoft.com/office/powerpoint/2010/main" val="3575343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53300"/>
                <a:ext cx="11710929" cy="1875513"/>
              </a:xfrm>
              <a:prstGeom prst="rect">
                <a:avLst/>
              </a:prstGeom>
              <a:noFill/>
            </p:spPr>
            <p:txBody>
              <a:bodyPr wrap="square" rtlCol="0">
                <a:spAutoFit/>
              </a:bodyPr>
              <a:lstStyle/>
              <a:p>
                <a:pPr>
                  <a:spcAft>
                    <a:spcPts val="1200"/>
                  </a:spcAft>
                </a:pPr>
                <a:r>
                  <a:rPr lang="en-AU" sz="2400" dirty="0">
                    <a:latin typeface="+mj-lt"/>
                  </a:rPr>
                  <a:t>Calculate the Taylor polynomials of orders 0,1,2,3 and 4, centred at the point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𝜋</m:t>
                        </m:r>
                      </m:num>
                      <m:den>
                        <m:r>
                          <a:rPr lang="en-AU" sz="2400" b="0" i="1" smtClean="0">
                            <a:latin typeface="Cambria Math" panose="02040503050406030204" pitchFamily="18" charset="0"/>
                            <a:ea typeface="Cambria Math" panose="02040503050406030204" pitchFamily="18" charset="0"/>
                          </a:rPr>
                          <m:t>3</m:t>
                        </m:r>
                      </m:den>
                    </m:f>
                  </m:oMath>
                </a14:m>
                <a:r>
                  <a:rPr lang="en-GB" sz="2400" dirty="0">
                    <a:latin typeface="+mj-lt"/>
                  </a:rPr>
                  <a:t>, for the function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oMath>
                </a14:m>
                <a:r>
                  <a:rPr lang="en-GB" sz="2400" dirty="0">
                    <a:latin typeface="+mj-lt"/>
                  </a:rPr>
                  <a:t>. Use this result to evaluate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d>
                          <m:dPr>
                            <m:ctrlPr>
                              <a:rPr lang="en-AU" sz="2400" b="0" i="1" smtClean="0">
                                <a:latin typeface="Cambria Math" panose="02040503050406030204" pitchFamily="18" charset="0"/>
                              </a:rPr>
                            </m:ctrlPr>
                          </m:dPr>
                          <m:e>
                            <m:f>
                              <m:fPr>
                                <m:ctrlPr>
                                  <a:rPr lang="en-AU" sz="2400" i="1">
                                    <a:latin typeface="Cambria Math" panose="02040503050406030204" pitchFamily="18" charset="0"/>
                                  </a:rPr>
                                </m:ctrlPr>
                              </m:fPr>
                              <m:num>
                                <m:r>
                                  <a:rPr lang="en-AU" sz="2400" i="1">
                                    <a:latin typeface="Cambria Math" panose="02040503050406030204" pitchFamily="18" charset="0"/>
                                  </a:rPr>
                                  <m:t>13</m:t>
                                </m:r>
                              </m:num>
                              <m:den>
                                <m:r>
                                  <a:rPr lang="en-AU" sz="2400" i="1">
                                    <a:latin typeface="Cambria Math" panose="02040503050406030204" pitchFamily="18" charset="0"/>
                                  </a:rPr>
                                  <m:t>36</m:t>
                                </m:r>
                              </m:den>
                            </m:f>
                            <m:r>
                              <a:rPr lang="en-AU" sz="2400" i="1">
                                <a:latin typeface="Cambria Math" panose="02040503050406030204" pitchFamily="18" charset="0"/>
                                <a:ea typeface="Cambria Math" panose="02040503050406030204" pitchFamily="18" charset="0"/>
                              </a:rPr>
                              <m:t>𝜋</m:t>
                            </m:r>
                          </m:e>
                        </m:d>
                      </m:e>
                    </m:func>
                  </m:oMath>
                </a14:m>
                <a:r>
                  <a:rPr lang="en-GB" sz="2400" dirty="0">
                    <a:latin typeface="+mj-lt"/>
                  </a:rPr>
                  <a:t>. Given the true value up to ten significant digits is 0.9063077870, verify that the accuracy of Taylor’s polynomial increases as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increases.</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53300"/>
                <a:ext cx="11710929" cy="1875513"/>
              </a:xfrm>
              <a:prstGeom prst="rect">
                <a:avLst/>
              </a:prstGeom>
              <a:blipFill>
                <a:blip r:embed="rId2"/>
                <a:stretch>
                  <a:fillRect l="-780" t="-325" b="-6494"/>
                </a:stretch>
              </a:blipFill>
            </p:spPr>
            <p:txBody>
              <a:bodyPr/>
              <a:lstStyle/>
              <a:p>
                <a:r>
                  <a:rPr lang="en-GB">
                    <a:noFill/>
                  </a:rPr>
                  <a:t> </a:t>
                </a:r>
              </a:p>
            </p:txBody>
          </p:sp>
        </mc:Fallback>
      </mc:AlternateContent>
    </p:spTree>
    <p:extLst>
      <p:ext uri="{BB962C8B-B14F-4D97-AF65-F5344CB8AC3E}">
        <p14:creationId xmlns:p14="http://schemas.microsoft.com/office/powerpoint/2010/main" val="964820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p:spTree>
    <p:extLst>
      <p:ext uri="{BB962C8B-B14F-4D97-AF65-F5344CB8AC3E}">
        <p14:creationId xmlns:p14="http://schemas.microsoft.com/office/powerpoint/2010/main" val="2326961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339146" y="1553487"/>
                <a:ext cx="11710929" cy="3816429"/>
              </a:xfrm>
              <a:prstGeom prst="rect">
                <a:avLst/>
              </a:prstGeom>
              <a:noFill/>
            </p:spPr>
            <p:txBody>
              <a:bodyPr wrap="square" rtlCol="0">
                <a:spAutoFit/>
              </a:bodyPr>
              <a:lstStyle/>
              <a:p>
                <a:pPr>
                  <a:spcAft>
                    <a:spcPts val="1200"/>
                  </a:spcAft>
                </a:pPr>
                <a:r>
                  <a:rPr lang="en-AU" sz="2400" dirty="0">
                    <a:latin typeface="+mj-lt"/>
                  </a:rPr>
                  <a:t>An advantage of expanding at the special value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=0</m:t>
                    </m:r>
                  </m:oMath>
                </a14:m>
                <a:r>
                  <a:rPr lang="en-GB" sz="2400" dirty="0">
                    <a:latin typeface="+mj-lt"/>
                  </a:rPr>
                  <a:t> is that </a:t>
                </a:r>
                <a:r>
                  <a:rPr lang="en-GB" sz="2400" dirty="0" err="1">
                    <a:latin typeface="+mj-lt"/>
                  </a:rPr>
                  <a:t>MacLaurin’s</a:t>
                </a:r>
                <a:r>
                  <a:rPr lang="en-GB" sz="2400" dirty="0">
                    <a:latin typeface="+mj-lt"/>
                  </a:rPr>
                  <a:t> formula often shows recurrences. For most important functions, it is in fact sufficient to calculate only a few terms to understand how to write the polynomial for any given degree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a:t>
                </a:r>
              </a:p>
              <a:p>
                <a:pPr>
                  <a:spcAft>
                    <a:spcPts val="1200"/>
                  </a:spcAft>
                </a:pPr>
                <a:r>
                  <a:rPr lang="en-GB" sz="2400" dirty="0">
                    <a:latin typeface="+mj-lt"/>
                  </a:rPr>
                  <a:t>Calculate </a:t>
                </a:r>
                <a:r>
                  <a:rPr lang="en-GB" sz="2400" dirty="0" err="1">
                    <a:latin typeface="+mj-lt"/>
                  </a:rPr>
                  <a:t>MacLaurin’s</a:t>
                </a:r>
                <a:r>
                  <a:rPr lang="en-GB" sz="2400" dirty="0">
                    <a:latin typeface="+mj-lt"/>
                  </a:rPr>
                  <a:t> polynomial for the following functions:</a:t>
                </a:r>
              </a:p>
              <a:p>
                <a:pPr>
                  <a:spcAft>
                    <a:spcPts val="1200"/>
                  </a:spcAft>
                </a:pPr>
                <a:r>
                  <a:rPr lang="en-GB" sz="2400" dirty="0">
                    <a:latin typeface="+mj-lt"/>
                  </a:rPr>
                  <a:t>1)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2) </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339146" y="1553487"/>
                <a:ext cx="11710929" cy="3816429"/>
              </a:xfrm>
              <a:prstGeom prst="rect">
                <a:avLst/>
              </a:prstGeom>
              <a:blipFill>
                <a:blip r:embed="rId2"/>
                <a:stretch>
                  <a:fillRect l="-833" t="-1278" r="-677" b="-2716"/>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B32DAD26-8638-4F40-A750-AF28677D2ABC}"/>
              </a:ext>
            </a:extLst>
          </p:cNvPr>
          <p:cNvSpPr txBox="1"/>
          <p:nvPr/>
        </p:nvSpPr>
        <p:spPr>
          <a:xfrm>
            <a:off x="339146" y="1026062"/>
            <a:ext cx="6653325" cy="461665"/>
          </a:xfrm>
          <a:prstGeom prst="rect">
            <a:avLst/>
          </a:prstGeom>
          <a:noFill/>
          <a:ln>
            <a:solidFill>
              <a:schemeClr val="accent2">
                <a:lumMod val="50000"/>
              </a:schemeClr>
            </a:solidFill>
          </a:ln>
        </p:spPr>
        <p:txBody>
          <a:bodyPr wrap="square" rtlCol="0">
            <a:spAutoFit/>
          </a:bodyPr>
          <a:lstStyle/>
          <a:p>
            <a:r>
              <a:rPr lang="en-AU" sz="2400" b="1" dirty="0">
                <a:latin typeface="+mj-lt"/>
              </a:rPr>
              <a:t>Expansion centred on the origin: </a:t>
            </a:r>
            <a:r>
              <a:rPr lang="en-AU" sz="2400" b="1" dirty="0" err="1">
                <a:latin typeface="+mj-lt"/>
              </a:rPr>
              <a:t>MacLaurin’s</a:t>
            </a:r>
            <a:r>
              <a:rPr lang="en-AU" sz="2400" b="1" dirty="0">
                <a:latin typeface="+mj-lt"/>
              </a:rPr>
              <a:t> formula</a:t>
            </a:r>
            <a:endParaRPr lang="en-GB" sz="2400" b="1" dirty="0">
              <a:latin typeface="+mj-lt"/>
            </a:endParaRPr>
          </a:p>
        </p:txBody>
      </p:sp>
    </p:spTree>
    <p:extLst>
      <p:ext uri="{BB962C8B-B14F-4D97-AF65-F5344CB8AC3E}">
        <p14:creationId xmlns:p14="http://schemas.microsoft.com/office/powerpoint/2010/main" val="413023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484648" cy="523220"/>
          </a:xfrm>
          <a:prstGeom prst="rect">
            <a:avLst/>
          </a:prstGeom>
          <a:noFill/>
        </p:spPr>
        <p:txBody>
          <a:bodyPr wrap="none" rtlCol="0">
            <a:spAutoFit/>
          </a:bodyPr>
          <a:lstStyle/>
          <a:p>
            <a:r>
              <a:rPr lang="en-AU" sz="2800" b="1" cap="small" dirty="0">
                <a:solidFill>
                  <a:schemeClr val="bg1"/>
                </a:solidFill>
                <a:latin typeface="+mj-lt"/>
              </a:rPr>
              <a:t>4.8 Approximating functions with sums of powers: Taylor’s formula</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330182" y="979746"/>
                <a:ext cx="11710929" cy="4801635"/>
              </a:xfrm>
              <a:prstGeom prst="rect">
                <a:avLst/>
              </a:prstGeom>
              <a:noFill/>
            </p:spPr>
            <p:txBody>
              <a:bodyPr wrap="square" rtlCol="0">
                <a:spAutoFit/>
              </a:bodyPr>
              <a:lstStyle/>
              <a:p>
                <a:pPr>
                  <a:spcAft>
                    <a:spcPts val="1200"/>
                  </a:spcAft>
                </a:pPr>
                <a:r>
                  <a:rPr lang="en-GB" sz="2400" dirty="0">
                    <a:latin typeface="+mj-lt"/>
                  </a:rPr>
                  <a:t>3) </a:t>
                </a:r>
                <a14:m>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4)</a:t>
                </a:r>
                <a14:m>
                  <m:oMath xmlns:m="http://schemas.openxmlformats.org/officeDocument/2006/math">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log</m:t>
                        </m:r>
                      </m:fName>
                      <m:e>
                        <m:r>
                          <a:rPr lang="en-AU" sz="2400" b="0" i="1" smtClean="0">
                            <a:latin typeface="Cambria Math" panose="02040503050406030204" pitchFamily="18" charset="0"/>
                          </a:rPr>
                          <m:t>(1+</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5)</a:t>
                </a:r>
                <a14:m>
                  <m:oMath xmlns:m="http://schemas.openxmlformats.org/officeDocument/2006/math">
                    <m:f>
                      <m:fPr>
                        <m:ctrlPr>
                          <a:rPr lang="en-GB" sz="240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1−</m:t>
                        </m:r>
                        <m:r>
                          <a:rPr lang="en-AU" sz="2400" b="0" i="1" smtClean="0">
                            <a:latin typeface="Cambria Math" panose="02040503050406030204" pitchFamily="18" charset="0"/>
                          </a:rPr>
                          <m:t>𝑥</m:t>
                        </m:r>
                      </m:den>
                    </m:f>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330182" y="979746"/>
                <a:ext cx="11710929" cy="4801635"/>
              </a:xfrm>
              <a:prstGeom prst="rect">
                <a:avLst/>
              </a:prstGeom>
              <a:blipFill>
                <a:blip r:embed="rId2"/>
                <a:stretch>
                  <a:fillRect l="-781" t="-1017" b="-508"/>
                </a:stretch>
              </a:blipFill>
            </p:spPr>
            <p:txBody>
              <a:bodyPr/>
              <a:lstStyle/>
              <a:p>
                <a:r>
                  <a:rPr lang="en-GB">
                    <a:noFill/>
                  </a:rPr>
                  <a:t> </a:t>
                </a:r>
              </a:p>
            </p:txBody>
          </p:sp>
        </mc:Fallback>
      </mc:AlternateContent>
    </p:spTree>
    <p:extLst>
      <p:ext uri="{BB962C8B-B14F-4D97-AF65-F5344CB8AC3E}">
        <p14:creationId xmlns:p14="http://schemas.microsoft.com/office/powerpoint/2010/main" val="310163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71936" cy="523220"/>
          </a:xfrm>
          <a:prstGeom prst="rect">
            <a:avLst/>
          </a:prstGeom>
          <a:noFill/>
        </p:spPr>
        <p:txBody>
          <a:bodyPr wrap="none" rtlCol="0">
            <a:spAutoFit/>
          </a:bodyPr>
          <a:lstStyle/>
          <a:p>
            <a:r>
              <a:rPr lang="en-AU" sz="2800" b="1" cap="small" dirty="0">
                <a:solidFill>
                  <a:schemeClr val="bg1"/>
                </a:solidFill>
                <a:latin typeface="+mj-lt"/>
              </a:rPr>
              <a:t>5.1 Antidifferentiation and fundamental integrals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339146" y="1617095"/>
                <a:ext cx="11710929" cy="4493859"/>
              </a:xfrm>
              <a:prstGeom prst="rect">
                <a:avLst/>
              </a:prstGeom>
              <a:noFill/>
            </p:spPr>
            <p:txBody>
              <a:bodyPr wrap="square" rtlCol="0">
                <a:spAutoFit/>
              </a:bodyPr>
              <a:lstStyle/>
              <a:p>
                <a:pPr>
                  <a:spcAft>
                    <a:spcPts val="1200"/>
                  </a:spcAft>
                </a:pPr>
                <a:r>
                  <a:rPr lang="en-AU" sz="2400" dirty="0">
                    <a:latin typeface="+mj-lt"/>
                  </a:rPr>
                  <a:t>Definition (Antiderivative and primitive).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an antiderivative of </a:t>
                </a:r>
                <a14:m>
                  <m:oMath xmlns:m="http://schemas.openxmlformats.org/officeDocument/2006/math">
                    <m:r>
                      <a:rPr lang="en-AU" sz="2400" b="0" i="1" smtClean="0">
                        <a:latin typeface="Cambria Math" panose="02040503050406030204" pitchFamily="18" charset="0"/>
                      </a:rPr>
                      <m:t>𝑓</m:t>
                    </m:r>
                  </m:oMath>
                </a14:m>
                <a:r>
                  <a:rPr lang="en-GB" sz="2400" dirty="0">
                    <a:latin typeface="+mj-lt"/>
                  </a:rPr>
                  <a:t> is any function </a:t>
                </a:r>
                <a14:m>
                  <m:oMath xmlns:m="http://schemas.openxmlformats.org/officeDocument/2006/math">
                    <m:r>
                      <a:rPr lang="en-AU" sz="2400" b="0" i="1" smtClean="0">
                        <a:latin typeface="Cambria Math" panose="02040503050406030204" pitchFamily="18" charset="0"/>
                      </a:rPr>
                      <m:t>𝐹</m:t>
                    </m:r>
                    <m:r>
                      <a:rPr lang="en-AU" sz="2400" i="1">
                        <a:latin typeface="Cambria Math" panose="02040503050406030204" pitchFamily="18" charset="0"/>
                      </a:rPr>
                      <m:t>:</m:t>
                    </m:r>
                    <m:r>
                      <a:rPr lang="en-AU" sz="2400" b="0" i="1" smtClean="0">
                        <a:latin typeface="Cambria Math" panose="02040503050406030204" pitchFamily="18" charset="0"/>
                      </a:rPr>
                      <m:t>𝑌</m:t>
                    </m:r>
                    <m:r>
                      <a:rPr lang="en-AU" sz="2400" i="1">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GB" sz="2400" dirty="0">
                    <a:latin typeface="+mj-lt"/>
                  </a:rPr>
                  <a:t> such that </a:t>
                </a:r>
              </a:p>
              <a:p>
                <a:pPr>
                  <a:spcAft>
                    <a:spcPts val="1200"/>
                  </a:spcAft>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𝐹</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GB" sz="2400" dirty="0">
                  <a:latin typeface="+mj-lt"/>
                </a:endParaRPr>
              </a:p>
              <a:p>
                <a:pPr>
                  <a:spcAft>
                    <a:spcPts val="1200"/>
                  </a:spcAft>
                </a:pPr>
                <a:r>
                  <a:rPr lang="en-GB" sz="2400" dirty="0">
                    <a:latin typeface="+mj-lt"/>
                  </a:rPr>
                  <a:t>i.e. its derivative corresponds to the original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a:t>
                </a:r>
                <a14:m>
                  <m:oMath xmlns:m="http://schemas.openxmlformats.org/officeDocument/2006/math">
                    <m:r>
                      <a:rPr lang="en-AU" sz="2400" b="0" i="1" smtClean="0">
                        <a:latin typeface="Cambria Math" panose="02040503050406030204" pitchFamily="18" charset="0"/>
                      </a:rPr>
                      <m:t>𝐹</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GB" sz="2400" dirty="0">
                    <a:latin typeface="+mj-lt"/>
                  </a:rPr>
                  <a:t> is said to be a primitive of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GB" sz="2400" dirty="0">
                    <a:latin typeface="+mj-lt"/>
                  </a:rPr>
                  <a:t>.</a:t>
                </a:r>
              </a:p>
              <a:p>
                <a:pPr>
                  <a:spcAft>
                    <a:spcPts val="1200"/>
                  </a:spcAft>
                </a:pPr>
                <a:r>
                  <a:rPr lang="en-GB" sz="2400" dirty="0">
                    <a:latin typeface="+mj-lt"/>
                  </a:rPr>
                  <a:t>Find antiderivatives of the following functions:</a:t>
                </a:r>
              </a:p>
              <a:p>
                <a:pPr>
                  <a:spcAft>
                    <a:spcPts val="1200"/>
                  </a:spcAft>
                </a:pPr>
                <a:r>
                  <a:rPr lang="en-AU" sz="2400" b="0" dirty="0"/>
                  <a:t> </a:t>
                </a:r>
                <a14:m>
                  <m:oMath xmlns:m="http://schemas.openxmlformats.org/officeDocument/2006/math">
                    <m:r>
                      <a:rPr lang="en-AU" sz="2400" b="0" i="1" smtClean="0">
                        <a:latin typeface="Cambria Math" panose="02040503050406030204" pitchFamily="18" charset="0"/>
                      </a:rPr>
                      <m:t>1, </m:t>
                    </m:r>
                    <m:r>
                      <a:rPr lang="en-AU" sz="2400" b="0" i="1" smtClean="0">
                        <a:latin typeface="Cambria Math" panose="02040503050406030204" pitchFamily="18" charset="0"/>
                      </a:rPr>
                      <m:t>𝑥</m:t>
                    </m:r>
                    <m:r>
                      <a:rPr lang="en-AU" sz="2400" b="0" i="1" smtClean="0">
                        <a:latin typeface="Cambria Math" panose="02040503050406030204" pitchFamily="18" charset="0"/>
                      </a:rPr>
                      <m:t>, </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 </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ln</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𝑥</m:t>
                        </m:r>
                      </m:den>
                    </m:f>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339146" y="1617095"/>
                <a:ext cx="11710929" cy="4493859"/>
              </a:xfrm>
              <a:prstGeom prst="rect">
                <a:avLst/>
              </a:prstGeom>
              <a:blipFill>
                <a:blip r:embed="rId2"/>
                <a:stretch>
                  <a:fillRect l="-833" t="-1085"/>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9567FC50-21AB-4F6F-849D-1D30319102D1}"/>
              </a:ext>
            </a:extLst>
          </p:cNvPr>
          <p:cNvSpPr txBox="1"/>
          <p:nvPr/>
        </p:nvSpPr>
        <p:spPr>
          <a:xfrm>
            <a:off x="339146" y="1026062"/>
            <a:ext cx="1355183" cy="461665"/>
          </a:xfrm>
          <a:prstGeom prst="rect">
            <a:avLst/>
          </a:prstGeom>
          <a:noFill/>
          <a:ln>
            <a:solidFill>
              <a:schemeClr val="accent2">
                <a:lumMod val="50000"/>
              </a:schemeClr>
            </a:solidFill>
          </a:ln>
        </p:spPr>
        <p:txBody>
          <a:bodyPr wrap="square" rtlCol="0">
            <a:spAutoFit/>
          </a:bodyPr>
          <a:lstStyle/>
          <a:p>
            <a:r>
              <a:rPr lang="en-AU" sz="2400" b="1" dirty="0">
                <a:latin typeface="+mj-lt"/>
              </a:rPr>
              <a:t>Module 5</a:t>
            </a:r>
            <a:endParaRPr lang="en-GB" sz="2400" b="1" dirty="0">
              <a:latin typeface="+mj-lt"/>
            </a:endParaRPr>
          </a:p>
        </p:txBody>
      </p:sp>
    </p:spTree>
    <p:extLst>
      <p:ext uri="{BB962C8B-B14F-4D97-AF65-F5344CB8AC3E}">
        <p14:creationId xmlns:p14="http://schemas.microsoft.com/office/powerpoint/2010/main" val="174992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71936" cy="523220"/>
          </a:xfrm>
          <a:prstGeom prst="rect">
            <a:avLst/>
          </a:prstGeom>
          <a:noFill/>
        </p:spPr>
        <p:txBody>
          <a:bodyPr wrap="none" rtlCol="0">
            <a:spAutoFit/>
          </a:bodyPr>
          <a:lstStyle/>
          <a:p>
            <a:r>
              <a:rPr lang="en-AU" sz="2800" b="1" cap="small" dirty="0">
                <a:solidFill>
                  <a:schemeClr val="bg1"/>
                </a:solidFill>
                <a:latin typeface="+mj-lt"/>
              </a:rPr>
              <a:t>5.1 Antidifferentiation and fundamental integrals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5117106"/>
              </a:xfrm>
              <a:prstGeom prst="rect">
                <a:avLst/>
              </a:prstGeom>
              <a:noFill/>
            </p:spPr>
            <p:txBody>
              <a:bodyPr wrap="square" rtlCol="0">
                <a:spAutoFit/>
              </a:bodyPr>
              <a:lstStyle/>
              <a:p>
                <a:pPr>
                  <a:spcAft>
                    <a:spcPts val="1200"/>
                  </a:spcAft>
                </a:pPr>
                <a:r>
                  <a:rPr lang="en-AU" sz="2400" dirty="0">
                    <a:latin typeface="+mj-lt"/>
                  </a:rPr>
                  <a:t>Definition (Antidifferentiation and integrand). Given a generic constant </a:t>
                </a:r>
                <a14:m>
                  <m:oMath xmlns:m="http://schemas.openxmlformats.org/officeDocument/2006/math">
                    <m:r>
                      <a:rPr lang="en-AU" sz="2400" b="0" i="1" smtClean="0">
                        <a:latin typeface="Cambria Math" panose="02040503050406030204" pitchFamily="18" charset="0"/>
                      </a:rPr>
                      <m:t>𝐶</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and one of its primitives </a:t>
                </a:r>
                <a14:m>
                  <m:oMath xmlns:m="http://schemas.openxmlformats.org/officeDocument/2006/math">
                    <m:r>
                      <a:rPr lang="en-AU" sz="2400" b="0" i="1" smtClean="0">
                        <a:latin typeface="Cambria Math" panose="02040503050406030204" pitchFamily="18" charset="0"/>
                      </a:rPr>
                      <m:t>𝐹</m:t>
                    </m:r>
                    <m:r>
                      <a:rPr lang="en-AU" sz="2400" i="1">
                        <a:latin typeface="Cambria Math" panose="02040503050406030204" pitchFamily="18" charset="0"/>
                      </a:rPr>
                      <m:t>:</m:t>
                    </m:r>
                    <m:r>
                      <a:rPr lang="en-AU" sz="2400" b="0" i="1" smtClean="0">
                        <a:latin typeface="Cambria Math" panose="02040503050406030204" pitchFamily="18" charset="0"/>
                      </a:rPr>
                      <m:t>𝑌</m:t>
                    </m:r>
                    <m:r>
                      <a:rPr lang="en-AU" sz="2400" i="1">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GB" sz="2400" dirty="0">
                    <a:latin typeface="+mj-lt"/>
                  </a:rPr>
                  <a:t>, </a:t>
                </a:r>
                <a:r>
                  <a:rPr lang="en-AU" sz="2400" dirty="0">
                    <a:latin typeface="+mj-lt"/>
                  </a:rPr>
                  <a:t>we indicate the process of antidifferentiation as follows:</a:t>
                </a:r>
              </a:p>
              <a:p>
                <a:pPr>
                  <a:spcAft>
                    <a:spcPts val="1200"/>
                  </a:spcAft>
                </a:pPr>
                <a14:m>
                  <m:oMathPara xmlns:m="http://schemas.openxmlformats.org/officeDocument/2006/math">
                    <m:oMathParaPr>
                      <m:jc m:val="centerGroup"/>
                    </m:oMathParaPr>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𝑑𝑥</m:t>
                          </m:r>
                        </m:e>
                      </m:nary>
                      <m:r>
                        <a:rPr lang="en-AU" sz="2400" b="0" i="1" smtClean="0">
                          <a:latin typeface="Cambria Math" panose="02040503050406030204" pitchFamily="18" charset="0"/>
                        </a:rPr>
                        <m:t>=</m:t>
                      </m:r>
                      <m:r>
                        <a:rPr lang="en-AU" sz="2400" b="0" i="1" smtClean="0">
                          <a:latin typeface="Cambria Math" panose="02040503050406030204" pitchFamily="18" charset="0"/>
                        </a:rPr>
                        <m:t>𝐹</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𝐶</m:t>
                      </m:r>
                    </m:oMath>
                  </m:oMathPara>
                </a14:m>
                <a:endParaRPr lang="en-GB" sz="2400" dirty="0">
                  <a:latin typeface="+mj-lt"/>
                </a:endParaRPr>
              </a:p>
              <a:p>
                <a:pPr>
                  <a:spcAft>
                    <a:spcPts val="1200"/>
                  </a:spcAft>
                </a:pPr>
                <a:r>
                  <a:rPr lang="en-GB" sz="2400" dirty="0">
                    <a:latin typeface="+mj-lt"/>
                  </a:rPr>
                  <a:t>The function </a:t>
                </a:r>
                <a14:m>
                  <m:oMath xmlns:m="http://schemas.openxmlformats.org/officeDocument/2006/math">
                    <m:r>
                      <a:rPr lang="en-AU" sz="2400" b="0" i="1" smtClean="0">
                        <a:latin typeface="Cambria Math" panose="02040503050406030204" pitchFamily="18" charset="0"/>
                      </a:rPr>
                      <m:t>𝑓</m:t>
                    </m:r>
                  </m:oMath>
                </a14:m>
                <a:r>
                  <a:rPr lang="en-GB" sz="2400" dirty="0">
                    <a:latin typeface="+mj-lt"/>
                  </a:rPr>
                  <a:t> is called the </a:t>
                </a:r>
                <a:r>
                  <a:rPr lang="en-GB" sz="2400" u="sng" dirty="0">
                    <a:latin typeface="+mj-lt"/>
                  </a:rPr>
                  <a:t>integrand</a:t>
                </a:r>
                <a:r>
                  <a:rPr lang="en-GB" sz="2400" dirty="0">
                    <a:latin typeface="+mj-lt"/>
                  </a:rPr>
                  <a:t> and the symbol ʃ is read as the “integral”.</a:t>
                </a:r>
              </a:p>
              <a:p>
                <a:pPr>
                  <a:spcAft>
                    <a:spcPts val="1200"/>
                  </a:spcAft>
                </a:pPr>
                <a:r>
                  <a:rPr lang="en-GB" sz="2400" dirty="0">
                    <a:latin typeface="+mj-lt"/>
                  </a:rPr>
                  <a:t>Note. Given a primitive </a:t>
                </a:r>
                <a14:m>
                  <m:oMath xmlns:m="http://schemas.openxmlformats.org/officeDocument/2006/math">
                    <m:r>
                      <a:rPr lang="en-AU" sz="2400" b="0" i="1" smtClean="0">
                        <a:latin typeface="Cambria Math" panose="02040503050406030204" pitchFamily="18" charset="0"/>
                      </a:rPr>
                      <m:t>𝐹</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GB" sz="2400" dirty="0">
                    <a:latin typeface="+mj-lt"/>
                  </a:rPr>
                  <a:t>, any function </a:t>
                </a:r>
                <a14:m>
                  <m:oMath xmlns:m="http://schemas.openxmlformats.org/officeDocument/2006/math">
                    <m:r>
                      <a:rPr lang="en-AU" sz="2400" i="1">
                        <a:latin typeface="Cambria Math" panose="02040503050406030204" pitchFamily="18" charset="0"/>
                      </a:rPr>
                      <m:t>𝐹</m:t>
                    </m:r>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𝐶</m:t>
                    </m:r>
                  </m:oMath>
                </a14:m>
                <a:r>
                  <a:rPr lang="en-GB" sz="2400" dirty="0">
                    <a:latin typeface="+mj-lt"/>
                  </a:rPr>
                  <a:t> is still a primitive, since</a:t>
                </a:r>
              </a:p>
              <a:p>
                <a:pPr>
                  <a:spcAft>
                    <a:spcPts val="1200"/>
                  </a:spcAft>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m:t>
                          </m:r>
                        </m:num>
                        <m:den>
                          <m:r>
                            <a:rPr lang="en-AU" sz="2400" b="0" i="1" smtClean="0">
                              <a:latin typeface="Cambria Math" panose="02040503050406030204" pitchFamily="18" charset="0"/>
                            </a:rPr>
                            <m:t>𝑑𝑥</m:t>
                          </m:r>
                        </m:den>
                      </m:f>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𝐹</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𝐶</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𝐹</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GB" sz="2400" dirty="0">
                  <a:latin typeface="+mj-lt"/>
                </a:endParaRPr>
              </a:p>
              <a:p>
                <a:pPr>
                  <a:spcAft>
                    <a:spcPts val="1200"/>
                  </a:spcAft>
                </a:pPr>
                <a:r>
                  <a:rPr lang="en-GB" sz="2400" dirty="0">
                    <a:latin typeface="+mj-lt"/>
                  </a:rPr>
                  <a:t>The process of antidifferentiation never returns a single primitive, but a whole </a:t>
                </a:r>
                <a:r>
                  <a:rPr lang="en-GB" sz="2400" i="1" dirty="0">
                    <a:latin typeface="+mj-lt"/>
                  </a:rPr>
                  <a:t>family</a:t>
                </a:r>
                <a:r>
                  <a:rPr lang="en-GB" sz="2400" dirty="0">
                    <a:latin typeface="+mj-lt"/>
                  </a:rPr>
                  <a:t> of primitives. For this reason, antidifferentiation is also referred to as “indefinite integration”.</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5117106"/>
              </a:xfrm>
              <a:prstGeom prst="rect">
                <a:avLst/>
              </a:prstGeom>
              <a:blipFill>
                <a:blip r:embed="rId2"/>
                <a:stretch>
                  <a:fillRect l="-780" t="-954" r="-468" b="-1788"/>
                </a:stretch>
              </a:blipFill>
            </p:spPr>
            <p:txBody>
              <a:bodyPr/>
              <a:lstStyle/>
              <a:p>
                <a:r>
                  <a:rPr lang="en-GB">
                    <a:noFill/>
                  </a:rPr>
                  <a:t> </a:t>
                </a:r>
              </a:p>
            </p:txBody>
          </p:sp>
        </mc:Fallback>
      </mc:AlternateContent>
    </p:spTree>
    <p:extLst>
      <p:ext uri="{BB962C8B-B14F-4D97-AF65-F5344CB8AC3E}">
        <p14:creationId xmlns:p14="http://schemas.microsoft.com/office/powerpoint/2010/main" val="351021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71936" cy="523220"/>
          </a:xfrm>
          <a:prstGeom prst="rect">
            <a:avLst/>
          </a:prstGeom>
          <a:noFill/>
        </p:spPr>
        <p:txBody>
          <a:bodyPr wrap="none" rtlCol="0">
            <a:spAutoFit/>
          </a:bodyPr>
          <a:lstStyle/>
          <a:p>
            <a:r>
              <a:rPr lang="en-AU" sz="2800" b="1" cap="small" dirty="0">
                <a:solidFill>
                  <a:schemeClr val="bg1"/>
                </a:solidFill>
                <a:latin typeface="+mj-lt"/>
              </a:rPr>
              <a:t>5.1 Antidifferentiation and fundamental integrals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5207772"/>
              </a:xfrm>
              <a:prstGeom prst="rect">
                <a:avLst/>
              </a:prstGeom>
              <a:noFill/>
            </p:spPr>
            <p:txBody>
              <a:bodyPr wrap="square" rtlCol="0">
                <a:spAutoFit/>
              </a:bodyPr>
              <a:lstStyle/>
              <a:p>
                <a:pPr>
                  <a:spcAft>
                    <a:spcPts val="1200"/>
                  </a:spcAft>
                </a:pPr>
                <a:r>
                  <a:rPr lang="en-AU" sz="2400" dirty="0">
                    <a:latin typeface="+mj-lt"/>
                  </a:rPr>
                  <a:t>Evaluate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r>
                          <a:rPr lang="en-AU" sz="2400" b="0" i="1" smtClean="0">
                            <a:latin typeface="Cambria Math" panose="02040503050406030204" pitchFamily="18" charset="0"/>
                          </a:rPr>
                          <m:t>3</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Theorem (Linearity of antidifferentiation). For two generic functions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𝑔</m:t>
                    </m:r>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GB" sz="2400" dirty="0">
                    <a:latin typeface="+mj-lt"/>
                  </a:rPr>
                  <a:t>, given </a:t>
                </a:r>
                <a14:m>
                  <m:oMath xmlns:m="http://schemas.openxmlformats.org/officeDocument/2006/math">
                    <m:r>
                      <a:rPr lang="en-AU" sz="2400" b="0" i="1" smtClean="0">
                        <a:latin typeface="Cambria Math" panose="02040503050406030204" pitchFamily="18" charset="0"/>
                      </a:rPr>
                      <m:t>𝑐</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GB" sz="2400" dirty="0">
                    <a:latin typeface="+mj-lt"/>
                  </a:rPr>
                  <a:t>, the following basic properties apply:</a:t>
                </a:r>
              </a:p>
              <a:p>
                <a:pPr>
                  <a:spcAft>
                    <a:spcPts val="1200"/>
                  </a:spcAft>
                </a:pPr>
                <a:endParaRPr lang="en-GB" sz="2400" dirty="0">
                  <a:latin typeface="+mj-lt"/>
                </a:endParaRPr>
              </a:p>
              <a:p>
                <a:pPr>
                  <a:spcAft>
                    <a:spcPts val="1200"/>
                  </a:spcAft>
                </a:pPr>
                <a:r>
                  <a:rPr lang="en-GB" sz="2400" dirty="0">
                    <a:latin typeface="+mj-lt"/>
                  </a:rPr>
                  <a:t>1. Addition/subtraction of functions: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𝑔</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e>
                        </m:d>
                        <m:r>
                          <a:rPr lang="en-AU" sz="2400" b="0" i="1" smtClean="0">
                            <a:latin typeface="Cambria Math" panose="02040503050406030204" pitchFamily="18" charset="0"/>
                            <a:ea typeface="Cambria Math" panose="02040503050406030204" pitchFamily="18" charset="0"/>
                          </a:rPr>
                          <m:t>𝑑𝑥</m:t>
                        </m:r>
                        <m:r>
                          <a:rPr lang="en-AU" sz="2400" b="0" i="1" smtClean="0">
                            <a:latin typeface="Cambria Math" panose="02040503050406030204" pitchFamily="18" charset="0"/>
                            <a:ea typeface="Cambria Math" panose="02040503050406030204" pitchFamily="18" charset="0"/>
                          </a:rPr>
                          <m:t>=</m:t>
                        </m:r>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r>
                              <a:rPr lang="en-AU" sz="2400" b="0" i="1" smtClean="0">
                                <a:latin typeface="Cambria Math" panose="02040503050406030204" pitchFamily="18" charset="0"/>
                                <a:ea typeface="Cambria Math" panose="02040503050406030204" pitchFamily="18" charset="0"/>
                              </a:rPr>
                              <m:t>𝑓</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𝑑𝑥</m:t>
                            </m:r>
                          </m:e>
                        </m:nary>
                        <m:r>
                          <a:rPr lang="en-AU" sz="2400" b="0" i="1" smtClean="0">
                            <a:latin typeface="Cambria Math" panose="02040503050406030204" pitchFamily="18" charset="0"/>
                            <a:ea typeface="Cambria Math" panose="02040503050406030204" pitchFamily="18" charset="0"/>
                          </a:rPr>
                          <m:t>±</m:t>
                        </m:r>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r>
                              <a:rPr lang="en-AU" sz="2400" b="0" i="1" smtClean="0">
                                <a:latin typeface="Cambria Math" panose="02040503050406030204" pitchFamily="18" charset="0"/>
                                <a:ea typeface="Cambria Math" panose="02040503050406030204" pitchFamily="18" charset="0"/>
                              </a:rPr>
                              <m:t>𝑔</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𝑑𝑥</m:t>
                            </m:r>
                          </m:e>
                        </m:nary>
                      </m:e>
                    </m:nary>
                  </m:oMath>
                </a14:m>
                <a:endParaRPr lang="en-GB" sz="2400" dirty="0">
                  <a:latin typeface="+mj-lt"/>
                </a:endParaRPr>
              </a:p>
              <a:p>
                <a:pPr marL="457200" indent="-457200">
                  <a:spcAft>
                    <a:spcPts val="1200"/>
                  </a:spcAft>
                  <a:buAutoNum type="arabicPeriod"/>
                </a:pPr>
                <a:endParaRPr lang="en-GB" sz="2400" dirty="0">
                  <a:latin typeface="+mj-lt"/>
                </a:endParaRPr>
              </a:p>
              <a:p>
                <a:pPr>
                  <a:spcAft>
                    <a:spcPts val="1200"/>
                  </a:spcAft>
                </a:pPr>
                <a:r>
                  <a:rPr lang="en-GB" sz="2400" dirty="0">
                    <a:latin typeface="+mj-lt"/>
                  </a:rPr>
                  <a:t>2. Multiplication by a constant: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𝑐𝑓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𝑑𝑥</m:t>
                        </m:r>
                      </m:e>
                    </m:nary>
                    <m:r>
                      <a:rPr lang="en-AU" sz="2400" b="0" i="1" smtClean="0">
                        <a:latin typeface="Cambria Math" panose="02040503050406030204" pitchFamily="18" charset="0"/>
                      </a:rPr>
                      <m:t>=</m:t>
                    </m:r>
                    <m:r>
                      <a:rPr lang="en-AU" sz="2400" b="0" i="1" smtClean="0">
                        <a:latin typeface="Cambria Math" panose="02040503050406030204" pitchFamily="18" charset="0"/>
                      </a:rPr>
                      <m:t>𝑐</m:t>
                    </m:r>
                    <m:nary>
                      <m:naryPr>
                        <m:limLoc m:val="undOvr"/>
                        <m:subHide m:val="on"/>
                        <m:supHide m:val="on"/>
                        <m:ctrlPr>
                          <a:rPr lang="en-AU" sz="2400" b="0" i="1" smtClean="0">
                            <a:latin typeface="Cambria Math" panose="02040503050406030204" pitchFamily="18" charset="0"/>
                          </a:rPr>
                        </m:ctrlPr>
                      </m:naryPr>
                      <m:sub/>
                      <m:sup/>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𝑑𝑥</m:t>
                        </m:r>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5207772"/>
              </a:xfrm>
              <a:prstGeom prst="rect">
                <a:avLst/>
              </a:prstGeom>
              <a:blipFill>
                <a:blip r:embed="rId2"/>
                <a:stretch>
                  <a:fillRect l="-780" t="-14169" b="-19321"/>
                </a:stretch>
              </a:blipFill>
            </p:spPr>
            <p:txBody>
              <a:bodyPr/>
              <a:lstStyle/>
              <a:p>
                <a:r>
                  <a:rPr lang="en-GB">
                    <a:noFill/>
                  </a:rPr>
                  <a:t> </a:t>
                </a:r>
              </a:p>
            </p:txBody>
          </p:sp>
        </mc:Fallback>
      </mc:AlternateContent>
    </p:spTree>
    <p:extLst>
      <p:ext uri="{BB962C8B-B14F-4D97-AF65-F5344CB8AC3E}">
        <p14:creationId xmlns:p14="http://schemas.microsoft.com/office/powerpoint/2010/main" val="959947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71936" cy="523220"/>
          </a:xfrm>
          <a:prstGeom prst="rect">
            <a:avLst/>
          </a:prstGeom>
          <a:noFill/>
        </p:spPr>
        <p:txBody>
          <a:bodyPr wrap="none" rtlCol="0">
            <a:spAutoFit/>
          </a:bodyPr>
          <a:lstStyle/>
          <a:p>
            <a:r>
              <a:rPr lang="en-AU" sz="2800" b="1" cap="small" dirty="0">
                <a:solidFill>
                  <a:schemeClr val="bg1"/>
                </a:solidFill>
                <a:latin typeface="+mj-lt"/>
              </a:rPr>
              <a:t>5.1 Antidifferentiation and fundamental integrals</a:t>
            </a:r>
            <a:endParaRPr lang="en-GB" sz="2800" b="1" cap="small" dirty="0">
              <a:solidFill>
                <a:schemeClr val="bg1"/>
              </a:solidFill>
              <a:latin typeface="+mj-lt"/>
            </a:endParaRPr>
          </a:p>
        </p:txBody>
      </p:sp>
      <p:pic>
        <p:nvPicPr>
          <p:cNvPr id="4" name="Picture 3">
            <a:extLst>
              <a:ext uri="{FF2B5EF4-FFF2-40B4-BE49-F238E27FC236}">
                <a16:creationId xmlns:a16="http://schemas.microsoft.com/office/drawing/2014/main" id="{A1F25CD8-F313-40CD-BDBD-A61FD09491D4}"/>
              </a:ext>
            </a:extLst>
          </p:cNvPr>
          <p:cNvPicPr>
            <a:picLocks noChangeAspect="1"/>
          </p:cNvPicPr>
          <p:nvPr/>
        </p:nvPicPr>
        <p:blipFill>
          <a:blip r:embed="rId2">
            <a:duotone>
              <a:prstClr val="black"/>
              <a:schemeClr val="accent6">
                <a:tint val="45000"/>
                <a:satMod val="400000"/>
              </a:schemeClr>
            </a:duotone>
          </a:blip>
          <a:stretch>
            <a:fillRect/>
          </a:stretch>
        </p:blipFill>
        <p:spPr>
          <a:xfrm>
            <a:off x="2724838" y="1258677"/>
            <a:ext cx="6742323" cy="4340646"/>
          </a:xfrm>
          <a:prstGeom prst="rect">
            <a:avLst/>
          </a:prstGeom>
          <a:ln>
            <a:solidFill>
              <a:schemeClr val="tx1"/>
            </a:solidFill>
          </a:ln>
        </p:spPr>
      </p:pic>
    </p:spTree>
    <p:extLst>
      <p:ext uri="{BB962C8B-B14F-4D97-AF65-F5344CB8AC3E}">
        <p14:creationId xmlns:p14="http://schemas.microsoft.com/office/powerpoint/2010/main" val="1857642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71936" cy="523220"/>
          </a:xfrm>
          <a:prstGeom prst="rect">
            <a:avLst/>
          </a:prstGeom>
          <a:noFill/>
        </p:spPr>
        <p:txBody>
          <a:bodyPr wrap="none" rtlCol="0">
            <a:spAutoFit/>
          </a:bodyPr>
          <a:lstStyle/>
          <a:p>
            <a:r>
              <a:rPr lang="en-AU" sz="2800" b="1" cap="small" dirty="0">
                <a:solidFill>
                  <a:schemeClr val="bg1"/>
                </a:solidFill>
                <a:latin typeface="+mj-lt"/>
              </a:rPr>
              <a:t>5.1 Antidifferentiation and fundamental integrals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4887941"/>
              </a:xfrm>
              <a:prstGeom prst="rect">
                <a:avLst/>
              </a:prstGeom>
              <a:noFill/>
            </p:spPr>
            <p:txBody>
              <a:bodyPr wrap="square" rtlCol="0">
                <a:spAutoFit/>
              </a:bodyPr>
              <a:lstStyle/>
              <a:p>
                <a:pPr>
                  <a:spcAft>
                    <a:spcPts val="1200"/>
                  </a:spcAft>
                </a:pPr>
                <a:r>
                  <a:rPr lang="en-AU" sz="2400" dirty="0">
                    <a:latin typeface="+mj-lt"/>
                  </a:rPr>
                  <a:t>Find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+5</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Find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d>
                          <m:dPr>
                            <m:ctrlPr>
                              <a:rPr lang="en-GB" sz="2400" i="1" smtClean="0">
                                <a:latin typeface="Cambria Math" panose="02040503050406030204" pitchFamily="18" charset="0"/>
                              </a:rPr>
                            </m:ctrlPr>
                          </m:dPr>
                          <m:e>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5</m:t>
                                </m:r>
                              </m:num>
                              <m:den>
                                <m:r>
                                  <a:rPr lang="en-AU" sz="2400" b="0" i="1" smtClean="0">
                                    <a:latin typeface="Cambria Math" panose="02040503050406030204" pitchFamily="18" charset="0"/>
                                  </a:rPr>
                                  <m:t>𝑥</m:t>
                                </m:r>
                              </m:den>
                            </m:f>
                            <m:r>
                              <a:rPr lang="en-AU" sz="2400" b="0" i="1" smtClean="0">
                                <a:latin typeface="Cambria Math" panose="02040503050406030204" pitchFamily="18" charset="0"/>
                              </a:rPr>
                              <m:t>−2</m:t>
                            </m:r>
                            <m:rad>
                              <m:radPr>
                                <m:ctrlPr>
                                  <a:rPr lang="en-AU" sz="2400" b="0" i="1" smtClean="0">
                                    <a:latin typeface="Cambria Math" panose="02040503050406030204" pitchFamily="18" charset="0"/>
                                  </a:rPr>
                                </m:ctrlPr>
                              </m:radPr>
                              <m:deg>
                                <m:r>
                                  <m:rPr>
                                    <m:brk m:alnAt="7"/>
                                  </m:rPr>
                                  <a:rPr lang="en-AU" sz="2400" b="0" i="1" smtClean="0">
                                    <a:latin typeface="Cambria Math" panose="02040503050406030204" pitchFamily="18" charset="0"/>
                                  </a:rPr>
                                  <m:t>3</m:t>
                                </m:r>
                              </m:deg>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e>
                            </m:rad>
                          </m:e>
                        </m:d>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4887941"/>
              </a:xfrm>
              <a:prstGeom prst="rect">
                <a:avLst/>
              </a:prstGeom>
              <a:blipFill>
                <a:blip r:embed="rId2"/>
                <a:stretch>
                  <a:fillRect l="-780" t="-15087"/>
                </a:stretch>
              </a:blipFill>
            </p:spPr>
            <p:txBody>
              <a:bodyPr/>
              <a:lstStyle/>
              <a:p>
                <a:r>
                  <a:rPr lang="en-GB">
                    <a:noFill/>
                  </a:rPr>
                  <a:t> </a:t>
                </a:r>
              </a:p>
            </p:txBody>
          </p:sp>
        </mc:Fallback>
      </mc:AlternateContent>
    </p:spTree>
    <p:extLst>
      <p:ext uri="{BB962C8B-B14F-4D97-AF65-F5344CB8AC3E}">
        <p14:creationId xmlns:p14="http://schemas.microsoft.com/office/powerpoint/2010/main" val="1135106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71936" cy="523220"/>
          </a:xfrm>
          <a:prstGeom prst="rect">
            <a:avLst/>
          </a:prstGeom>
          <a:noFill/>
        </p:spPr>
        <p:txBody>
          <a:bodyPr wrap="none" rtlCol="0">
            <a:spAutoFit/>
          </a:bodyPr>
          <a:lstStyle/>
          <a:p>
            <a:r>
              <a:rPr lang="en-AU" sz="2800" b="1" cap="small" dirty="0">
                <a:solidFill>
                  <a:schemeClr val="bg1"/>
                </a:solidFill>
                <a:latin typeface="+mj-lt"/>
              </a:rPr>
              <a:t>5.1 Antidifferentiation and fundamental integrals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5016501"/>
              </a:xfrm>
              <a:prstGeom prst="rect">
                <a:avLst/>
              </a:prstGeom>
              <a:noFill/>
            </p:spPr>
            <p:txBody>
              <a:bodyPr wrap="square" rtlCol="0">
                <a:spAutoFit/>
              </a:bodyPr>
              <a:lstStyle/>
              <a:p>
                <a:pPr>
                  <a:spcAft>
                    <a:spcPts val="1200"/>
                  </a:spcAft>
                </a:pPr>
                <a:r>
                  <a:rPr lang="en-AU" sz="2400" dirty="0">
                    <a:latin typeface="+mj-lt"/>
                  </a:rPr>
                  <a:t>Find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f>
                          <m:fPr>
                            <m:ctrlPr>
                              <a:rPr lang="en-AU" sz="240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5</m:t>
                                </m:r>
                              </m:sup>
                            </m:sSup>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−2</m:t>
                            </m:r>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den>
                        </m:f>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Find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
                          <m:fPr>
                            <m:ctrlPr>
                              <a:rPr lang="en-GB" sz="2400" i="1" smtClean="0">
                                <a:latin typeface="Cambria Math" panose="02040503050406030204" pitchFamily="18" charset="0"/>
                              </a:rPr>
                            </m:ctrlPr>
                          </m:fPr>
                          <m:num>
                            <m:r>
                              <a:rPr lang="en-AU" sz="2400" b="0" i="1" smtClean="0">
                                <a:latin typeface="Cambria Math" panose="02040503050406030204" pitchFamily="18" charset="0"/>
                              </a:rPr>
                              <m:t>2</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+3</m:t>
                            </m:r>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+1</m:t>
                            </m:r>
                          </m:den>
                        </m:f>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5016501"/>
              </a:xfrm>
              <a:prstGeom prst="rect">
                <a:avLst/>
              </a:prstGeom>
              <a:blipFill>
                <a:blip r:embed="rId2"/>
                <a:stretch>
                  <a:fillRect l="-780"/>
                </a:stretch>
              </a:blipFill>
            </p:spPr>
            <p:txBody>
              <a:bodyPr/>
              <a:lstStyle/>
              <a:p>
                <a:r>
                  <a:rPr lang="en-GB">
                    <a:noFill/>
                  </a:rPr>
                  <a:t> </a:t>
                </a:r>
              </a:p>
            </p:txBody>
          </p:sp>
        </mc:Fallback>
      </mc:AlternateContent>
    </p:spTree>
    <p:extLst>
      <p:ext uri="{BB962C8B-B14F-4D97-AF65-F5344CB8AC3E}">
        <p14:creationId xmlns:p14="http://schemas.microsoft.com/office/powerpoint/2010/main" val="3677972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175175" cy="523220"/>
          </a:xfrm>
          <a:prstGeom prst="rect">
            <a:avLst/>
          </a:prstGeom>
          <a:noFill/>
        </p:spPr>
        <p:txBody>
          <a:bodyPr wrap="none" rtlCol="0">
            <a:spAutoFit/>
          </a:bodyPr>
          <a:lstStyle/>
          <a:p>
            <a:r>
              <a:rPr lang="en-AU" sz="2800" b="1" cap="small" dirty="0">
                <a:solidFill>
                  <a:schemeClr val="bg1"/>
                </a:solidFill>
                <a:latin typeface="+mj-lt"/>
              </a:rPr>
              <a:t>5.2 Integration of standard expressions where the argument is a linear function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4276555"/>
              </a:xfrm>
              <a:prstGeom prst="rect">
                <a:avLst/>
              </a:prstGeom>
              <a:noFill/>
            </p:spPr>
            <p:txBody>
              <a:bodyPr wrap="square" rtlCol="0">
                <a:spAutoFit/>
              </a:bodyPr>
              <a:lstStyle/>
              <a:p>
                <a:pPr>
                  <a:spcAft>
                    <a:spcPts val="1200"/>
                  </a:spcAft>
                </a:pPr>
                <a:r>
                  <a:rPr lang="en-AU" sz="2400" dirty="0">
                    <a:latin typeface="+mj-lt"/>
                  </a:rPr>
                  <a:t>Standard antiderivatives can also be used when the argument of the function in the integrand is a linear function of </a:t>
                </a:r>
                <a14:m>
                  <m:oMath xmlns:m="http://schemas.openxmlformats.org/officeDocument/2006/math">
                    <m:r>
                      <a:rPr lang="en-AU" sz="2400" b="0" i="1" smtClean="0">
                        <a:latin typeface="Cambria Math" panose="02040503050406030204" pitchFamily="18" charset="0"/>
                      </a:rPr>
                      <m:t>𝑥</m:t>
                    </m:r>
                  </m:oMath>
                </a14:m>
                <a:r>
                  <a:rPr lang="en-GB" sz="2400" dirty="0">
                    <a:latin typeface="+mj-lt"/>
                  </a:rPr>
                  <a:t>, i.e.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𝑎𝑥</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oMath>
                </a14:m>
                <a:r>
                  <a:rPr lang="en-GB" sz="2400" dirty="0">
                    <a:latin typeface="+mj-lt"/>
                  </a:rPr>
                  <a:t> with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a:t>
                </a:r>
              </a:p>
              <a:p>
                <a:pPr>
                  <a:spcAft>
                    <a:spcPts val="1200"/>
                  </a:spcAft>
                </a:pPr>
                <a:r>
                  <a:rPr lang="en-GB" sz="2400" dirty="0">
                    <a:latin typeface="+mj-lt"/>
                  </a:rPr>
                  <a:t>Theorem. Consider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and a primitive </a:t>
                </a:r>
                <a14:m>
                  <m:oMath xmlns:m="http://schemas.openxmlformats.org/officeDocument/2006/math">
                    <m:r>
                      <a:rPr lang="en-AU" sz="2400" b="0" i="1" smtClean="0">
                        <a:latin typeface="Cambria Math" panose="02040503050406030204" pitchFamily="18" charset="0"/>
                      </a:rPr>
                      <m:t>𝐹</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such that</a:t>
                </a:r>
              </a:p>
              <a:p>
                <a:pPr>
                  <a:spcAft>
                    <a:spcPts val="1200"/>
                  </a:spcAft>
                </a:pPr>
                <a14:m>
                  <m:oMathPara xmlns:m="http://schemas.openxmlformats.org/officeDocument/2006/math">
                    <m:oMathParaPr>
                      <m:jc m:val="centerGroup"/>
                    </m:oMathParaPr>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𝑑𝑥</m:t>
                          </m:r>
                        </m:e>
                      </m:nary>
                      <m:r>
                        <a:rPr lang="en-AU" sz="2400" b="0" i="1" smtClean="0">
                          <a:latin typeface="Cambria Math" panose="02040503050406030204" pitchFamily="18" charset="0"/>
                        </a:rPr>
                        <m:t>=</m:t>
                      </m:r>
                      <m:r>
                        <a:rPr lang="en-AU" sz="2400" b="0" i="1" smtClean="0">
                          <a:latin typeface="Cambria Math" panose="02040503050406030204" pitchFamily="18" charset="0"/>
                        </a:rPr>
                        <m:t>𝐹</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𝐶</m:t>
                      </m:r>
                    </m:oMath>
                  </m:oMathPara>
                </a14:m>
                <a:endParaRPr lang="en-GB" sz="2400" dirty="0">
                  <a:latin typeface="+mj-lt"/>
                </a:endParaRPr>
              </a:p>
              <a:p>
                <a:pPr>
                  <a:spcAft>
                    <a:spcPts val="1200"/>
                  </a:spcAft>
                </a:pPr>
                <a:r>
                  <a:rPr lang="en-GB" sz="2400" dirty="0">
                    <a:latin typeface="+mj-lt"/>
                  </a:rPr>
                  <a:t>If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then</a:t>
                </a:r>
              </a:p>
              <a:p>
                <a:pPr>
                  <a:spcAft>
                    <a:spcPts val="1200"/>
                  </a:spcAft>
                </a:pPr>
                <a14:m>
                  <m:oMathPara xmlns:m="http://schemas.openxmlformats.org/officeDocument/2006/math">
                    <m:oMathParaPr>
                      <m:jc m:val="centerGroup"/>
                    </m:oMathParaPr>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𝑎𝑥</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rPr>
                            <m:t>𝑑𝑥</m:t>
                          </m:r>
                        </m:e>
                      </m:nary>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𝑎</m:t>
                          </m:r>
                        </m:den>
                      </m:f>
                      <m:r>
                        <a:rPr lang="en-AU" sz="2400" b="0" i="1" smtClean="0">
                          <a:latin typeface="Cambria Math" panose="02040503050406030204" pitchFamily="18" charset="0"/>
                        </a:rPr>
                        <m:t>𝐹</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𝑎𝑥</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rPr>
                        <m:t>+</m:t>
                      </m:r>
                      <m:r>
                        <a:rPr lang="en-AU" sz="2400" b="0" i="1" smtClean="0">
                          <a:latin typeface="Cambria Math" panose="02040503050406030204" pitchFamily="18" charset="0"/>
                        </a:rPr>
                        <m:t>𝐶</m:t>
                      </m:r>
                    </m:oMath>
                  </m:oMathPara>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4276555"/>
              </a:xfrm>
              <a:prstGeom prst="rect">
                <a:avLst/>
              </a:prstGeom>
              <a:blipFill>
                <a:blip r:embed="rId2"/>
                <a:stretch>
                  <a:fillRect l="-780" t="-1141" r="-416"/>
                </a:stretch>
              </a:blipFill>
            </p:spPr>
            <p:txBody>
              <a:bodyPr/>
              <a:lstStyle/>
              <a:p>
                <a:r>
                  <a:rPr lang="en-GB">
                    <a:noFill/>
                  </a:rPr>
                  <a:t> </a:t>
                </a:r>
              </a:p>
            </p:txBody>
          </p:sp>
        </mc:Fallback>
      </mc:AlternateContent>
    </p:spTree>
    <p:extLst>
      <p:ext uri="{BB962C8B-B14F-4D97-AF65-F5344CB8AC3E}">
        <p14:creationId xmlns:p14="http://schemas.microsoft.com/office/powerpoint/2010/main" val="133010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175175" cy="523220"/>
          </a:xfrm>
          <a:prstGeom prst="rect">
            <a:avLst/>
          </a:prstGeom>
          <a:noFill/>
        </p:spPr>
        <p:txBody>
          <a:bodyPr wrap="none" rtlCol="0">
            <a:spAutoFit/>
          </a:bodyPr>
          <a:lstStyle/>
          <a:p>
            <a:r>
              <a:rPr lang="en-AU" sz="2800" b="1" cap="small" dirty="0">
                <a:solidFill>
                  <a:schemeClr val="bg1"/>
                </a:solidFill>
                <a:latin typeface="+mj-lt"/>
              </a:rPr>
              <a:t>5.2 Integration of standard expressions where the argument is a linear function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4430636"/>
              </a:xfrm>
              <a:prstGeom prst="rect">
                <a:avLst/>
              </a:prstGeom>
              <a:noFill/>
            </p:spPr>
            <p:txBody>
              <a:bodyPr wrap="square" rtlCol="0">
                <a:spAutoFit/>
              </a:bodyPr>
              <a:lstStyle/>
              <a:p>
                <a:pPr>
                  <a:spcAft>
                    <a:spcPts val="1200"/>
                  </a:spcAft>
                </a:pPr>
                <a:r>
                  <a:rPr lang="en-AU" sz="2400" dirty="0">
                    <a:latin typeface="+mj-lt"/>
                  </a:rPr>
                  <a:t>Evaluate the following integrals:</a:t>
                </a:r>
              </a:p>
              <a:p>
                <a:pPr>
                  <a:spcAft>
                    <a:spcPts val="1200"/>
                  </a:spcAft>
                </a:pPr>
                <a:r>
                  <a:rPr lang="en-AU" sz="2400" dirty="0">
                    <a:latin typeface="+mj-lt"/>
                  </a:rPr>
                  <a:t>1.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+3)</m:t>
                            </m:r>
                          </m:e>
                        </m:func>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2.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6</m:t>
                                    </m:r>
                                    <m:r>
                                      <a:rPr lang="en-AU" sz="2400" b="0" i="1" smtClean="0">
                                        <a:latin typeface="Cambria Math" panose="02040503050406030204" pitchFamily="18" charset="0"/>
                                      </a:rPr>
                                      <m:t>𝑥</m:t>
                                    </m:r>
                                    <m:r>
                                      <a:rPr lang="en-AU" sz="2400" b="0" i="1" smtClean="0">
                                        <a:latin typeface="Cambria Math" panose="02040503050406030204" pitchFamily="18" charset="0"/>
                                      </a:rPr>
                                      <m:t>−1</m:t>
                                    </m:r>
                                  </m:e>
                                </m:d>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3.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+7</m:t>
                            </m:r>
                          </m:sup>
                        </m:sSup>
                        <m:r>
                          <a:rPr lang="en-AU" sz="2400" b="0" i="1" smtClean="0">
                            <a:latin typeface="Cambria Math" panose="02040503050406030204" pitchFamily="18" charset="0"/>
                          </a:rPr>
                          <m:t>𝑑𝑥</m:t>
                        </m:r>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4430636"/>
              </a:xfrm>
              <a:prstGeom prst="rect">
                <a:avLst/>
              </a:prstGeom>
              <a:blipFill>
                <a:blip r:embed="rId2"/>
                <a:stretch>
                  <a:fillRect l="-2289" t="-4952" b="-22834"/>
                </a:stretch>
              </a:blipFill>
            </p:spPr>
            <p:txBody>
              <a:bodyPr/>
              <a:lstStyle/>
              <a:p>
                <a:r>
                  <a:rPr lang="en-GB">
                    <a:noFill/>
                  </a:rPr>
                  <a:t> </a:t>
                </a:r>
              </a:p>
            </p:txBody>
          </p:sp>
        </mc:Fallback>
      </mc:AlternateContent>
    </p:spTree>
    <p:extLst>
      <p:ext uri="{BB962C8B-B14F-4D97-AF65-F5344CB8AC3E}">
        <p14:creationId xmlns:p14="http://schemas.microsoft.com/office/powerpoint/2010/main" val="2666730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856283" cy="523220"/>
          </a:xfrm>
          <a:prstGeom prst="rect">
            <a:avLst/>
          </a:prstGeom>
          <a:noFill/>
        </p:spPr>
        <p:txBody>
          <a:bodyPr wrap="none" rtlCol="0">
            <a:spAutoFit/>
          </a:bodyPr>
          <a:lstStyle/>
          <a:p>
            <a:r>
              <a:rPr lang="en-AU" sz="2800" b="1" cap="small" dirty="0">
                <a:solidFill>
                  <a:schemeClr val="bg1"/>
                </a:solidFill>
                <a:latin typeface="+mj-lt"/>
              </a:rPr>
              <a:t>5.3 Integration by derivative substitution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5238935"/>
              </a:xfrm>
              <a:prstGeom prst="rect">
                <a:avLst/>
              </a:prstGeom>
              <a:noFill/>
            </p:spPr>
            <p:txBody>
              <a:bodyPr wrap="square" rtlCol="0">
                <a:spAutoFit/>
              </a:bodyPr>
              <a:lstStyle/>
              <a:p>
                <a:pPr>
                  <a:spcAft>
                    <a:spcPts val="1200"/>
                  </a:spcAft>
                </a:pPr>
                <a:r>
                  <a:rPr lang="en-AU" sz="2400" dirty="0">
                    <a:latin typeface="+mj-lt"/>
                  </a:rPr>
                  <a:t>The number of standard antiderivatives is quite limited, because only a few functions are known to have antiderivatives that can be expressed explicitly (i.e. analytically). For example,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rad>
                          <m:radPr>
                            <m:degHide m:val="on"/>
                            <m:ctrlPr>
                              <a:rPr lang="en-AU" sz="2400" i="1" smtClean="0">
                                <a:latin typeface="Cambria Math" panose="02040503050406030204" pitchFamily="18" charset="0"/>
                              </a:rPr>
                            </m:ctrlPr>
                          </m:radPr>
                          <m:deg/>
                          <m:e>
                            <m:r>
                              <a:rPr lang="en-AU" sz="2400" b="0" i="1" smtClean="0">
                                <a:latin typeface="Cambria Math" panose="02040503050406030204" pitchFamily="18" charset="0"/>
                              </a:rPr>
                              <m:t>𝑥</m:t>
                            </m:r>
                          </m:e>
                        </m:rad>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𝑑𝑥</m:t>
                        </m:r>
                      </m:e>
                    </m:nary>
                  </m:oMath>
                </a14:m>
                <a:r>
                  <a:rPr lang="en-AU" sz="2400" dirty="0">
                    <a:latin typeface="+mj-lt"/>
                  </a:rPr>
                  <a:t>,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f>
                          <m:fPr>
                            <m:ctrlPr>
                              <a:rPr lang="en-AU" sz="2400" b="0" i="1" smtClean="0">
                                <a:latin typeface="Cambria Math" panose="02040503050406030204" pitchFamily="18" charset="0"/>
                              </a:rPr>
                            </m:ctrlPr>
                          </m:fPr>
                          <m:num>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ln</m:t>
                                </m:r>
                              </m:fName>
                              <m:e>
                                <m:r>
                                  <a:rPr lang="en-AU" sz="2400" b="0" i="1" smtClean="0">
                                    <a:latin typeface="Cambria Math" panose="02040503050406030204" pitchFamily="18" charset="0"/>
                                  </a:rPr>
                                  <m:t>𝑥</m:t>
                                </m:r>
                              </m:e>
                            </m:func>
                          </m:num>
                          <m:den>
                            <m:r>
                              <a:rPr lang="en-AU" sz="2400" b="0" i="1" smtClean="0">
                                <a:latin typeface="Cambria Math" panose="02040503050406030204" pitchFamily="18" charset="0"/>
                              </a:rPr>
                              <m:t>1+</m:t>
                            </m:r>
                            <m:r>
                              <a:rPr lang="en-AU" sz="2400" b="0" i="1" smtClean="0">
                                <a:latin typeface="Cambria Math" panose="02040503050406030204" pitchFamily="18" charset="0"/>
                              </a:rPr>
                              <m:t>𝑥</m:t>
                            </m:r>
                          </m:den>
                        </m:f>
                        <m:r>
                          <a:rPr lang="en-AU" sz="2400" b="0" i="1" smtClean="0">
                            <a:latin typeface="Cambria Math" panose="02040503050406030204" pitchFamily="18" charset="0"/>
                          </a:rPr>
                          <m:t>𝑑𝑥</m:t>
                        </m:r>
                      </m:e>
                    </m:nary>
                  </m:oMath>
                </a14:m>
                <a:r>
                  <a:rPr lang="en-GB" sz="2400" dirty="0">
                    <a:latin typeface="+mj-lt"/>
                  </a:rPr>
                  <a:t> or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e>
                        </m:func>
                        <m:r>
                          <a:rPr lang="en-AU" sz="2400" b="0" i="1" smtClean="0">
                            <a:latin typeface="Cambria Math" panose="02040503050406030204" pitchFamily="18" charset="0"/>
                          </a:rPr>
                          <m:t>𝑑𝑥</m:t>
                        </m:r>
                      </m:e>
                    </m:nary>
                  </m:oMath>
                </a14:m>
                <a:r>
                  <a:rPr lang="en-GB" sz="2400" dirty="0">
                    <a:latin typeface="+mj-lt"/>
                  </a:rPr>
                  <a:t> do not have primitives in terms of standard functions. And there are no rules to “constructively” calculate an integral, as for differentiation.</a:t>
                </a:r>
              </a:p>
              <a:p>
                <a:pPr>
                  <a:spcAft>
                    <a:spcPts val="1200"/>
                  </a:spcAft>
                </a:pPr>
                <a:r>
                  <a:rPr lang="en-GB" sz="2400" dirty="0">
                    <a:latin typeface="+mj-lt"/>
                  </a:rPr>
                  <a:t>But there are a few cases where the integrand has a form that allows us to </a:t>
                </a:r>
                <a:r>
                  <a:rPr lang="en-GB" sz="2400" dirty="0" err="1">
                    <a:latin typeface="+mj-lt"/>
                  </a:rPr>
                  <a:t>antidifferentiate</a:t>
                </a:r>
                <a:r>
                  <a:rPr lang="en-GB" sz="2400" dirty="0">
                    <a:latin typeface="+mj-lt"/>
                  </a:rPr>
                  <a:t>.</a:t>
                </a:r>
              </a:p>
              <a:p>
                <a:pPr>
                  <a:spcAft>
                    <a:spcPts val="1200"/>
                  </a:spcAft>
                </a:pPr>
                <a:r>
                  <a:rPr lang="en-GB" sz="2400" dirty="0">
                    <a:latin typeface="+mj-lt"/>
                  </a:rPr>
                  <a:t>Theorem (Derivative substitution). Given two functions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with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m:t>
                    </m:r>
                    <m:r>
                      <a:rPr lang="en-AU" sz="2400" i="1">
                        <a:latin typeface="Cambria Math" panose="02040503050406030204" pitchFamily="18" charset="0"/>
                      </a:rPr>
                      <m:t>𝑋</m:t>
                    </m:r>
                    <m:r>
                      <a:rPr lang="en-AU" sz="2400" i="1">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𝑔</m:t>
                    </m:r>
                    <m:r>
                      <a:rPr lang="en-AU" sz="2400" i="1">
                        <a:latin typeface="Cambria Math" panose="02040503050406030204" pitchFamily="18" charset="0"/>
                      </a:rPr>
                      <m:t>:</m:t>
                    </m:r>
                    <m:r>
                      <a:rPr lang="en-AU" sz="2400" b="0" i="1" smtClean="0">
                        <a:latin typeface="Cambria Math" panose="02040503050406030204" pitchFamily="18" charset="0"/>
                      </a:rPr>
                      <m:t>𝑌</m:t>
                    </m:r>
                    <m:r>
                      <a:rPr lang="en-AU" sz="2400" i="1">
                        <a:latin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GB" sz="2400" dirty="0">
                    <a:latin typeface="+mj-lt"/>
                  </a:rPr>
                  <a:t>, if an integral has the following form</a:t>
                </a:r>
              </a:p>
              <a:p>
                <a:pPr/>
                <a14:m>
                  <m:oMathPara xmlns:m="http://schemas.openxmlformats.org/officeDocument/2006/math">
                    <m:oMathParaPr>
                      <m:jc m:val="centerGroup"/>
                    </m:oMathParaPr>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𝑔</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𝑑𝑥</m:t>
                          </m:r>
                        </m:e>
                      </m:nary>
                    </m:oMath>
                  </m:oMathPara>
                </a14:m>
                <a:endParaRPr lang="en-GB" sz="2400" dirty="0">
                  <a:latin typeface="+mj-lt"/>
                </a:endParaRPr>
              </a:p>
              <a:p>
                <a:pPr>
                  <a:spcAft>
                    <a:spcPts val="1200"/>
                  </a:spcAft>
                </a:pPr>
                <a:r>
                  <a:rPr lang="en-GB" sz="2400" dirty="0">
                    <a:latin typeface="+mj-lt"/>
                  </a:rPr>
                  <a:t>Then the following derivative substitution can be performed: </a:t>
                </a:r>
                <a14:m>
                  <m:oMath xmlns:m="http://schemas.openxmlformats.org/officeDocument/2006/math">
                    <m:r>
                      <a:rPr lang="en-AU" sz="2400" b="0" i="1" smtClean="0">
                        <a:latin typeface="Cambria Math" panose="02040503050406030204" pitchFamily="18" charset="0"/>
                      </a:rPr>
                      <m:t>𝑢</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𝑑𝑢</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𝑔</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which transforms the original integral to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𝑢</m:t>
                            </m:r>
                          </m:e>
                        </m:d>
                        <m:r>
                          <a:rPr lang="en-AU" sz="2400" b="0" i="1" smtClean="0">
                            <a:latin typeface="Cambria Math" panose="02040503050406030204" pitchFamily="18" charset="0"/>
                          </a:rPr>
                          <m:t>𝑑𝑢</m:t>
                        </m:r>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5238935"/>
              </a:xfrm>
              <a:prstGeom prst="rect">
                <a:avLst/>
              </a:prstGeom>
              <a:blipFill>
                <a:blip r:embed="rId2"/>
                <a:stretch>
                  <a:fillRect l="-780" t="-931" b="-19208"/>
                </a:stretch>
              </a:blipFill>
            </p:spPr>
            <p:txBody>
              <a:bodyPr/>
              <a:lstStyle/>
              <a:p>
                <a:r>
                  <a:rPr lang="en-GB">
                    <a:noFill/>
                  </a:rPr>
                  <a:t> </a:t>
                </a:r>
              </a:p>
            </p:txBody>
          </p:sp>
        </mc:Fallback>
      </mc:AlternateContent>
    </p:spTree>
    <p:extLst>
      <p:ext uri="{BB962C8B-B14F-4D97-AF65-F5344CB8AC3E}">
        <p14:creationId xmlns:p14="http://schemas.microsoft.com/office/powerpoint/2010/main" val="2964217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776133" cy="523220"/>
          </a:xfrm>
          <a:prstGeom prst="rect">
            <a:avLst/>
          </a:prstGeom>
          <a:noFill/>
        </p:spPr>
        <p:txBody>
          <a:bodyPr wrap="none" rtlCol="0">
            <a:spAutoFit/>
          </a:bodyPr>
          <a:lstStyle/>
          <a:p>
            <a:r>
              <a:rPr lang="en-AU" sz="2800" b="1" cap="small" dirty="0">
                <a:solidFill>
                  <a:schemeClr val="bg1"/>
                </a:solidFill>
                <a:latin typeface="+mj-lt"/>
              </a:rPr>
              <a:t>5.3 Integration by derivative substitution</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62672"/>
                <a:ext cx="11710929" cy="4430636"/>
              </a:xfrm>
              <a:prstGeom prst="rect">
                <a:avLst/>
              </a:prstGeom>
              <a:noFill/>
            </p:spPr>
            <p:txBody>
              <a:bodyPr wrap="square" rtlCol="0">
                <a:spAutoFit/>
              </a:bodyPr>
              <a:lstStyle/>
              <a:p>
                <a:pPr>
                  <a:spcAft>
                    <a:spcPts val="1200"/>
                  </a:spcAft>
                </a:pPr>
                <a:r>
                  <a:rPr lang="en-AU" sz="2400" dirty="0">
                    <a:latin typeface="+mj-lt"/>
                  </a:rPr>
                  <a:t>Evaluate the following integrals:</a:t>
                </a:r>
              </a:p>
              <a:p>
                <a:pPr>
                  <a:spcAft>
                    <a:spcPts val="1200"/>
                  </a:spcAft>
                </a:pPr>
                <a:r>
                  <a:rPr lang="en-AU" sz="2400" dirty="0">
                    <a:latin typeface="+mj-lt"/>
                  </a:rPr>
                  <a:t>1.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r>
                          <a:rPr lang="en-AU" sz="2400" b="0" i="1" smtClean="0">
                            <a:latin typeface="Cambria Math" panose="02040503050406030204" pitchFamily="18" charset="0"/>
                          </a:rPr>
                          <m:t>3</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r>
                                  <a:rPr lang="en-AU" sz="2400" b="0" i="1" smtClean="0">
                                    <a:latin typeface="Cambria Math" panose="02040503050406030204" pitchFamily="18" charset="0"/>
                                  </a:rPr>
                                  <m:t>+5</m:t>
                                </m:r>
                              </m:e>
                            </m:d>
                          </m:e>
                          <m:sup>
                            <m:r>
                              <a:rPr lang="en-AU" sz="2400" b="0" i="1" smtClean="0">
                                <a:latin typeface="Cambria Math" panose="02040503050406030204" pitchFamily="18" charset="0"/>
                              </a:rPr>
                              <m:t>9</m:t>
                            </m:r>
                          </m:sup>
                        </m:sSup>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2.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r>
                          <a:rPr lang="en-AU" sz="2400" b="0" i="1" smtClean="0">
                            <a:latin typeface="Cambria Math" panose="02040503050406030204" pitchFamily="18" charset="0"/>
                          </a:rPr>
                          <m:t>𝑥</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+1</m:t>
                            </m:r>
                          </m:e>
                        </m:rad>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3.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
                          <m:fPr>
                            <m:ctrlPr>
                              <a:rPr lang="en-AU" sz="2400" b="0" i="1" smtClean="0">
                                <a:latin typeface="Cambria Math" panose="02040503050406030204" pitchFamily="18" charset="0"/>
                              </a:rPr>
                            </m:ctrlPr>
                          </m:fPr>
                          <m:num>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ln</m:t>
                                </m:r>
                              </m:fName>
                              <m:e>
                                <m:r>
                                  <a:rPr lang="en-AU" sz="2400" b="0" i="1" smtClean="0">
                                    <a:latin typeface="Cambria Math" panose="02040503050406030204" pitchFamily="18" charset="0"/>
                                  </a:rPr>
                                  <m:t>𝑥</m:t>
                                </m:r>
                              </m:e>
                            </m:func>
                          </m:num>
                          <m:den>
                            <m:r>
                              <a:rPr lang="en-AU" sz="2400" b="0" i="1" smtClean="0">
                                <a:latin typeface="Cambria Math" panose="02040503050406030204" pitchFamily="18" charset="0"/>
                              </a:rPr>
                              <m:t>𝑥</m:t>
                            </m:r>
                          </m:den>
                        </m:f>
                        <m:r>
                          <a:rPr lang="en-AU" sz="2400" b="0" i="1" smtClean="0">
                            <a:latin typeface="Cambria Math" panose="02040503050406030204" pitchFamily="18" charset="0"/>
                          </a:rPr>
                          <m:t>𝑑𝑥</m:t>
                        </m:r>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62672"/>
                <a:ext cx="11710929" cy="4430636"/>
              </a:xfrm>
              <a:prstGeom prst="rect">
                <a:avLst/>
              </a:prstGeom>
              <a:blipFill>
                <a:blip r:embed="rId2"/>
                <a:stretch>
                  <a:fillRect l="-2289" t="-4952" b="-825"/>
                </a:stretch>
              </a:blipFill>
            </p:spPr>
            <p:txBody>
              <a:bodyPr/>
              <a:lstStyle/>
              <a:p>
                <a:r>
                  <a:rPr lang="en-GB">
                    <a:noFill/>
                  </a:rPr>
                  <a:t> </a:t>
                </a:r>
              </a:p>
            </p:txBody>
          </p:sp>
        </mc:Fallback>
      </mc:AlternateContent>
    </p:spTree>
    <p:extLst>
      <p:ext uri="{BB962C8B-B14F-4D97-AF65-F5344CB8AC3E}">
        <p14:creationId xmlns:p14="http://schemas.microsoft.com/office/powerpoint/2010/main" val="3254565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0847778" cy="523220"/>
          </a:xfrm>
          <a:prstGeom prst="rect">
            <a:avLst/>
          </a:prstGeom>
          <a:noFill/>
        </p:spPr>
        <p:txBody>
          <a:bodyPr wrap="none" rtlCol="0">
            <a:spAutoFit/>
          </a:bodyPr>
          <a:lstStyle/>
          <a:p>
            <a:r>
              <a:rPr lang="en-AU" sz="2800" b="1" cap="small" dirty="0">
                <a:solidFill>
                  <a:schemeClr val="bg1"/>
                </a:solidFill>
                <a:latin typeface="+mj-lt"/>
              </a:rPr>
              <a:t>5.4 Integration of products of powers of trigonometric/hyperbolic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1554342"/>
                <a:ext cx="11710929" cy="3892604"/>
              </a:xfrm>
              <a:prstGeom prst="rect">
                <a:avLst/>
              </a:prstGeom>
              <a:noFill/>
            </p:spPr>
            <p:txBody>
              <a:bodyPr wrap="square" rtlCol="0">
                <a:spAutoFit/>
              </a:bodyPr>
              <a:lstStyle/>
              <a:p>
                <a:pPr>
                  <a:spcAft>
                    <a:spcPts val="1200"/>
                  </a:spcAft>
                </a:pPr>
                <a:r>
                  <a:rPr lang="en-AU" sz="2400" dirty="0">
                    <a:latin typeface="+mj-lt"/>
                  </a:rPr>
                  <a:t>Consider the following type of integral</a:t>
                </a:r>
              </a:p>
              <a:p>
                <a:pPr>
                  <a:spcAft>
                    <a:spcPts val="1200"/>
                  </a:spcAft>
                </a:pPr>
                <a14:m>
                  <m:oMathPara xmlns:m="http://schemas.openxmlformats.org/officeDocument/2006/math">
                    <m:oMathParaPr>
                      <m:jc m:val="centerGroup"/>
                    </m:oMathParaPr>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𝑚</m:t>
                                  </m:r>
                                </m:sup>
                              </m:sSup>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𝑛</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𝑑𝑥</m:t>
                          </m:r>
                        </m:e>
                      </m:nary>
                    </m:oMath>
                  </m:oMathPara>
                </a14:m>
                <a:endParaRPr lang="en-GB" sz="2400" dirty="0">
                  <a:latin typeface="+mj-lt"/>
                </a:endParaRPr>
              </a:p>
              <a:p>
                <a:pPr>
                  <a:spcAft>
                    <a:spcPts val="1200"/>
                  </a:spcAft>
                </a:pPr>
                <a:r>
                  <a:rPr lang="en-GB" sz="2400" dirty="0">
                    <a:latin typeface="+mj-lt"/>
                  </a:rPr>
                  <a:t>where </a:t>
                </a:r>
                <a14:m>
                  <m:oMath xmlns:m="http://schemas.openxmlformats.org/officeDocument/2006/math">
                    <m:r>
                      <a:rPr lang="en-AU" sz="2400" b="0" i="1" smtClean="0">
                        <a:latin typeface="Cambria Math" panose="02040503050406030204" pitchFamily="18" charset="0"/>
                      </a:rPr>
                      <m:t>𝑚</m:t>
                    </m:r>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a14:m>
                <a:r>
                  <a:rPr lang="en-GB" sz="2400" dirty="0">
                    <a:latin typeface="+mj-lt"/>
                  </a:rPr>
                  <a:t> (i.e. both positive). Depending on </a:t>
                </a:r>
                <a14:m>
                  <m:oMath xmlns:m="http://schemas.openxmlformats.org/officeDocument/2006/math">
                    <m:r>
                      <a:rPr lang="en-AU" sz="2400" b="0" i="1" smtClean="0">
                        <a:latin typeface="Cambria Math" panose="02040503050406030204" pitchFamily="18" charset="0"/>
                      </a:rPr>
                      <m:t>𝑚</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two strategies are available:</a:t>
                </a:r>
              </a:p>
              <a:p>
                <a:pPr marL="342900" indent="-342900">
                  <a:spcAft>
                    <a:spcPts val="1200"/>
                  </a:spcAft>
                  <a:buFont typeface="Arial" panose="020B0604020202020204" pitchFamily="34" charset="0"/>
                  <a:buChar char="•"/>
                </a:pPr>
                <a:r>
                  <a:rPr lang="en-GB" sz="2400" dirty="0">
                    <a:latin typeface="+mj-lt"/>
                  </a:rPr>
                  <a:t>if </a:t>
                </a:r>
                <a14:m>
                  <m:oMath xmlns:m="http://schemas.openxmlformats.org/officeDocument/2006/math">
                    <m:r>
                      <a:rPr lang="en-AU" sz="2400" b="0" i="1" smtClean="0">
                        <a:latin typeface="Cambria Math" panose="02040503050406030204" pitchFamily="18" charset="0"/>
                      </a:rPr>
                      <m:t>𝑚</m:t>
                    </m:r>
                  </m:oMath>
                </a14:m>
                <a:r>
                  <a:rPr lang="en-GB" sz="2400" dirty="0">
                    <a:latin typeface="+mj-lt"/>
                  </a:rPr>
                  <a:t> or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is odd, a derivative substitution can be created, using the fundamental trigonometric identity </a:t>
                </a: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m:t>
                    </m:r>
                  </m:oMath>
                </a14:m>
                <a:r>
                  <a:rPr lang="en-GB" sz="2400" dirty="0">
                    <a:latin typeface="+mj-lt"/>
                  </a:rPr>
                  <a:t> repeatedly on the term with the odd power. If both powers are odd, we can freely choose to apply the identity to either of the two terms.</a:t>
                </a:r>
              </a:p>
              <a:p>
                <a:pPr marL="342900" indent="-342900">
                  <a:spcAft>
                    <a:spcPts val="1200"/>
                  </a:spcAft>
                  <a:buFont typeface="Arial" panose="020B0604020202020204" pitchFamily="34" charset="0"/>
                  <a:buChar char="•"/>
                </a:pPr>
                <a:r>
                  <a:rPr lang="en-GB" sz="2400" dirty="0">
                    <a:latin typeface="+mj-lt"/>
                  </a:rPr>
                  <a:t>if </a:t>
                </a:r>
                <a14:m>
                  <m:oMath xmlns:m="http://schemas.openxmlformats.org/officeDocument/2006/math">
                    <m:r>
                      <a:rPr lang="en-AU" sz="2400" b="0" i="1" smtClean="0">
                        <a:latin typeface="Cambria Math" panose="02040503050406030204" pitchFamily="18" charset="0"/>
                      </a:rPr>
                      <m:t>𝑚</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are both even, double angle formulae for trigonometric functions must be used.</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1554342"/>
                <a:ext cx="11710929" cy="3892604"/>
              </a:xfrm>
              <a:prstGeom prst="rect">
                <a:avLst/>
              </a:prstGeom>
              <a:blipFill>
                <a:blip r:embed="rId2"/>
                <a:stretch>
                  <a:fillRect l="-780" t="-1252" b="-25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E2DDF91-5231-4CE8-924F-28130F21BC7E}"/>
                  </a:ext>
                </a:extLst>
              </p:cNvPr>
              <p:cNvSpPr txBox="1"/>
              <p:nvPr/>
            </p:nvSpPr>
            <p:spPr>
              <a:xfrm>
                <a:off x="339146" y="1026062"/>
                <a:ext cx="8177325" cy="518796"/>
              </a:xfrm>
              <a:prstGeom prst="rect">
                <a:avLst/>
              </a:prstGeom>
              <a:noFill/>
              <a:ln>
                <a:solidFill>
                  <a:schemeClr val="accent2">
                    <a:lumMod val="50000"/>
                  </a:schemeClr>
                </a:solidFill>
              </a:ln>
            </p:spPr>
            <p:txBody>
              <a:bodyPr wrap="square" rtlCol="0">
                <a:spAutoFit/>
              </a:bodyPr>
              <a:lstStyle/>
              <a:p>
                <a:r>
                  <a:rPr lang="en-AU" sz="2400" b="1" dirty="0">
                    <a:latin typeface="+mj-lt"/>
                  </a:rPr>
                  <a:t>Integrals of the form </a:t>
                </a:r>
                <a14:m>
                  <m:oMath xmlns:m="http://schemas.openxmlformats.org/officeDocument/2006/math">
                    <m:nary>
                      <m:naryPr>
                        <m:limLoc m:val="undOvr"/>
                        <m:subHide m:val="on"/>
                        <m:supHide m:val="on"/>
                        <m:ctrlPr>
                          <a:rPr lang="en-AU" sz="2400" i="1">
                            <a:latin typeface="Cambria Math" panose="02040503050406030204" pitchFamily="18" charset="0"/>
                          </a:rPr>
                        </m:ctrlPr>
                      </m:naryPr>
                      <m:sub/>
                      <m:sup/>
                      <m:e>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e>
                              <m:sup>
                                <m:r>
                                  <a:rPr lang="en-AU" sz="2400" i="1">
                                    <a:latin typeface="Cambria Math" panose="02040503050406030204" pitchFamily="18" charset="0"/>
                                  </a:rPr>
                                  <m:t>𝑚</m:t>
                                </m:r>
                              </m:sup>
                            </m:sSup>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cos</m:t>
                                </m:r>
                              </m:e>
                              <m:sup>
                                <m:r>
                                  <a:rPr lang="en-AU" sz="2400" i="1">
                                    <a:latin typeface="Cambria Math" panose="02040503050406030204" pitchFamily="18" charset="0"/>
                                  </a:rPr>
                                  <m:t>𝑛</m:t>
                                </m:r>
                              </m:sup>
                            </m:sSup>
                          </m:fName>
                          <m:e>
                            <m:r>
                              <a:rPr lang="en-AU" sz="2400" i="1">
                                <a:latin typeface="Cambria Math" panose="02040503050406030204" pitchFamily="18" charset="0"/>
                              </a:rPr>
                              <m:t>𝑥</m:t>
                            </m:r>
                          </m:e>
                        </m:func>
                        <m:r>
                          <a:rPr lang="en-AU" sz="2400" i="1">
                            <a:latin typeface="Cambria Math" panose="02040503050406030204" pitchFamily="18" charset="0"/>
                          </a:rPr>
                          <m:t>𝑑𝑥</m:t>
                        </m:r>
                      </m:e>
                    </m:nary>
                  </m:oMath>
                </a14:m>
                <a:r>
                  <a:rPr lang="en-GB" sz="2400" b="1" dirty="0">
                    <a:latin typeface="+mj-lt"/>
                  </a:rPr>
                  <a:t> or </a:t>
                </a:r>
                <a14:m>
                  <m:oMath xmlns:m="http://schemas.openxmlformats.org/officeDocument/2006/math">
                    <m:nary>
                      <m:naryPr>
                        <m:limLoc m:val="undOvr"/>
                        <m:subHide m:val="on"/>
                        <m:supHide m:val="on"/>
                        <m:ctrlPr>
                          <a:rPr lang="en-AU" sz="2400" i="1">
                            <a:latin typeface="Cambria Math" panose="02040503050406030204" pitchFamily="18" charset="0"/>
                          </a:rPr>
                        </m:ctrlPr>
                      </m:naryPr>
                      <m:sub/>
                      <m:sup/>
                      <m:e>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e>
                              <m:sup>
                                <m:r>
                                  <a:rPr lang="en-AU" sz="2400" i="1">
                                    <a:latin typeface="Cambria Math" panose="02040503050406030204" pitchFamily="18" charset="0"/>
                                  </a:rPr>
                                  <m:t>𝑚</m:t>
                                </m:r>
                              </m:sup>
                            </m:sSup>
                          </m:fName>
                          <m:e>
                            <m:r>
                              <a:rPr lang="en-AU" sz="2400" i="1">
                                <a:latin typeface="Cambria Math" panose="02040503050406030204" pitchFamily="18" charset="0"/>
                              </a:rPr>
                              <m:t>𝑥</m:t>
                            </m:r>
                          </m:e>
                        </m:func>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e>
                              <m:sup>
                                <m:r>
                                  <a:rPr lang="en-AU" sz="2400" i="1">
                                    <a:latin typeface="Cambria Math" panose="02040503050406030204" pitchFamily="18" charset="0"/>
                                  </a:rPr>
                                  <m:t>𝑛</m:t>
                                </m:r>
                              </m:sup>
                            </m:sSup>
                          </m:fName>
                          <m:e>
                            <m:r>
                              <a:rPr lang="en-AU" sz="2400" i="1">
                                <a:latin typeface="Cambria Math" panose="02040503050406030204" pitchFamily="18" charset="0"/>
                              </a:rPr>
                              <m:t>𝑥</m:t>
                            </m:r>
                          </m:e>
                        </m:func>
                        <m:r>
                          <a:rPr lang="en-AU" sz="2400" i="1">
                            <a:latin typeface="Cambria Math" panose="02040503050406030204" pitchFamily="18" charset="0"/>
                          </a:rPr>
                          <m:t>𝑑𝑥</m:t>
                        </m:r>
                      </m:e>
                    </m:nary>
                  </m:oMath>
                </a14:m>
                <a:endParaRPr lang="en-GB" sz="2400" b="1" dirty="0">
                  <a:latin typeface="+mj-lt"/>
                </a:endParaRPr>
              </a:p>
            </p:txBody>
          </p:sp>
        </mc:Choice>
        <mc:Fallback xmlns="">
          <p:sp>
            <p:nvSpPr>
              <p:cNvPr id="10" name="TextBox 9">
                <a:extLst>
                  <a:ext uri="{FF2B5EF4-FFF2-40B4-BE49-F238E27FC236}">
                    <a16:creationId xmlns:a16="http://schemas.microsoft.com/office/drawing/2014/main" id="{EE2DDF91-5231-4CE8-924F-28130F21BC7E}"/>
                  </a:ext>
                </a:extLst>
              </p:cNvPr>
              <p:cNvSpPr txBox="1">
                <a:spLocks noRot="1" noChangeAspect="1" noMove="1" noResize="1" noEditPoints="1" noAdjustHandles="1" noChangeArrowheads="1" noChangeShapeType="1" noTextEdit="1"/>
              </p:cNvSpPr>
              <p:nvPr/>
            </p:nvSpPr>
            <p:spPr>
              <a:xfrm>
                <a:off x="339146" y="1026062"/>
                <a:ext cx="8177325" cy="518796"/>
              </a:xfrm>
              <a:prstGeom prst="rect">
                <a:avLst/>
              </a:prstGeom>
              <a:blipFill>
                <a:blip r:embed="rId3"/>
                <a:stretch>
                  <a:fillRect l="-1117" t="-137931" b="-197701"/>
                </a:stretch>
              </a:blipFill>
              <a:ln>
                <a:solidFill>
                  <a:schemeClr val="accent2">
                    <a:lumMod val="50000"/>
                  </a:schemeClr>
                </a:solidFill>
              </a:ln>
            </p:spPr>
            <p:txBody>
              <a:bodyPr/>
              <a:lstStyle/>
              <a:p>
                <a:r>
                  <a:rPr lang="en-GB">
                    <a:noFill/>
                  </a:rPr>
                  <a:t> </a:t>
                </a:r>
              </a:p>
            </p:txBody>
          </p:sp>
        </mc:Fallback>
      </mc:AlternateContent>
    </p:spTree>
    <p:extLst>
      <p:ext uri="{BB962C8B-B14F-4D97-AF65-F5344CB8AC3E}">
        <p14:creationId xmlns:p14="http://schemas.microsoft.com/office/powerpoint/2010/main" val="247405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0847778" cy="523220"/>
          </a:xfrm>
          <a:prstGeom prst="rect">
            <a:avLst/>
          </a:prstGeom>
          <a:noFill/>
        </p:spPr>
        <p:txBody>
          <a:bodyPr wrap="none" rtlCol="0">
            <a:spAutoFit/>
          </a:bodyPr>
          <a:lstStyle/>
          <a:p>
            <a:r>
              <a:rPr lang="en-AU" sz="2800" b="1" cap="small" dirty="0">
                <a:solidFill>
                  <a:schemeClr val="bg1"/>
                </a:solidFill>
                <a:latin typeface="+mj-lt"/>
              </a:rPr>
              <a:t>5.4 Integration of products of powers of trigonometric/hyperbolic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89566"/>
                <a:ext cx="11710929" cy="3892604"/>
              </a:xfrm>
              <a:prstGeom prst="rect">
                <a:avLst/>
              </a:prstGeom>
              <a:noFill/>
            </p:spPr>
            <p:txBody>
              <a:bodyPr wrap="square" rtlCol="0">
                <a:spAutoFit/>
              </a:bodyPr>
              <a:lstStyle/>
              <a:p>
                <a:pPr>
                  <a:spcAft>
                    <a:spcPts val="1200"/>
                  </a:spcAft>
                </a:pPr>
                <a:r>
                  <a:rPr lang="en-AU" sz="2400" dirty="0">
                    <a:latin typeface="+mj-lt"/>
                  </a:rPr>
                  <a:t>Similar strategies exist for integrals with hyperbolic functions:</a:t>
                </a:r>
              </a:p>
              <a:p>
                <a:pPr>
                  <a:spcAft>
                    <a:spcPts val="1200"/>
                  </a:spcAft>
                </a:pPr>
                <a14:m>
                  <m:oMathPara xmlns:m="http://schemas.openxmlformats.org/officeDocument/2006/math">
                    <m:oMathParaPr>
                      <m:jc m:val="centerGroup"/>
                    </m:oMathParaPr>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𝑚</m:t>
                                  </m:r>
                                </m:sup>
                              </m:sSup>
                            </m:fName>
                            <m:e>
                              <m:r>
                                <a:rPr lang="en-AU" sz="2400" b="0" i="1" smtClean="0">
                                  <a:latin typeface="Cambria Math" panose="02040503050406030204" pitchFamily="18" charset="0"/>
                                </a:rPr>
                                <m:t>𝑥</m:t>
                              </m:r>
                            </m:e>
                          </m:func>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𝑛</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𝑑𝑥</m:t>
                          </m:r>
                        </m:e>
                      </m:nary>
                    </m:oMath>
                  </m:oMathPara>
                </a14:m>
                <a:endParaRPr lang="en-GB" sz="2400" dirty="0">
                  <a:latin typeface="+mj-lt"/>
                </a:endParaRPr>
              </a:p>
              <a:p>
                <a:pPr>
                  <a:spcAft>
                    <a:spcPts val="1200"/>
                  </a:spcAft>
                </a:pPr>
                <a:r>
                  <a:rPr lang="en-GB" sz="2400" dirty="0">
                    <a:latin typeface="+mj-lt"/>
                  </a:rPr>
                  <a:t>where </a:t>
                </a:r>
                <a14:m>
                  <m:oMath xmlns:m="http://schemas.openxmlformats.org/officeDocument/2006/math">
                    <m:r>
                      <a:rPr lang="en-AU" sz="2400" b="0" i="1" smtClean="0">
                        <a:latin typeface="Cambria Math" panose="02040503050406030204" pitchFamily="18" charset="0"/>
                      </a:rPr>
                      <m:t>𝑚</m:t>
                    </m:r>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a14:m>
                <a:r>
                  <a:rPr lang="en-GB" sz="2400" dirty="0">
                    <a:latin typeface="+mj-lt"/>
                  </a:rPr>
                  <a:t> (i.e. both positive). </a:t>
                </a:r>
              </a:p>
              <a:p>
                <a:pPr marL="342900" indent="-342900">
                  <a:spcAft>
                    <a:spcPts val="1200"/>
                  </a:spcAft>
                  <a:buFont typeface="Arial" panose="020B0604020202020204" pitchFamily="34" charset="0"/>
                  <a:buChar char="•"/>
                </a:pPr>
                <a:r>
                  <a:rPr lang="en-GB" sz="2400" dirty="0">
                    <a:latin typeface="+mj-lt"/>
                  </a:rPr>
                  <a:t>if </a:t>
                </a:r>
                <a14:m>
                  <m:oMath xmlns:m="http://schemas.openxmlformats.org/officeDocument/2006/math">
                    <m:r>
                      <a:rPr lang="en-AU" sz="2400" b="0" i="1" smtClean="0">
                        <a:latin typeface="Cambria Math" panose="02040503050406030204" pitchFamily="18" charset="0"/>
                      </a:rPr>
                      <m:t>𝑚</m:t>
                    </m:r>
                  </m:oMath>
                </a14:m>
                <a:r>
                  <a:rPr lang="en-GB" sz="2400" dirty="0">
                    <a:latin typeface="+mj-lt"/>
                  </a:rPr>
                  <a:t> and/or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is odd, a derivative substitution can be created using the fundamental hyperbolic identity </a:t>
                </a:r>
                <a14:m>
                  <m:oMath xmlns:m="http://schemas.openxmlformats.org/officeDocument/2006/math">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e>
                                  <m:sup>
                                    <m:r>
                                      <a:rPr lang="en-AU" sz="2400" i="1">
                                        <a:latin typeface="Cambria Math" panose="02040503050406030204" pitchFamily="18" charset="0"/>
                                      </a:rPr>
                                      <m:t>2</m:t>
                                    </m:r>
                                  </m:sup>
                                </m:sSup>
                              </m:fName>
                              <m:e>
                                <m:r>
                                  <a:rPr lang="en-AU" sz="2400" i="1">
                                    <a:latin typeface="Cambria Math" panose="02040503050406030204" pitchFamily="18" charset="0"/>
                                  </a:rPr>
                                  <m:t>𝑥</m:t>
                                </m:r>
                              </m:e>
                            </m:func>
                            <m:r>
                              <a:rPr lang="en-AU" sz="2400" b="0" i="0" smtClean="0">
                                <a:latin typeface="Cambria Math" panose="02040503050406030204" pitchFamily="18" charset="0"/>
                              </a:rPr>
                              <m:t>−</m:t>
                            </m:r>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=1</m:t>
                    </m:r>
                  </m:oMath>
                </a14:m>
                <a:r>
                  <a:rPr lang="en-GB" sz="2400" dirty="0">
                    <a:latin typeface="+mj-lt"/>
                  </a:rPr>
                  <a:t> repeatedly on the term with the odd power. If both powers are odd, we can freely choose to which term we apply the identity.</a:t>
                </a:r>
              </a:p>
              <a:p>
                <a:pPr marL="342900" indent="-342900">
                  <a:spcAft>
                    <a:spcPts val="1200"/>
                  </a:spcAft>
                  <a:buFont typeface="Arial" panose="020B0604020202020204" pitchFamily="34" charset="0"/>
                  <a:buChar char="•"/>
                </a:pPr>
                <a:r>
                  <a:rPr lang="en-GB" sz="2400" dirty="0">
                    <a:latin typeface="+mj-lt"/>
                  </a:rPr>
                  <a:t>if </a:t>
                </a:r>
                <a14:m>
                  <m:oMath xmlns:m="http://schemas.openxmlformats.org/officeDocument/2006/math">
                    <m:r>
                      <a:rPr lang="en-AU" sz="2400" b="0" i="1" smtClean="0">
                        <a:latin typeface="Cambria Math" panose="02040503050406030204" pitchFamily="18" charset="0"/>
                      </a:rPr>
                      <m:t>𝑚</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𝑛</m:t>
                    </m:r>
                  </m:oMath>
                </a14:m>
                <a:r>
                  <a:rPr lang="en-GB" sz="2400" dirty="0">
                    <a:latin typeface="+mj-lt"/>
                  </a:rPr>
                  <a:t> are both even, double angle formulae for hyperbolic functions must be used.</a:t>
                </a: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89566"/>
                <a:ext cx="11710929" cy="3892604"/>
              </a:xfrm>
              <a:prstGeom prst="rect">
                <a:avLst/>
              </a:prstGeom>
              <a:blipFill>
                <a:blip r:embed="rId2"/>
                <a:stretch>
                  <a:fillRect l="-780" t="-1252" b="-2504"/>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1D0B7B09-0590-4F5B-9C07-980B300A76A4}"/>
              </a:ext>
            </a:extLst>
          </p:cNvPr>
          <p:cNvPicPr>
            <a:picLocks noChangeAspect="1"/>
          </p:cNvPicPr>
          <p:nvPr/>
        </p:nvPicPr>
        <p:blipFill>
          <a:blip r:embed="rId3">
            <a:duotone>
              <a:prstClr val="black"/>
              <a:schemeClr val="accent6">
                <a:tint val="45000"/>
                <a:satMod val="400000"/>
              </a:schemeClr>
            </a:duotone>
          </a:blip>
          <a:stretch>
            <a:fillRect/>
          </a:stretch>
        </p:blipFill>
        <p:spPr>
          <a:xfrm>
            <a:off x="3176529" y="4965043"/>
            <a:ext cx="5838940" cy="1338549"/>
          </a:xfrm>
          <a:prstGeom prst="rect">
            <a:avLst/>
          </a:prstGeom>
          <a:ln>
            <a:solidFill>
              <a:schemeClr val="tx1"/>
            </a:solidFill>
          </a:ln>
        </p:spPr>
      </p:pic>
    </p:spTree>
    <p:extLst>
      <p:ext uri="{BB962C8B-B14F-4D97-AF65-F5344CB8AC3E}">
        <p14:creationId xmlns:p14="http://schemas.microsoft.com/office/powerpoint/2010/main" val="3793144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0847778" cy="523220"/>
          </a:xfrm>
          <a:prstGeom prst="rect">
            <a:avLst/>
          </a:prstGeom>
          <a:noFill/>
        </p:spPr>
        <p:txBody>
          <a:bodyPr wrap="none" rtlCol="0">
            <a:spAutoFit/>
          </a:bodyPr>
          <a:lstStyle/>
          <a:p>
            <a:r>
              <a:rPr lang="en-AU" sz="2800" b="1" cap="small" dirty="0">
                <a:solidFill>
                  <a:schemeClr val="bg1"/>
                </a:solidFill>
                <a:latin typeface="+mj-lt"/>
              </a:rPr>
              <a:t>5.4 Integration of products of powers of trigonometric/hyperbolic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35778"/>
                <a:ext cx="11710929" cy="3192349"/>
              </a:xfrm>
              <a:prstGeom prst="rect">
                <a:avLst/>
              </a:prstGeom>
              <a:noFill/>
            </p:spPr>
            <p:txBody>
              <a:bodyPr wrap="square" rtlCol="0">
                <a:spAutoFit/>
              </a:bodyPr>
              <a:lstStyle/>
              <a:p>
                <a:pPr>
                  <a:spcAft>
                    <a:spcPts val="1200"/>
                  </a:spcAft>
                </a:pPr>
                <a:r>
                  <a:rPr lang="en-AU" sz="2400" dirty="0">
                    <a:latin typeface="+mj-lt"/>
                  </a:rPr>
                  <a:t>Find </a:t>
                </a:r>
                <a14:m>
                  <m:oMath xmlns:m="http://schemas.openxmlformats.org/officeDocument/2006/math">
                    <m:nary>
                      <m:naryPr>
                        <m:limLoc m:val="undOvr"/>
                        <m:subHide m:val="on"/>
                        <m:supHide m:val="on"/>
                        <m:ctrlPr>
                          <a:rPr lang="en-AU" sz="2400" i="1" smtClean="0">
                            <a:latin typeface="Cambria Math" panose="02040503050406030204" pitchFamily="18" charset="0"/>
                          </a:rPr>
                        </m:ctrlPr>
                      </m:naryPr>
                      <m:sub/>
                      <m:sup/>
                      <m:e>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3</m:t>
                                </m:r>
                              </m:sup>
                            </m:sSup>
                          </m:fName>
                          <m:e>
                            <m:r>
                              <a:rPr lang="en-AU" sz="2400" b="0" i="1" smtClean="0">
                                <a:latin typeface="Cambria Math" panose="02040503050406030204" pitchFamily="18" charset="0"/>
                              </a:rPr>
                              <m:t>𝑥</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𝑑𝑥</m:t>
                            </m:r>
                          </m:e>
                        </m:func>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r>
                  <a:rPr lang="en-GB" sz="2400" dirty="0">
                    <a:latin typeface="+mj-lt"/>
                  </a:rPr>
                  <a:t>Find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5</m:t>
                                </m:r>
                              </m:sup>
                            </m:sSup>
                          </m:fName>
                          <m:e>
                            <m:r>
                              <a:rPr lang="en-AU" sz="2400" i="1">
                                <a:latin typeface="Cambria Math" panose="02040503050406030204" pitchFamily="18" charset="0"/>
                              </a:rPr>
                              <m:t>𝑥</m:t>
                            </m:r>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6</m:t>
                                    </m:r>
                                  </m:sup>
                                </m:sSup>
                              </m:fName>
                              <m:e>
                                <m:r>
                                  <a:rPr lang="en-AU" sz="2400" i="1">
                                    <a:latin typeface="Cambria Math" panose="02040503050406030204" pitchFamily="18" charset="0"/>
                                  </a:rPr>
                                  <m:t>𝑥</m:t>
                                </m:r>
                              </m:e>
                            </m:func>
                            <m:r>
                              <a:rPr lang="en-AU" sz="2400" i="1">
                                <a:latin typeface="Cambria Math" panose="02040503050406030204" pitchFamily="18" charset="0"/>
                              </a:rPr>
                              <m:t>𝑑𝑥</m:t>
                            </m:r>
                          </m:e>
                        </m:func>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35778"/>
                <a:ext cx="11710929" cy="3192349"/>
              </a:xfrm>
              <a:prstGeom prst="rect">
                <a:avLst/>
              </a:prstGeom>
              <a:blipFill>
                <a:blip r:embed="rId2"/>
                <a:stretch>
                  <a:fillRect l="-780" t="-23136" b="-32505"/>
                </a:stretch>
              </a:blipFill>
            </p:spPr>
            <p:txBody>
              <a:bodyPr/>
              <a:lstStyle/>
              <a:p>
                <a:r>
                  <a:rPr lang="en-GB">
                    <a:noFill/>
                  </a:rPr>
                  <a:t> </a:t>
                </a:r>
              </a:p>
            </p:txBody>
          </p:sp>
        </mc:Fallback>
      </mc:AlternateContent>
    </p:spTree>
    <p:extLst>
      <p:ext uri="{BB962C8B-B14F-4D97-AF65-F5344CB8AC3E}">
        <p14:creationId xmlns:p14="http://schemas.microsoft.com/office/powerpoint/2010/main" val="4038051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0847778" cy="523220"/>
          </a:xfrm>
          <a:prstGeom prst="rect">
            <a:avLst/>
          </a:prstGeom>
          <a:noFill/>
        </p:spPr>
        <p:txBody>
          <a:bodyPr wrap="none" rtlCol="0">
            <a:spAutoFit/>
          </a:bodyPr>
          <a:lstStyle/>
          <a:p>
            <a:r>
              <a:rPr lang="en-AU" sz="2800" b="1" cap="small" dirty="0">
                <a:solidFill>
                  <a:schemeClr val="bg1"/>
                </a:solidFill>
                <a:latin typeface="+mj-lt"/>
              </a:rPr>
              <a:t>5.4 Integration of products of powers of trigonometric/hyperbolic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35778"/>
                <a:ext cx="11710929" cy="519116"/>
              </a:xfrm>
              <a:prstGeom prst="rect">
                <a:avLst/>
              </a:prstGeom>
              <a:noFill/>
            </p:spPr>
            <p:txBody>
              <a:bodyPr wrap="square" rtlCol="0">
                <a:spAutoFit/>
              </a:bodyPr>
              <a:lstStyle/>
              <a:p>
                <a:pPr>
                  <a:spcAft>
                    <a:spcPts val="1200"/>
                  </a:spcAft>
                </a:pPr>
                <a:r>
                  <a:rPr lang="en-GB" sz="2400" dirty="0">
                    <a:latin typeface="+mj-lt"/>
                  </a:rPr>
                  <a:t>Find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3</m:t>
                                </m:r>
                              </m:sup>
                            </m:sSup>
                          </m:fName>
                          <m:e>
                            <m:r>
                              <a:rPr lang="en-AU" sz="2400" i="1">
                                <a:latin typeface="Cambria Math" panose="02040503050406030204" pitchFamily="18" charset="0"/>
                              </a:rPr>
                              <m:t>𝑥</m:t>
                            </m:r>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cos</m:t>
                                    </m:r>
                                    <m:r>
                                      <m:rPr>
                                        <m:sty m:val="p"/>
                                      </m:rPr>
                                      <a:rPr lang="en-AU" sz="2400" b="0" i="0" smtClean="0">
                                        <a:latin typeface="Cambria Math" panose="02040503050406030204" pitchFamily="18" charset="0"/>
                                      </a:rPr>
                                      <m:t>h</m:t>
                                    </m:r>
                                  </m:e>
                                  <m:sup>
                                    <m:r>
                                      <a:rPr lang="en-AU" sz="2400" b="0" i="1" smtClean="0">
                                        <a:latin typeface="Cambria Math" panose="02040503050406030204" pitchFamily="18" charset="0"/>
                                      </a:rPr>
                                      <m:t>3</m:t>
                                    </m:r>
                                  </m:sup>
                                </m:sSup>
                              </m:fName>
                              <m:e>
                                <m:r>
                                  <a:rPr lang="en-AU" sz="2400" i="1">
                                    <a:latin typeface="Cambria Math" panose="02040503050406030204" pitchFamily="18" charset="0"/>
                                  </a:rPr>
                                  <m:t>𝑥</m:t>
                                </m:r>
                              </m:e>
                            </m:func>
                            <m:r>
                              <a:rPr lang="en-AU" sz="2400" i="1">
                                <a:latin typeface="Cambria Math" panose="02040503050406030204" pitchFamily="18" charset="0"/>
                              </a:rPr>
                              <m:t>𝑑𝑥</m:t>
                            </m:r>
                          </m:e>
                        </m:func>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35778"/>
                <a:ext cx="11710929" cy="519116"/>
              </a:xfrm>
              <a:prstGeom prst="rect">
                <a:avLst/>
              </a:prstGeom>
              <a:blipFill>
                <a:blip r:embed="rId2"/>
                <a:stretch>
                  <a:fillRect l="-780" t="-142353" b="-203529"/>
                </a:stretch>
              </a:blipFill>
            </p:spPr>
            <p:txBody>
              <a:bodyPr/>
              <a:lstStyle/>
              <a:p>
                <a:r>
                  <a:rPr lang="en-GB">
                    <a:noFill/>
                  </a:rPr>
                  <a:t> </a:t>
                </a:r>
              </a:p>
            </p:txBody>
          </p:sp>
        </mc:Fallback>
      </mc:AlternateContent>
    </p:spTree>
    <p:extLst>
      <p:ext uri="{BB962C8B-B14F-4D97-AF65-F5344CB8AC3E}">
        <p14:creationId xmlns:p14="http://schemas.microsoft.com/office/powerpoint/2010/main" val="3893902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0847778" cy="523220"/>
          </a:xfrm>
          <a:prstGeom prst="rect">
            <a:avLst/>
          </a:prstGeom>
          <a:noFill/>
        </p:spPr>
        <p:txBody>
          <a:bodyPr wrap="none" rtlCol="0">
            <a:spAutoFit/>
          </a:bodyPr>
          <a:lstStyle/>
          <a:p>
            <a:r>
              <a:rPr lang="en-AU" sz="2800" b="1" cap="small" dirty="0">
                <a:solidFill>
                  <a:schemeClr val="bg1"/>
                </a:solidFill>
                <a:latin typeface="+mj-lt"/>
              </a:rPr>
              <a:t>5.4 Integration of products of powers of trigonometric/hyperbolic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35778"/>
                <a:ext cx="11710929" cy="3192349"/>
              </a:xfrm>
              <a:prstGeom prst="rect">
                <a:avLst/>
              </a:prstGeom>
              <a:noFill/>
            </p:spPr>
            <p:txBody>
              <a:bodyPr wrap="square" rtlCol="0">
                <a:spAutoFit/>
              </a:bodyPr>
              <a:lstStyle/>
              <a:p>
                <a:pPr>
                  <a:spcAft>
                    <a:spcPts val="1200"/>
                  </a:spcAft>
                </a:pPr>
                <a:r>
                  <a:rPr lang="en-GB" sz="2400" dirty="0">
                    <a:latin typeface="+mj-lt"/>
                  </a:rPr>
                  <a:t>Find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unc>
                          <m:funcPr>
                            <m:ctrlPr>
                              <a:rPr lang="en-AU" sz="2400" b="0" i="1" smtClean="0">
                                <a:latin typeface="Cambria Math" panose="02040503050406030204" pitchFamily="18" charset="0"/>
                              </a:rPr>
                            </m:ctrlPr>
                          </m:funcPr>
                          <m:fName>
                            <m:sSup>
                              <m:sSupPr>
                                <m:ctrlPr>
                                  <a:rPr lang="en-AU" sz="2400" i="1" smtClean="0">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𝑑𝑥</m:t>
                        </m:r>
                      </m:e>
                    </m:nary>
                  </m:oMath>
                </a14:m>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a:p>
                <a:pPr>
                  <a:spcAft>
                    <a:spcPts val="1200"/>
                  </a:spcAft>
                </a:pPr>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35778"/>
                <a:ext cx="11710929" cy="3192349"/>
              </a:xfrm>
              <a:prstGeom prst="rect">
                <a:avLst/>
              </a:prstGeom>
              <a:blipFill>
                <a:blip r:embed="rId2"/>
                <a:stretch>
                  <a:fillRect l="-780" t="-23136"/>
                </a:stretch>
              </a:blipFill>
            </p:spPr>
            <p:txBody>
              <a:bodyPr/>
              <a:lstStyle/>
              <a:p>
                <a:r>
                  <a:rPr lang="en-GB">
                    <a:noFill/>
                  </a:rPr>
                  <a:t> </a:t>
                </a:r>
              </a:p>
            </p:txBody>
          </p:sp>
        </mc:Fallback>
      </mc:AlternateContent>
    </p:spTree>
    <p:extLst>
      <p:ext uri="{BB962C8B-B14F-4D97-AF65-F5344CB8AC3E}">
        <p14:creationId xmlns:p14="http://schemas.microsoft.com/office/powerpoint/2010/main" val="3232017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0847778" cy="523220"/>
          </a:xfrm>
          <a:prstGeom prst="rect">
            <a:avLst/>
          </a:prstGeom>
          <a:noFill/>
        </p:spPr>
        <p:txBody>
          <a:bodyPr wrap="none" rtlCol="0">
            <a:spAutoFit/>
          </a:bodyPr>
          <a:lstStyle/>
          <a:p>
            <a:r>
              <a:rPr lang="en-AU" sz="2800" b="1" cap="small" dirty="0">
                <a:solidFill>
                  <a:schemeClr val="bg1"/>
                </a:solidFill>
                <a:latin typeface="+mj-lt"/>
              </a:rPr>
              <a:t>5.4 Integration of products of powers of trigonometric/hyperbolic functions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85597E-7235-44B2-927C-87BAFA271873}"/>
                  </a:ext>
                </a:extLst>
              </p:cNvPr>
              <p:cNvSpPr txBox="1"/>
              <p:nvPr/>
            </p:nvSpPr>
            <p:spPr>
              <a:xfrm>
                <a:off x="240535" y="935778"/>
                <a:ext cx="11710929" cy="519116"/>
              </a:xfrm>
              <a:prstGeom prst="rect">
                <a:avLst/>
              </a:prstGeom>
              <a:noFill/>
            </p:spPr>
            <p:txBody>
              <a:bodyPr wrap="square" rtlCol="0">
                <a:spAutoFit/>
              </a:bodyPr>
              <a:lstStyle/>
              <a:p>
                <a:pPr>
                  <a:spcAft>
                    <a:spcPts val="1200"/>
                  </a:spcAft>
                </a:pPr>
                <a:r>
                  <a:rPr lang="en-GB" sz="2400" dirty="0">
                    <a:latin typeface="+mj-lt"/>
                  </a:rPr>
                  <a:t>Find </a:t>
                </a:r>
                <a14:m>
                  <m:oMath xmlns:m="http://schemas.openxmlformats.org/officeDocument/2006/math">
                    <m:nary>
                      <m:naryPr>
                        <m:limLoc m:val="undOvr"/>
                        <m:subHide m:val="on"/>
                        <m:supHide m:val="on"/>
                        <m:ctrlPr>
                          <a:rPr lang="en-GB" sz="2400" i="1" smtClean="0">
                            <a:latin typeface="Cambria Math" panose="02040503050406030204" pitchFamily="18" charset="0"/>
                          </a:rPr>
                        </m:ctrlPr>
                      </m:naryPr>
                      <m:sub/>
                      <m:sup/>
                      <m:e>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2</m:t>
                                </m:r>
                              </m:sup>
                            </m:sSup>
                          </m:fName>
                          <m:e>
                            <m:r>
                              <a:rPr lang="en-AU" sz="2400" i="1">
                                <a:latin typeface="Cambria Math" panose="02040503050406030204" pitchFamily="18" charset="0"/>
                              </a:rPr>
                              <m:t>𝑥</m:t>
                            </m:r>
                            <m:func>
                              <m:funcPr>
                                <m:ctrlPr>
                                  <a:rPr lang="en-AU" sz="2400" i="1">
                                    <a:latin typeface="Cambria Math" panose="02040503050406030204" pitchFamily="18" charset="0"/>
                                  </a:rPr>
                                </m:ctrlPr>
                              </m:funcPr>
                              <m:fName>
                                <m:sSup>
                                  <m:sSupPr>
                                    <m:ctrlPr>
                                      <a:rPr lang="en-AU" sz="2400" i="1">
                                        <a:latin typeface="Cambria Math" panose="02040503050406030204" pitchFamily="18" charset="0"/>
                                      </a:rPr>
                                    </m:ctrlPr>
                                  </m:sSupPr>
                                  <m:e>
                                    <m:r>
                                      <m:rPr>
                                        <m:sty m:val="p"/>
                                      </m:rPr>
                                      <a:rPr lang="en-AU" sz="2400">
                                        <a:latin typeface="Cambria Math" panose="02040503050406030204" pitchFamily="18" charset="0"/>
                                      </a:rPr>
                                      <m:t>cos</m:t>
                                    </m:r>
                                  </m:e>
                                  <m:sup>
                                    <m:r>
                                      <a:rPr lang="en-AU" sz="2400" b="0" i="1" smtClean="0">
                                        <a:latin typeface="Cambria Math" panose="02040503050406030204" pitchFamily="18" charset="0"/>
                                      </a:rPr>
                                      <m:t>4</m:t>
                                    </m:r>
                                  </m:sup>
                                </m:sSup>
                              </m:fName>
                              <m:e>
                                <m:r>
                                  <a:rPr lang="en-AU" sz="2400" i="1">
                                    <a:latin typeface="Cambria Math" panose="02040503050406030204" pitchFamily="18" charset="0"/>
                                  </a:rPr>
                                  <m:t>𝑥</m:t>
                                </m:r>
                              </m:e>
                            </m:func>
                            <m:r>
                              <a:rPr lang="en-AU" sz="2400" i="1">
                                <a:latin typeface="Cambria Math" panose="02040503050406030204" pitchFamily="18" charset="0"/>
                              </a:rPr>
                              <m:t>𝑑𝑥</m:t>
                            </m:r>
                          </m:e>
                        </m:func>
                      </m:e>
                    </m:nary>
                  </m:oMath>
                </a14:m>
                <a:endParaRPr lang="en-GB" sz="2400" dirty="0">
                  <a:latin typeface="+mj-lt"/>
                </a:endParaRPr>
              </a:p>
            </p:txBody>
          </p:sp>
        </mc:Choice>
        <mc:Fallback xmlns="">
          <p:sp>
            <p:nvSpPr>
              <p:cNvPr id="3" name="TextBox 2">
                <a:extLst>
                  <a:ext uri="{FF2B5EF4-FFF2-40B4-BE49-F238E27FC236}">
                    <a16:creationId xmlns:a16="http://schemas.microsoft.com/office/drawing/2014/main" id="{C585597E-7235-44B2-927C-87BAFA271873}"/>
                  </a:ext>
                </a:extLst>
              </p:cNvPr>
              <p:cNvSpPr txBox="1">
                <a:spLocks noRot="1" noChangeAspect="1" noMove="1" noResize="1" noEditPoints="1" noAdjustHandles="1" noChangeArrowheads="1" noChangeShapeType="1" noTextEdit="1"/>
              </p:cNvSpPr>
              <p:nvPr/>
            </p:nvSpPr>
            <p:spPr>
              <a:xfrm>
                <a:off x="240535" y="935778"/>
                <a:ext cx="11710929" cy="519116"/>
              </a:xfrm>
              <a:prstGeom prst="rect">
                <a:avLst/>
              </a:prstGeom>
              <a:blipFill>
                <a:blip r:embed="rId2"/>
                <a:stretch>
                  <a:fillRect l="-780" t="-142353" b="-203529"/>
                </a:stretch>
              </a:blipFill>
            </p:spPr>
            <p:txBody>
              <a:bodyPr/>
              <a:lstStyle/>
              <a:p>
                <a:r>
                  <a:rPr lang="en-GB">
                    <a:noFill/>
                  </a:rPr>
                  <a:t> </a:t>
                </a:r>
              </a:p>
            </p:txBody>
          </p:sp>
        </mc:Fallback>
      </mc:AlternateContent>
    </p:spTree>
    <p:extLst>
      <p:ext uri="{BB962C8B-B14F-4D97-AF65-F5344CB8AC3E}">
        <p14:creationId xmlns:p14="http://schemas.microsoft.com/office/powerpoint/2010/main" val="394228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FE63619-80A3-4A89-960D-0F91C6BB0AAA}"/>
              </a:ext>
            </a:extLst>
          </p:cNvPr>
          <p:cNvGrpSpPr/>
          <p:nvPr/>
        </p:nvGrpSpPr>
        <p:grpSpPr>
          <a:xfrm>
            <a:off x="0" y="361"/>
            <a:ext cx="12192000" cy="825314"/>
            <a:chOff x="0" y="213019"/>
            <a:chExt cx="12192000" cy="825314"/>
          </a:xfrm>
          <a:solidFill>
            <a:schemeClr val="accent2">
              <a:lumMod val="50000"/>
            </a:schemeClr>
          </a:solidFill>
        </p:grpSpPr>
        <p:sp>
          <p:nvSpPr>
            <p:cNvPr id="4" name="Rectangle 3">
              <a:extLst>
                <a:ext uri="{FF2B5EF4-FFF2-40B4-BE49-F238E27FC236}">
                  <a16:creationId xmlns:a16="http://schemas.microsoft.com/office/drawing/2014/main" id="{0F605405-8240-4BCC-AF89-B810229A04D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9556E24-176E-4E21-ACB9-FCE58612884D}"/>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0AD420-227D-44EE-A46A-95E968DB579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3833D331-C78A-418D-9AFF-6E3587061322}"/>
              </a:ext>
            </a:extLst>
          </p:cNvPr>
          <p:cNvSpPr txBox="1"/>
          <p:nvPr/>
        </p:nvSpPr>
        <p:spPr>
          <a:xfrm>
            <a:off x="66245" y="124632"/>
            <a:ext cx="2220673" cy="523220"/>
          </a:xfrm>
          <a:prstGeom prst="rect">
            <a:avLst/>
          </a:prstGeom>
          <a:noFill/>
        </p:spPr>
        <p:txBody>
          <a:bodyPr wrap="none" rtlCol="0">
            <a:spAutoFit/>
          </a:bodyPr>
          <a:lstStyle/>
          <a:p>
            <a:r>
              <a:rPr lang="en-AU" sz="2800" b="1" cap="small" dirty="0">
                <a:solidFill>
                  <a:schemeClr val="bg1"/>
                </a:solidFill>
                <a:latin typeface="+mj-lt"/>
              </a:rPr>
              <a:t>End of Lecture</a:t>
            </a:r>
            <a:endParaRPr lang="en-GB" sz="2800" b="1" cap="small" dirty="0">
              <a:solidFill>
                <a:schemeClr val="bg1"/>
              </a:solidFill>
              <a:latin typeface="+mj-lt"/>
            </a:endParaRPr>
          </a:p>
        </p:txBody>
      </p:sp>
    </p:spTree>
    <p:extLst>
      <p:ext uri="{BB962C8B-B14F-4D97-AF65-F5344CB8AC3E}">
        <p14:creationId xmlns:p14="http://schemas.microsoft.com/office/powerpoint/2010/main" val="3677207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7865</TotalTime>
  <Words>1534</Words>
  <Application>Microsoft Office PowerPoint</Application>
  <PresentationFormat>Widescreen</PresentationFormat>
  <Paragraphs>157</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Cambria Math</vt:lpstr>
      <vt:lpstr>Times New Roman</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Paul Hernandez Martinez</cp:lastModifiedBy>
  <cp:revision>457</cp:revision>
  <dcterms:created xsi:type="dcterms:W3CDTF">2018-11-23T00:41:45Z</dcterms:created>
  <dcterms:modified xsi:type="dcterms:W3CDTF">2024-09-18T03:35:50Z</dcterms:modified>
</cp:coreProperties>
</file>