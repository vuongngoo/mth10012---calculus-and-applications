
<file path=[Content_Types].xml><?xml version="1.0" encoding="utf-8"?>
<Types xmlns="http://schemas.openxmlformats.org/package/2006/content-types">
  <Default Extension="emf" ContentType="image/x-emf"/>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2"/>
  </p:notesMasterIdLst>
  <p:handoutMasterIdLst>
    <p:handoutMasterId r:id="rId33"/>
  </p:handoutMasterIdLst>
  <p:sldIdLst>
    <p:sldId id="256" r:id="rId2"/>
    <p:sldId id="261" r:id="rId3"/>
    <p:sldId id="414" r:id="rId4"/>
    <p:sldId id="402" r:id="rId5"/>
    <p:sldId id="415" r:id="rId6"/>
    <p:sldId id="416" r:id="rId7"/>
    <p:sldId id="413" r:id="rId8"/>
    <p:sldId id="417" r:id="rId9"/>
    <p:sldId id="418" r:id="rId10"/>
    <p:sldId id="419" r:id="rId11"/>
    <p:sldId id="420" r:id="rId12"/>
    <p:sldId id="421" r:id="rId13"/>
    <p:sldId id="422" r:id="rId14"/>
    <p:sldId id="423" r:id="rId15"/>
    <p:sldId id="424" r:id="rId16"/>
    <p:sldId id="425" r:id="rId17"/>
    <p:sldId id="426" r:id="rId18"/>
    <p:sldId id="427" r:id="rId19"/>
    <p:sldId id="428" r:id="rId20"/>
    <p:sldId id="429" r:id="rId21"/>
    <p:sldId id="430" r:id="rId22"/>
    <p:sldId id="431" r:id="rId23"/>
    <p:sldId id="432" r:id="rId24"/>
    <p:sldId id="433" r:id="rId25"/>
    <p:sldId id="434" r:id="rId26"/>
    <p:sldId id="435" r:id="rId27"/>
    <p:sldId id="436" r:id="rId28"/>
    <p:sldId id="437" r:id="rId29"/>
    <p:sldId id="438" r:id="rId30"/>
    <p:sldId id="337" r:id="rId31"/>
  </p:sldIdLst>
  <p:sldSz cx="12192000" cy="6858000"/>
  <p:notesSz cx="6805613"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6C0000"/>
    <a:srgbClr val="E050C5"/>
    <a:srgbClr val="FFF2CC"/>
    <a:srgbClr val="FFEBB3"/>
    <a:srgbClr val="75F8FF"/>
    <a:srgbClr val="A1FFE2"/>
    <a:srgbClr val="9AFFBF"/>
    <a:srgbClr val="00FF99"/>
    <a:srgbClr val="FFCC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556" autoAdjust="0"/>
    <p:restoredTop sz="96625" autoAdjust="0"/>
  </p:normalViewPr>
  <p:slideViewPr>
    <p:cSldViewPr snapToGrid="0">
      <p:cViewPr varScale="1">
        <p:scale>
          <a:sx n="107" d="100"/>
          <a:sy n="107" d="100"/>
        </p:scale>
        <p:origin x="120" y="29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B7C00F1-1718-4925-A43A-175331727A83}"/>
              </a:ext>
            </a:extLst>
          </p:cNvPr>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246C4DA-E8E9-439A-AFBB-71B1FA85B9C5}"/>
              </a:ext>
            </a:extLst>
          </p:cNvPr>
          <p:cNvSpPr>
            <a:spLocks noGrp="1"/>
          </p:cNvSpPr>
          <p:nvPr>
            <p:ph type="dt" sz="quarter" idx="1"/>
          </p:nvPr>
        </p:nvSpPr>
        <p:spPr>
          <a:xfrm>
            <a:off x="3854450" y="0"/>
            <a:ext cx="2949575" cy="498475"/>
          </a:xfrm>
          <a:prstGeom prst="rect">
            <a:avLst/>
          </a:prstGeom>
        </p:spPr>
        <p:txBody>
          <a:bodyPr vert="horz" lIns="91440" tIns="45720" rIns="91440" bIns="45720" rtlCol="0"/>
          <a:lstStyle>
            <a:lvl1pPr algn="r">
              <a:defRPr sz="1200"/>
            </a:lvl1pPr>
          </a:lstStyle>
          <a:p>
            <a:fld id="{95CF5198-13BD-4E71-A56E-DADFEA4013F7}" type="datetimeFigureOut">
              <a:rPr lang="en-US" smtClean="0"/>
              <a:t>10/6/2023</a:t>
            </a:fld>
            <a:endParaRPr lang="en-US"/>
          </a:p>
        </p:txBody>
      </p:sp>
      <p:sp>
        <p:nvSpPr>
          <p:cNvPr id="4" name="Footer Placeholder 3">
            <a:extLst>
              <a:ext uri="{FF2B5EF4-FFF2-40B4-BE49-F238E27FC236}">
                <a16:creationId xmlns:a16="http://schemas.microsoft.com/office/drawing/2014/main" id="{16877F23-B46D-4600-856F-446828C726E1}"/>
              </a:ext>
            </a:extLst>
          </p:cNvPr>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5DDB845-9091-44C1-BB5A-012CFA80FFB2}"/>
              </a:ext>
            </a:extLst>
          </p:cNvPr>
          <p:cNvSpPr>
            <a:spLocks noGrp="1"/>
          </p:cNvSpPr>
          <p:nvPr>
            <p:ph type="sldNum" sz="quarter" idx="3"/>
          </p:nvPr>
        </p:nvSpPr>
        <p:spPr>
          <a:xfrm>
            <a:off x="3854450" y="9440863"/>
            <a:ext cx="2949575" cy="498475"/>
          </a:xfrm>
          <a:prstGeom prst="rect">
            <a:avLst/>
          </a:prstGeom>
        </p:spPr>
        <p:txBody>
          <a:bodyPr vert="horz" lIns="91440" tIns="45720" rIns="91440" bIns="45720" rtlCol="0" anchor="b"/>
          <a:lstStyle>
            <a:lvl1pPr algn="r">
              <a:defRPr sz="1200"/>
            </a:lvl1pPr>
          </a:lstStyle>
          <a:p>
            <a:fld id="{BBB43135-408F-4918-93DC-4C4FABB8BA38}" type="slidenum">
              <a:rPr lang="en-US" smtClean="0"/>
              <a:t>‹#›</a:t>
            </a:fld>
            <a:endParaRPr lang="en-US"/>
          </a:p>
        </p:txBody>
      </p:sp>
    </p:spTree>
    <p:extLst>
      <p:ext uri="{BB962C8B-B14F-4D97-AF65-F5344CB8AC3E}">
        <p14:creationId xmlns:p14="http://schemas.microsoft.com/office/powerpoint/2010/main" val="3495705199"/>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099" cy="498693"/>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54939" y="0"/>
            <a:ext cx="2949099" cy="498693"/>
          </a:xfrm>
          <a:prstGeom prst="rect">
            <a:avLst/>
          </a:prstGeom>
        </p:spPr>
        <p:txBody>
          <a:bodyPr vert="horz" lIns="91440" tIns="45720" rIns="91440" bIns="45720" rtlCol="0"/>
          <a:lstStyle>
            <a:lvl1pPr algn="r">
              <a:defRPr sz="1200"/>
            </a:lvl1pPr>
          </a:lstStyle>
          <a:p>
            <a:fld id="{A0D9DCAD-DE8F-4CDD-984A-DA4AA5EA435B}" type="datetimeFigureOut">
              <a:rPr lang="en-AU" smtClean="0"/>
              <a:t>6/10/2023</a:t>
            </a:fld>
            <a:endParaRPr lang="en-AU"/>
          </a:p>
        </p:txBody>
      </p:sp>
      <p:sp>
        <p:nvSpPr>
          <p:cNvPr id="4" name="Slide Image Placeholder 3"/>
          <p:cNvSpPr>
            <a:spLocks noGrp="1" noRot="1" noChangeAspect="1"/>
          </p:cNvSpPr>
          <p:nvPr>
            <p:ph type="sldImg" idx="2"/>
          </p:nvPr>
        </p:nvSpPr>
        <p:spPr>
          <a:xfrm>
            <a:off x="422275" y="1243013"/>
            <a:ext cx="5961063" cy="3354387"/>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0562" y="4783307"/>
            <a:ext cx="5444490" cy="3913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440647"/>
            <a:ext cx="2949099" cy="498692"/>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54939" y="9440647"/>
            <a:ext cx="2949099" cy="498692"/>
          </a:xfrm>
          <a:prstGeom prst="rect">
            <a:avLst/>
          </a:prstGeom>
        </p:spPr>
        <p:txBody>
          <a:bodyPr vert="horz" lIns="91440" tIns="45720" rIns="91440" bIns="45720" rtlCol="0" anchor="b"/>
          <a:lstStyle>
            <a:lvl1pPr algn="r">
              <a:defRPr sz="1200"/>
            </a:lvl1pPr>
          </a:lstStyle>
          <a:p>
            <a:fld id="{C1C00294-AEF9-4034-8E81-4D594CB10C91}" type="slidenum">
              <a:rPr lang="en-AU" smtClean="0"/>
              <a:t>‹#›</a:t>
            </a:fld>
            <a:endParaRPr lang="en-AU"/>
          </a:p>
        </p:txBody>
      </p:sp>
    </p:spTree>
    <p:extLst>
      <p:ext uri="{BB962C8B-B14F-4D97-AF65-F5344CB8AC3E}">
        <p14:creationId xmlns:p14="http://schemas.microsoft.com/office/powerpoint/2010/main" val="181199127"/>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6BE2F-261A-488B-B93C-7BE08E26FB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31D02DE-1CFE-4515-9E33-21EBC28825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BA0201-588B-4FDC-B1A7-99525CBEE325}"/>
              </a:ext>
            </a:extLst>
          </p:cNvPr>
          <p:cNvSpPr>
            <a:spLocks noGrp="1"/>
          </p:cNvSpPr>
          <p:nvPr>
            <p:ph type="dt" sz="half" idx="10"/>
          </p:nvPr>
        </p:nvSpPr>
        <p:spPr/>
        <p:txBody>
          <a:bodyPr/>
          <a:lstStyle/>
          <a:p>
            <a:fld id="{6FF8AB16-CEA3-471F-8DD6-F4EB36AF83AE}" type="datetimeFigureOut">
              <a:rPr lang="en-US" smtClean="0"/>
              <a:t>10/6/2023</a:t>
            </a:fld>
            <a:endParaRPr lang="en-US"/>
          </a:p>
        </p:txBody>
      </p:sp>
      <p:sp>
        <p:nvSpPr>
          <p:cNvPr id="5" name="Footer Placeholder 4">
            <a:extLst>
              <a:ext uri="{FF2B5EF4-FFF2-40B4-BE49-F238E27FC236}">
                <a16:creationId xmlns:a16="http://schemas.microsoft.com/office/drawing/2014/main" id="{FD479FBC-E34E-463B-9581-0DBAF2C9A4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E8FE7A-01BB-4021-8D2B-4591558BF158}"/>
              </a:ext>
            </a:extLst>
          </p:cNvPr>
          <p:cNvSpPr>
            <a:spLocks noGrp="1"/>
          </p:cNvSpPr>
          <p:nvPr>
            <p:ph type="sldNum" sz="quarter" idx="12"/>
          </p:nvPr>
        </p:nvSpPr>
        <p:spPr/>
        <p:txBody>
          <a:bodyPr/>
          <a:lstStyle/>
          <a:p>
            <a:fld id="{7420E577-446B-4DBC-A698-2A6B8DE6A948}" type="slidenum">
              <a:rPr lang="en-US" smtClean="0"/>
              <a:t>‹#›</a:t>
            </a:fld>
            <a:endParaRPr lang="en-US"/>
          </a:p>
        </p:txBody>
      </p:sp>
      <p:pic>
        <p:nvPicPr>
          <p:cNvPr id="7" name="Picture 6">
            <a:extLst>
              <a:ext uri="{FF2B5EF4-FFF2-40B4-BE49-F238E27FC236}">
                <a16:creationId xmlns:a16="http://schemas.microsoft.com/office/drawing/2014/main" id="{F9F5D431-79F7-473F-8B6E-B3955076CD8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9072" y="6140610"/>
            <a:ext cx="1122769" cy="574290"/>
          </a:xfrm>
          <a:prstGeom prst="rect">
            <a:avLst/>
          </a:prstGeom>
        </p:spPr>
      </p:pic>
      <p:sp>
        <p:nvSpPr>
          <p:cNvPr id="8" name="TextBox 7">
            <a:extLst>
              <a:ext uri="{FF2B5EF4-FFF2-40B4-BE49-F238E27FC236}">
                <a16:creationId xmlns:a16="http://schemas.microsoft.com/office/drawing/2014/main" id="{C85D6FCD-D711-415C-BDDE-8F6DDE0408BE}"/>
              </a:ext>
            </a:extLst>
          </p:cNvPr>
          <p:cNvSpPr txBox="1"/>
          <p:nvPr userDrawn="1"/>
        </p:nvSpPr>
        <p:spPr>
          <a:xfrm>
            <a:off x="11443527" y="6227700"/>
            <a:ext cx="486030" cy="400110"/>
          </a:xfrm>
          <a:prstGeom prst="rect">
            <a:avLst/>
          </a:prstGeom>
          <a:noFill/>
        </p:spPr>
        <p:txBody>
          <a:bodyPr wrap="none" rtlCol="0">
            <a:spAutoFit/>
          </a:bodyPr>
          <a:lstStyle/>
          <a:p>
            <a:fld id="{B0E72E4E-4CBE-4D12-B6A9-8CB223CF8265}" type="slidenum">
              <a:rPr lang="en-AU" sz="2000" b="1" smtClean="0"/>
              <a:t>‹#›</a:t>
            </a:fld>
            <a:endParaRPr lang="en-AU" sz="2000" b="1" dirty="0"/>
          </a:p>
        </p:txBody>
      </p:sp>
    </p:spTree>
    <p:extLst>
      <p:ext uri="{BB962C8B-B14F-4D97-AF65-F5344CB8AC3E}">
        <p14:creationId xmlns:p14="http://schemas.microsoft.com/office/powerpoint/2010/main" val="3496589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2A2F9-7D55-40B9-B9F6-47CEB7F233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C4E6F6-872B-4351-82CE-F6BDED67859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E37C49-E28A-4BC7-B01F-46B9108294B4}"/>
              </a:ext>
            </a:extLst>
          </p:cNvPr>
          <p:cNvSpPr>
            <a:spLocks noGrp="1"/>
          </p:cNvSpPr>
          <p:nvPr>
            <p:ph type="dt" sz="half" idx="10"/>
          </p:nvPr>
        </p:nvSpPr>
        <p:spPr/>
        <p:txBody>
          <a:bodyPr/>
          <a:lstStyle/>
          <a:p>
            <a:fld id="{A2BBB18F-8376-4052-A4AC-9CEE87CB9347}" type="datetime1">
              <a:rPr lang="en-AU" smtClean="0"/>
              <a:t>6/10/2023</a:t>
            </a:fld>
            <a:endParaRPr lang="en-AU"/>
          </a:p>
        </p:txBody>
      </p:sp>
      <p:sp>
        <p:nvSpPr>
          <p:cNvPr id="5" name="Footer Placeholder 4">
            <a:extLst>
              <a:ext uri="{FF2B5EF4-FFF2-40B4-BE49-F238E27FC236}">
                <a16:creationId xmlns:a16="http://schemas.microsoft.com/office/drawing/2014/main" id="{CF8BD53B-FA02-45C3-B746-4698E5C7A9A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F9585B1-EDCF-4B2C-AB51-34E6296E0D35}"/>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553675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ACFC9-D1E8-4E90-A313-CE13BA34D5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02CAFC9-3AAB-464E-BF70-473E57067E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2992BC8-6CF3-4155-A3AC-94AADADA0556}"/>
              </a:ext>
            </a:extLst>
          </p:cNvPr>
          <p:cNvSpPr>
            <a:spLocks noGrp="1"/>
          </p:cNvSpPr>
          <p:nvPr>
            <p:ph type="dt" sz="half" idx="10"/>
          </p:nvPr>
        </p:nvSpPr>
        <p:spPr/>
        <p:txBody>
          <a:bodyPr/>
          <a:lstStyle/>
          <a:p>
            <a:fld id="{EEBEFC66-FB02-44EA-BC04-6F096A7B7769}" type="datetime1">
              <a:rPr lang="en-AU" smtClean="0"/>
              <a:t>6/10/2023</a:t>
            </a:fld>
            <a:endParaRPr lang="en-AU"/>
          </a:p>
        </p:txBody>
      </p:sp>
      <p:sp>
        <p:nvSpPr>
          <p:cNvPr id="5" name="Footer Placeholder 4">
            <a:extLst>
              <a:ext uri="{FF2B5EF4-FFF2-40B4-BE49-F238E27FC236}">
                <a16:creationId xmlns:a16="http://schemas.microsoft.com/office/drawing/2014/main" id="{F1D31418-83C4-4996-B0E2-AABE17A1106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D56ECE1-87D5-4300-BACC-4A4EB5169CB0}"/>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2327961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A7873-C1A0-4FC9-9508-391EDD084E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0A00C2-E18A-49F2-813D-D0968706018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FCC943-1A72-4568-B75B-790E77A35AE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E6426C6-D368-434D-A76E-A08FE05B252C}"/>
              </a:ext>
            </a:extLst>
          </p:cNvPr>
          <p:cNvSpPr>
            <a:spLocks noGrp="1"/>
          </p:cNvSpPr>
          <p:nvPr>
            <p:ph type="dt" sz="half" idx="10"/>
          </p:nvPr>
        </p:nvSpPr>
        <p:spPr/>
        <p:txBody>
          <a:bodyPr/>
          <a:lstStyle/>
          <a:p>
            <a:fld id="{BE266C89-1765-4641-A2C2-0C255FF54FD1}" type="datetime1">
              <a:rPr lang="en-AU" smtClean="0"/>
              <a:t>6/10/2023</a:t>
            </a:fld>
            <a:endParaRPr lang="en-AU"/>
          </a:p>
        </p:txBody>
      </p:sp>
      <p:sp>
        <p:nvSpPr>
          <p:cNvPr id="6" name="Footer Placeholder 5">
            <a:extLst>
              <a:ext uri="{FF2B5EF4-FFF2-40B4-BE49-F238E27FC236}">
                <a16:creationId xmlns:a16="http://schemas.microsoft.com/office/drawing/2014/main" id="{A5F1A0D2-A40A-49C1-8234-B7D2E59752D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D5590CF-5EB7-4621-AF70-49745B7E8CB1}"/>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3449012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5EC4E-7129-4DFE-A8BF-D2F4C51EB3E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A868A7-B0A8-48B8-9C40-76D73A53EE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5E52730-3A93-4774-B024-FF41D7ADBB4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51560C-643D-4E43-9F3C-1BAB21E151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9AC2905-B67E-4FAA-969B-8323B9811FD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91CAE1-7796-4C1F-9BED-1A8C90ABA79C}"/>
              </a:ext>
            </a:extLst>
          </p:cNvPr>
          <p:cNvSpPr>
            <a:spLocks noGrp="1"/>
          </p:cNvSpPr>
          <p:nvPr>
            <p:ph type="dt" sz="half" idx="10"/>
          </p:nvPr>
        </p:nvSpPr>
        <p:spPr/>
        <p:txBody>
          <a:bodyPr/>
          <a:lstStyle/>
          <a:p>
            <a:fld id="{4A873857-A5A5-474E-9E58-C4E578787857}" type="datetime1">
              <a:rPr lang="en-AU" smtClean="0"/>
              <a:t>6/10/2023</a:t>
            </a:fld>
            <a:endParaRPr lang="en-AU"/>
          </a:p>
        </p:txBody>
      </p:sp>
      <p:sp>
        <p:nvSpPr>
          <p:cNvPr id="8" name="Footer Placeholder 7">
            <a:extLst>
              <a:ext uri="{FF2B5EF4-FFF2-40B4-BE49-F238E27FC236}">
                <a16:creationId xmlns:a16="http://schemas.microsoft.com/office/drawing/2014/main" id="{D0D73460-6DE1-4496-9257-1CF265A78120}"/>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C59E5745-5DC0-47E7-86B4-926C3EEB61DA}"/>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510983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30E46-5C93-447B-AA2A-FABDBC8333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5D545D-C4CE-4C13-933E-BB80F082B875}"/>
              </a:ext>
            </a:extLst>
          </p:cNvPr>
          <p:cNvSpPr>
            <a:spLocks noGrp="1"/>
          </p:cNvSpPr>
          <p:nvPr>
            <p:ph type="dt" sz="half" idx="10"/>
          </p:nvPr>
        </p:nvSpPr>
        <p:spPr/>
        <p:txBody>
          <a:bodyPr/>
          <a:lstStyle/>
          <a:p>
            <a:fld id="{4C4A7F37-9D1F-41EA-AAC5-1B6F73404883}" type="datetime1">
              <a:rPr lang="en-AU" smtClean="0"/>
              <a:t>6/10/2023</a:t>
            </a:fld>
            <a:endParaRPr lang="en-AU"/>
          </a:p>
        </p:txBody>
      </p:sp>
      <p:sp>
        <p:nvSpPr>
          <p:cNvPr id="4" name="Footer Placeholder 3">
            <a:extLst>
              <a:ext uri="{FF2B5EF4-FFF2-40B4-BE49-F238E27FC236}">
                <a16:creationId xmlns:a16="http://schemas.microsoft.com/office/drawing/2014/main" id="{F055F992-DE21-4FF8-9EC3-24F7AAB4599B}"/>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5FA18A99-A541-4FC4-8B0F-E2C0D8ED3C39}"/>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1608956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39AF43-84E3-4B89-A20D-5AD12A924EFB}"/>
              </a:ext>
            </a:extLst>
          </p:cNvPr>
          <p:cNvSpPr>
            <a:spLocks noGrp="1"/>
          </p:cNvSpPr>
          <p:nvPr>
            <p:ph type="dt" sz="half" idx="10"/>
          </p:nvPr>
        </p:nvSpPr>
        <p:spPr/>
        <p:txBody>
          <a:bodyPr/>
          <a:lstStyle/>
          <a:p>
            <a:fld id="{4520FDF9-A986-4905-9508-247B7F4B200D}" type="datetime1">
              <a:rPr lang="en-AU" smtClean="0"/>
              <a:t>6/10/2023</a:t>
            </a:fld>
            <a:endParaRPr lang="en-AU"/>
          </a:p>
        </p:txBody>
      </p:sp>
      <p:sp>
        <p:nvSpPr>
          <p:cNvPr id="3" name="Footer Placeholder 2">
            <a:extLst>
              <a:ext uri="{FF2B5EF4-FFF2-40B4-BE49-F238E27FC236}">
                <a16:creationId xmlns:a16="http://schemas.microsoft.com/office/drawing/2014/main" id="{BC552FC8-6766-4AF6-AE1B-3E3E40DE1606}"/>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C198A401-3F10-4AB5-B56C-A44167EC9855}"/>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22301369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50E79-7D0A-4913-9B9D-D14A14012B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F02F2BE-34D1-4394-A79C-56929CB7F9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486DDC-E9A4-494D-8DA3-DF6FF0CB21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1DC4CB1-DD02-4E14-8070-D529601AE306}"/>
              </a:ext>
            </a:extLst>
          </p:cNvPr>
          <p:cNvSpPr>
            <a:spLocks noGrp="1"/>
          </p:cNvSpPr>
          <p:nvPr>
            <p:ph type="dt" sz="half" idx="10"/>
          </p:nvPr>
        </p:nvSpPr>
        <p:spPr/>
        <p:txBody>
          <a:bodyPr/>
          <a:lstStyle/>
          <a:p>
            <a:fld id="{F0A57C78-DADF-4969-B242-4855E9F4C4D5}" type="datetime1">
              <a:rPr lang="en-AU" smtClean="0"/>
              <a:t>6/10/2023</a:t>
            </a:fld>
            <a:endParaRPr lang="en-AU"/>
          </a:p>
        </p:txBody>
      </p:sp>
      <p:sp>
        <p:nvSpPr>
          <p:cNvPr id="6" name="Footer Placeholder 5">
            <a:extLst>
              <a:ext uri="{FF2B5EF4-FFF2-40B4-BE49-F238E27FC236}">
                <a16:creationId xmlns:a16="http://schemas.microsoft.com/office/drawing/2014/main" id="{9998DCFE-E8EA-4807-BCD4-B175C0E2A25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824BDD04-DF59-476B-A2E1-B91A947D91FE}"/>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1782135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8D7C8-9040-4BEA-BDE3-ABA1A1C276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08E7C11-8D21-434A-A6FD-3E8617092C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E6ED949-D4DE-4581-87B3-C03FD4FD11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06D51E2-1921-40F3-AC40-E142F785D206}"/>
              </a:ext>
            </a:extLst>
          </p:cNvPr>
          <p:cNvSpPr>
            <a:spLocks noGrp="1"/>
          </p:cNvSpPr>
          <p:nvPr>
            <p:ph type="dt" sz="half" idx="10"/>
          </p:nvPr>
        </p:nvSpPr>
        <p:spPr/>
        <p:txBody>
          <a:bodyPr/>
          <a:lstStyle/>
          <a:p>
            <a:fld id="{6E70D74D-1239-4392-A26B-B7E440CEC8CB}" type="datetime1">
              <a:rPr lang="en-AU" smtClean="0"/>
              <a:t>6/10/2023</a:t>
            </a:fld>
            <a:endParaRPr lang="en-AU"/>
          </a:p>
        </p:txBody>
      </p:sp>
      <p:sp>
        <p:nvSpPr>
          <p:cNvPr id="6" name="Footer Placeholder 5">
            <a:extLst>
              <a:ext uri="{FF2B5EF4-FFF2-40B4-BE49-F238E27FC236}">
                <a16:creationId xmlns:a16="http://schemas.microsoft.com/office/drawing/2014/main" id="{2D614FAF-0386-4409-8BFE-A413765B3E1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31F7AEF-E743-4036-9326-1065E4811205}"/>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3232800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E7700-60C9-4E9C-9852-C7B6C38A0B1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A8E9C5B-FA98-43FE-90F2-7DDE18ED865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5FD572-AD9E-4D3B-8F7B-2BB536B5FD27}"/>
              </a:ext>
            </a:extLst>
          </p:cNvPr>
          <p:cNvSpPr>
            <a:spLocks noGrp="1"/>
          </p:cNvSpPr>
          <p:nvPr>
            <p:ph type="dt" sz="half" idx="10"/>
          </p:nvPr>
        </p:nvSpPr>
        <p:spPr/>
        <p:txBody>
          <a:bodyPr/>
          <a:lstStyle/>
          <a:p>
            <a:fld id="{2391578B-E5FA-490D-8208-9FBD9A867E75}" type="datetime1">
              <a:rPr lang="en-AU" smtClean="0"/>
              <a:t>6/10/2023</a:t>
            </a:fld>
            <a:endParaRPr lang="en-AU"/>
          </a:p>
        </p:txBody>
      </p:sp>
      <p:sp>
        <p:nvSpPr>
          <p:cNvPr id="5" name="Footer Placeholder 4">
            <a:extLst>
              <a:ext uri="{FF2B5EF4-FFF2-40B4-BE49-F238E27FC236}">
                <a16:creationId xmlns:a16="http://schemas.microsoft.com/office/drawing/2014/main" id="{7EA1E37F-1B21-4246-BA36-73956FFE9F7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FCEDB52-5DFE-4447-91E2-9787D84DBB86}"/>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2754401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F0283C-E2F0-4A6F-9AD9-82CA902DEF2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DBE5EE6-7D9F-42B2-94B0-02A3E84F5E0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DC19CB-43F8-4CC0-903E-C23803089474}"/>
              </a:ext>
            </a:extLst>
          </p:cNvPr>
          <p:cNvSpPr>
            <a:spLocks noGrp="1"/>
          </p:cNvSpPr>
          <p:nvPr>
            <p:ph type="dt" sz="half" idx="10"/>
          </p:nvPr>
        </p:nvSpPr>
        <p:spPr/>
        <p:txBody>
          <a:bodyPr/>
          <a:lstStyle/>
          <a:p>
            <a:fld id="{24F54018-37EC-481E-B7F2-FDEEBA0F84AF}" type="datetime1">
              <a:rPr lang="en-AU" smtClean="0"/>
              <a:t>6/10/2023</a:t>
            </a:fld>
            <a:endParaRPr lang="en-AU"/>
          </a:p>
        </p:txBody>
      </p:sp>
      <p:sp>
        <p:nvSpPr>
          <p:cNvPr id="5" name="Footer Placeholder 4">
            <a:extLst>
              <a:ext uri="{FF2B5EF4-FFF2-40B4-BE49-F238E27FC236}">
                <a16:creationId xmlns:a16="http://schemas.microsoft.com/office/drawing/2014/main" id="{D9F45F0E-7361-4676-B432-1D05B70CFB6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E84F4EB-1112-445C-96AB-93D5D84332BF}"/>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3192494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72DA63-5604-4C8B-A185-3346EDDFF4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E25E662-E32E-4BF0-B3BA-15B99830EC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018C86-7471-4189-957D-1CEA3FBEE7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143812-AA3E-4766-916C-F1E5A438B57F}" type="datetime1">
              <a:rPr lang="en-AU" smtClean="0"/>
              <a:t>6/10/2023</a:t>
            </a:fld>
            <a:endParaRPr lang="en-AU"/>
          </a:p>
        </p:txBody>
      </p:sp>
      <p:sp>
        <p:nvSpPr>
          <p:cNvPr id="5" name="Footer Placeholder 4">
            <a:extLst>
              <a:ext uri="{FF2B5EF4-FFF2-40B4-BE49-F238E27FC236}">
                <a16:creationId xmlns:a16="http://schemas.microsoft.com/office/drawing/2014/main" id="{09B3008F-2F27-46E4-A82E-92541B128E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3676096A-7E11-4FA7-B795-CF89E7D09C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9F08E9-1735-422C-B5C5-130668B15985}" type="slidenum">
              <a:rPr lang="en-AU" smtClean="0"/>
              <a:t>‹#›</a:t>
            </a:fld>
            <a:endParaRPr lang="en-AU"/>
          </a:p>
        </p:txBody>
      </p:sp>
    </p:spTree>
    <p:extLst>
      <p:ext uri="{BB962C8B-B14F-4D97-AF65-F5344CB8AC3E}">
        <p14:creationId xmlns:p14="http://schemas.microsoft.com/office/powerpoint/2010/main" val="121883438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6.png"/><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29.png"/><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37.png"/><Relationship Id="rId1" Type="http://schemas.openxmlformats.org/officeDocument/2006/relationships/slideLayout" Target="../slideLayouts/slideLayout1.xml"/><Relationship Id="rId4" Type="http://schemas.openxmlformats.org/officeDocument/2006/relationships/image" Target="../media/image39.gi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7" descr="A close up of text on a whiteboard&#10;&#10;Description automatically generated">
            <a:extLst>
              <a:ext uri="{FF2B5EF4-FFF2-40B4-BE49-F238E27FC236}">
                <a16:creationId xmlns:a16="http://schemas.microsoft.com/office/drawing/2014/main" id="{9CBF2271-6786-48D8-8625-48074A2F58E8}"/>
              </a:ext>
            </a:extLst>
          </p:cNvPr>
          <p:cNvPicPr>
            <a:picLocks noChangeAspect="1"/>
          </p:cNvPicPr>
          <p:nvPr/>
        </p:nvPicPr>
        <p:blipFill>
          <a:blip r:embed="rId2">
            <a:duotone>
              <a:prstClr val="black"/>
              <a:srgbClr val="D9C3A5">
                <a:tint val="50000"/>
                <a:satMod val="180000"/>
              </a:srgbClr>
            </a:duotone>
            <a:alphaModFix amt="35000"/>
            <a:extLst>
              <a:ext uri="{28A0092B-C50C-407E-A947-70E740481C1C}">
                <a14:useLocalDpi xmlns:a14="http://schemas.microsoft.com/office/drawing/2010/main" val="0"/>
              </a:ext>
            </a:extLst>
          </a:blip>
          <a:stretch>
            <a:fillRect/>
          </a:stretch>
        </p:blipFill>
        <p:spPr>
          <a:xfrm>
            <a:off x="0" y="0"/>
            <a:ext cx="12192000" cy="4591665"/>
          </a:xfrm>
          <a:prstGeom prst="rect">
            <a:avLst/>
          </a:prstGeom>
        </p:spPr>
      </p:pic>
      <p:sp>
        <p:nvSpPr>
          <p:cNvPr id="5" name="Title 1">
            <a:extLst>
              <a:ext uri="{FF2B5EF4-FFF2-40B4-BE49-F238E27FC236}">
                <a16:creationId xmlns:a16="http://schemas.microsoft.com/office/drawing/2014/main" id="{50029B91-E5FE-43A6-9535-58B2F4EBB5EE}"/>
              </a:ext>
            </a:extLst>
          </p:cNvPr>
          <p:cNvSpPr txBox="1">
            <a:spLocks/>
          </p:cNvSpPr>
          <p:nvPr/>
        </p:nvSpPr>
        <p:spPr>
          <a:xfrm>
            <a:off x="0" y="-2"/>
            <a:ext cx="12192000" cy="4591665"/>
          </a:xfrm>
          <a:prstGeom prst="rect">
            <a:avLst/>
          </a:prstGeom>
          <a:solidFill>
            <a:schemeClr val="accent4">
              <a:lumMod val="60000"/>
              <a:lumOff val="40000"/>
              <a:alpha val="40000"/>
            </a:schemeClr>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AU" sz="4400" b="1" dirty="0">
              <a:solidFill>
                <a:schemeClr val="accent4">
                  <a:lumMod val="75000"/>
                </a:schemeClr>
              </a:solidFill>
            </a:endParaRPr>
          </a:p>
        </p:txBody>
      </p:sp>
      <p:sp>
        <p:nvSpPr>
          <p:cNvPr id="6" name="Subtitle 2"/>
          <p:cNvSpPr txBox="1">
            <a:spLocks/>
          </p:cNvSpPr>
          <p:nvPr/>
        </p:nvSpPr>
        <p:spPr>
          <a:xfrm>
            <a:off x="1292225" y="4850229"/>
            <a:ext cx="9607550" cy="1475746"/>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AU" sz="4000" dirty="0">
                <a:latin typeface="+mj-lt"/>
              </a:rPr>
              <a:t>Week 11</a:t>
            </a:r>
          </a:p>
        </p:txBody>
      </p:sp>
      <p:sp>
        <p:nvSpPr>
          <p:cNvPr id="2" name="Title 1"/>
          <p:cNvSpPr>
            <a:spLocks noGrp="1"/>
          </p:cNvSpPr>
          <p:nvPr>
            <p:ph type="ctrTitle"/>
          </p:nvPr>
        </p:nvSpPr>
        <p:spPr>
          <a:xfrm>
            <a:off x="589935" y="2486361"/>
            <a:ext cx="11012129" cy="1518035"/>
          </a:xfrm>
        </p:spPr>
        <p:txBody>
          <a:bodyPr>
            <a:noAutofit/>
          </a:bodyPr>
          <a:lstStyle/>
          <a:p>
            <a:r>
              <a:rPr lang="en-AU" sz="5400" b="1" dirty="0">
                <a:solidFill>
                  <a:schemeClr val="accent4">
                    <a:lumMod val="75000"/>
                  </a:schemeClr>
                </a:solidFill>
                <a:effectLst>
                  <a:outerShdw blurRad="50800" dist="38100" dir="2700000" algn="tl" rotWithShape="0">
                    <a:prstClr val="black"/>
                  </a:outerShdw>
                </a:effectLst>
                <a:latin typeface="Times New Roman" panose="02020603050405020304" pitchFamily="18" charset="0"/>
                <a:cs typeface="Times New Roman" panose="02020603050405020304" pitchFamily="18" charset="0"/>
              </a:rPr>
              <a:t>Calculus and applications</a:t>
            </a:r>
          </a:p>
        </p:txBody>
      </p:sp>
      <p:sp>
        <p:nvSpPr>
          <p:cNvPr id="3" name="Subtitle 2"/>
          <p:cNvSpPr>
            <a:spLocks noGrp="1"/>
          </p:cNvSpPr>
          <p:nvPr>
            <p:ph type="subTitle" idx="1"/>
          </p:nvPr>
        </p:nvSpPr>
        <p:spPr>
          <a:xfrm>
            <a:off x="1524000" y="1923654"/>
            <a:ext cx="9144000" cy="562707"/>
          </a:xfrm>
        </p:spPr>
        <p:txBody>
          <a:bodyPr>
            <a:noAutofit/>
          </a:bodyPr>
          <a:lstStyle/>
          <a:p>
            <a:r>
              <a:rPr lang="en-AU" sz="3200" dirty="0">
                <a:latin typeface="+mj-lt"/>
              </a:rPr>
              <a:t>MTH10012</a:t>
            </a:r>
          </a:p>
        </p:txBody>
      </p:sp>
      <p:pic>
        <p:nvPicPr>
          <p:cNvPr id="7" name="Picture 6" descr="A close up of a logo&#10;&#10;Description automatically generated">
            <a:extLst>
              <a:ext uri="{FF2B5EF4-FFF2-40B4-BE49-F238E27FC236}">
                <a16:creationId xmlns:a16="http://schemas.microsoft.com/office/drawing/2014/main" id="{DCCAF879-A57E-4938-88B5-1CA526E0E8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2439" y="701528"/>
            <a:ext cx="1927122" cy="963561"/>
          </a:xfrm>
          <a:prstGeom prst="rect">
            <a:avLst/>
          </a:prstGeom>
        </p:spPr>
      </p:pic>
    </p:spTree>
    <p:extLst>
      <p:ext uri="{BB962C8B-B14F-4D97-AF65-F5344CB8AC3E}">
        <p14:creationId xmlns:p14="http://schemas.microsoft.com/office/powerpoint/2010/main" val="34770911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1991443" cy="523220"/>
          </a:xfrm>
          <a:prstGeom prst="rect">
            <a:avLst/>
          </a:prstGeom>
          <a:noFill/>
        </p:spPr>
        <p:txBody>
          <a:bodyPr wrap="none" rtlCol="0">
            <a:spAutoFit/>
          </a:bodyPr>
          <a:lstStyle/>
          <a:p>
            <a:r>
              <a:rPr lang="en-AU" sz="2800" b="1" cap="small" dirty="0">
                <a:solidFill>
                  <a:schemeClr val="bg1"/>
                </a:solidFill>
                <a:latin typeface="+mj-lt"/>
              </a:rPr>
              <a:t>Introduction</a:t>
            </a:r>
            <a:endParaRPr lang="en-GB" sz="2800" b="1" cap="small" dirty="0">
              <a:solidFill>
                <a:schemeClr val="bg1"/>
              </a:solidFill>
              <a:latin typeface="+mj-lt"/>
            </a:endParaRPr>
          </a:p>
        </p:txBody>
      </p:sp>
      <p:sp>
        <p:nvSpPr>
          <p:cNvPr id="11" name="TextBox 10">
            <a:extLst>
              <a:ext uri="{FF2B5EF4-FFF2-40B4-BE49-F238E27FC236}">
                <a16:creationId xmlns:a16="http://schemas.microsoft.com/office/drawing/2014/main" id="{A61EC46B-21B4-4C87-946C-3EAD91A29AA1}"/>
              </a:ext>
            </a:extLst>
          </p:cNvPr>
          <p:cNvSpPr txBox="1"/>
          <p:nvPr/>
        </p:nvSpPr>
        <p:spPr>
          <a:xfrm>
            <a:off x="307593" y="1036182"/>
            <a:ext cx="1016625" cy="400110"/>
          </a:xfrm>
          <a:prstGeom prst="rect">
            <a:avLst/>
          </a:prstGeom>
          <a:noFill/>
          <a:ln>
            <a:solidFill>
              <a:schemeClr val="accent2">
                <a:lumMod val="50000"/>
              </a:schemeClr>
            </a:solidFill>
          </a:ln>
        </p:spPr>
        <p:txBody>
          <a:bodyPr wrap="none" rtlCol="0">
            <a:spAutoFit/>
          </a:bodyPr>
          <a:lstStyle/>
          <a:p>
            <a:r>
              <a:rPr lang="en-AU" sz="2000" b="1" cap="small" dirty="0">
                <a:latin typeface="+mj-lt"/>
              </a:rPr>
              <a:t>Week 10</a:t>
            </a:r>
            <a:endParaRPr lang="en-GB" sz="2000" b="1" cap="small" dirty="0">
              <a:latin typeface="+mj-lt"/>
            </a:endParaRPr>
          </a:p>
        </p:txBody>
      </p:sp>
      <p:sp>
        <p:nvSpPr>
          <p:cNvPr id="13" name="TextBox 12">
            <a:extLst>
              <a:ext uri="{FF2B5EF4-FFF2-40B4-BE49-F238E27FC236}">
                <a16:creationId xmlns:a16="http://schemas.microsoft.com/office/drawing/2014/main" id="{EDAF658E-4D46-438A-89D3-59C69A018DE7}"/>
              </a:ext>
            </a:extLst>
          </p:cNvPr>
          <p:cNvSpPr txBox="1"/>
          <p:nvPr/>
        </p:nvSpPr>
        <p:spPr>
          <a:xfrm>
            <a:off x="307593" y="3130514"/>
            <a:ext cx="1016625" cy="400110"/>
          </a:xfrm>
          <a:prstGeom prst="rect">
            <a:avLst/>
          </a:prstGeom>
          <a:noFill/>
          <a:ln>
            <a:solidFill>
              <a:schemeClr val="accent2">
                <a:lumMod val="50000"/>
              </a:schemeClr>
            </a:solidFill>
          </a:ln>
        </p:spPr>
        <p:txBody>
          <a:bodyPr wrap="none" rtlCol="0">
            <a:spAutoFit/>
          </a:bodyPr>
          <a:lstStyle/>
          <a:p>
            <a:r>
              <a:rPr lang="en-AU" sz="2000" b="1" cap="small" dirty="0">
                <a:latin typeface="+mj-lt"/>
              </a:rPr>
              <a:t>Week 11</a:t>
            </a:r>
            <a:endParaRPr lang="en-GB" sz="2000" b="1" cap="small" dirty="0">
              <a:latin typeface="+mj-lt"/>
            </a:endParaRPr>
          </a:p>
        </p:txBody>
      </p:sp>
      <p:cxnSp>
        <p:nvCxnSpPr>
          <p:cNvPr id="3" name="Straight Connector 2">
            <a:extLst>
              <a:ext uri="{FF2B5EF4-FFF2-40B4-BE49-F238E27FC236}">
                <a16:creationId xmlns:a16="http://schemas.microsoft.com/office/drawing/2014/main" id="{CD60D396-44DB-4720-AA20-0FECBBC96907}"/>
              </a:ext>
            </a:extLst>
          </p:cNvPr>
          <p:cNvCxnSpPr>
            <a:stCxn id="13" idx="3"/>
          </p:cNvCxnSpPr>
          <p:nvPr/>
        </p:nvCxnSpPr>
        <p:spPr>
          <a:xfrm>
            <a:off x="1324218" y="3330569"/>
            <a:ext cx="10276111" cy="0"/>
          </a:xfrm>
          <a:prstGeom prst="line">
            <a:avLst/>
          </a:prstGeom>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25D933F3-BDCD-41B7-8B70-5B047253E6FA}"/>
              </a:ext>
            </a:extLst>
          </p:cNvPr>
          <p:cNvCxnSpPr>
            <a:cxnSpLocks/>
            <a:stCxn id="11" idx="3"/>
          </p:cNvCxnSpPr>
          <p:nvPr/>
        </p:nvCxnSpPr>
        <p:spPr>
          <a:xfrm flipV="1">
            <a:off x="1324218" y="1211599"/>
            <a:ext cx="10276111" cy="24638"/>
          </a:xfrm>
          <a:prstGeom prst="line">
            <a:avLst/>
          </a:prstGeom>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C75F0327-FC2D-4943-8211-A27F72BBEB38}"/>
              </a:ext>
            </a:extLst>
          </p:cNvPr>
          <p:cNvSpPr txBox="1"/>
          <p:nvPr/>
        </p:nvSpPr>
        <p:spPr>
          <a:xfrm>
            <a:off x="251246" y="5224846"/>
            <a:ext cx="1072972" cy="338554"/>
          </a:xfrm>
          <a:prstGeom prst="rect">
            <a:avLst/>
          </a:prstGeom>
          <a:noFill/>
          <a:ln>
            <a:solidFill>
              <a:schemeClr val="accent2">
                <a:lumMod val="50000"/>
              </a:schemeClr>
            </a:solidFill>
          </a:ln>
        </p:spPr>
        <p:txBody>
          <a:bodyPr wrap="square" rtlCol="0">
            <a:spAutoFit/>
          </a:bodyPr>
          <a:lstStyle/>
          <a:p>
            <a:r>
              <a:rPr lang="en-AU" sz="1600" b="1" dirty="0">
                <a:latin typeface="+mj-lt"/>
              </a:rPr>
              <a:t>MODULE 7</a:t>
            </a:r>
            <a:endParaRPr lang="en-GB" sz="1600" b="1" dirty="0">
              <a:latin typeface="+mj-lt"/>
            </a:endParaRPr>
          </a:p>
        </p:txBody>
      </p:sp>
      <p:sp>
        <p:nvSpPr>
          <p:cNvPr id="18" name="TextBox 17">
            <a:extLst>
              <a:ext uri="{FF2B5EF4-FFF2-40B4-BE49-F238E27FC236}">
                <a16:creationId xmlns:a16="http://schemas.microsoft.com/office/drawing/2014/main" id="{83F34354-4086-4731-BD25-91F233A36B56}"/>
              </a:ext>
            </a:extLst>
          </p:cNvPr>
          <p:cNvSpPr txBox="1"/>
          <p:nvPr/>
        </p:nvSpPr>
        <p:spPr>
          <a:xfrm>
            <a:off x="1354226" y="1644618"/>
            <a:ext cx="10216093" cy="1200329"/>
          </a:xfrm>
          <a:prstGeom prst="rect">
            <a:avLst/>
          </a:prstGeom>
          <a:noFill/>
        </p:spPr>
        <p:txBody>
          <a:bodyPr wrap="square" rtlCol="0">
            <a:spAutoFit/>
          </a:bodyPr>
          <a:lstStyle/>
          <a:p>
            <a:pPr marL="342900" indent="-342900">
              <a:buFont typeface="Arial" panose="020B0604020202020204" pitchFamily="34" charset="0"/>
              <a:buChar char="•"/>
            </a:pPr>
            <a:r>
              <a:rPr lang="en-AU" sz="2400" b="1" dirty="0">
                <a:latin typeface="+mj-lt"/>
              </a:rPr>
              <a:t>First order linear DE: integrating factors; application of first order ODEs.</a:t>
            </a:r>
          </a:p>
          <a:p>
            <a:pPr marL="342900" indent="-342900">
              <a:buFont typeface="Arial" panose="020B0604020202020204" pitchFamily="34" charset="0"/>
              <a:buChar char="•"/>
            </a:pPr>
            <a:r>
              <a:rPr lang="en-AU" sz="2400" b="1" dirty="0">
                <a:latin typeface="+mj-lt"/>
              </a:rPr>
              <a:t>Second order ODEs with constant coefficients</a:t>
            </a:r>
          </a:p>
          <a:p>
            <a:pPr marL="342900" indent="-342900">
              <a:buFont typeface="Arial" panose="020B0604020202020204" pitchFamily="34" charset="0"/>
              <a:buChar char="•"/>
            </a:pPr>
            <a:r>
              <a:rPr lang="en-AU" sz="2400" b="1" dirty="0">
                <a:latin typeface="+mj-lt"/>
              </a:rPr>
              <a:t>General solution for the homogeneous and inhomogeneous cases</a:t>
            </a:r>
          </a:p>
        </p:txBody>
      </p:sp>
      <p:sp>
        <p:nvSpPr>
          <p:cNvPr id="15" name="TextBox 14">
            <a:extLst>
              <a:ext uri="{FF2B5EF4-FFF2-40B4-BE49-F238E27FC236}">
                <a16:creationId xmlns:a16="http://schemas.microsoft.com/office/drawing/2014/main" id="{129E731F-9800-49E3-9304-B64154685349}"/>
              </a:ext>
            </a:extLst>
          </p:cNvPr>
          <p:cNvSpPr txBox="1"/>
          <p:nvPr/>
        </p:nvSpPr>
        <p:spPr>
          <a:xfrm>
            <a:off x="1324218" y="3740041"/>
            <a:ext cx="10216093" cy="2308324"/>
          </a:xfrm>
          <a:prstGeom prst="rect">
            <a:avLst/>
          </a:prstGeom>
          <a:noFill/>
        </p:spPr>
        <p:txBody>
          <a:bodyPr wrap="square" rtlCol="0">
            <a:spAutoFit/>
          </a:bodyPr>
          <a:lstStyle/>
          <a:p>
            <a:pPr marL="342900" indent="-342900">
              <a:buFont typeface="Arial" panose="020B0604020202020204" pitchFamily="34" charset="0"/>
              <a:buChar char="•"/>
            </a:pPr>
            <a:r>
              <a:rPr lang="en-AU" sz="2400" b="1" dirty="0">
                <a:latin typeface="+mj-lt"/>
              </a:rPr>
              <a:t>Method of undetermined coefficients to find a particular solution to the inhomogeneous case of a second order ODE with constant coefficients.</a:t>
            </a:r>
          </a:p>
          <a:p>
            <a:pPr marL="342900" indent="-342900">
              <a:buFont typeface="Arial" panose="020B0604020202020204" pitchFamily="34" charset="0"/>
              <a:buChar char="•"/>
            </a:pPr>
            <a:r>
              <a:rPr lang="en-AU" sz="2400" b="1" dirty="0">
                <a:latin typeface="+mj-lt"/>
              </a:rPr>
              <a:t>Initial value problems for second order ODEs with constant coefficients.</a:t>
            </a:r>
          </a:p>
          <a:p>
            <a:pPr marL="342900" indent="-342900">
              <a:buFont typeface="Arial" panose="020B0604020202020204" pitchFamily="34" charset="0"/>
              <a:buChar char="•"/>
            </a:pPr>
            <a:r>
              <a:rPr lang="en-AU" sz="2400" b="1" dirty="0">
                <a:latin typeface="+mj-lt"/>
              </a:rPr>
              <a:t>Applications of second order linear ODEs.</a:t>
            </a:r>
          </a:p>
          <a:p>
            <a:pPr marL="342900" indent="-342900">
              <a:buFont typeface="Arial" panose="020B0604020202020204" pitchFamily="34" charset="0"/>
              <a:buChar char="•"/>
            </a:pPr>
            <a:r>
              <a:rPr lang="en-AU" sz="2400" b="1" dirty="0">
                <a:latin typeface="+mj-lt"/>
              </a:rPr>
              <a:t>Functions of two variables</a:t>
            </a:r>
          </a:p>
          <a:p>
            <a:pPr marL="342900" indent="-342900">
              <a:buFont typeface="Arial" panose="020B0604020202020204" pitchFamily="34" charset="0"/>
              <a:buChar char="•"/>
            </a:pPr>
            <a:r>
              <a:rPr lang="en-AU" sz="2400" b="1" dirty="0">
                <a:latin typeface="+mj-lt"/>
              </a:rPr>
              <a:t>The method of cross-sections and simple surfaces</a:t>
            </a:r>
          </a:p>
        </p:txBody>
      </p:sp>
    </p:spTree>
    <p:extLst>
      <p:ext uri="{BB962C8B-B14F-4D97-AF65-F5344CB8AC3E}">
        <p14:creationId xmlns:p14="http://schemas.microsoft.com/office/powerpoint/2010/main" val="357059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959302" cy="523220"/>
          </a:xfrm>
          <a:prstGeom prst="rect">
            <a:avLst/>
          </a:prstGeom>
          <a:noFill/>
        </p:spPr>
        <p:txBody>
          <a:bodyPr wrap="none" rtlCol="0">
            <a:spAutoFit/>
          </a:bodyPr>
          <a:lstStyle/>
          <a:p>
            <a:r>
              <a:rPr lang="en-AU" sz="2800" b="1" cap="small" dirty="0">
                <a:solidFill>
                  <a:schemeClr val="bg1"/>
                </a:solidFill>
                <a:latin typeface="+mj-lt"/>
              </a:rPr>
              <a:t>Recap</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5174302"/>
              </a:xfrm>
              <a:prstGeom prst="rect">
                <a:avLst/>
              </a:prstGeom>
              <a:noFill/>
            </p:spPr>
            <p:txBody>
              <a:bodyPr wrap="square" rtlCol="0">
                <a:spAutoFit/>
              </a:bodyPr>
              <a:lstStyle/>
              <a:p>
                <a:r>
                  <a:rPr lang="en-AU" sz="2400" dirty="0">
                    <a:latin typeface="+mj-lt"/>
                  </a:rPr>
                  <a:t>Last time we saw that for a generic second order, linear ODE with constant coefficients:</a:t>
                </a: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𝑎</m:t>
                      </m:r>
                      <m:f>
                        <m:fPr>
                          <m:ctrlPr>
                            <a:rPr lang="en-AU" sz="2400" b="0" i="1" smtClean="0">
                              <a:latin typeface="Cambria Math" panose="02040503050406030204" pitchFamily="18" charset="0"/>
                            </a:rPr>
                          </m:ctrlPr>
                        </m:fPr>
                        <m:num>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𝑑</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𝑦</m:t>
                          </m:r>
                        </m:num>
                        <m:den>
                          <m:r>
                            <a:rPr lang="en-AU" sz="2400" b="0" i="1" smtClean="0">
                              <a:latin typeface="Cambria Math" panose="02040503050406030204" pitchFamily="18" charset="0"/>
                            </a:rPr>
                            <m:t>𝑑</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den>
                      </m:f>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𝑑𝑦</m:t>
                          </m:r>
                        </m:num>
                        <m:den>
                          <m:r>
                            <a:rPr lang="en-AU" sz="2400" b="0" i="1" smtClean="0">
                              <a:latin typeface="Cambria Math" panose="02040503050406030204" pitchFamily="18" charset="0"/>
                              <a:ea typeface="Cambria Math" panose="02040503050406030204" pitchFamily="18" charset="0"/>
                            </a:rPr>
                            <m:t>𝑑𝑥</m:t>
                          </m:r>
                        </m:den>
                      </m:f>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𝑐𝑦</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ℛ</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oMath>
                  </m:oMathPara>
                </a14:m>
                <a:endParaRPr lang="en-AU" sz="2400" b="0" dirty="0">
                  <a:latin typeface="+mj-lt"/>
                  <a:ea typeface="Cambria Math" panose="02040503050406030204" pitchFamily="18" charset="0"/>
                </a:endParaRPr>
              </a:p>
              <a:p>
                <a:r>
                  <a:rPr lang="en-AU" sz="2400" b="0" dirty="0">
                    <a:latin typeface="+mj-lt"/>
                  </a:rPr>
                  <a:t>The general solution has the form:</a:t>
                </a: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ea typeface="Cambria Math" panose="02040503050406030204" pitchFamily="18" charset="0"/>
                        </a:rPr>
                        <m:t>𝑦</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m:t>
                      </m:r>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𝑦</m:t>
                          </m:r>
                        </m:e>
                        <m:sub>
                          <m:r>
                            <a:rPr lang="en-AU" sz="2400" b="0" i="1" smtClean="0">
                              <a:latin typeface="Cambria Math" panose="02040503050406030204" pitchFamily="18" charset="0"/>
                              <a:ea typeface="Cambria Math" panose="02040503050406030204" pitchFamily="18" charset="0"/>
                            </a:rPr>
                            <m:t>𝐻</m:t>
                          </m:r>
                        </m:sub>
                      </m:sSub>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m:t>
                      </m:r>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𝑦</m:t>
                          </m:r>
                        </m:e>
                        <m:sub>
                          <m:r>
                            <a:rPr lang="en-AU" sz="2400" b="0" i="1" smtClean="0">
                              <a:latin typeface="Cambria Math" panose="02040503050406030204" pitchFamily="18" charset="0"/>
                              <a:ea typeface="Cambria Math" panose="02040503050406030204" pitchFamily="18" charset="0"/>
                            </a:rPr>
                            <m:t>𝑃</m:t>
                          </m:r>
                        </m:sub>
                      </m:sSub>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oMath>
                  </m:oMathPara>
                </a14:m>
                <a:endParaRPr lang="en-AU" sz="2400" b="0" dirty="0">
                  <a:latin typeface="+mj-lt"/>
                  <a:ea typeface="Cambria Math" panose="02040503050406030204" pitchFamily="18" charset="0"/>
                </a:endParaRPr>
              </a:p>
              <a:p>
                <a:r>
                  <a:rPr lang="en-AU" sz="2400" dirty="0">
                    <a:latin typeface="+mj-lt"/>
                    <a:ea typeface="Cambria Math" panose="02040503050406030204" pitchFamily="18" charset="0"/>
                  </a:rPr>
                  <a:t>where </a:t>
                </a:r>
              </a:p>
              <a:p>
                <a:pPr marL="342900" indent="-342900">
                  <a:buFont typeface="Arial" panose="020B0604020202020204" pitchFamily="34" charset="0"/>
                  <a:buChar char="•"/>
                </a:pPr>
                <a14:m>
                  <m:oMath xmlns:m="http://schemas.openxmlformats.org/officeDocument/2006/math">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𝑦</m:t>
                        </m:r>
                      </m:e>
                      <m:sub>
                        <m:r>
                          <a:rPr lang="en-AU" sz="2400" b="0" i="1" smtClean="0">
                            <a:latin typeface="Cambria Math" panose="02040503050406030204" pitchFamily="18" charset="0"/>
                            <a:ea typeface="Cambria Math" panose="02040503050406030204" pitchFamily="18" charset="0"/>
                          </a:rPr>
                          <m:t>𝐻</m:t>
                        </m:r>
                      </m:sub>
                    </m:sSub>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oMath>
                </a14:m>
                <a:r>
                  <a:rPr lang="en-AU" sz="2400" b="0" dirty="0">
                    <a:latin typeface="+mj-lt"/>
                    <a:ea typeface="Cambria Math" panose="02040503050406030204" pitchFamily="18" charset="0"/>
                  </a:rPr>
                  <a:t> is the general solution of the homogeneous version of the given equation, i.e. where </a:t>
                </a:r>
                <a14:m>
                  <m:oMath xmlns:m="http://schemas.openxmlformats.org/officeDocument/2006/math">
                    <m:r>
                      <a:rPr lang="en-AU" sz="2400" i="1">
                        <a:latin typeface="Cambria Math" panose="02040503050406030204" pitchFamily="18" charset="0"/>
                        <a:ea typeface="Cambria Math" panose="02040503050406030204" pitchFamily="18" charset="0"/>
                      </a:rPr>
                      <m:t>ℛ</m:t>
                    </m:r>
                    <m:d>
                      <m:dPr>
                        <m:ctrlPr>
                          <a:rPr lang="en-AU" sz="2400" i="1">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=0</m:t>
                    </m:r>
                  </m:oMath>
                </a14:m>
                <a:r>
                  <a:rPr lang="en-AU" sz="2400" dirty="0">
                    <a:latin typeface="+mj-lt"/>
                    <a:ea typeface="Cambria Math" panose="02040503050406030204" pitchFamily="18" charset="0"/>
                  </a:rPr>
                  <a:t>. The form of this solution depends on the solutions to the auxiliary equation </a:t>
                </a:r>
                <a14:m>
                  <m:oMath xmlns:m="http://schemas.openxmlformats.org/officeDocument/2006/math">
                    <m:r>
                      <a:rPr lang="en-AU" sz="2400" i="1">
                        <a:latin typeface="Cambria Math" panose="02040503050406030204" pitchFamily="18" charset="0"/>
                        <a:ea typeface="Cambria Math" panose="02040503050406030204" pitchFamily="18" charset="0"/>
                      </a:rPr>
                      <m:t>𝑎</m:t>
                    </m:r>
                    <m:sSup>
                      <m:sSupPr>
                        <m:ctrlPr>
                          <a:rPr lang="en-AU" sz="2400" i="1">
                            <a:latin typeface="Cambria Math" panose="02040503050406030204" pitchFamily="18" charset="0"/>
                            <a:ea typeface="Cambria Math" panose="02040503050406030204" pitchFamily="18" charset="0"/>
                          </a:rPr>
                        </m:ctrlPr>
                      </m:sSupPr>
                      <m:e>
                        <m:r>
                          <a:rPr lang="en-AU" sz="2400" i="1">
                            <a:latin typeface="Cambria Math" panose="02040503050406030204" pitchFamily="18" charset="0"/>
                            <a:ea typeface="Cambria Math" panose="02040503050406030204" pitchFamily="18" charset="0"/>
                          </a:rPr>
                          <m:t>𝜆</m:t>
                        </m:r>
                      </m:e>
                      <m:sup>
                        <m:r>
                          <a:rPr lang="en-AU" sz="2400" i="1">
                            <a:latin typeface="Cambria Math" panose="02040503050406030204" pitchFamily="18" charset="0"/>
                            <a:ea typeface="Cambria Math" panose="02040503050406030204" pitchFamily="18" charset="0"/>
                          </a:rPr>
                          <m:t>2</m:t>
                        </m:r>
                      </m:sup>
                    </m:sSup>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𝑏</m:t>
                    </m:r>
                    <m:r>
                      <a:rPr lang="en-AU" sz="2400" i="1">
                        <a:latin typeface="Cambria Math" panose="02040503050406030204" pitchFamily="18" charset="0"/>
                        <a:ea typeface="Cambria Math" panose="02040503050406030204" pitchFamily="18" charset="0"/>
                      </a:rPr>
                      <m:t>𝜆</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𝑐</m:t>
                    </m:r>
                    <m:r>
                      <a:rPr lang="en-AU" sz="2400" i="1">
                        <a:latin typeface="Cambria Math" panose="02040503050406030204" pitchFamily="18" charset="0"/>
                        <a:ea typeface="Cambria Math" panose="02040503050406030204" pitchFamily="18" charset="0"/>
                      </a:rPr>
                      <m:t>=0</m:t>
                    </m:r>
                  </m:oMath>
                </a14:m>
                <a:r>
                  <a:rPr lang="en-AU" sz="2400" dirty="0">
                    <a:ea typeface="Cambria Math" panose="02040503050406030204" pitchFamily="18" charset="0"/>
                  </a:rPr>
                  <a:t>.</a:t>
                </a:r>
              </a:p>
              <a:p>
                <a:pPr marL="800100" lvl="1" indent="-342900">
                  <a:buFont typeface="Arial" panose="020B0604020202020204" pitchFamily="34" charset="0"/>
                  <a:buChar char="•"/>
                </a:pPr>
                <a:r>
                  <a:rPr lang="en-AU" sz="2200" b="0" dirty="0">
                    <a:latin typeface="+mj-lt"/>
                    <a:ea typeface="Cambria Math" panose="02040503050406030204" pitchFamily="18" charset="0"/>
                  </a:rPr>
                  <a:t>If two disti</a:t>
                </a:r>
                <a:r>
                  <a:rPr lang="en-AU" sz="2200" dirty="0">
                    <a:latin typeface="+mj-lt"/>
                    <a:ea typeface="Cambria Math" panose="02040503050406030204" pitchFamily="18" charset="0"/>
                  </a:rPr>
                  <a:t>nct, real solutions </a:t>
                </a:r>
                <a14:m>
                  <m:oMath xmlns:m="http://schemas.openxmlformats.org/officeDocument/2006/math">
                    <m:sSub>
                      <m:sSubPr>
                        <m:ctrlPr>
                          <a:rPr lang="en-AU" sz="2200" i="1" smtClean="0">
                            <a:latin typeface="Cambria Math" panose="02040503050406030204" pitchFamily="18" charset="0"/>
                            <a:ea typeface="Cambria Math" panose="02040503050406030204" pitchFamily="18" charset="0"/>
                          </a:rPr>
                        </m:ctrlPr>
                      </m:sSubPr>
                      <m:e>
                        <m:r>
                          <a:rPr lang="en-AU" sz="2200" i="1" smtClean="0">
                            <a:latin typeface="Cambria Math" panose="02040503050406030204" pitchFamily="18" charset="0"/>
                            <a:ea typeface="Cambria Math" panose="02040503050406030204" pitchFamily="18" charset="0"/>
                          </a:rPr>
                          <m:t>𝜆</m:t>
                        </m:r>
                      </m:e>
                      <m:sub>
                        <m:r>
                          <a:rPr lang="en-AU" sz="2200" b="0" i="1" smtClean="0">
                            <a:latin typeface="Cambria Math" panose="02040503050406030204" pitchFamily="18" charset="0"/>
                            <a:ea typeface="Cambria Math" panose="02040503050406030204" pitchFamily="18" charset="0"/>
                          </a:rPr>
                          <m:t>1</m:t>
                        </m:r>
                      </m:sub>
                    </m:sSub>
                    <m:r>
                      <a:rPr lang="en-AU" sz="2200" b="0" i="1" smtClean="0">
                        <a:latin typeface="Cambria Math" panose="02040503050406030204" pitchFamily="18" charset="0"/>
                        <a:ea typeface="Cambria Math" panose="02040503050406030204" pitchFamily="18" charset="0"/>
                      </a:rPr>
                      <m:t>,</m:t>
                    </m:r>
                    <m:sSub>
                      <m:sSubPr>
                        <m:ctrlPr>
                          <a:rPr lang="en-AU" sz="2200" i="1" smtClean="0">
                            <a:latin typeface="Cambria Math" panose="02040503050406030204" pitchFamily="18" charset="0"/>
                            <a:ea typeface="Cambria Math" panose="02040503050406030204" pitchFamily="18" charset="0"/>
                          </a:rPr>
                        </m:ctrlPr>
                      </m:sSubPr>
                      <m:e>
                        <m:r>
                          <a:rPr lang="en-AU" sz="2200" i="1" smtClean="0">
                            <a:latin typeface="Cambria Math" panose="02040503050406030204" pitchFamily="18" charset="0"/>
                            <a:ea typeface="Cambria Math" panose="02040503050406030204" pitchFamily="18" charset="0"/>
                          </a:rPr>
                          <m:t>𝜆</m:t>
                        </m:r>
                      </m:e>
                      <m:sub>
                        <m:r>
                          <a:rPr lang="en-AU" sz="2200" b="0" i="1" smtClean="0">
                            <a:latin typeface="Cambria Math" panose="02040503050406030204" pitchFamily="18" charset="0"/>
                            <a:ea typeface="Cambria Math" panose="02040503050406030204" pitchFamily="18" charset="0"/>
                          </a:rPr>
                          <m:t>2</m:t>
                        </m:r>
                      </m:sub>
                    </m:sSub>
                  </m:oMath>
                </a14:m>
                <a:r>
                  <a:rPr lang="en-AU" sz="2200" b="0" dirty="0">
                    <a:latin typeface="+mj-lt"/>
                    <a:ea typeface="Cambria Math" panose="02040503050406030204" pitchFamily="18" charset="0"/>
                  </a:rPr>
                  <a:t> exist: </a:t>
                </a:r>
                <a14:m>
                  <m:oMath xmlns:m="http://schemas.openxmlformats.org/officeDocument/2006/math">
                    <m:sSub>
                      <m:sSubPr>
                        <m:ctrlPr>
                          <a:rPr lang="en-AU" sz="2200" i="1">
                            <a:latin typeface="Cambria Math" panose="02040503050406030204" pitchFamily="18" charset="0"/>
                            <a:ea typeface="Cambria Math" panose="02040503050406030204" pitchFamily="18" charset="0"/>
                          </a:rPr>
                        </m:ctrlPr>
                      </m:sSubPr>
                      <m:e>
                        <m:r>
                          <a:rPr lang="en-AU" sz="2200" i="1">
                            <a:latin typeface="Cambria Math" panose="02040503050406030204" pitchFamily="18" charset="0"/>
                            <a:ea typeface="Cambria Math" panose="02040503050406030204" pitchFamily="18" charset="0"/>
                          </a:rPr>
                          <m:t>𝑦</m:t>
                        </m:r>
                      </m:e>
                      <m:sub>
                        <m:r>
                          <a:rPr lang="en-AU" sz="2200" i="1">
                            <a:latin typeface="Cambria Math" panose="02040503050406030204" pitchFamily="18" charset="0"/>
                            <a:ea typeface="Cambria Math" panose="02040503050406030204" pitchFamily="18" charset="0"/>
                          </a:rPr>
                          <m:t>𝐻</m:t>
                        </m:r>
                      </m:sub>
                    </m:sSub>
                    <m:d>
                      <m:dPr>
                        <m:ctrlPr>
                          <a:rPr lang="en-AU" sz="2200" i="1">
                            <a:latin typeface="Cambria Math" panose="02040503050406030204" pitchFamily="18" charset="0"/>
                            <a:ea typeface="Cambria Math" panose="02040503050406030204" pitchFamily="18" charset="0"/>
                          </a:rPr>
                        </m:ctrlPr>
                      </m:dPr>
                      <m:e>
                        <m:r>
                          <a:rPr lang="en-AU" sz="2200" i="1">
                            <a:latin typeface="Cambria Math" panose="02040503050406030204" pitchFamily="18" charset="0"/>
                            <a:ea typeface="Cambria Math" panose="02040503050406030204" pitchFamily="18" charset="0"/>
                          </a:rPr>
                          <m:t>𝑥</m:t>
                        </m:r>
                      </m:e>
                    </m:d>
                    <m:r>
                      <a:rPr lang="en-AU" sz="2200" b="0" i="1" smtClean="0">
                        <a:latin typeface="Cambria Math" panose="02040503050406030204" pitchFamily="18" charset="0"/>
                        <a:ea typeface="Cambria Math" panose="02040503050406030204" pitchFamily="18" charset="0"/>
                      </a:rPr>
                      <m:t>=</m:t>
                    </m:r>
                    <m:r>
                      <a:rPr lang="en-AU" sz="2200" i="1">
                        <a:latin typeface="Cambria Math" panose="02040503050406030204" pitchFamily="18" charset="0"/>
                        <a:ea typeface="Cambria Math" panose="02040503050406030204" pitchFamily="18" charset="0"/>
                      </a:rPr>
                      <m:t>𝐴</m:t>
                    </m:r>
                    <m:sSup>
                      <m:sSupPr>
                        <m:ctrlPr>
                          <a:rPr lang="en-AU" sz="2200" i="1">
                            <a:latin typeface="Cambria Math" panose="02040503050406030204" pitchFamily="18" charset="0"/>
                            <a:ea typeface="Cambria Math" panose="02040503050406030204" pitchFamily="18" charset="0"/>
                          </a:rPr>
                        </m:ctrlPr>
                      </m:sSupPr>
                      <m:e>
                        <m:r>
                          <a:rPr lang="en-AU" sz="2200" i="1">
                            <a:latin typeface="Cambria Math" panose="02040503050406030204" pitchFamily="18" charset="0"/>
                            <a:ea typeface="Cambria Math" panose="02040503050406030204" pitchFamily="18" charset="0"/>
                          </a:rPr>
                          <m:t>𝑒</m:t>
                        </m:r>
                      </m:e>
                      <m:sup>
                        <m:sSub>
                          <m:sSubPr>
                            <m:ctrlPr>
                              <a:rPr lang="en-AU" sz="2200" i="1">
                                <a:latin typeface="Cambria Math" panose="02040503050406030204" pitchFamily="18" charset="0"/>
                                <a:ea typeface="Cambria Math" panose="02040503050406030204" pitchFamily="18" charset="0"/>
                              </a:rPr>
                            </m:ctrlPr>
                          </m:sSubPr>
                          <m:e>
                            <m:r>
                              <a:rPr lang="en-AU" sz="2200" i="1">
                                <a:latin typeface="Cambria Math" panose="02040503050406030204" pitchFamily="18" charset="0"/>
                                <a:ea typeface="Cambria Math" panose="02040503050406030204" pitchFamily="18" charset="0"/>
                              </a:rPr>
                              <m:t>𝜆</m:t>
                            </m:r>
                          </m:e>
                          <m:sub>
                            <m:r>
                              <a:rPr lang="en-AU" sz="2200" i="1">
                                <a:latin typeface="Cambria Math" panose="02040503050406030204" pitchFamily="18" charset="0"/>
                                <a:ea typeface="Cambria Math" panose="02040503050406030204" pitchFamily="18" charset="0"/>
                              </a:rPr>
                              <m:t>1</m:t>
                            </m:r>
                          </m:sub>
                        </m:sSub>
                        <m:r>
                          <a:rPr lang="en-AU" sz="2200" i="1">
                            <a:latin typeface="Cambria Math" panose="02040503050406030204" pitchFamily="18" charset="0"/>
                            <a:ea typeface="Cambria Math" panose="02040503050406030204" pitchFamily="18" charset="0"/>
                          </a:rPr>
                          <m:t>𝑥</m:t>
                        </m:r>
                      </m:sup>
                    </m:sSup>
                    <m:r>
                      <a:rPr lang="en-AU" sz="2200" i="1">
                        <a:latin typeface="Cambria Math" panose="02040503050406030204" pitchFamily="18" charset="0"/>
                        <a:ea typeface="Cambria Math" panose="02040503050406030204" pitchFamily="18" charset="0"/>
                      </a:rPr>
                      <m:t>+</m:t>
                    </m:r>
                    <m:r>
                      <a:rPr lang="en-AU" sz="2200" i="1">
                        <a:latin typeface="Cambria Math" panose="02040503050406030204" pitchFamily="18" charset="0"/>
                        <a:ea typeface="Cambria Math" panose="02040503050406030204" pitchFamily="18" charset="0"/>
                      </a:rPr>
                      <m:t>𝐵</m:t>
                    </m:r>
                    <m:sSup>
                      <m:sSupPr>
                        <m:ctrlPr>
                          <a:rPr lang="en-AU" sz="2200" i="1">
                            <a:latin typeface="Cambria Math" panose="02040503050406030204" pitchFamily="18" charset="0"/>
                            <a:ea typeface="Cambria Math" panose="02040503050406030204" pitchFamily="18" charset="0"/>
                          </a:rPr>
                        </m:ctrlPr>
                      </m:sSupPr>
                      <m:e>
                        <m:r>
                          <a:rPr lang="en-AU" sz="2200" i="1">
                            <a:latin typeface="Cambria Math" panose="02040503050406030204" pitchFamily="18" charset="0"/>
                            <a:ea typeface="Cambria Math" panose="02040503050406030204" pitchFamily="18" charset="0"/>
                          </a:rPr>
                          <m:t>𝑒</m:t>
                        </m:r>
                      </m:e>
                      <m:sup>
                        <m:sSub>
                          <m:sSubPr>
                            <m:ctrlPr>
                              <a:rPr lang="en-AU" sz="2200" i="1">
                                <a:latin typeface="Cambria Math" panose="02040503050406030204" pitchFamily="18" charset="0"/>
                                <a:ea typeface="Cambria Math" panose="02040503050406030204" pitchFamily="18" charset="0"/>
                              </a:rPr>
                            </m:ctrlPr>
                          </m:sSubPr>
                          <m:e>
                            <m:r>
                              <a:rPr lang="en-AU" sz="2200" i="1">
                                <a:latin typeface="Cambria Math" panose="02040503050406030204" pitchFamily="18" charset="0"/>
                                <a:ea typeface="Cambria Math" panose="02040503050406030204" pitchFamily="18" charset="0"/>
                              </a:rPr>
                              <m:t>𝜆</m:t>
                            </m:r>
                          </m:e>
                          <m:sub>
                            <m:r>
                              <a:rPr lang="en-AU" sz="2200" i="1">
                                <a:latin typeface="Cambria Math" panose="02040503050406030204" pitchFamily="18" charset="0"/>
                                <a:ea typeface="Cambria Math" panose="02040503050406030204" pitchFamily="18" charset="0"/>
                              </a:rPr>
                              <m:t>2</m:t>
                            </m:r>
                          </m:sub>
                        </m:sSub>
                        <m:r>
                          <a:rPr lang="en-AU" sz="2200" i="1">
                            <a:latin typeface="Cambria Math" panose="02040503050406030204" pitchFamily="18" charset="0"/>
                            <a:ea typeface="Cambria Math" panose="02040503050406030204" pitchFamily="18" charset="0"/>
                          </a:rPr>
                          <m:t>𝑥</m:t>
                        </m:r>
                      </m:sup>
                    </m:sSup>
                  </m:oMath>
                </a14:m>
                <a:endParaRPr lang="en-AU" sz="2200" b="0" dirty="0">
                  <a:latin typeface="+mj-lt"/>
                  <a:ea typeface="Cambria Math" panose="02040503050406030204" pitchFamily="18" charset="0"/>
                </a:endParaRPr>
              </a:p>
              <a:p>
                <a:pPr marL="800100" lvl="1" indent="-342900">
                  <a:buFont typeface="Arial" panose="020B0604020202020204" pitchFamily="34" charset="0"/>
                  <a:buChar char="•"/>
                </a:pPr>
                <a:r>
                  <a:rPr lang="en-AU" sz="2200" b="0" dirty="0">
                    <a:latin typeface="+mj-lt"/>
                  </a:rPr>
                  <a:t>One repeated, real solution </a:t>
                </a:r>
                <a14:m>
                  <m:oMath xmlns:m="http://schemas.openxmlformats.org/officeDocument/2006/math">
                    <m:r>
                      <a:rPr lang="en-AU" sz="2200" b="0" i="1" smtClean="0">
                        <a:latin typeface="Cambria Math" panose="02040503050406030204" pitchFamily="18" charset="0"/>
                        <a:ea typeface="Cambria Math" panose="02040503050406030204" pitchFamily="18" charset="0"/>
                      </a:rPr>
                      <m:t>𝜆</m:t>
                    </m:r>
                  </m:oMath>
                </a14:m>
                <a:r>
                  <a:rPr lang="en-AU" sz="2200" b="0" dirty="0">
                    <a:latin typeface="+mj-lt"/>
                  </a:rPr>
                  <a:t> exists: </a:t>
                </a:r>
                <a14:m>
                  <m:oMath xmlns:m="http://schemas.openxmlformats.org/officeDocument/2006/math">
                    <m:sSub>
                      <m:sSubPr>
                        <m:ctrlPr>
                          <a:rPr lang="en-AU" sz="2200" i="1">
                            <a:latin typeface="Cambria Math" panose="02040503050406030204" pitchFamily="18" charset="0"/>
                            <a:ea typeface="Cambria Math" panose="02040503050406030204" pitchFamily="18" charset="0"/>
                          </a:rPr>
                        </m:ctrlPr>
                      </m:sSubPr>
                      <m:e>
                        <m:r>
                          <a:rPr lang="en-AU" sz="2200" i="1">
                            <a:latin typeface="Cambria Math" panose="02040503050406030204" pitchFamily="18" charset="0"/>
                            <a:ea typeface="Cambria Math" panose="02040503050406030204" pitchFamily="18" charset="0"/>
                          </a:rPr>
                          <m:t>𝑦</m:t>
                        </m:r>
                      </m:e>
                      <m:sub>
                        <m:r>
                          <a:rPr lang="en-AU" sz="2200" i="1">
                            <a:latin typeface="Cambria Math" panose="02040503050406030204" pitchFamily="18" charset="0"/>
                            <a:ea typeface="Cambria Math" panose="02040503050406030204" pitchFamily="18" charset="0"/>
                          </a:rPr>
                          <m:t>𝐻</m:t>
                        </m:r>
                      </m:sub>
                    </m:sSub>
                    <m:d>
                      <m:dPr>
                        <m:ctrlPr>
                          <a:rPr lang="en-AU" sz="2200" i="1">
                            <a:latin typeface="Cambria Math" panose="02040503050406030204" pitchFamily="18" charset="0"/>
                            <a:ea typeface="Cambria Math" panose="02040503050406030204" pitchFamily="18" charset="0"/>
                          </a:rPr>
                        </m:ctrlPr>
                      </m:dPr>
                      <m:e>
                        <m:r>
                          <a:rPr lang="en-AU" sz="2200" i="1">
                            <a:latin typeface="Cambria Math" panose="02040503050406030204" pitchFamily="18" charset="0"/>
                            <a:ea typeface="Cambria Math" panose="02040503050406030204" pitchFamily="18" charset="0"/>
                          </a:rPr>
                          <m:t>𝑥</m:t>
                        </m:r>
                      </m:e>
                    </m:d>
                    <m:r>
                      <a:rPr lang="en-AU" sz="2200" i="1">
                        <a:latin typeface="Cambria Math" panose="02040503050406030204" pitchFamily="18" charset="0"/>
                        <a:ea typeface="Cambria Math" panose="02040503050406030204" pitchFamily="18" charset="0"/>
                      </a:rPr>
                      <m:t>=</m:t>
                    </m:r>
                    <m:r>
                      <a:rPr lang="en-AU" sz="2200" i="1">
                        <a:latin typeface="Cambria Math" panose="02040503050406030204" pitchFamily="18" charset="0"/>
                        <a:ea typeface="Cambria Math" panose="02040503050406030204" pitchFamily="18" charset="0"/>
                      </a:rPr>
                      <m:t>𝐴</m:t>
                    </m:r>
                    <m:sSup>
                      <m:sSupPr>
                        <m:ctrlPr>
                          <a:rPr lang="en-AU" sz="2200" i="1">
                            <a:latin typeface="Cambria Math" panose="02040503050406030204" pitchFamily="18" charset="0"/>
                            <a:ea typeface="Cambria Math" panose="02040503050406030204" pitchFamily="18" charset="0"/>
                          </a:rPr>
                        </m:ctrlPr>
                      </m:sSupPr>
                      <m:e>
                        <m:r>
                          <a:rPr lang="en-AU" sz="2200" i="1">
                            <a:latin typeface="Cambria Math" panose="02040503050406030204" pitchFamily="18" charset="0"/>
                            <a:ea typeface="Cambria Math" panose="02040503050406030204" pitchFamily="18" charset="0"/>
                          </a:rPr>
                          <m:t>𝑒</m:t>
                        </m:r>
                      </m:e>
                      <m:sup>
                        <m:r>
                          <a:rPr lang="en-AU" sz="2200" i="1">
                            <a:latin typeface="Cambria Math" panose="02040503050406030204" pitchFamily="18" charset="0"/>
                            <a:ea typeface="Cambria Math" panose="02040503050406030204" pitchFamily="18" charset="0"/>
                          </a:rPr>
                          <m:t>𝜆</m:t>
                        </m:r>
                        <m:r>
                          <a:rPr lang="en-AU" sz="2200" i="1">
                            <a:latin typeface="Cambria Math" panose="02040503050406030204" pitchFamily="18" charset="0"/>
                            <a:ea typeface="Cambria Math" panose="02040503050406030204" pitchFamily="18" charset="0"/>
                          </a:rPr>
                          <m:t>𝑥</m:t>
                        </m:r>
                      </m:sup>
                    </m:sSup>
                    <m:r>
                      <a:rPr lang="en-AU" sz="2200" i="1">
                        <a:latin typeface="Cambria Math" panose="02040503050406030204" pitchFamily="18" charset="0"/>
                        <a:ea typeface="Cambria Math" panose="02040503050406030204" pitchFamily="18" charset="0"/>
                      </a:rPr>
                      <m:t>+</m:t>
                    </m:r>
                    <m:r>
                      <a:rPr lang="en-AU" sz="2200" i="1">
                        <a:latin typeface="Cambria Math" panose="02040503050406030204" pitchFamily="18" charset="0"/>
                        <a:ea typeface="Cambria Math" panose="02040503050406030204" pitchFamily="18" charset="0"/>
                      </a:rPr>
                      <m:t>𝐵𝑥</m:t>
                    </m:r>
                    <m:sSup>
                      <m:sSupPr>
                        <m:ctrlPr>
                          <a:rPr lang="en-AU" sz="2200" i="1">
                            <a:latin typeface="Cambria Math" panose="02040503050406030204" pitchFamily="18" charset="0"/>
                            <a:ea typeface="Cambria Math" panose="02040503050406030204" pitchFamily="18" charset="0"/>
                          </a:rPr>
                        </m:ctrlPr>
                      </m:sSupPr>
                      <m:e>
                        <m:r>
                          <a:rPr lang="en-AU" sz="2200" i="1">
                            <a:latin typeface="Cambria Math" panose="02040503050406030204" pitchFamily="18" charset="0"/>
                            <a:ea typeface="Cambria Math" panose="02040503050406030204" pitchFamily="18" charset="0"/>
                          </a:rPr>
                          <m:t>𝑒</m:t>
                        </m:r>
                      </m:e>
                      <m:sup>
                        <m:r>
                          <a:rPr lang="en-AU" sz="2200" i="1">
                            <a:latin typeface="Cambria Math" panose="02040503050406030204" pitchFamily="18" charset="0"/>
                            <a:ea typeface="Cambria Math" panose="02040503050406030204" pitchFamily="18" charset="0"/>
                          </a:rPr>
                          <m:t>𝜆</m:t>
                        </m:r>
                        <m:r>
                          <a:rPr lang="en-AU" sz="2200" i="1">
                            <a:latin typeface="Cambria Math" panose="02040503050406030204" pitchFamily="18" charset="0"/>
                            <a:ea typeface="Cambria Math" panose="02040503050406030204" pitchFamily="18" charset="0"/>
                          </a:rPr>
                          <m:t>𝑥</m:t>
                        </m:r>
                      </m:sup>
                    </m:sSup>
                  </m:oMath>
                </a14:m>
                <a:endParaRPr lang="en-AU" sz="2200" dirty="0"/>
              </a:p>
              <a:p>
                <a:pPr marL="800100" lvl="1" indent="-342900">
                  <a:buFont typeface="Arial" panose="020B0604020202020204" pitchFamily="34" charset="0"/>
                  <a:buChar char="•"/>
                </a:pPr>
                <a:r>
                  <a:rPr lang="en-AU" sz="2200" b="0" dirty="0">
                    <a:latin typeface="+mj-lt"/>
                    <a:ea typeface="Cambria Math" panose="02040503050406030204" pitchFamily="18" charset="0"/>
                  </a:rPr>
                  <a:t>Two complex, conjugate solutions </a:t>
                </a:r>
                <a14:m>
                  <m:oMath xmlns:m="http://schemas.openxmlformats.org/officeDocument/2006/math">
                    <m:sSub>
                      <m:sSubPr>
                        <m:ctrlPr>
                          <a:rPr lang="en-AU" sz="2200" i="1" smtClean="0">
                            <a:latin typeface="Cambria Math" panose="02040503050406030204" pitchFamily="18" charset="0"/>
                            <a:ea typeface="Cambria Math" panose="02040503050406030204" pitchFamily="18" charset="0"/>
                          </a:rPr>
                        </m:ctrlPr>
                      </m:sSubPr>
                      <m:e>
                        <m:r>
                          <a:rPr lang="en-AU" sz="2200" i="1" smtClean="0">
                            <a:latin typeface="Cambria Math" panose="02040503050406030204" pitchFamily="18" charset="0"/>
                            <a:ea typeface="Cambria Math" panose="02040503050406030204" pitchFamily="18" charset="0"/>
                          </a:rPr>
                          <m:t>𝜆</m:t>
                        </m:r>
                      </m:e>
                      <m:sub>
                        <m:r>
                          <a:rPr lang="en-AU" sz="2200" b="0" i="1" smtClean="0">
                            <a:latin typeface="Cambria Math" panose="02040503050406030204" pitchFamily="18" charset="0"/>
                            <a:ea typeface="Cambria Math" panose="02040503050406030204" pitchFamily="18" charset="0"/>
                          </a:rPr>
                          <m:t>1</m:t>
                        </m:r>
                      </m:sub>
                    </m:sSub>
                    <m:r>
                      <a:rPr lang="en-AU" sz="2200" b="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𝛼</m:t>
                    </m:r>
                    <m:r>
                      <a:rPr lang="en-AU" sz="2200" b="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𝑗</m:t>
                    </m:r>
                    <m:r>
                      <a:rPr lang="en-AU" sz="2200" b="0" i="1" smtClean="0">
                        <a:latin typeface="Cambria Math" panose="02040503050406030204" pitchFamily="18" charset="0"/>
                        <a:ea typeface="Cambria Math" panose="02040503050406030204" pitchFamily="18" charset="0"/>
                      </a:rPr>
                      <m:t>𝛽</m:t>
                    </m:r>
                    <m:r>
                      <a:rPr lang="en-AU" sz="2200" b="0" i="1" smtClean="0">
                        <a:latin typeface="Cambria Math" panose="02040503050406030204" pitchFamily="18" charset="0"/>
                        <a:ea typeface="Cambria Math" panose="02040503050406030204" pitchFamily="18" charset="0"/>
                      </a:rPr>
                      <m:t>,</m:t>
                    </m:r>
                    <m:sSub>
                      <m:sSubPr>
                        <m:ctrlPr>
                          <a:rPr lang="en-AU" sz="2200" i="1" smtClean="0">
                            <a:latin typeface="Cambria Math" panose="02040503050406030204" pitchFamily="18" charset="0"/>
                            <a:ea typeface="Cambria Math" panose="02040503050406030204" pitchFamily="18" charset="0"/>
                          </a:rPr>
                        </m:ctrlPr>
                      </m:sSubPr>
                      <m:e>
                        <m:r>
                          <a:rPr lang="en-AU" sz="2200" i="1" smtClean="0">
                            <a:latin typeface="Cambria Math" panose="02040503050406030204" pitchFamily="18" charset="0"/>
                            <a:ea typeface="Cambria Math" panose="02040503050406030204" pitchFamily="18" charset="0"/>
                          </a:rPr>
                          <m:t>𝜆</m:t>
                        </m:r>
                      </m:e>
                      <m:sub>
                        <m:r>
                          <a:rPr lang="en-AU" sz="2200" b="0" i="1" smtClean="0">
                            <a:latin typeface="Cambria Math" panose="02040503050406030204" pitchFamily="18" charset="0"/>
                            <a:ea typeface="Cambria Math" panose="02040503050406030204" pitchFamily="18" charset="0"/>
                          </a:rPr>
                          <m:t>2</m:t>
                        </m:r>
                      </m:sub>
                    </m:sSub>
                    <m:r>
                      <a:rPr lang="en-AU" sz="2200" b="0" i="1" smtClean="0">
                        <a:latin typeface="Cambria Math" panose="02040503050406030204" pitchFamily="18" charset="0"/>
                        <a:ea typeface="Cambria Math" panose="02040503050406030204" pitchFamily="18" charset="0"/>
                      </a:rPr>
                      <m:t>=</m:t>
                    </m:r>
                    <m:r>
                      <a:rPr lang="en-AU" sz="2200" i="1" smtClean="0">
                        <a:latin typeface="Cambria Math" panose="02040503050406030204" pitchFamily="18" charset="0"/>
                        <a:ea typeface="Cambria Math" panose="02040503050406030204" pitchFamily="18" charset="0"/>
                      </a:rPr>
                      <m:t>𝛼</m:t>
                    </m:r>
                    <m:r>
                      <a:rPr lang="en-AU" sz="2200" b="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𝑗</m:t>
                    </m:r>
                    <m:r>
                      <a:rPr lang="en-AU" sz="2200" b="0" i="1" smtClean="0">
                        <a:latin typeface="Cambria Math" panose="02040503050406030204" pitchFamily="18" charset="0"/>
                        <a:ea typeface="Cambria Math" panose="02040503050406030204" pitchFamily="18" charset="0"/>
                      </a:rPr>
                      <m:t>𝛽</m:t>
                    </m:r>
                  </m:oMath>
                </a14:m>
                <a:r>
                  <a:rPr lang="en-AU" sz="2200" b="0" dirty="0">
                    <a:latin typeface="+mj-lt"/>
                    <a:ea typeface="Cambria Math" panose="02040503050406030204" pitchFamily="18" charset="0"/>
                  </a:rPr>
                  <a:t> exist: </a:t>
                </a:r>
                <a14:m>
                  <m:oMath xmlns:m="http://schemas.openxmlformats.org/officeDocument/2006/math">
                    <m:sSub>
                      <m:sSubPr>
                        <m:ctrlPr>
                          <a:rPr lang="en-AU" sz="2200" i="1">
                            <a:latin typeface="Cambria Math" panose="02040503050406030204" pitchFamily="18" charset="0"/>
                            <a:ea typeface="Cambria Math" panose="02040503050406030204" pitchFamily="18" charset="0"/>
                          </a:rPr>
                        </m:ctrlPr>
                      </m:sSubPr>
                      <m:e>
                        <m:r>
                          <a:rPr lang="en-AU" sz="2200" i="1">
                            <a:latin typeface="Cambria Math" panose="02040503050406030204" pitchFamily="18" charset="0"/>
                            <a:ea typeface="Cambria Math" panose="02040503050406030204" pitchFamily="18" charset="0"/>
                          </a:rPr>
                          <m:t>𝑦</m:t>
                        </m:r>
                      </m:e>
                      <m:sub>
                        <m:r>
                          <a:rPr lang="en-AU" sz="2200" i="1">
                            <a:latin typeface="Cambria Math" panose="02040503050406030204" pitchFamily="18" charset="0"/>
                            <a:ea typeface="Cambria Math" panose="02040503050406030204" pitchFamily="18" charset="0"/>
                          </a:rPr>
                          <m:t>𝐻</m:t>
                        </m:r>
                      </m:sub>
                    </m:sSub>
                    <m:d>
                      <m:dPr>
                        <m:ctrlPr>
                          <a:rPr lang="en-AU" sz="2200" i="1">
                            <a:latin typeface="Cambria Math" panose="02040503050406030204" pitchFamily="18" charset="0"/>
                            <a:ea typeface="Cambria Math" panose="02040503050406030204" pitchFamily="18" charset="0"/>
                          </a:rPr>
                        </m:ctrlPr>
                      </m:dPr>
                      <m:e>
                        <m:r>
                          <a:rPr lang="en-AU" sz="2200" i="1">
                            <a:latin typeface="Cambria Math" panose="02040503050406030204" pitchFamily="18" charset="0"/>
                            <a:ea typeface="Cambria Math" panose="02040503050406030204" pitchFamily="18" charset="0"/>
                          </a:rPr>
                          <m:t>𝑥</m:t>
                        </m:r>
                      </m:e>
                    </m:d>
                    <m:r>
                      <a:rPr lang="en-AU" sz="2200" i="1">
                        <a:latin typeface="Cambria Math" panose="02040503050406030204" pitchFamily="18" charset="0"/>
                        <a:ea typeface="Cambria Math" panose="02040503050406030204" pitchFamily="18" charset="0"/>
                      </a:rPr>
                      <m:t>=</m:t>
                    </m:r>
                    <m:r>
                      <a:rPr lang="en-AU" sz="2200" i="1">
                        <a:latin typeface="Cambria Math" panose="02040503050406030204" pitchFamily="18" charset="0"/>
                        <a:ea typeface="Cambria Math" panose="02040503050406030204" pitchFamily="18" charset="0"/>
                      </a:rPr>
                      <m:t>𝐴</m:t>
                    </m:r>
                    <m:sSup>
                      <m:sSupPr>
                        <m:ctrlPr>
                          <a:rPr lang="en-AU" sz="2200" i="1">
                            <a:latin typeface="Cambria Math" panose="02040503050406030204" pitchFamily="18" charset="0"/>
                            <a:ea typeface="Cambria Math" panose="02040503050406030204" pitchFamily="18" charset="0"/>
                          </a:rPr>
                        </m:ctrlPr>
                      </m:sSupPr>
                      <m:e>
                        <m:r>
                          <a:rPr lang="en-AU" sz="2200" i="1">
                            <a:latin typeface="Cambria Math" panose="02040503050406030204" pitchFamily="18" charset="0"/>
                            <a:ea typeface="Cambria Math" panose="02040503050406030204" pitchFamily="18" charset="0"/>
                          </a:rPr>
                          <m:t>𝑒</m:t>
                        </m:r>
                      </m:e>
                      <m:sup>
                        <m:r>
                          <a:rPr lang="en-AU" sz="2200" i="1">
                            <a:latin typeface="Cambria Math" panose="02040503050406030204" pitchFamily="18" charset="0"/>
                            <a:ea typeface="Cambria Math" panose="02040503050406030204" pitchFamily="18" charset="0"/>
                          </a:rPr>
                          <m:t>𝛼</m:t>
                        </m:r>
                        <m:r>
                          <a:rPr lang="en-AU" sz="2200" i="1">
                            <a:latin typeface="Cambria Math" panose="02040503050406030204" pitchFamily="18" charset="0"/>
                            <a:ea typeface="Cambria Math" panose="02040503050406030204" pitchFamily="18" charset="0"/>
                          </a:rPr>
                          <m:t>𝑥</m:t>
                        </m:r>
                      </m:sup>
                    </m:sSup>
                    <m:func>
                      <m:funcPr>
                        <m:ctrlPr>
                          <a:rPr lang="en-AU" sz="2200" i="1">
                            <a:latin typeface="Cambria Math" panose="02040503050406030204" pitchFamily="18" charset="0"/>
                            <a:ea typeface="Cambria Math" panose="02040503050406030204" pitchFamily="18" charset="0"/>
                          </a:rPr>
                        </m:ctrlPr>
                      </m:funcPr>
                      <m:fName>
                        <m:r>
                          <m:rPr>
                            <m:sty m:val="p"/>
                          </m:rPr>
                          <a:rPr lang="en-AU" sz="2200">
                            <a:latin typeface="Cambria Math" panose="02040503050406030204" pitchFamily="18" charset="0"/>
                            <a:ea typeface="Cambria Math" panose="02040503050406030204" pitchFamily="18" charset="0"/>
                          </a:rPr>
                          <m:t>cos</m:t>
                        </m:r>
                      </m:fName>
                      <m:e>
                        <m:r>
                          <a:rPr lang="en-AU" sz="2200" i="1">
                            <a:latin typeface="Cambria Math" panose="02040503050406030204" pitchFamily="18" charset="0"/>
                            <a:ea typeface="Cambria Math" panose="02040503050406030204" pitchFamily="18" charset="0"/>
                          </a:rPr>
                          <m:t>(</m:t>
                        </m:r>
                        <m:r>
                          <a:rPr lang="en-AU" sz="2200" i="1">
                            <a:latin typeface="Cambria Math" panose="02040503050406030204" pitchFamily="18" charset="0"/>
                            <a:ea typeface="Cambria Math" panose="02040503050406030204" pitchFamily="18" charset="0"/>
                          </a:rPr>
                          <m:t>𝛽</m:t>
                        </m:r>
                        <m:r>
                          <a:rPr lang="en-AU" sz="2200" i="1">
                            <a:latin typeface="Cambria Math" panose="02040503050406030204" pitchFamily="18" charset="0"/>
                            <a:ea typeface="Cambria Math" panose="02040503050406030204" pitchFamily="18" charset="0"/>
                          </a:rPr>
                          <m:t>𝑥</m:t>
                        </m:r>
                        <m:r>
                          <a:rPr lang="en-AU" sz="2200" i="1">
                            <a:latin typeface="Cambria Math" panose="02040503050406030204" pitchFamily="18" charset="0"/>
                            <a:ea typeface="Cambria Math" panose="02040503050406030204" pitchFamily="18" charset="0"/>
                          </a:rPr>
                          <m:t>)</m:t>
                        </m:r>
                      </m:e>
                    </m:func>
                    <m:r>
                      <a:rPr lang="en-AU" sz="2200" i="1">
                        <a:latin typeface="Cambria Math" panose="02040503050406030204" pitchFamily="18" charset="0"/>
                        <a:ea typeface="Cambria Math" panose="02040503050406030204" pitchFamily="18" charset="0"/>
                      </a:rPr>
                      <m:t>+</m:t>
                    </m:r>
                    <m:r>
                      <a:rPr lang="en-AU" sz="2200" i="1">
                        <a:latin typeface="Cambria Math" panose="02040503050406030204" pitchFamily="18" charset="0"/>
                        <a:ea typeface="Cambria Math" panose="02040503050406030204" pitchFamily="18" charset="0"/>
                      </a:rPr>
                      <m:t>𝐵</m:t>
                    </m:r>
                    <m:sSup>
                      <m:sSupPr>
                        <m:ctrlPr>
                          <a:rPr lang="en-AU" sz="2200" i="1">
                            <a:latin typeface="Cambria Math" panose="02040503050406030204" pitchFamily="18" charset="0"/>
                            <a:ea typeface="Cambria Math" panose="02040503050406030204" pitchFamily="18" charset="0"/>
                          </a:rPr>
                        </m:ctrlPr>
                      </m:sSupPr>
                      <m:e>
                        <m:r>
                          <a:rPr lang="en-AU" sz="2200" i="1">
                            <a:latin typeface="Cambria Math" panose="02040503050406030204" pitchFamily="18" charset="0"/>
                            <a:ea typeface="Cambria Math" panose="02040503050406030204" pitchFamily="18" charset="0"/>
                          </a:rPr>
                          <m:t>𝑒</m:t>
                        </m:r>
                      </m:e>
                      <m:sup>
                        <m:r>
                          <a:rPr lang="en-AU" sz="2200" i="1">
                            <a:latin typeface="Cambria Math" panose="02040503050406030204" pitchFamily="18" charset="0"/>
                            <a:ea typeface="Cambria Math" panose="02040503050406030204" pitchFamily="18" charset="0"/>
                          </a:rPr>
                          <m:t>𝛼</m:t>
                        </m:r>
                        <m:r>
                          <a:rPr lang="en-AU" sz="2200" i="1">
                            <a:latin typeface="Cambria Math" panose="02040503050406030204" pitchFamily="18" charset="0"/>
                            <a:ea typeface="Cambria Math" panose="02040503050406030204" pitchFamily="18" charset="0"/>
                          </a:rPr>
                          <m:t>𝑥</m:t>
                        </m:r>
                      </m:sup>
                    </m:sSup>
                    <m:func>
                      <m:funcPr>
                        <m:ctrlPr>
                          <a:rPr lang="en-AU" sz="2200" i="1">
                            <a:latin typeface="Cambria Math" panose="02040503050406030204" pitchFamily="18" charset="0"/>
                            <a:ea typeface="Cambria Math" panose="02040503050406030204" pitchFamily="18" charset="0"/>
                          </a:rPr>
                        </m:ctrlPr>
                      </m:funcPr>
                      <m:fName>
                        <m:r>
                          <m:rPr>
                            <m:sty m:val="p"/>
                          </m:rPr>
                          <a:rPr lang="en-AU" sz="2200">
                            <a:latin typeface="Cambria Math" panose="02040503050406030204" pitchFamily="18" charset="0"/>
                            <a:ea typeface="Cambria Math" panose="02040503050406030204" pitchFamily="18" charset="0"/>
                          </a:rPr>
                          <m:t>sin</m:t>
                        </m:r>
                      </m:fName>
                      <m:e>
                        <m:r>
                          <a:rPr lang="en-AU" sz="2200" i="1">
                            <a:latin typeface="Cambria Math" panose="02040503050406030204" pitchFamily="18" charset="0"/>
                            <a:ea typeface="Cambria Math" panose="02040503050406030204" pitchFamily="18" charset="0"/>
                          </a:rPr>
                          <m:t>(</m:t>
                        </m:r>
                        <m:r>
                          <a:rPr lang="en-AU" sz="2200" i="1">
                            <a:latin typeface="Cambria Math" panose="02040503050406030204" pitchFamily="18" charset="0"/>
                            <a:ea typeface="Cambria Math" panose="02040503050406030204" pitchFamily="18" charset="0"/>
                          </a:rPr>
                          <m:t>𝛽</m:t>
                        </m:r>
                        <m:r>
                          <a:rPr lang="en-AU" sz="2200" i="1">
                            <a:latin typeface="Cambria Math" panose="02040503050406030204" pitchFamily="18" charset="0"/>
                            <a:ea typeface="Cambria Math" panose="02040503050406030204" pitchFamily="18" charset="0"/>
                          </a:rPr>
                          <m:t>𝑥</m:t>
                        </m:r>
                        <m:r>
                          <a:rPr lang="en-AU" sz="2200" i="1">
                            <a:latin typeface="Cambria Math" panose="02040503050406030204" pitchFamily="18" charset="0"/>
                            <a:ea typeface="Cambria Math" panose="02040503050406030204" pitchFamily="18" charset="0"/>
                          </a:rPr>
                          <m:t>)</m:t>
                        </m:r>
                      </m:e>
                    </m:func>
                  </m:oMath>
                </a14:m>
                <a:endParaRPr lang="en-AU" sz="2200" dirty="0">
                  <a:ea typeface="Cambria Math" panose="02040503050406030204" pitchFamily="18" charset="0"/>
                </a:endParaRPr>
              </a:p>
              <a:p>
                <a:pPr marL="342900" indent="-342900">
                  <a:buFont typeface="Arial" panose="020B0604020202020204" pitchFamily="34" charset="0"/>
                  <a:buChar char="•"/>
                </a:pPr>
                <a14:m>
                  <m:oMath xmlns:m="http://schemas.openxmlformats.org/officeDocument/2006/math">
                    <m:sSub>
                      <m:sSubPr>
                        <m:ctrlPr>
                          <a:rPr lang="en-AU" sz="2400" i="1">
                            <a:latin typeface="Cambria Math" panose="02040503050406030204" pitchFamily="18" charset="0"/>
                            <a:ea typeface="Cambria Math" panose="02040503050406030204" pitchFamily="18" charset="0"/>
                          </a:rPr>
                        </m:ctrlPr>
                      </m:sSubPr>
                      <m:e>
                        <m:r>
                          <a:rPr lang="en-AU" sz="2400">
                            <a:latin typeface="Cambria Math" panose="02040503050406030204" pitchFamily="18" charset="0"/>
                            <a:ea typeface="Cambria Math" panose="02040503050406030204" pitchFamily="18" charset="0"/>
                          </a:rPr>
                          <m:t>𝑦</m:t>
                        </m:r>
                      </m:e>
                      <m:sub>
                        <m:r>
                          <a:rPr lang="en-AU" sz="2400">
                            <a:latin typeface="Cambria Math" panose="02040503050406030204" pitchFamily="18" charset="0"/>
                            <a:ea typeface="Cambria Math" panose="02040503050406030204" pitchFamily="18" charset="0"/>
                          </a:rPr>
                          <m:t>𝑃</m:t>
                        </m:r>
                      </m:sub>
                    </m:sSub>
                    <m:d>
                      <m:dPr>
                        <m:ctrlPr>
                          <a:rPr lang="en-AU" sz="2400" i="1">
                            <a:latin typeface="Cambria Math" panose="02040503050406030204" pitchFamily="18" charset="0"/>
                            <a:ea typeface="Cambria Math" panose="02040503050406030204" pitchFamily="18" charset="0"/>
                          </a:rPr>
                        </m:ctrlPr>
                      </m:dPr>
                      <m:e>
                        <m:r>
                          <a:rPr lang="en-AU" sz="2400">
                            <a:latin typeface="Cambria Math" panose="02040503050406030204" pitchFamily="18" charset="0"/>
                            <a:ea typeface="Cambria Math" panose="02040503050406030204" pitchFamily="18" charset="0"/>
                          </a:rPr>
                          <m:t>𝑥</m:t>
                        </m:r>
                      </m:e>
                    </m:d>
                  </m:oMath>
                </a14:m>
                <a:r>
                  <a:rPr lang="en-AU" sz="2400" dirty="0">
                    <a:latin typeface="+mj-lt"/>
                    <a:ea typeface="Cambria Math" panose="02040503050406030204" pitchFamily="18" charset="0"/>
                  </a:rPr>
                  <a:t> is one, particular solution of the given inhomogeneous equation</a:t>
                </a:r>
                <a:r>
                  <a:rPr lang="en-AU" sz="2400" b="0" dirty="0">
                    <a:latin typeface="+mj-lt"/>
                    <a:ea typeface="Cambria Math" panose="02040503050406030204" pitchFamily="18" charset="0"/>
                  </a:rPr>
                  <a:t>.</a:t>
                </a: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5174302"/>
              </a:xfrm>
              <a:prstGeom prst="rect">
                <a:avLst/>
              </a:prstGeom>
              <a:blipFill>
                <a:blip r:embed="rId2"/>
                <a:stretch>
                  <a:fillRect l="-836" t="-942" r="-1202" b="-1767"/>
                </a:stretch>
              </a:blipFill>
            </p:spPr>
            <p:txBody>
              <a:bodyPr/>
              <a:lstStyle/>
              <a:p>
                <a:r>
                  <a:rPr lang="en-GB">
                    <a:noFill/>
                  </a:rPr>
                  <a:t> </a:t>
                </a:r>
              </a:p>
            </p:txBody>
          </p:sp>
        </mc:Fallback>
      </mc:AlternateContent>
    </p:spTree>
    <p:extLst>
      <p:ext uri="{BB962C8B-B14F-4D97-AF65-F5344CB8AC3E}">
        <p14:creationId xmlns:p14="http://schemas.microsoft.com/office/powerpoint/2010/main" val="1584098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11078802" cy="523220"/>
          </a:xfrm>
          <a:prstGeom prst="rect">
            <a:avLst/>
          </a:prstGeom>
          <a:noFill/>
        </p:spPr>
        <p:txBody>
          <a:bodyPr wrap="none" rtlCol="0">
            <a:spAutoFit/>
          </a:bodyPr>
          <a:lstStyle/>
          <a:p>
            <a:r>
              <a:rPr lang="en-AU" sz="2800" b="1" cap="small" dirty="0">
                <a:solidFill>
                  <a:schemeClr val="bg1"/>
                </a:solidFill>
                <a:latin typeface="+mj-lt"/>
              </a:rPr>
              <a:t>6.8 Finding a particular solution with the method of undetermined coefficients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5265480"/>
              </a:xfrm>
              <a:prstGeom prst="rect">
                <a:avLst/>
              </a:prstGeom>
              <a:noFill/>
            </p:spPr>
            <p:txBody>
              <a:bodyPr wrap="square" rtlCol="0">
                <a:spAutoFit/>
              </a:bodyPr>
              <a:lstStyle/>
              <a:p>
                <a:r>
                  <a:rPr lang="en-AU" sz="2400" dirty="0">
                    <a:latin typeface="+mj-lt"/>
                  </a:rPr>
                  <a:t>To systematically find a particular solution for an inhomogeneous second order ODE of the form</a:t>
                </a: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𝑎</m:t>
                      </m:r>
                      <m:f>
                        <m:fPr>
                          <m:ctrlPr>
                            <a:rPr lang="en-AU" sz="2400" b="0" i="1" smtClean="0">
                              <a:latin typeface="Cambria Math" panose="02040503050406030204" pitchFamily="18" charset="0"/>
                            </a:rPr>
                          </m:ctrlPr>
                        </m:fPr>
                        <m:num>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𝑑</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𝑦</m:t>
                          </m:r>
                        </m:num>
                        <m:den>
                          <m:r>
                            <a:rPr lang="en-AU" sz="2400" b="0" i="1" smtClean="0">
                              <a:latin typeface="Cambria Math" panose="02040503050406030204" pitchFamily="18" charset="0"/>
                            </a:rPr>
                            <m:t>𝑑</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den>
                      </m:f>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𝑑𝑦</m:t>
                          </m:r>
                        </m:num>
                        <m:den>
                          <m:r>
                            <a:rPr lang="en-AU" sz="2400" b="0" i="1" smtClean="0">
                              <a:latin typeface="Cambria Math" panose="02040503050406030204" pitchFamily="18" charset="0"/>
                              <a:ea typeface="Cambria Math" panose="02040503050406030204" pitchFamily="18" charset="0"/>
                            </a:rPr>
                            <m:t>𝑑𝑥</m:t>
                          </m:r>
                        </m:den>
                      </m:f>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𝑐𝑦</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ℛ</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oMath>
                  </m:oMathPara>
                </a14:m>
                <a:endParaRPr lang="en-AU" sz="2400" b="0" dirty="0">
                  <a:latin typeface="+mj-lt"/>
                  <a:ea typeface="Cambria Math" panose="02040503050406030204" pitchFamily="18" charset="0"/>
                </a:endParaRPr>
              </a:p>
              <a:p>
                <a:r>
                  <a:rPr lang="en-AU" sz="2400" b="0" dirty="0">
                    <a:latin typeface="+mj-lt"/>
                  </a:rPr>
                  <a:t>we assume that </a:t>
                </a:r>
                <a14:m>
                  <m:oMath xmlns:m="http://schemas.openxmlformats.org/officeDocument/2006/math">
                    <m:r>
                      <a:rPr lang="en-AU" sz="2400" b="0" i="1" smtClean="0">
                        <a:latin typeface="Cambria Math" panose="02040503050406030204" pitchFamily="18" charset="0"/>
                        <a:ea typeface="Cambria Math" panose="02040503050406030204" pitchFamily="18" charset="0"/>
                      </a:rPr>
                      <m:t>ℛ</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oMath>
                </a14:m>
                <a:r>
                  <a:rPr lang="en-AU" sz="2400" b="0" dirty="0">
                    <a:latin typeface="+mj-lt"/>
                    <a:ea typeface="Cambria Math" panose="02040503050406030204" pitchFamily="18" charset="0"/>
                  </a:rPr>
                  <a:t> is a polynomial, and exponential or some combination of </a:t>
                </a:r>
                <a14:m>
                  <m:oMath xmlns:m="http://schemas.openxmlformats.org/officeDocument/2006/math">
                    <m:func>
                      <m:funcPr>
                        <m:ctrlPr>
                          <a:rPr lang="en-AU" sz="2400" b="0" i="1" smtClean="0">
                            <a:latin typeface="Cambria Math" panose="02040503050406030204" pitchFamily="18" charset="0"/>
                            <a:ea typeface="Cambria Math" panose="02040503050406030204" pitchFamily="18" charset="0"/>
                          </a:rPr>
                        </m:ctrlPr>
                      </m:funcPr>
                      <m:fName>
                        <m:r>
                          <m:rPr>
                            <m:sty m:val="p"/>
                          </m:rPr>
                          <a:rPr lang="en-AU" sz="2400" b="0" i="0" smtClean="0">
                            <a:latin typeface="Cambria Math" panose="02040503050406030204" pitchFamily="18" charset="0"/>
                            <a:ea typeface="Cambria Math" panose="02040503050406030204" pitchFamily="18" charset="0"/>
                          </a:rPr>
                          <m:t>sin</m:t>
                        </m:r>
                      </m:fName>
                      <m:e>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𝛽</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e>
                    </m:func>
                  </m:oMath>
                </a14:m>
                <a:r>
                  <a:rPr lang="en-AU" sz="2400" b="0" dirty="0">
                    <a:latin typeface="+mj-lt"/>
                    <a:ea typeface="Cambria Math" panose="02040503050406030204" pitchFamily="18" charset="0"/>
                  </a:rPr>
                  <a:t> and </a:t>
                </a:r>
                <a14:m>
                  <m:oMath xmlns:m="http://schemas.openxmlformats.org/officeDocument/2006/math">
                    <m:func>
                      <m:funcPr>
                        <m:ctrlPr>
                          <a:rPr lang="en-AU" sz="2400" b="0" i="1" smtClean="0">
                            <a:latin typeface="Cambria Math" panose="02040503050406030204" pitchFamily="18" charset="0"/>
                            <a:ea typeface="Cambria Math" panose="02040503050406030204" pitchFamily="18" charset="0"/>
                          </a:rPr>
                        </m:ctrlPr>
                      </m:funcPr>
                      <m:fName>
                        <m:r>
                          <m:rPr>
                            <m:sty m:val="p"/>
                          </m:rPr>
                          <a:rPr lang="en-AU" sz="2400" b="0" i="0" smtClean="0">
                            <a:latin typeface="Cambria Math" panose="02040503050406030204" pitchFamily="18" charset="0"/>
                            <a:ea typeface="Cambria Math" panose="02040503050406030204" pitchFamily="18" charset="0"/>
                          </a:rPr>
                          <m:t>cos</m:t>
                        </m:r>
                      </m:fName>
                      <m:e>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𝛽</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e>
                    </m:func>
                  </m:oMath>
                </a14:m>
                <a:r>
                  <a:rPr lang="en-AU" sz="2400" b="0" dirty="0">
                    <a:latin typeface="+mj-lt"/>
                    <a:ea typeface="Cambria Math" panose="02040503050406030204" pitchFamily="18" charset="0"/>
                  </a:rPr>
                  <a:t> (for a constant </a:t>
                </a:r>
                <a14:m>
                  <m:oMath xmlns:m="http://schemas.openxmlformats.org/officeDocument/2006/math">
                    <m:r>
                      <a:rPr lang="en-AU" sz="2400" b="0" i="1" smtClean="0">
                        <a:latin typeface="Cambria Math" panose="02040503050406030204" pitchFamily="18" charset="0"/>
                        <a:ea typeface="Cambria Math" panose="02040503050406030204" pitchFamily="18" charset="0"/>
                      </a:rPr>
                      <m:t>𝛽</m:t>
                    </m:r>
                  </m:oMath>
                </a14:m>
                <a:r>
                  <a:rPr lang="en-AU" sz="2400" b="0" dirty="0">
                    <a:latin typeface="+mj-lt"/>
                    <a:ea typeface="Cambria Math" panose="02040503050406030204" pitchFamily="18" charset="0"/>
                  </a:rPr>
                  <a:t>). Let’s first consider the case of </a:t>
                </a:r>
                <a:r>
                  <a:rPr lang="en-AU" sz="2400" b="0" u="sng" dirty="0">
                    <a:latin typeface="+mj-lt"/>
                    <a:ea typeface="Cambria Math" panose="02040503050406030204" pitchFamily="18" charset="0"/>
                  </a:rPr>
                  <a:t>no linear dependence </a:t>
                </a:r>
                <a:r>
                  <a:rPr lang="en-AU" sz="2400" b="0" dirty="0">
                    <a:latin typeface="+mj-lt"/>
                    <a:ea typeface="Cambria Math" panose="02040503050406030204" pitchFamily="18" charset="0"/>
                  </a:rPr>
                  <a:t>between </a:t>
                </a:r>
                <a14:m>
                  <m:oMath xmlns:m="http://schemas.openxmlformats.org/officeDocument/2006/math">
                    <m:r>
                      <a:rPr lang="en-AU" sz="2400">
                        <a:latin typeface="Cambria Math" panose="02040503050406030204" pitchFamily="18" charset="0"/>
                      </a:rPr>
                      <m:t>ℛ</m:t>
                    </m:r>
                    <m:r>
                      <a:rPr lang="en-AU" sz="2400">
                        <a:latin typeface="Cambria Math" panose="02040503050406030204" pitchFamily="18" charset="0"/>
                      </a:rPr>
                      <m:t>(</m:t>
                    </m:r>
                    <m:r>
                      <a:rPr lang="en-AU" sz="2400">
                        <a:latin typeface="Cambria Math" panose="02040503050406030204" pitchFamily="18" charset="0"/>
                      </a:rPr>
                      <m:t>𝑥</m:t>
                    </m:r>
                    <m:r>
                      <a:rPr lang="en-AU" sz="2400">
                        <a:latin typeface="Cambria Math" panose="02040503050406030204" pitchFamily="18" charset="0"/>
                      </a:rPr>
                      <m:t>)</m:t>
                    </m:r>
                  </m:oMath>
                </a14:m>
                <a:r>
                  <a:rPr lang="en-AU" sz="2400" dirty="0">
                    <a:latin typeface="+mj-lt"/>
                  </a:rPr>
                  <a:t> and </a:t>
                </a:r>
                <a14:m>
                  <m:oMath xmlns:m="http://schemas.openxmlformats.org/officeDocument/2006/math">
                    <m:sSub>
                      <m:sSubPr>
                        <m:ctrlPr>
                          <a:rPr lang="en-AU" sz="2400" i="1" smtClean="0">
                            <a:latin typeface="Cambria Math" panose="02040503050406030204" pitchFamily="18" charset="0"/>
                          </a:rPr>
                        </m:ctrlPr>
                      </m:sSubPr>
                      <m:e>
                        <m:r>
                          <a:rPr lang="en-AU" sz="2400" b="0" i="1" smtClean="0">
                            <a:latin typeface="Cambria Math" panose="02040503050406030204" pitchFamily="18" charset="0"/>
                          </a:rPr>
                          <m:t>𝑦</m:t>
                        </m:r>
                      </m:e>
                      <m:sub>
                        <m:r>
                          <a:rPr lang="en-AU" sz="2400" b="0" i="1" smtClean="0">
                            <a:latin typeface="Cambria Math" panose="02040503050406030204" pitchFamily="18" charset="0"/>
                          </a:rPr>
                          <m:t>𝐻</m:t>
                        </m:r>
                      </m:sub>
                    </m:sSub>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oMath>
                </a14:m>
                <a:r>
                  <a:rPr lang="en-AU" sz="2400" dirty="0">
                    <a:latin typeface="+mj-lt"/>
                  </a:rPr>
                  <a:t>, i.e. </a:t>
                </a:r>
                <a14:m>
                  <m:oMath xmlns:m="http://schemas.openxmlformats.org/officeDocument/2006/math">
                    <m:r>
                      <a:rPr lang="en-AU" sz="2400">
                        <a:latin typeface="Cambria Math" panose="02040503050406030204" pitchFamily="18" charset="0"/>
                      </a:rPr>
                      <m:t>ℛ</m:t>
                    </m:r>
                    <m:r>
                      <a:rPr lang="en-AU" sz="2400">
                        <a:latin typeface="Cambria Math" panose="02040503050406030204" pitchFamily="18" charset="0"/>
                      </a:rPr>
                      <m:t>(</m:t>
                    </m:r>
                    <m:r>
                      <a:rPr lang="en-AU" sz="2400">
                        <a:latin typeface="Cambria Math" panose="02040503050406030204" pitchFamily="18" charset="0"/>
                      </a:rPr>
                      <m:t>𝑥</m:t>
                    </m:r>
                    <m:r>
                      <a:rPr lang="en-AU" sz="2400">
                        <a:latin typeface="Cambria Math" panose="02040503050406030204" pitchFamily="18" charset="0"/>
                      </a:rPr>
                      <m:t>)</m:t>
                    </m:r>
                    <m:r>
                      <a:rPr lang="en-AU" sz="2400" i="1" smtClean="0">
                        <a:latin typeface="Cambria Math" panose="02040503050406030204" pitchFamily="18" charset="0"/>
                        <a:ea typeface="Cambria Math" panose="02040503050406030204" pitchFamily="18" charset="0"/>
                      </a:rPr>
                      <m:t>∉</m:t>
                    </m:r>
                    <m:sSub>
                      <m:sSubPr>
                        <m:ctrlPr>
                          <a:rPr lang="en-AU" sz="2400" i="1" smtClean="0">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𝜈</m:t>
                        </m:r>
                      </m:e>
                      <m:sub>
                        <m:r>
                          <a:rPr lang="en-AU" sz="2400" b="0" i="1" smtClean="0">
                            <a:latin typeface="Cambria Math" panose="02040503050406030204" pitchFamily="18" charset="0"/>
                            <a:ea typeface="Cambria Math" panose="02040503050406030204" pitchFamily="18" charset="0"/>
                          </a:rPr>
                          <m:t>𝐻𝑆</m:t>
                        </m:r>
                      </m:sub>
                    </m:sSub>
                  </m:oMath>
                </a14:m>
                <a:r>
                  <a:rPr lang="en-AU" sz="2400" dirty="0">
                    <a:latin typeface="+mj-lt"/>
                  </a:rPr>
                  <a:t>.</a:t>
                </a:r>
              </a:p>
              <a:p>
                <a:endParaRPr lang="en-AU" sz="2400" dirty="0">
                  <a:latin typeface="+mj-lt"/>
                </a:endParaRPr>
              </a:p>
              <a:p>
                <a:endParaRPr lang="en-AU" sz="2400" dirty="0">
                  <a:latin typeface="+mj-lt"/>
                </a:endParaRPr>
              </a:p>
              <a:p>
                <a:endParaRPr lang="en-AU" sz="2400" dirty="0">
                  <a:latin typeface="+mj-lt"/>
                </a:endParaRPr>
              </a:p>
              <a:p>
                <a:endParaRPr lang="en-AU" sz="2400" dirty="0">
                  <a:latin typeface="+mj-lt"/>
                </a:endParaRPr>
              </a:p>
              <a:p>
                <a:endParaRPr lang="en-AU" sz="2400" dirty="0">
                  <a:latin typeface="+mj-lt"/>
                </a:endParaRPr>
              </a:p>
              <a:p>
                <a:r>
                  <a:rPr lang="en-AU" sz="2400" dirty="0">
                    <a:latin typeface="+mj-lt"/>
                  </a:rPr>
                  <a:t>Note. When </a:t>
                </a:r>
                <a14:m>
                  <m:oMath xmlns:m="http://schemas.openxmlformats.org/officeDocument/2006/math">
                    <m:r>
                      <a:rPr lang="en-AU" sz="2400" smtClean="0">
                        <a:latin typeface="Cambria Math" panose="02040503050406030204" pitchFamily="18" charset="0"/>
                      </a:rPr>
                      <m:t>ℛ</m:t>
                    </m:r>
                    <m:r>
                      <a:rPr lang="en-AU" sz="2400" smtClean="0">
                        <a:latin typeface="Cambria Math" panose="02040503050406030204" pitchFamily="18" charset="0"/>
                      </a:rPr>
                      <m:t>(</m:t>
                    </m:r>
                    <m:r>
                      <a:rPr lang="en-AU" sz="2400" smtClean="0">
                        <a:latin typeface="Cambria Math" panose="02040503050406030204" pitchFamily="18" charset="0"/>
                      </a:rPr>
                      <m:t>𝑥</m:t>
                    </m:r>
                    <m:r>
                      <a:rPr lang="en-AU" sz="2400" smtClean="0">
                        <a:latin typeface="Cambria Math" panose="02040503050406030204" pitchFamily="18" charset="0"/>
                      </a:rPr>
                      <m:t>)</m:t>
                    </m:r>
                  </m:oMath>
                </a14:m>
                <a:r>
                  <a:rPr lang="en-AU" sz="2400" dirty="0">
                    <a:latin typeface="+mj-lt"/>
                  </a:rPr>
                  <a:t> is a polynomial of order </a:t>
                </a:r>
                <a14:m>
                  <m:oMath xmlns:m="http://schemas.openxmlformats.org/officeDocument/2006/math">
                    <m:r>
                      <a:rPr lang="en-AU" sz="2400" b="0" i="1" smtClean="0">
                        <a:latin typeface="Cambria Math" panose="02040503050406030204" pitchFamily="18" charset="0"/>
                      </a:rPr>
                      <m:t>𝑛</m:t>
                    </m:r>
                  </m:oMath>
                </a14:m>
                <a:r>
                  <a:rPr lang="en-AU" sz="2400" dirty="0">
                    <a:latin typeface="+mj-lt"/>
                  </a:rPr>
                  <a:t>, include all the terms from order 0 to </a:t>
                </a:r>
                <a14:m>
                  <m:oMath xmlns:m="http://schemas.openxmlformats.org/officeDocument/2006/math">
                    <m:r>
                      <a:rPr lang="en-AU" sz="2400" i="1">
                        <a:latin typeface="Cambria Math" panose="02040503050406030204" pitchFamily="18" charset="0"/>
                      </a:rPr>
                      <m:t>𝑛</m:t>
                    </m:r>
                  </m:oMath>
                </a14:m>
                <a:r>
                  <a:rPr lang="en-AU" sz="2400" dirty="0">
                    <a:latin typeface="+mj-lt"/>
                  </a:rPr>
                  <a:t> in </a:t>
                </a:r>
                <a14:m>
                  <m:oMath xmlns:m="http://schemas.openxmlformats.org/officeDocument/2006/math">
                    <m:sSub>
                      <m:sSubPr>
                        <m:ctrlPr>
                          <a:rPr lang="en-AU" sz="2400" i="1">
                            <a:latin typeface="Cambria Math" panose="02040503050406030204" pitchFamily="18" charset="0"/>
                          </a:rPr>
                        </m:ctrlPr>
                      </m:sSubPr>
                      <m:e>
                        <m:r>
                          <a:rPr lang="en-AU" sz="2400" i="1">
                            <a:latin typeface="Cambria Math" panose="02040503050406030204" pitchFamily="18" charset="0"/>
                          </a:rPr>
                          <m:t>𝑦</m:t>
                        </m:r>
                      </m:e>
                      <m:sub>
                        <m:r>
                          <a:rPr lang="en-AU" sz="2400" i="1">
                            <a:latin typeface="Cambria Math" panose="02040503050406030204" pitchFamily="18" charset="0"/>
                          </a:rPr>
                          <m:t>𝑃</m:t>
                        </m:r>
                      </m:sub>
                    </m:sSub>
                    <m:r>
                      <a:rPr lang="en-AU" sz="2400" i="1">
                        <a:latin typeface="Cambria Math" panose="02040503050406030204" pitchFamily="18" charset="0"/>
                      </a:rPr>
                      <m:t>(</m:t>
                    </m:r>
                    <m:r>
                      <a:rPr lang="en-AU" sz="2400" i="1">
                        <a:latin typeface="Cambria Math" panose="02040503050406030204" pitchFamily="18" charset="0"/>
                      </a:rPr>
                      <m:t>𝑥</m:t>
                    </m:r>
                    <m:r>
                      <a:rPr lang="en-AU" sz="2400" i="1">
                        <a:latin typeface="Cambria Math" panose="02040503050406030204" pitchFamily="18" charset="0"/>
                      </a:rPr>
                      <m:t>)</m:t>
                    </m:r>
                  </m:oMath>
                </a14:m>
                <a:r>
                  <a:rPr lang="en-AU" sz="2400" dirty="0">
                    <a:latin typeface="+mj-lt"/>
                  </a:rPr>
                  <a:t>.</a:t>
                </a:r>
              </a:p>
              <a:p>
                <a:r>
                  <a:rPr lang="en-AU" sz="2400" dirty="0">
                    <a:latin typeface="+mj-lt"/>
                  </a:rPr>
                  <a:t>Note. When </a:t>
                </a:r>
                <a14:m>
                  <m:oMath xmlns:m="http://schemas.openxmlformats.org/officeDocument/2006/math">
                    <m:r>
                      <a:rPr lang="en-AU" sz="2400" smtClean="0">
                        <a:latin typeface="Cambria Math" panose="02040503050406030204" pitchFamily="18" charset="0"/>
                      </a:rPr>
                      <m:t>ℛ</m:t>
                    </m:r>
                    <m:r>
                      <a:rPr lang="en-AU" sz="2400" smtClean="0">
                        <a:latin typeface="Cambria Math" panose="02040503050406030204" pitchFamily="18" charset="0"/>
                      </a:rPr>
                      <m:t>(</m:t>
                    </m:r>
                    <m:r>
                      <a:rPr lang="en-AU" sz="2400" smtClean="0">
                        <a:latin typeface="Cambria Math" panose="02040503050406030204" pitchFamily="18" charset="0"/>
                      </a:rPr>
                      <m:t>𝑥</m:t>
                    </m:r>
                    <m:r>
                      <a:rPr lang="en-AU" sz="2400" smtClean="0">
                        <a:latin typeface="Cambria Math" panose="02040503050406030204" pitchFamily="18" charset="0"/>
                      </a:rPr>
                      <m:t>)</m:t>
                    </m:r>
                  </m:oMath>
                </a14:m>
                <a:r>
                  <a:rPr lang="en-AU" sz="2400" dirty="0">
                    <a:latin typeface="+mj-lt"/>
                  </a:rPr>
                  <a:t> is a trigonometric function, include both cos and sin in </a:t>
                </a:r>
                <a14:m>
                  <m:oMath xmlns:m="http://schemas.openxmlformats.org/officeDocument/2006/math">
                    <m:sSub>
                      <m:sSubPr>
                        <m:ctrlPr>
                          <a:rPr lang="en-AU" sz="2400" i="1">
                            <a:latin typeface="Cambria Math" panose="02040503050406030204" pitchFamily="18" charset="0"/>
                          </a:rPr>
                        </m:ctrlPr>
                      </m:sSubPr>
                      <m:e>
                        <m:r>
                          <a:rPr lang="en-AU" sz="2400" i="1">
                            <a:latin typeface="Cambria Math" panose="02040503050406030204" pitchFamily="18" charset="0"/>
                          </a:rPr>
                          <m:t>𝑦</m:t>
                        </m:r>
                      </m:e>
                      <m:sub>
                        <m:r>
                          <a:rPr lang="en-AU" sz="2400" i="1">
                            <a:latin typeface="Cambria Math" panose="02040503050406030204" pitchFamily="18" charset="0"/>
                          </a:rPr>
                          <m:t>𝑃</m:t>
                        </m:r>
                      </m:sub>
                    </m:sSub>
                    <m:r>
                      <a:rPr lang="en-AU" sz="2400" i="1">
                        <a:latin typeface="Cambria Math" panose="02040503050406030204" pitchFamily="18" charset="0"/>
                      </a:rPr>
                      <m:t>(</m:t>
                    </m:r>
                    <m:r>
                      <a:rPr lang="en-AU" sz="2400" i="1">
                        <a:latin typeface="Cambria Math" panose="02040503050406030204" pitchFamily="18" charset="0"/>
                      </a:rPr>
                      <m:t>𝑥</m:t>
                    </m:r>
                    <m:r>
                      <a:rPr lang="en-AU" sz="2400" i="1">
                        <a:latin typeface="Cambria Math" panose="02040503050406030204" pitchFamily="18" charset="0"/>
                      </a:rPr>
                      <m:t>)</m:t>
                    </m:r>
                  </m:oMath>
                </a14:m>
                <a:r>
                  <a:rPr lang="en-AU" sz="2400" dirty="0"/>
                  <a:t>.</a:t>
                </a:r>
                <a:endParaRPr lang="en-AU" sz="2400" b="0" dirty="0">
                  <a:latin typeface="+mj-lt"/>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5265480"/>
              </a:xfrm>
              <a:prstGeom prst="rect">
                <a:avLst/>
              </a:prstGeom>
              <a:blipFill>
                <a:blip r:embed="rId2"/>
                <a:stretch>
                  <a:fillRect l="-836" t="-926" r="-261" b="-162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3" name="Table 3">
                <a:extLst>
                  <a:ext uri="{FF2B5EF4-FFF2-40B4-BE49-F238E27FC236}">
                    <a16:creationId xmlns:a16="http://schemas.microsoft.com/office/drawing/2014/main" id="{9F7F7D13-8BD8-4A0B-B1E4-610C0587398D}"/>
                  </a:ext>
                </a:extLst>
              </p:cNvPr>
              <p:cNvGraphicFramePr>
                <a:graphicFrameLocks noGrp="1"/>
              </p:cNvGraphicFramePr>
              <p:nvPr>
                <p:extLst>
                  <p:ext uri="{D42A27DB-BD31-4B8C-83A1-F6EECF244321}">
                    <p14:modId xmlns:p14="http://schemas.microsoft.com/office/powerpoint/2010/main" val="1960291126"/>
                  </p:ext>
                </p:extLst>
              </p:nvPr>
            </p:nvGraphicFramePr>
            <p:xfrm>
              <a:off x="1160928" y="3705917"/>
              <a:ext cx="9870142" cy="1483360"/>
            </p:xfrm>
            <a:graphic>
              <a:graphicData uri="http://schemas.openxmlformats.org/drawingml/2006/table">
                <a:tbl>
                  <a:tblPr firstRow="1" bandRow="1">
                    <a:tableStyleId>{5C22544A-7EE6-4342-B048-85BDC9FD1C3A}</a:tableStyleId>
                  </a:tblPr>
                  <a:tblGrid>
                    <a:gridCol w="5114366">
                      <a:extLst>
                        <a:ext uri="{9D8B030D-6E8A-4147-A177-3AD203B41FA5}">
                          <a16:colId xmlns:a16="http://schemas.microsoft.com/office/drawing/2014/main" val="197926360"/>
                        </a:ext>
                      </a:extLst>
                    </a:gridCol>
                    <a:gridCol w="4755776">
                      <a:extLst>
                        <a:ext uri="{9D8B030D-6E8A-4147-A177-3AD203B41FA5}">
                          <a16:colId xmlns:a16="http://schemas.microsoft.com/office/drawing/2014/main" val="2475270545"/>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800" b="0" i="1" smtClean="0">
                                    <a:latin typeface="Cambria Math" panose="02040503050406030204" pitchFamily="18" charset="0"/>
                                    <a:ea typeface="Cambria Math" panose="02040503050406030204" pitchFamily="18" charset="0"/>
                                  </a:rPr>
                                  <m:t>ℛ</m:t>
                                </m:r>
                                <m:r>
                                  <a:rPr lang="en-AU" sz="1800" b="0" i="1" smtClean="0">
                                    <a:latin typeface="Cambria Math" panose="02040503050406030204" pitchFamily="18" charset="0"/>
                                    <a:ea typeface="Cambria Math" panose="02040503050406030204" pitchFamily="18" charset="0"/>
                                  </a:rPr>
                                  <m:t>(</m:t>
                                </m:r>
                                <m:r>
                                  <a:rPr lang="en-AU" sz="1800" b="0" i="1" smtClean="0">
                                    <a:latin typeface="Cambria Math" panose="02040503050406030204" pitchFamily="18" charset="0"/>
                                    <a:ea typeface="Cambria Math" panose="02040503050406030204" pitchFamily="18" charset="0"/>
                                  </a:rPr>
                                  <m:t>𝑥</m:t>
                                </m:r>
                                <m:r>
                                  <a:rPr lang="en-AU" sz="1800" b="0" i="1" smtClean="0">
                                    <a:latin typeface="Cambria Math" panose="02040503050406030204" pitchFamily="18" charset="0"/>
                                    <a:ea typeface="Cambria Math" panose="02040503050406030204" pitchFamily="18" charset="0"/>
                                  </a:rPr>
                                  <m:t>)</m:t>
                                </m:r>
                              </m:oMath>
                            </m:oMathPara>
                          </a14:m>
                          <a:endParaRPr lang="en-AU" sz="1800" b="0" kern="1200" dirty="0">
                            <a:solidFill>
                              <a:schemeClr val="lt1"/>
                            </a:solidFill>
                            <a:latin typeface="+mn-lt"/>
                            <a:ea typeface="Cambria Math" panose="02040503050406030204" pitchFamily="18" charset="0"/>
                            <a:cs typeface="+mn-cs"/>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lang="en-AU" sz="1800" i="1" smtClean="0">
                                        <a:latin typeface="Cambria Math" panose="02040503050406030204" pitchFamily="18" charset="0"/>
                                      </a:rPr>
                                    </m:ctrlPr>
                                  </m:sSubPr>
                                  <m:e>
                                    <m:r>
                                      <a:rPr lang="en-AU" sz="1800" b="0" i="1" smtClean="0">
                                        <a:latin typeface="Cambria Math" panose="02040503050406030204" pitchFamily="18" charset="0"/>
                                      </a:rPr>
                                      <m:t>𝑦</m:t>
                                    </m:r>
                                  </m:e>
                                  <m:sub>
                                    <m:r>
                                      <a:rPr lang="en-AU" sz="1800" b="0" i="1" smtClean="0">
                                        <a:latin typeface="Cambria Math" panose="02040503050406030204" pitchFamily="18" charset="0"/>
                                      </a:rPr>
                                      <m:t>𝑃</m:t>
                                    </m:r>
                                  </m:sub>
                                </m:sSub>
                                <m:r>
                                  <a:rPr lang="en-AU" sz="1800" b="0" i="1" smtClean="0">
                                    <a:latin typeface="Cambria Math" panose="02040503050406030204" pitchFamily="18" charset="0"/>
                                  </a:rPr>
                                  <m:t>(</m:t>
                                </m:r>
                                <m:r>
                                  <a:rPr lang="en-AU" sz="1800" b="0" i="1" smtClean="0">
                                    <a:latin typeface="Cambria Math" panose="02040503050406030204" pitchFamily="18" charset="0"/>
                                  </a:rPr>
                                  <m:t>𝑥</m:t>
                                </m:r>
                                <m:r>
                                  <a:rPr lang="en-AU" sz="1800" b="0" i="1" smtClean="0">
                                    <a:latin typeface="Cambria Math" panose="02040503050406030204" pitchFamily="18" charset="0"/>
                                  </a:rPr>
                                  <m:t>)</m:t>
                                </m:r>
                              </m:oMath>
                            </m:oMathPara>
                          </a14:m>
                          <a:endParaRPr lang="en-GB" dirty="0"/>
                        </a:p>
                      </a:txBody>
                      <a:tcPr/>
                    </a:tc>
                    <a:extLst>
                      <a:ext uri="{0D108BD9-81ED-4DB2-BD59-A6C34878D82A}">
                        <a16:rowId xmlns:a16="http://schemas.microsoft.com/office/drawing/2014/main" val="157392436"/>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AU" b="0" i="1" smtClean="0">
                                        <a:latin typeface="Cambria Math" panose="02040503050406030204" pitchFamily="18" charset="0"/>
                                      </a:rPr>
                                      <m:t>𝑎</m:t>
                                    </m:r>
                                  </m:e>
                                  <m:sub>
                                    <m:r>
                                      <a:rPr lang="en-AU" b="0" i="1" smtClean="0">
                                        <a:latin typeface="Cambria Math" panose="02040503050406030204" pitchFamily="18" charset="0"/>
                                      </a:rPr>
                                      <m:t>𝑛</m:t>
                                    </m:r>
                                  </m:sub>
                                </m:sSub>
                                <m:sSup>
                                  <m:sSupPr>
                                    <m:ctrlPr>
                                      <a:rPr lang="en-GB" i="1" smtClean="0">
                                        <a:latin typeface="Cambria Math" panose="02040503050406030204" pitchFamily="18" charset="0"/>
                                      </a:rPr>
                                    </m:ctrlPr>
                                  </m:sSupPr>
                                  <m:e>
                                    <m:r>
                                      <a:rPr lang="en-AU" b="0" i="1" smtClean="0">
                                        <a:latin typeface="Cambria Math" panose="02040503050406030204" pitchFamily="18" charset="0"/>
                                      </a:rPr>
                                      <m:t>𝑥</m:t>
                                    </m:r>
                                  </m:e>
                                  <m:sup>
                                    <m:r>
                                      <a:rPr lang="en-AU" b="0" i="1" smtClean="0">
                                        <a:latin typeface="Cambria Math" panose="02040503050406030204" pitchFamily="18" charset="0"/>
                                      </a:rPr>
                                      <m:t>𝑛</m:t>
                                    </m:r>
                                  </m:sup>
                                </m:sSup>
                                <m:r>
                                  <a:rPr lang="en-AU" b="0" i="1" smtClean="0">
                                    <a:latin typeface="Cambria Math" panose="02040503050406030204" pitchFamily="18" charset="0"/>
                                  </a:rPr>
                                  <m:t>+</m:t>
                                </m:r>
                                <m:sSub>
                                  <m:sSubPr>
                                    <m:ctrlPr>
                                      <a:rPr lang="en-GB" i="1" smtClean="0">
                                        <a:latin typeface="Cambria Math" panose="02040503050406030204" pitchFamily="18" charset="0"/>
                                      </a:rPr>
                                    </m:ctrlPr>
                                  </m:sSubPr>
                                  <m:e>
                                    <m:r>
                                      <a:rPr lang="en-AU" b="0" i="1" smtClean="0">
                                        <a:latin typeface="Cambria Math" panose="02040503050406030204" pitchFamily="18" charset="0"/>
                                      </a:rPr>
                                      <m:t>𝑎</m:t>
                                    </m:r>
                                  </m:e>
                                  <m:sub>
                                    <m:r>
                                      <a:rPr lang="en-AU" b="0" i="1" smtClean="0">
                                        <a:latin typeface="Cambria Math" panose="02040503050406030204" pitchFamily="18" charset="0"/>
                                      </a:rPr>
                                      <m:t>𝑛</m:t>
                                    </m:r>
                                    <m:r>
                                      <a:rPr lang="en-AU" b="0" i="1" smtClean="0">
                                        <a:latin typeface="Cambria Math" panose="02040503050406030204" pitchFamily="18" charset="0"/>
                                      </a:rPr>
                                      <m:t>−1</m:t>
                                    </m:r>
                                  </m:sub>
                                </m:sSub>
                                <m:sSup>
                                  <m:sSupPr>
                                    <m:ctrlPr>
                                      <a:rPr lang="en-GB" i="1" smtClean="0">
                                        <a:latin typeface="Cambria Math" panose="02040503050406030204" pitchFamily="18" charset="0"/>
                                      </a:rPr>
                                    </m:ctrlPr>
                                  </m:sSupPr>
                                  <m:e>
                                    <m:r>
                                      <a:rPr lang="en-AU" b="0" i="1" smtClean="0">
                                        <a:latin typeface="Cambria Math" panose="02040503050406030204" pitchFamily="18" charset="0"/>
                                      </a:rPr>
                                      <m:t>𝑥</m:t>
                                    </m:r>
                                  </m:e>
                                  <m:sup>
                                    <m:r>
                                      <a:rPr lang="en-AU" b="0" i="1" smtClean="0">
                                        <a:latin typeface="Cambria Math" panose="02040503050406030204" pitchFamily="18" charset="0"/>
                                      </a:rPr>
                                      <m:t>𝑛</m:t>
                                    </m:r>
                                    <m:r>
                                      <a:rPr lang="en-AU" b="0" i="1" smtClean="0">
                                        <a:latin typeface="Cambria Math" panose="02040503050406030204" pitchFamily="18" charset="0"/>
                                      </a:rPr>
                                      <m:t>−1</m:t>
                                    </m:r>
                                  </m:sup>
                                </m:sSup>
                                <m:r>
                                  <a:rPr lang="en-AU" b="0" i="1" smtClean="0">
                                    <a:latin typeface="Cambria Math" panose="02040503050406030204" pitchFamily="18" charset="0"/>
                                  </a:rPr>
                                  <m:t>+…+</m:t>
                                </m:r>
                                <m:sSub>
                                  <m:sSubPr>
                                    <m:ctrlPr>
                                      <a:rPr lang="en-GB" i="1" smtClean="0">
                                        <a:latin typeface="Cambria Math" panose="02040503050406030204" pitchFamily="18" charset="0"/>
                                      </a:rPr>
                                    </m:ctrlPr>
                                  </m:sSubPr>
                                  <m:e>
                                    <m:r>
                                      <a:rPr lang="en-AU" b="0" i="1" smtClean="0">
                                        <a:latin typeface="Cambria Math" panose="02040503050406030204" pitchFamily="18" charset="0"/>
                                      </a:rPr>
                                      <m:t>𝑎</m:t>
                                    </m:r>
                                  </m:e>
                                  <m:sub>
                                    <m:r>
                                      <a:rPr lang="en-AU" b="0" i="1" smtClean="0">
                                        <a:latin typeface="Cambria Math" panose="02040503050406030204" pitchFamily="18" charset="0"/>
                                      </a:rPr>
                                      <m:t>1</m:t>
                                    </m:r>
                                  </m:sub>
                                </m:sSub>
                                <m:r>
                                  <a:rPr lang="en-AU" b="0" i="1" smtClean="0">
                                    <a:latin typeface="Cambria Math" panose="02040503050406030204" pitchFamily="18" charset="0"/>
                                  </a:rPr>
                                  <m:t>𝑥</m:t>
                                </m:r>
                                <m:r>
                                  <a:rPr lang="en-AU" b="0" i="1" smtClean="0">
                                    <a:latin typeface="Cambria Math" panose="02040503050406030204" pitchFamily="18" charset="0"/>
                                  </a:rPr>
                                  <m:t>+</m:t>
                                </m:r>
                                <m:sSub>
                                  <m:sSubPr>
                                    <m:ctrlPr>
                                      <a:rPr lang="en-GB" i="1" smtClean="0">
                                        <a:latin typeface="Cambria Math" panose="02040503050406030204" pitchFamily="18" charset="0"/>
                                      </a:rPr>
                                    </m:ctrlPr>
                                  </m:sSubPr>
                                  <m:e>
                                    <m:r>
                                      <a:rPr lang="en-AU" b="0" i="1" smtClean="0">
                                        <a:latin typeface="Cambria Math" panose="02040503050406030204" pitchFamily="18" charset="0"/>
                                      </a:rPr>
                                      <m:t>𝑎</m:t>
                                    </m:r>
                                  </m:e>
                                  <m:sub>
                                    <m:r>
                                      <a:rPr lang="en-AU" b="0" i="1" smtClean="0">
                                        <a:latin typeface="Cambria Math" panose="02040503050406030204" pitchFamily="18" charset="0"/>
                                      </a:rPr>
                                      <m:t>0</m:t>
                                    </m:r>
                                  </m:sub>
                                </m:sSub>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AU" b="0" i="1" smtClean="0">
                                        <a:latin typeface="Cambria Math" panose="02040503050406030204" pitchFamily="18" charset="0"/>
                                      </a:rPr>
                                      <m:t>𝐴</m:t>
                                    </m:r>
                                  </m:e>
                                  <m:sub>
                                    <m:r>
                                      <a:rPr lang="en-AU" b="0" i="1" smtClean="0">
                                        <a:latin typeface="Cambria Math" panose="02040503050406030204" pitchFamily="18" charset="0"/>
                                      </a:rPr>
                                      <m:t>𝑛</m:t>
                                    </m:r>
                                  </m:sub>
                                </m:sSub>
                                <m:sSup>
                                  <m:sSupPr>
                                    <m:ctrlPr>
                                      <a:rPr lang="en-GB" i="1" smtClean="0">
                                        <a:latin typeface="Cambria Math" panose="02040503050406030204" pitchFamily="18" charset="0"/>
                                      </a:rPr>
                                    </m:ctrlPr>
                                  </m:sSupPr>
                                  <m:e>
                                    <m:r>
                                      <a:rPr lang="en-AU" b="0" i="1" smtClean="0">
                                        <a:latin typeface="Cambria Math" panose="02040503050406030204" pitchFamily="18" charset="0"/>
                                      </a:rPr>
                                      <m:t>𝑥</m:t>
                                    </m:r>
                                  </m:e>
                                  <m:sup>
                                    <m:r>
                                      <a:rPr lang="en-AU" b="0" i="1" smtClean="0">
                                        <a:latin typeface="Cambria Math" panose="02040503050406030204" pitchFamily="18" charset="0"/>
                                      </a:rPr>
                                      <m:t>𝑛</m:t>
                                    </m:r>
                                  </m:sup>
                                </m:sSup>
                                <m:r>
                                  <a:rPr lang="en-AU" b="0" i="1" smtClean="0">
                                    <a:latin typeface="Cambria Math" panose="02040503050406030204" pitchFamily="18" charset="0"/>
                                  </a:rPr>
                                  <m:t>+</m:t>
                                </m:r>
                                <m:sSub>
                                  <m:sSubPr>
                                    <m:ctrlPr>
                                      <a:rPr lang="en-GB" i="1" smtClean="0">
                                        <a:latin typeface="Cambria Math" panose="02040503050406030204" pitchFamily="18" charset="0"/>
                                      </a:rPr>
                                    </m:ctrlPr>
                                  </m:sSubPr>
                                  <m:e>
                                    <m:r>
                                      <a:rPr lang="en-AU" b="0" i="1" smtClean="0">
                                        <a:latin typeface="Cambria Math" panose="02040503050406030204" pitchFamily="18" charset="0"/>
                                      </a:rPr>
                                      <m:t>𝐴</m:t>
                                    </m:r>
                                  </m:e>
                                  <m:sub>
                                    <m:r>
                                      <a:rPr lang="en-AU" b="0" i="1" smtClean="0">
                                        <a:latin typeface="Cambria Math" panose="02040503050406030204" pitchFamily="18" charset="0"/>
                                      </a:rPr>
                                      <m:t>𝑛</m:t>
                                    </m:r>
                                    <m:r>
                                      <a:rPr lang="en-AU" b="0" i="1" smtClean="0">
                                        <a:latin typeface="Cambria Math" panose="02040503050406030204" pitchFamily="18" charset="0"/>
                                      </a:rPr>
                                      <m:t>−1</m:t>
                                    </m:r>
                                  </m:sub>
                                </m:sSub>
                                <m:sSup>
                                  <m:sSupPr>
                                    <m:ctrlPr>
                                      <a:rPr lang="en-GB" i="1" smtClean="0">
                                        <a:latin typeface="Cambria Math" panose="02040503050406030204" pitchFamily="18" charset="0"/>
                                      </a:rPr>
                                    </m:ctrlPr>
                                  </m:sSupPr>
                                  <m:e>
                                    <m:r>
                                      <a:rPr lang="en-AU" b="0" i="1" smtClean="0">
                                        <a:latin typeface="Cambria Math" panose="02040503050406030204" pitchFamily="18" charset="0"/>
                                      </a:rPr>
                                      <m:t>𝑥</m:t>
                                    </m:r>
                                  </m:e>
                                  <m:sup>
                                    <m:r>
                                      <a:rPr lang="en-AU" b="0" i="1" smtClean="0">
                                        <a:latin typeface="Cambria Math" panose="02040503050406030204" pitchFamily="18" charset="0"/>
                                      </a:rPr>
                                      <m:t>𝑛</m:t>
                                    </m:r>
                                    <m:r>
                                      <a:rPr lang="en-AU" b="0" i="1" smtClean="0">
                                        <a:latin typeface="Cambria Math" panose="02040503050406030204" pitchFamily="18" charset="0"/>
                                      </a:rPr>
                                      <m:t>−1</m:t>
                                    </m:r>
                                  </m:sup>
                                </m:sSup>
                                <m:r>
                                  <a:rPr lang="en-AU" b="0" i="1" smtClean="0">
                                    <a:latin typeface="Cambria Math" panose="02040503050406030204" pitchFamily="18" charset="0"/>
                                  </a:rPr>
                                  <m:t>+…+</m:t>
                                </m:r>
                                <m:sSub>
                                  <m:sSubPr>
                                    <m:ctrlPr>
                                      <a:rPr lang="en-GB" i="1" smtClean="0">
                                        <a:latin typeface="Cambria Math" panose="02040503050406030204" pitchFamily="18" charset="0"/>
                                      </a:rPr>
                                    </m:ctrlPr>
                                  </m:sSubPr>
                                  <m:e>
                                    <m:r>
                                      <a:rPr lang="en-AU" b="0" i="1" smtClean="0">
                                        <a:latin typeface="Cambria Math" panose="02040503050406030204" pitchFamily="18" charset="0"/>
                                      </a:rPr>
                                      <m:t>𝐴</m:t>
                                    </m:r>
                                  </m:e>
                                  <m:sub>
                                    <m:r>
                                      <a:rPr lang="en-AU" b="0" i="1" smtClean="0">
                                        <a:latin typeface="Cambria Math" panose="02040503050406030204" pitchFamily="18" charset="0"/>
                                      </a:rPr>
                                      <m:t>1</m:t>
                                    </m:r>
                                  </m:sub>
                                </m:sSub>
                                <m:r>
                                  <a:rPr lang="en-AU" b="0" i="1" smtClean="0">
                                    <a:latin typeface="Cambria Math" panose="02040503050406030204" pitchFamily="18" charset="0"/>
                                  </a:rPr>
                                  <m:t>𝑥</m:t>
                                </m:r>
                                <m:r>
                                  <a:rPr lang="en-AU" b="0" i="1" smtClean="0">
                                    <a:latin typeface="Cambria Math" panose="02040503050406030204" pitchFamily="18" charset="0"/>
                                  </a:rPr>
                                  <m:t>+</m:t>
                                </m:r>
                                <m:sSub>
                                  <m:sSubPr>
                                    <m:ctrlPr>
                                      <a:rPr lang="en-GB" i="1" smtClean="0">
                                        <a:latin typeface="Cambria Math" panose="02040503050406030204" pitchFamily="18" charset="0"/>
                                      </a:rPr>
                                    </m:ctrlPr>
                                  </m:sSubPr>
                                  <m:e>
                                    <m:r>
                                      <a:rPr lang="en-AU" b="0" i="1" smtClean="0">
                                        <a:latin typeface="Cambria Math" panose="02040503050406030204" pitchFamily="18" charset="0"/>
                                      </a:rPr>
                                      <m:t>𝐴</m:t>
                                    </m:r>
                                  </m:e>
                                  <m:sub>
                                    <m:r>
                                      <a:rPr lang="en-AU" b="0" i="1" smtClean="0">
                                        <a:latin typeface="Cambria Math" panose="02040503050406030204" pitchFamily="18" charset="0"/>
                                      </a:rPr>
                                      <m:t>0</m:t>
                                    </m:r>
                                  </m:sub>
                                </m:sSub>
                              </m:oMath>
                            </m:oMathPara>
                          </a14:m>
                          <a:endParaRPr lang="en-GB" dirty="0"/>
                        </a:p>
                      </a:txBody>
                      <a:tcPr/>
                    </a:tc>
                    <a:extLst>
                      <a:ext uri="{0D108BD9-81ED-4DB2-BD59-A6C34878D82A}">
                        <a16:rowId xmlns:a16="http://schemas.microsoft.com/office/drawing/2014/main" val="2031378854"/>
                      </a:ext>
                    </a:extLst>
                  </a:tr>
                  <a:tr h="370840">
                    <a:tc>
                      <a:txBody>
                        <a:bodyPr/>
                        <a:lstStyle/>
                        <a:p>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𝑘</m:t>
                                </m:r>
                                <m:sSup>
                                  <m:sSupPr>
                                    <m:ctrlPr>
                                      <a:rPr lang="en-AU" b="0" i="1" smtClean="0">
                                        <a:latin typeface="Cambria Math" panose="02040503050406030204" pitchFamily="18" charset="0"/>
                                      </a:rPr>
                                    </m:ctrlPr>
                                  </m:sSupPr>
                                  <m:e>
                                    <m:r>
                                      <a:rPr lang="en-AU" b="0" i="1" smtClean="0">
                                        <a:latin typeface="Cambria Math" panose="02040503050406030204" pitchFamily="18" charset="0"/>
                                      </a:rPr>
                                      <m:t>𝑒</m:t>
                                    </m:r>
                                  </m:e>
                                  <m:sup>
                                    <m:r>
                                      <a:rPr lang="en-AU" b="0" i="1" smtClean="0">
                                        <a:latin typeface="Cambria Math" panose="02040503050406030204" pitchFamily="18" charset="0"/>
                                        <a:ea typeface="Cambria Math" panose="02040503050406030204" pitchFamily="18" charset="0"/>
                                      </a:rPr>
                                      <m:t>𝜇</m:t>
                                    </m:r>
                                    <m:r>
                                      <a:rPr lang="en-AU" b="0" i="1" smtClean="0">
                                        <a:latin typeface="Cambria Math" panose="02040503050406030204" pitchFamily="18" charset="0"/>
                                        <a:ea typeface="Cambria Math" panose="02040503050406030204" pitchFamily="18" charset="0"/>
                                      </a:rPr>
                                      <m:t>𝑥</m:t>
                                    </m:r>
                                  </m:sup>
                                </m:sSup>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𝐶</m:t>
                                </m:r>
                                <m:sSup>
                                  <m:sSupPr>
                                    <m:ctrlPr>
                                      <a:rPr lang="en-AU" b="0" i="1" smtClean="0">
                                        <a:latin typeface="Cambria Math" panose="02040503050406030204" pitchFamily="18" charset="0"/>
                                      </a:rPr>
                                    </m:ctrlPr>
                                  </m:sSupPr>
                                  <m:e>
                                    <m:r>
                                      <a:rPr lang="en-AU" b="0" i="1" smtClean="0">
                                        <a:latin typeface="Cambria Math" panose="02040503050406030204" pitchFamily="18" charset="0"/>
                                      </a:rPr>
                                      <m:t>𝑒</m:t>
                                    </m:r>
                                  </m:e>
                                  <m:sup>
                                    <m:r>
                                      <a:rPr lang="en-AU" b="0" i="1" smtClean="0">
                                        <a:latin typeface="Cambria Math" panose="02040503050406030204" pitchFamily="18" charset="0"/>
                                        <a:ea typeface="Cambria Math" panose="02040503050406030204" pitchFamily="18" charset="0"/>
                                      </a:rPr>
                                      <m:t>𝜇</m:t>
                                    </m:r>
                                    <m:r>
                                      <a:rPr lang="en-AU" b="0" i="1" smtClean="0">
                                        <a:latin typeface="Cambria Math" panose="02040503050406030204" pitchFamily="18" charset="0"/>
                                        <a:ea typeface="Cambria Math" panose="02040503050406030204" pitchFamily="18" charset="0"/>
                                      </a:rPr>
                                      <m:t>𝑥</m:t>
                                    </m:r>
                                  </m:sup>
                                </m:sSup>
                              </m:oMath>
                            </m:oMathPara>
                          </a14:m>
                          <a:endParaRPr lang="en-GB" dirty="0"/>
                        </a:p>
                      </a:txBody>
                      <a:tcPr/>
                    </a:tc>
                    <a:extLst>
                      <a:ext uri="{0D108BD9-81ED-4DB2-BD59-A6C34878D82A}">
                        <a16:rowId xmlns:a16="http://schemas.microsoft.com/office/drawing/2014/main" val="3901142331"/>
                      </a:ext>
                    </a:extLst>
                  </a:tr>
                  <a:tr h="370840">
                    <a:tc>
                      <a:txBody>
                        <a:bodyPr/>
                        <a:lstStyle/>
                        <a:p>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𝑘</m:t>
                                </m:r>
                                <m:func>
                                  <m:funcPr>
                                    <m:ctrlPr>
                                      <a:rPr lang="en-AU" b="0" i="1" smtClean="0">
                                        <a:latin typeface="Cambria Math" panose="02040503050406030204" pitchFamily="18" charset="0"/>
                                      </a:rPr>
                                    </m:ctrlPr>
                                  </m:funcPr>
                                  <m:fName>
                                    <m:r>
                                      <m:rPr>
                                        <m:sty m:val="p"/>
                                      </m:rPr>
                                      <a:rPr lang="en-AU" b="0" i="0" smtClean="0">
                                        <a:latin typeface="Cambria Math" panose="02040503050406030204" pitchFamily="18" charset="0"/>
                                      </a:rPr>
                                      <m:t>cos</m:t>
                                    </m:r>
                                  </m:fName>
                                  <m:e>
                                    <m:r>
                                      <a:rPr lang="en-AU" b="0" i="1" smtClean="0">
                                        <a:latin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𝛽</m:t>
                                    </m:r>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m:t>
                                    </m:r>
                                  </m:e>
                                </m:func>
                                <m:r>
                                  <a:rPr lang="en-AU" b="0" i="1" smtClean="0">
                                    <a:latin typeface="Cambria Math" panose="02040503050406030204" pitchFamily="18" charset="0"/>
                                  </a:rPr>
                                  <m:t>,</m:t>
                                </m:r>
                                <m:r>
                                  <a:rPr lang="en-AU" b="0" i="1" smtClean="0">
                                    <a:latin typeface="Cambria Math" panose="02040503050406030204" pitchFamily="18" charset="0"/>
                                  </a:rPr>
                                  <m:t>𝑘</m:t>
                                </m:r>
                                <m:func>
                                  <m:funcPr>
                                    <m:ctrlPr>
                                      <a:rPr lang="en-AU" b="0" i="1" smtClean="0">
                                        <a:latin typeface="Cambria Math" panose="02040503050406030204" pitchFamily="18" charset="0"/>
                                      </a:rPr>
                                    </m:ctrlPr>
                                  </m:funcPr>
                                  <m:fName>
                                    <m:r>
                                      <m:rPr>
                                        <m:sty m:val="p"/>
                                      </m:rPr>
                                      <a:rPr lang="en-AU" b="0" i="0" smtClean="0">
                                        <a:latin typeface="Cambria Math" panose="02040503050406030204" pitchFamily="18" charset="0"/>
                                      </a:rPr>
                                      <m:t>sin</m:t>
                                    </m:r>
                                  </m:fName>
                                  <m:e>
                                    <m:r>
                                      <a:rPr lang="en-AU" b="0" i="1" smtClean="0">
                                        <a:latin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𝛽</m:t>
                                    </m:r>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m:t>
                                    </m:r>
                                  </m:e>
                                </m:func>
                                <m:r>
                                  <a:rPr lang="en-AU" b="0" i="1" smtClean="0">
                                    <a:latin typeface="Cambria Math" panose="02040503050406030204" pitchFamily="18" charset="0"/>
                                  </a:rPr>
                                  <m:t>  </m:t>
                                </m:r>
                                <m:r>
                                  <m:rPr>
                                    <m:sty m:val="p"/>
                                  </m:rPr>
                                  <a:rPr lang="en-AU" b="0" i="0" smtClean="0">
                                    <a:latin typeface="Cambria Math" panose="02040503050406030204" pitchFamily="18" charset="0"/>
                                  </a:rPr>
                                  <m:t>or</m:t>
                                </m:r>
                                <m:r>
                                  <a:rPr lang="en-AU" b="0" i="1" smtClean="0">
                                    <a:latin typeface="Cambria Math" panose="02040503050406030204" pitchFamily="18" charset="0"/>
                                  </a:rPr>
                                  <m:t>  </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𝑘</m:t>
                                    </m:r>
                                  </m:e>
                                  <m:sub>
                                    <m:r>
                                      <a:rPr lang="en-AU" b="0" i="1" smtClean="0">
                                        <a:latin typeface="Cambria Math" panose="02040503050406030204" pitchFamily="18" charset="0"/>
                                      </a:rPr>
                                      <m:t>1</m:t>
                                    </m:r>
                                  </m:sub>
                                </m:sSub>
                                <m:func>
                                  <m:funcPr>
                                    <m:ctrlPr>
                                      <a:rPr lang="en-AU" b="0" i="1" smtClean="0">
                                        <a:latin typeface="Cambria Math" panose="02040503050406030204" pitchFamily="18" charset="0"/>
                                      </a:rPr>
                                    </m:ctrlPr>
                                  </m:funcPr>
                                  <m:fName>
                                    <m:r>
                                      <m:rPr>
                                        <m:sty m:val="p"/>
                                      </m:rPr>
                                      <a:rPr lang="en-AU" b="0" i="0" smtClean="0">
                                        <a:latin typeface="Cambria Math" panose="02040503050406030204" pitchFamily="18" charset="0"/>
                                      </a:rPr>
                                      <m:t>cos</m:t>
                                    </m:r>
                                  </m:fName>
                                  <m:e>
                                    <m:r>
                                      <a:rPr lang="en-AU" b="0" i="1" smtClean="0">
                                        <a:latin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𝛽</m:t>
                                    </m:r>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m:t>
                                    </m:r>
                                  </m:e>
                                </m:func>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𝑘</m:t>
                                    </m:r>
                                  </m:e>
                                  <m:sub>
                                    <m:r>
                                      <a:rPr lang="en-AU" b="0" i="1" smtClean="0">
                                        <a:latin typeface="Cambria Math" panose="02040503050406030204" pitchFamily="18" charset="0"/>
                                      </a:rPr>
                                      <m:t>2</m:t>
                                    </m:r>
                                  </m:sub>
                                </m:sSub>
                                <m:func>
                                  <m:funcPr>
                                    <m:ctrlPr>
                                      <a:rPr lang="en-AU" b="0" i="1" smtClean="0">
                                        <a:latin typeface="Cambria Math" panose="02040503050406030204" pitchFamily="18" charset="0"/>
                                      </a:rPr>
                                    </m:ctrlPr>
                                  </m:funcPr>
                                  <m:fName>
                                    <m:r>
                                      <m:rPr>
                                        <m:sty m:val="p"/>
                                      </m:rPr>
                                      <a:rPr lang="en-AU" b="0" i="0" smtClean="0">
                                        <a:latin typeface="Cambria Math" panose="02040503050406030204" pitchFamily="18" charset="0"/>
                                      </a:rPr>
                                      <m:t>sin</m:t>
                                    </m:r>
                                  </m:fName>
                                  <m:e>
                                    <m:r>
                                      <a:rPr lang="en-AU" b="0" i="1" smtClean="0">
                                        <a:latin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𝛽</m:t>
                                    </m:r>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m:t>
                                    </m:r>
                                  </m:e>
                                </m:func>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𝐶</m:t>
                                </m:r>
                                <m:func>
                                  <m:funcPr>
                                    <m:ctrlPr>
                                      <a:rPr lang="en-AU" b="0" i="1" smtClean="0">
                                        <a:latin typeface="Cambria Math" panose="02040503050406030204" pitchFamily="18" charset="0"/>
                                      </a:rPr>
                                    </m:ctrlPr>
                                  </m:funcPr>
                                  <m:fName>
                                    <m:r>
                                      <m:rPr>
                                        <m:sty m:val="p"/>
                                      </m:rPr>
                                      <a:rPr lang="en-AU" b="0" i="0" smtClean="0">
                                        <a:latin typeface="Cambria Math" panose="02040503050406030204" pitchFamily="18" charset="0"/>
                                      </a:rPr>
                                      <m:t>cos</m:t>
                                    </m:r>
                                  </m:fName>
                                  <m:e>
                                    <m:r>
                                      <a:rPr lang="en-AU" b="0" i="1" smtClean="0">
                                        <a:latin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𝛽</m:t>
                                    </m:r>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m:t>
                                    </m:r>
                                  </m:e>
                                </m:func>
                                <m:r>
                                  <a:rPr lang="en-AU" b="0" i="1" smtClean="0">
                                    <a:latin typeface="Cambria Math" panose="02040503050406030204" pitchFamily="18" charset="0"/>
                                  </a:rPr>
                                  <m:t>+</m:t>
                                </m:r>
                                <m:r>
                                  <a:rPr lang="en-AU" b="0" i="1" smtClean="0">
                                    <a:latin typeface="Cambria Math" panose="02040503050406030204" pitchFamily="18" charset="0"/>
                                  </a:rPr>
                                  <m:t>𝐷</m:t>
                                </m:r>
                                <m:func>
                                  <m:funcPr>
                                    <m:ctrlPr>
                                      <a:rPr lang="en-AU" b="0" i="1" smtClean="0">
                                        <a:latin typeface="Cambria Math" panose="02040503050406030204" pitchFamily="18" charset="0"/>
                                      </a:rPr>
                                    </m:ctrlPr>
                                  </m:funcPr>
                                  <m:fName>
                                    <m:r>
                                      <m:rPr>
                                        <m:sty m:val="p"/>
                                      </m:rPr>
                                      <a:rPr lang="en-AU" b="0" i="0" smtClean="0">
                                        <a:latin typeface="Cambria Math" panose="02040503050406030204" pitchFamily="18" charset="0"/>
                                      </a:rPr>
                                      <m:t>sin</m:t>
                                    </m:r>
                                  </m:fName>
                                  <m:e>
                                    <m:r>
                                      <a:rPr lang="en-AU" b="0" i="1" smtClean="0">
                                        <a:latin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𝛽</m:t>
                                    </m:r>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m:t>
                                    </m:r>
                                  </m:e>
                                </m:func>
                              </m:oMath>
                            </m:oMathPara>
                          </a14:m>
                          <a:endParaRPr lang="en-GB" dirty="0"/>
                        </a:p>
                      </a:txBody>
                      <a:tcPr/>
                    </a:tc>
                    <a:extLst>
                      <a:ext uri="{0D108BD9-81ED-4DB2-BD59-A6C34878D82A}">
                        <a16:rowId xmlns:a16="http://schemas.microsoft.com/office/drawing/2014/main" val="1573809305"/>
                      </a:ext>
                    </a:extLst>
                  </a:tr>
                </a:tbl>
              </a:graphicData>
            </a:graphic>
          </p:graphicFrame>
        </mc:Choice>
        <mc:Fallback xmlns="">
          <p:graphicFrame>
            <p:nvGraphicFramePr>
              <p:cNvPr id="3" name="Table 3">
                <a:extLst>
                  <a:ext uri="{FF2B5EF4-FFF2-40B4-BE49-F238E27FC236}">
                    <a16:creationId xmlns:a16="http://schemas.microsoft.com/office/drawing/2014/main" id="{9F7F7D13-8BD8-4A0B-B1E4-610C0587398D}"/>
                  </a:ext>
                </a:extLst>
              </p:cNvPr>
              <p:cNvGraphicFramePr>
                <a:graphicFrameLocks noGrp="1"/>
              </p:cNvGraphicFramePr>
              <p:nvPr>
                <p:extLst>
                  <p:ext uri="{D42A27DB-BD31-4B8C-83A1-F6EECF244321}">
                    <p14:modId xmlns:p14="http://schemas.microsoft.com/office/powerpoint/2010/main" val="1960291126"/>
                  </p:ext>
                </p:extLst>
              </p:nvPr>
            </p:nvGraphicFramePr>
            <p:xfrm>
              <a:off x="1160928" y="3705917"/>
              <a:ext cx="9870142" cy="1483360"/>
            </p:xfrm>
            <a:graphic>
              <a:graphicData uri="http://schemas.openxmlformats.org/drawingml/2006/table">
                <a:tbl>
                  <a:tblPr firstRow="1" bandRow="1">
                    <a:tableStyleId>{5C22544A-7EE6-4342-B048-85BDC9FD1C3A}</a:tableStyleId>
                  </a:tblPr>
                  <a:tblGrid>
                    <a:gridCol w="5114366">
                      <a:extLst>
                        <a:ext uri="{9D8B030D-6E8A-4147-A177-3AD203B41FA5}">
                          <a16:colId xmlns:a16="http://schemas.microsoft.com/office/drawing/2014/main" val="197926360"/>
                        </a:ext>
                      </a:extLst>
                    </a:gridCol>
                    <a:gridCol w="4755776">
                      <a:extLst>
                        <a:ext uri="{9D8B030D-6E8A-4147-A177-3AD203B41FA5}">
                          <a16:colId xmlns:a16="http://schemas.microsoft.com/office/drawing/2014/main" val="2475270545"/>
                        </a:ext>
                      </a:extLst>
                    </a:gridCol>
                  </a:tblGrid>
                  <a:tr h="370840">
                    <a:tc>
                      <a:txBody>
                        <a:bodyPr/>
                        <a:lstStyle/>
                        <a:p>
                          <a:endParaRPr lang="en-US"/>
                        </a:p>
                      </a:txBody>
                      <a:tcPr>
                        <a:blipFill>
                          <a:blip r:embed="rId3"/>
                          <a:stretch>
                            <a:fillRect l="-119" t="-1639" r="-93564" b="-313115"/>
                          </a:stretch>
                        </a:blipFill>
                      </a:tcPr>
                    </a:tc>
                    <a:tc>
                      <a:txBody>
                        <a:bodyPr/>
                        <a:lstStyle/>
                        <a:p>
                          <a:endParaRPr lang="en-US"/>
                        </a:p>
                      </a:txBody>
                      <a:tcPr>
                        <a:blipFill>
                          <a:blip r:embed="rId3"/>
                          <a:stretch>
                            <a:fillRect l="-107554" t="-1639" r="-512" b="-313115"/>
                          </a:stretch>
                        </a:blipFill>
                      </a:tcPr>
                    </a:tc>
                    <a:extLst>
                      <a:ext uri="{0D108BD9-81ED-4DB2-BD59-A6C34878D82A}">
                        <a16:rowId xmlns:a16="http://schemas.microsoft.com/office/drawing/2014/main" val="157392436"/>
                      </a:ext>
                    </a:extLst>
                  </a:tr>
                  <a:tr h="370840">
                    <a:tc>
                      <a:txBody>
                        <a:bodyPr/>
                        <a:lstStyle/>
                        <a:p>
                          <a:endParaRPr lang="en-US"/>
                        </a:p>
                      </a:txBody>
                      <a:tcPr>
                        <a:blipFill>
                          <a:blip r:embed="rId3"/>
                          <a:stretch>
                            <a:fillRect l="-119" t="-100000" r="-93564" b="-208065"/>
                          </a:stretch>
                        </a:blipFill>
                      </a:tcPr>
                    </a:tc>
                    <a:tc>
                      <a:txBody>
                        <a:bodyPr/>
                        <a:lstStyle/>
                        <a:p>
                          <a:endParaRPr lang="en-US"/>
                        </a:p>
                      </a:txBody>
                      <a:tcPr>
                        <a:blipFill>
                          <a:blip r:embed="rId3"/>
                          <a:stretch>
                            <a:fillRect l="-107554" t="-100000" r="-512" b="-208065"/>
                          </a:stretch>
                        </a:blipFill>
                      </a:tcPr>
                    </a:tc>
                    <a:extLst>
                      <a:ext uri="{0D108BD9-81ED-4DB2-BD59-A6C34878D82A}">
                        <a16:rowId xmlns:a16="http://schemas.microsoft.com/office/drawing/2014/main" val="2031378854"/>
                      </a:ext>
                    </a:extLst>
                  </a:tr>
                  <a:tr h="370840">
                    <a:tc>
                      <a:txBody>
                        <a:bodyPr/>
                        <a:lstStyle/>
                        <a:p>
                          <a:endParaRPr lang="en-US"/>
                        </a:p>
                      </a:txBody>
                      <a:tcPr>
                        <a:blipFill>
                          <a:blip r:embed="rId3"/>
                          <a:stretch>
                            <a:fillRect l="-119" t="-203279" r="-93564" b="-111475"/>
                          </a:stretch>
                        </a:blipFill>
                      </a:tcPr>
                    </a:tc>
                    <a:tc>
                      <a:txBody>
                        <a:bodyPr/>
                        <a:lstStyle/>
                        <a:p>
                          <a:endParaRPr lang="en-US"/>
                        </a:p>
                      </a:txBody>
                      <a:tcPr>
                        <a:blipFill>
                          <a:blip r:embed="rId3"/>
                          <a:stretch>
                            <a:fillRect l="-107554" t="-203279" r="-512" b="-111475"/>
                          </a:stretch>
                        </a:blipFill>
                      </a:tcPr>
                    </a:tc>
                    <a:extLst>
                      <a:ext uri="{0D108BD9-81ED-4DB2-BD59-A6C34878D82A}">
                        <a16:rowId xmlns:a16="http://schemas.microsoft.com/office/drawing/2014/main" val="3901142331"/>
                      </a:ext>
                    </a:extLst>
                  </a:tr>
                  <a:tr h="370840">
                    <a:tc>
                      <a:txBody>
                        <a:bodyPr/>
                        <a:lstStyle/>
                        <a:p>
                          <a:endParaRPr lang="en-US"/>
                        </a:p>
                      </a:txBody>
                      <a:tcPr>
                        <a:blipFill>
                          <a:blip r:embed="rId3"/>
                          <a:stretch>
                            <a:fillRect l="-119" t="-303279" r="-93564" b="-11475"/>
                          </a:stretch>
                        </a:blipFill>
                      </a:tcPr>
                    </a:tc>
                    <a:tc>
                      <a:txBody>
                        <a:bodyPr/>
                        <a:lstStyle/>
                        <a:p>
                          <a:endParaRPr lang="en-US"/>
                        </a:p>
                      </a:txBody>
                      <a:tcPr>
                        <a:blipFill>
                          <a:blip r:embed="rId3"/>
                          <a:stretch>
                            <a:fillRect l="-107554" t="-303279" r="-512" b="-11475"/>
                          </a:stretch>
                        </a:blipFill>
                      </a:tcPr>
                    </a:tc>
                    <a:extLst>
                      <a:ext uri="{0D108BD9-81ED-4DB2-BD59-A6C34878D82A}">
                        <a16:rowId xmlns:a16="http://schemas.microsoft.com/office/drawing/2014/main" val="1573809305"/>
                      </a:ext>
                    </a:extLst>
                  </a:tr>
                </a:tbl>
              </a:graphicData>
            </a:graphic>
          </p:graphicFrame>
        </mc:Fallback>
      </mc:AlternateContent>
    </p:spTree>
    <p:extLst>
      <p:ext uri="{BB962C8B-B14F-4D97-AF65-F5344CB8AC3E}">
        <p14:creationId xmlns:p14="http://schemas.microsoft.com/office/powerpoint/2010/main" val="509788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11078802" cy="523220"/>
          </a:xfrm>
          <a:prstGeom prst="rect">
            <a:avLst/>
          </a:prstGeom>
          <a:noFill/>
        </p:spPr>
        <p:txBody>
          <a:bodyPr wrap="none" rtlCol="0">
            <a:spAutoFit/>
          </a:bodyPr>
          <a:lstStyle/>
          <a:p>
            <a:r>
              <a:rPr lang="en-AU" sz="2800" b="1" cap="small" dirty="0">
                <a:solidFill>
                  <a:schemeClr val="bg1"/>
                </a:solidFill>
                <a:latin typeface="+mj-lt"/>
              </a:rPr>
              <a:t>6.8 Finding a particular solution with the method of undetermined coefficients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4934812"/>
              </a:xfrm>
              <a:prstGeom prst="rect">
                <a:avLst/>
              </a:prstGeom>
              <a:noFill/>
            </p:spPr>
            <p:txBody>
              <a:bodyPr wrap="square" rtlCol="0">
                <a:spAutoFit/>
              </a:bodyPr>
              <a:lstStyle/>
              <a:p>
                <a:r>
                  <a:rPr lang="en-AU" sz="2400" b="0" dirty="0">
                    <a:latin typeface="+mj-lt"/>
                    <a:ea typeface="Cambria Math" panose="02040503050406030204" pitchFamily="18" charset="0"/>
                  </a:rPr>
                  <a:t>In the case of </a:t>
                </a:r>
                <a:r>
                  <a:rPr lang="en-AU" sz="2400" b="0" u="sng" dirty="0">
                    <a:latin typeface="+mj-lt"/>
                    <a:ea typeface="Cambria Math" panose="02040503050406030204" pitchFamily="18" charset="0"/>
                  </a:rPr>
                  <a:t>linear dependence </a:t>
                </a:r>
                <a:r>
                  <a:rPr lang="en-AU" sz="2400" b="0" dirty="0">
                    <a:latin typeface="+mj-lt"/>
                    <a:ea typeface="Cambria Math" panose="02040503050406030204" pitchFamily="18" charset="0"/>
                  </a:rPr>
                  <a:t>between </a:t>
                </a:r>
                <a14:m>
                  <m:oMath xmlns:m="http://schemas.openxmlformats.org/officeDocument/2006/math">
                    <m:r>
                      <a:rPr lang="en-AU" sz="2400" smtClean="0">
                        <a:latin typeface="Cambria Math" panose="02040503050406030204" pitchFamily="18" charset="0"/>
                      </a:rPr>
                      <m:t>ℛ</m:t>
                    </m:r>
                    <m:r>
                      <a:rPr lang="en-AU" sz="2400" smtClean="0">
                        <a:latin typeface="Cambria Math" panose="02040503050406030204" pitchFamily="18" charset="0"/>
                      </a:rPr>
                      <m:t>(</m:t>
                    </m:r>
                    <m:r>
                      <a:rPr lang="en-AU" sz="2400" smtClean="0">
                        <a:latin typeface="Cambria Math" panose="02040503050406030204" pitchFamily="18" charset="0"/>
                      </a:rPr>
                      <m:t>𝑥</m:t>
                    </m:r>
                    <m:r>
                      <a:rPr lang="en-AU" sz="2400" smtClean="0">
                        <a:latin typeface="Cambria Math" panose="02040503050406030204" pitchFamily="18" charset="0"/>
                      </a:rPr>
                      <m:t>)</m:t>
                    </m:r>
                  </m:oMath>
                </a14:m>
                <a:r>
                  <a:rPr lang="en-AU" sz="2400" dirty="0">
                    <a:latin typeface="+mj-lt"/>
                  </a:rPr>
                  <a:t> and </a:t>
                </a:r>
                <a14:m>
                  <m:oMath xmlns:m="http://schemas.openxmlformats.org/officeDocument/2006/math">
                    <m:sSub>
                      <m:sSubPr>
                        <m:ctrlPr>
                          <a:rPr lang="en-AU" sz="2400" i="1" smtClean="0">
                            <a:latin typeface="Cambria Math" panose="02040503050406030204" pitchFamily="18" charset="0"/>
                          </a:rPr>
                        </m:ctrlPr>
                      </m:sSubPr>
                      <m:e>
                        <m:r>
                          <a:rPr lang="en-AU" sz="2400" b="0" i="1" smtClean="0">
                            <a:latin typeface="Cambria Math" panose="02040503050406030204" pitchFamily="18" charset="0"/>
                          </a:rPr>
                          <m:t>𝑦</m:t>
                        </m:r>
                      </m:e>
                      <m:sub>
                        <m:r>
                          <a:rPr lang="en-AU" sz="2400" b="0" i="1" smtClean="0">
                            <a:latin typeface="Cambria Math" panose="02040503050406030204" pitchFamily="18" charset="0"/>
                          </a:rPr>
                          <m:t>𝐻</m:t>
                        </m:r>
                      </m:sub>
                    </m:sSub>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oMath>
                </a14:m>
                <a:r>
                  <a:rPr lang="en-AU" sz="2400" dirty="0">
                    <a:latin typeface="+mj-lt"/>
                  </a:rPr>
                  <a:t>, we should not create a “trial solution” that belongs to the space of solutions </a:t>
                </a:r>
                <a14:m>
                  <m:oMath xmlns:m="http://schemas.openxmlformats.org/officeDocument/2006/math">
                    <m:sSub>
                      <m:sSubPr>
                        <m:ctrlPr>
                          <a:rPr lang="en-AU" sz="2400" i="1">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𝜈</m:t>
                        </m:r>
                      </m:e>
                      <m:sub>
                        <m:r>
                          <a:rPr lang="en-AU" sz="2400" i="1">
                            <a:latin typeface="Cambria Math" panose="02040503050406030204" pitchFamily="18" charset="0"/>
                            <a:ea typeface="Cambria Math" panose="02040503050406030204" pitchFamily="18" charset="0"/>
                          </a:rPr>
                          <m:t>𝐻𝑆</m:t>
                        </m:r>
                      </m:sub>
                    </m:sSub>
                  </m:oMath>
                </a14:m>
                <a:r>
                  <a:rPr lang="en-AU" sz="2400" dirty="0">
                    <a:latin typeface="+mj-lt"/>
                  </a:rPr>
                  <a:t>.</a:t>
                </a:r>
              </a:p>
              <a:p>
                <a:endParaRPr lang="en-AU" sz="2400" dirty="0">
                  <a:latin typeface="+mj-lt"/>
                </a:endParaRPr>
              </a:p>
              <a:p>
                <a:pPr marL="342900" indent="-342900">
                  <a:buFont typeface="Arial" panose="020B0604020202020204" pitchFamily="34" charset="0"/>
                  <a:buChar char="•"/>
                </a:pPr>
                <a:r>
                  <a:rPr lang="en-AU" sz="2400" dirty="0">
                    <a:latin typeface="+mj-lt"/>
                  </a:rPr>
                  <a:t>If </a:t>
                </a:r>
                <a14:m>
                  <m:oMath xmlns:m="http://schemas.openxmlformats.org/officeDocument/2006/math">
                    <m:r>
                      <a:rPr lang="en-AU" sz="2400" smtClean="0">
                        <a:latin typeface="Cambria Math" panose="02040503050406030204" pitchFamily="18" charset="0"/>
                      </a:rPr>
                      <m:t>ℛ</m:t>
                    </m:r>
                    <m:d>
                      <m:dPr>
                        <m:ctrlPr>
                          <a:rPr lang="en-AU" sz="2400" i="1" smtClean="0">
                            <a:latin typeface="Cambria Math" panose="02040503050406030204" pitchFamily="18" charset="0"/>
                          </a:rPr>
                        </m:ctrlPr>
                      </m:dPr>
                      <m:e>
                        <m:r>
                          <a:rPr lang="en-AU" sz="2400" smtClean="0">
                            <a:latin typeface="Cambria Math" panose="02040503050406030204" pitchFamily="18" charset="0"/>
                          </a:rPr>
                          <m:t>𝑥</m:t>
                        </m:r>
                      </m:e>
                    </m:d>
                    <m:r>
                      <a:rPr lang="en-AU" sz="2400" b="0" i="1" smtClean="0">
                        <a:latin typeface="Cambria Math" panose="02040503050406030204" pitchFamily="18" charset="0"/>
                      </a:rPr>
                      <m:t>=</m:t>
                    </m:r>
                    <m:r>
                      <a:rPr lang="en-AU" sz="2400" b="0" i="1" smtClean="0">
                        <a:latin typeface="Cambria Math" panose="02040503050406030204" pitchFamily="18" charset="0"/>
                      </a:rPr>
                      <m:t>𝑘</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𝑒</m:t>
                        </m:r>
                      </m:e>
                      <m:sup>
                        <m:r>
                          <a:rPr lang="en-AU" sz="2400" b="0" i="1" smtClean="0">
                            <a:latin typeface="Cambria Math" panose="02040503050406030204" pitchFamily="18" charset="0"/>
                            <a:ea typeface="Cambria Math" panose="02040503050406030204" pitchFamily="18" charset="0"/>
                          </a:rPr>
                          <m:t>𝜇</m:t>
                        </m:r>
                        <m:r>
                          <a:rPr lang="en-AU" sz="2400" b="0" i="1" smtClean="0">
                            <a:latin typeface="Cambria Math" panose="02040503050406030204" pitchFamily="18" charset="0"/>
                            <a:ea typeface="Cambria Math" panose="02040503050406030204" pitchFamily="18" charset="0"/>
                          </a:rPr>
                          <m:t>𝑥</m:t>
                        </m:r>
                      </m:sup>
                    </m:sSup>
                  </m:oMath>
                </a14:m>
                <a:r>
                  <a:rPr lang="en-AU" sz="2400" dirty="0">
                    <a:latin typeface="+mj-lt"/>
                  </a:rPr>
                  <a:t> and the general solution of the homogeneous equation is </a:t>
                </a:r>
                <a14:m>
                  <m:oMath xmlns:m="http://schemas.openxmlformats.org/officeDocument/2006/math">
                    <m:sSub>
                      <m:sSubPr>
                        <m:ctrlPr>
                          <a:rPr lang="en-AU" sz="2400" i="1">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𝑦</m:t>
                        </m:r>
                      </m:e>
                      <m:sub>
                        <m:r>
                          <a:rPr lang="en-AU" sz="2400" i="1">
                            <a:latin typeface="Cambria Math" panose="02040503050406030204" pitchFamily="18" charset="0"/>
                            <a:ea typeface="Cambria Math" panose="02040503050406030204" pitchFamily="18" charset="0"/>
                          </a:rPr>
                          <m:t>𝐻</m:t>
                        </m:r>
                      </m:sub>
                    </m:sSub>
                    <m:d>
                      <m:dPr>
                        <m:ctrlPr>
                          <a:rPr lang="en-AU" sz="2400" i="1">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𝑥</m:t>
                        </m:r>
                      </m:e>
                    </m:d>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𝐴</m:t>
                    </m:r>
                    <m:sSup>
                      <m:sSupPr>
                        <m:ctrlPr>
                          <a:rPr lang="en-AU" sz="2400" i="1">
                            <a:latin typeface="Cambria Math" panose="02040503050406030204" pitchFamily="18" charset="0"/>
                            <a:ea typeface="Cambria Math" panose="02040503050406030204" pitchFamily="18" charset="0"/>
                          </a:rPr>
                        </m:ctrlPr>
                      </m:sSupPr>
                      <m:e>
                        <m:r>
                          <a:rPr lang="en-AU" sz="2400" i="1">
                            <a:latin typeface="Cambria Math" panose="02040503050406030204" pitchFamily="18" charset="0"/>
                            <a:ea typeface="Cambria Math" panose="02040503050406030204" pitchFamily="18" charset="0"/>
                          </a:rPr>
                          <m:t>𝑒</m:t>
                        </m:r>
                      </m:e>
                      <m:sup>
                        <m:r>
                          <a:rPr lang="en-AU" sz="2400" i="1" smtClean="0">
                            <a:latin typeface="Cambria Math" panose="02040503050406030204" pitchFamily="18" charset="0"/>
                            <a:ea typeface="Cambria Math" panose="02040503050406030204" pitchFamily="18" charset="0"/>
                          </a:rPr>
                          <m:t>𝜇</m:t>
                        </m:r>
                        <m:r>
                          <a:rPr lang="en-AU" sz="2400" i="1">
                            <a:latin typeface="Cambria Math" panose="02040503050406030204" pitchFamily="18" charset="0"/>
                            <a:ea typeface="Cambria Math" panose="02040503050406030204" pitchFamily="18" charset="0"/>
                          </a:rPr>
                          <m:t>𝑥</m:t>
                        </m:r>
                      </m:sup>
                    </m:sSup>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𝐵</m:t>
                    </m:r>
                    <m:sSup>
                      <m:sSupPr>
                        <m:ctrlPr>
                          <a:rPr lang="en-AU" sz="2400" i="1">
                            <a:latin typeface="Cambria Math" panose="02040503050406030204" pitchFamily="18" charset="0"/>
                            <a:ea typeface="Cambria Math" panose="02040503050406030204" pitchFamily="18" charset="0"/>
                          </a:rPr>
                        </m:ctrlPr>
                      </m:sSupPr>
                      <m:e>
                        <m:r>
                          <a:rPr lang="en-AU" sz="2400" i="1">
                            <a:latin typeface="Cambria Math" panose="02040503050406030204" pitchFamily="18" charset="0"/>
                            <a:ea typeface="Cambria Math" panose="02040503050406030204" pitchFamily="18" charset="0"/>
                          </a:rPr>
                          <m:t>𝑒</m:t>
                        </m:r>
                      </m:e>
                      <m:sup>
                        <m:r>
                          <a:rPr lang="en-AU" sz="2400" i="1" smtClean="0">
                            <a:latin typeface="Cambria Math" panose="02040503050406030204" pitchFamily="18" charset="0"/>
                            <a:ea typeface="Cambria Math" panose="02040503050406030204" pitchFamily="18" charset="0"/>
                          </a:rPr>
                          <m:t>𝜆</m:t>
                        </m:r>
                        <m:r>
                          <a:rPr lang="en-AU" sz="2400" i="1">
                            <a:latin typeface="Cambria Math" panose="02040503050406030204" pitchFamily="18" charset="0"/>
                            <a:ea typeface="Cambria Math" panose="02040503050406030204" pitchFamily="18" charset="0"/>
                          </a:rPr>
                          <m:t>𝑥</m:t>
                        </m:r>
                      </m:sup>
                    </m:sSup>
                  </m:oMath>
                </a14:m>
                <a:r>
                  <a:rPr lang="en-AU" sz="2400" dirty="0">
                    <a:latin typeface="+mj-lt"/>
                  </a:rPr>
                  <a:t>, then the particular solution is given by </a:t>
                </a:r>
                <a14:m>
                  <m:oMath xmlns:m="http://schemas.openxmlformats.org/officeDocument/2006/math">
                    <m:sSub>
                      <m:sSubPr>
                        <m:ctrlPr>
                          <a:rPr lang="en-AU" sz="2400" i="1">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𝑦</m:t>
                        </m:r>
                      </m:e>
                      <m:sub>
                        <m:r>
                          <a:rPr lang="en-AU" sz="2400" b="0" i="1" smtClean="0">
                            <a:latin typeface="Cambria Math" panose="02040503050406030204" pitchFamily="18" charset="0"/>
                            <a:ea typeface="Cambria Math" panose="02040503050406030204" pitchFamily="18" charset="0"/>
                          </a:rPr>
                          <m:t>𝑃</m:t>
                        </m:r>
                      </m:sub>
                    </m:sSub>
                    <m:d>
                      <m:dPr>
                        <m:ctrlPr>
                          <a:rPr lang="en-AU" sz="2400" i="1">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𝑥</m:t>
                        </m:r>
                      </m:e>
                    </m:d>
                    <m:r>
                      <a:rPr lang="en-AU" sz="2400" i="1">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𝐶𝑥</m:t>
                    </m:r>
                    <m:sSup>
                      <m:sSupPr>
                        <m:ctrlPr>
                          <a:rPr lang="en-AU" sz="2400" i="1">
                            <a:latin typeface="Cambria Math" panose="02040503050406030204" pitchFamily="18" charset="0"/>
                            <a:ea typeface="Cambria Math" panose="02040503050406030204" pitchFamily="18" charset="0"/>
                          </a:rPr>
                        </m:ctrlPr>
                      </m:sSupPr>
                      <m:e>
                        <m:r>
                          <a:rPr lang="en-AU" sz="2400" i="1">
                            <a:latin typeface="Cambria Math" panose="02040503050406030204" pitchFamily="18" charset="0"/>
                            <a:ea typeface="Cambria Math" panose="02040503050406030204" pitchFamily="18" charset="0"/>
                          </a:rPr>
                          <m:t>𝑒</m:t>
                        </m:r>
                      </m:e>
                      <m:sup>
                        <m:r>
                          <a:rPr lang="en-AU" sz="2400" i="1" smtClean="0">
                            <a:latin typeface="Cambria Math" panose="02040503050406030204" pitchFamily="18" charset="0"/>
                            <a:ea typeface="Cambria Math" panose="02040503050406030204" pitchFamily="18" charset="0"/>
                          </a:rPr>
                          <m:t>𝜇</m:t>
                        </m:r>
                        <m:r>
                          <a:rPr lang="en-AU" sz="2400" i="1">
                            <a:latin typeface="Cambria Math" panose="02040503050406030204" pitchFamily="18" charset="0"/>
                            <a:ea typeface="Cambria Math" panose="02040503050406030204" pitchFamily="18" charset="0"/>
                          </a:rPr>
                          <m:t>𝑥</m:t>
                        </m:r>
                      </m:sup>
                    </m:sSup>
                  </m:oMath>
                </a14:m>
                <a:endParaRPr lang="en-AU" sz="2400" dirty="0">
                  <a:latin typeface="+mj-lt"/>
                </a:endParaRPr>
              </a:p>
              <a:p>
                <a:pPr marL="342900" indent="-342900">
                  <a:buFont typeface="Arial" panose="020B0604020202020204" pitchFamily="34" charset="0"/>
                  <a:buChar char="•"/>
                </a:pPr>
                <a:r>
                  <a:rPr lang="en-AU" sz="2400" dirty="0">
                    <a:latin typeface="+mj-lt"/>
                  </a:rPr>
                  <a:t>If </a:t>
                </a:r>
                <a14:m>
                  <m:oMath xmlns:m="http://schemas.openxmlformats.org/officeDocument/2006/math">
                    <m:r>
                      <a:rPr lang="en-AU" sz="2400" smtClean="0">
                        <a:latin typeface="Cambria Math" panose="02040503050406030204" pitchFamily="18" charset="0"/>
                      </a:rPr>
                      <m:t>ℛ</m:t>
                    </m:r>
                    <m:d>
                      <m:dPr>
                        <m:ctrlPr>
                          <a:rPr lang="en-AU" sz="2400" i="1" smtClean="0">
                            <a:latin typeface="Cambria Math" panose="02040503050406030204" pitchFamily="18" charset="0"/>
                          </a:rPr>
                        </m:ctrlPr>
                      </m:dPr>
                      <m:e>
                        <m:r>
                          <a:rPr lang="en-AU" sz="2400" smtClean="0">
                            <a:latin typeface="Cambria Math" panose="02040503050406030204" pitchFamily="18" charset="0"/>
                          </a:rPr>
                          <m:t>𝑥</m:t>
                        </m:r>
                      </m:e>
                    </m:d>
                    <m:r>
                      <a:rPr lang="en-AU" sz="2400" b="0" i="1" smtClean="0">
                        <a:latin typeface="Cambria Math" panose="02040503050406030204" pitchFamily="18" charset="0"/>
                      </a:rPr>
                      <m:t>=</m:t>
                    </m:r>
                    <m:r>
                      <a:rPr lang="en-AU" sz="2400" b="0" i="1" smtClean="0">
                        <a:latin typeface="Cambria Math" panose="02040503050406030204" pitchFamily="18" charset="0"/>
                      </a:rPr>
                      <m:t>𝑘</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𝑒</m:t>
                        </m:r>
                      </m:e>
                      <m:sup>
                        <m:r>
                          <a:rPr lang="en-AU" sz="2400" b="0" i="1" smtClean="0">
                            <a:latin typeface="Cambria Math" panose="02040503050406030204" pitchFamily="18" charset="0"/>
                            <a:ea typeface="Cambria Math" panose="02040503050406030204" pitchFamily="18" charset="0"/>
                          </a:rPr>
                          <m:t>𝜇</m:t>
                        </m:r>
                        <m:r>
                          <a:rPr lang="en-AU" sz="2400" b="0" i="1" smtClean="0">
                            <a:latin typeface="Cambria Math" panose="02040503050406030204" pitchFamily="18" charset="0"/>
                            <a:ea typeface="Cambria Math" panose="02040503050406030204" pitchFamily="18" charset="0"/>
                          </a:rPr>
                          <m:t>𝑥</m:t>
                        </m:r>
                      </m:sup>
                    </m:sSup>
                  </m:oMath>
                </a14:m>
                <a:r>
                  <a:rPr lang="en-AU" sz="2400" dirty="0">
                    <a:latin typeface="+mj-lt"/>
                  </a:rPr>
                  <a:t> and the general solution of the homogeneous equation is </a:t>
                </a:r>
                <a14:m>
                  <m:oMath xmlns:m="http://schemas.openxmlformats.org/officeDocument/2006/math">
                    <m:sSub>
                      <m:sSubPr>
                        <m:ctrlPr>
                          <a:rPr lang="en-AU" sz="2400" i="1">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𝑦</m:t>
                        </m:r>
                      </m:e>
                      <m:sub>
                        <m:r>
                          <a:rPr lang="en-AU" sz="2400" i="1">
                            <a:latin typeface="Cambria Math" panose="02040503050406030204" pitchFamily="18" charset="0"/>
                            <a:ea typeface="Cambria Math" panose="02040503050406030204" pitchFamily="18" charset="0"/>
                          </a:rPr>
                          <m:t>𝐻</m:t>
                        </m:r>
                      </m:sub>
                    </m:sSub>
                    <m:d>
                      <m:dPr>
                        <m:ctrlPr>
                          <a:rPr lang="en-AU" sz="2400" i="1">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𝑥</m:t>
                        </m:r>
                      </m:e>
                    </m:d>
                    <m:r>
                      <a:rPr lang="en-AU" sz="2400" i="1">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𝐴</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𝐵</m:t>
                    </m:r>
                    <m:r>
                      <a:rPr lang="en-AU" sz="2400" b="0" i="1" smtClean="0">
                        <a:latin typeface="Cambria Math" panose="02040503050406030204" pitchFamily="18" charset="0"/>
                        <a:ea typeface="Cambria Math" panose="02040503050406030204" pitchFamily="18" charset="0"/>
                      </a:rPr>
                      <m:t>)</m:t>
                    </m:r>
                    <m:sSup>
                      <m:sSupPr>
                        <m:ctrlPr>
                          <a:rPr lang="en-AU" sz="2400" i="1">
                            <a:latin typeface="Cambria Math" panose="02040503050406030204" pitchFamily="18" charset="0"/>
                            <a:ea typeface="Cambria Math" panose="02040503050406030204" pitchFamily="18" charset="0"/>
                          </a:rPr>
                        </m:ctrlPr>
                      </m:sSupPr>
                      <m:e>
                        <m:r>
                          <a:rPr lang="en-AU" sz="2400" i="1">
                            <a:latin typeface="Cambria Math" panose="02040503050406030204" pitchFamily="18" charset="0"/>
                            <a:ea typeface="Cambria Math" panose="02040503050406030204" pitchFamily="18" charset="0"/>
                          </a:rPr>
                          <m:t>𝑒</m:t>
                        </m:r>
                      </m:e>
                      <m:sup>
                        <m:r>
                          <a:rPr lang="en-AU" sz="2400" i="1" smtClean="0">
                            <a:latin typeface="Cambria Math" panose="02040503050406030204" pitchFamily="18" charset="0"/>
                            <a:ea typeface="Cambria Math" panose="02040503050406030204" pitchFamily="18" charset="0"/>
                          </a:rPr>
                          <m:t>𝜇</m:t>
                        </m:r>
                        <m:r>
                          <a:rPr lang="en-AU" sz="2400" i="1">
                            <a:latin typeface="Cambria Math" panose="02040503050406030204" pitchFamily="18" charset="0"/>
                            <a:ea typeface="Cambria Math" panose="02040503050406030204" pitchFamily="18" charset="0"/>
                          </a:rPr>
                          <m:t>𝑥</m:t>
                        </m:r>
                      </m:sup>
                    </m:sSup>
                  </m:oMath>
                </a14:m>
                <a:r>
                  <a:rPr lang="en-AU" sz="2400" dirty="0">
                    <a:latin typeface="+mj-lt"/>
                  </a:rPr>
                  <a:t>, then the particular solution is given by </a:t>
                </a:r>
                <a14:m>
                  <m:oMath xmlns:m="http://schemas.openxmlformats.org/officeDocument/2006/math">
                    <m:sSub>
                      <m:sSubPr>
                        <m:ctrlPr>
                          <a:rPr lang="en-AU" sz="2400" i="1">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𝑦</m:t>
                        </m:r>
                      </m:e>
                      <m:sub>
                        <m:r>
                          <a:rPr lang="en-AU" sz="2400" b="0" i="1" smtClean="0">
                            <a:latin typeface="Cambria Math" panose="02040503050406030204" pitchFamily="18" charset="0"/>
                            <a:ea typeface="Cambria Math" panose="02040503050406030204" pitchFamily="18" charset="0"/>
                          </a:rPr>
                          <m:t>𝑃</m:t>
                        </m:r>
                      </m:sub>
                    </m:sSub>
                    <m:d>
                      <m:dPr>
                        <m:ctrlPr>
                          <a:rPr lang="en-AU" sz="2400" i="1">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𝑥</m:t>
                        </m:r>
                      </m:e>
                    </m:d>
                    <m:r>
                      <a:rPr lang="en-AU" sz="2400" i="1">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𝐶</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𝑥</m:t>
                        </m:r>
                      </m:e>
                      <m:sup>
                        <m:r>
                          <a:rPr lang="en-AU" sz="2400" b="0" i="1" smtClean="0">
                            <a:latin typeface="Cambria Math" panose="02040503050406030204" pitchFamily="18" charset="0"/>
                            <a:ea typeface="Cambria Math" panose="02040503050406030204" pitchFamily="18" charset="0"/>
                          </a:rPr>
                          <m:t>2</m:t>
                        </m:r>
                      </m:sup>
                    </m:sSup>
                    <m:sSup>
                      <m:sSupPr>
                        <m:ctrlPr>
                          <a:rPr lang="en-AU" sz="2400" i="1">
                            <a:latin typeface="Cambria Math" panose="02040503050406030204" pitchFamily="18" charset="0"/>
                            <a:ea typeface="Cambria Math" panose="02040503050406030204" pitchFamily="18" charset="0"/>
                          </a:rPr>
                        </m:ctrlPr>
                      </m:sSupPr>
                      <m:e>
                        <m:r>
                          <a:rPr lang="en-AU" sz="2400" i="1">
                            <a:latin typeface="Cambria Math" panose="02040503050406030204" pitchFamily="18" charset="0"/>
                            <a:ea typeface="Cambria Math" panose="02040503050406030204" pitchFamily="18" charset="0"/>
                          </a:rPr>
                          <m:t>𝑒</m:t>
                        </m:r>
                      </m:e>
                      <m:sup>
                        <m:r>
                          <a:rPr lang="en-AU" sz="2400" i="1" smtClean="0">
                            <a:latin typeface="Cambria Math" panose="02040503050406030204" pitchFamily="18" charset="0"/>
                            <a:ea typeface="Cambria Math" panose="02040503050406030204" pitchFamily="18" charset="0"/>
                          </a:rPr>
                          <m:t>𝜇</m:t>
                        </m:r>
                        <m:r>
                          <a:rPr lang="en-AU" sz="2400" i="1">
                            <a:latin typeface="Cambria Math" panose="02040503050406030204" pitchFamily="18" charset="0"/>
                            <a:ea typeface="Cambria Math" panose="02040503050406030204" pitchFamily="18" charset="0"/>
                          </a:rPr>
                          <m:t>𝑥</m:t>
                        </m:r>
                      </m:sup>
                    </m:sSup>
                  </m:oMath>
                </a14:m>
                <a:endParaRPr lang="en-AU" sz="2400" dirty="0">
                  <a:latin typeface="+mj-lt"/>
                </a:endParaRPr>
              </a:p>
              <a:p>
                <a:pPr marL="342900" indent="-342900">
                  <a:buFont typeface="Arial" panose="020B0604020202020204" pitchFamily="34" charset="0"/>
                  <a:buChar char="•"/>
                </a:pPr>
                <a:r>
                  <a:rPr lang="en-AU" sz="2400" dirty="0">
                    <a:latin typeface="+mj-lt"/>
                  </a:rPr>
                  <a:t>If </a:t>
                </a:r>
                <a14:m>
                  <m:oMath xmlns:m="http://schemas.openxmlformats.org/officeDocument/2006/math">
                    <m:r>
                      <a:rPr lang="en-AU" sz="2400" smtClean="0">
                        <a:latin typeface="Cambria Math" panose="02040503050406030204" pitchFamily="18" charset="0"/>
                      </a:rPr>
                      <m:t>ℛ</m:t>
                    </m:r>
                    <m:d>
                      <m:dPr>
                        <m:ctrlPr>
                          <a:rPr lang="en-AU" sz="2400" i="1" smtClean="0">
                            <a:latin typeface="Cambria Math" panose="02040503050406030204" pitchFamily="18" charset="0"/>
                          </a:rPr>
                        </m:ctrlPr>
                      </m:dPr>
                      <m:e>
                        <m:r>
                          <a:rPr lang="en-AU" sz="2400" smtClean="0">
                            <a:latin typeface="Cambria Math" panose="02040503050406030204" pitchFamily="18" charset="0"/>
                          </a:rPr>
                          <m:t>𝑥</m:t>
                        </m:r>
                      </m:e>
                    </m:d>
                  </m:oMath>
                </a14:m>
                <a:r>
                  <a:rPr lang="en-AU" sz="2400" dirty="0">
                    <a:latin typeface="+mj-lt"/>
                  </a:rPr>
                  <a:t> is a trigonometric function and the general solution of the homogeneous equation is </a:t>
                </a:r>
                <a14:m>
                  <m:oMath xmlns:m="http://schemas.openxmlformats.org/officeDocument/2006/math">
                    <m:sSub>
                      <m:sSubPr>
                        <m:ctrlPr>
                          <a:rPr lang="en-AU" sz="2400" i="1">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𝑦</m:t>
                        </m:r>
                      </m:e>
                      <m:sub>
                        <m:r>
                          <a:rPr lang="en-AU" sz="2400" i="1">
                            <a:latin typeface="Cambria Math" panose="02040503050406030204" pitchFamily="18" charset="0"/>
                            <a:ea typeface="Cambria Math" panose="02040503050406030204" pitchFamily="18" charset="0"/>
                          </a:rPr>
                          <m:t>𝐻</m:t>
                        </m:r>
                      </m:sub>
                    </m:sSub>
                    <m:d>
                      <m:dPr>
                        <m:ctrlPr>
                          <a:rPr lang="en-AU" sz="2400" i="1">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𝑥</m:t>
                        </m:r>
                      </m:e>
                    </m:d>
                    <m:r>
                      <a:rPr lang="en-AU" sz="2400" i="1">
                        <a:latin typeface="Cambria Math" panose="02040503050406030204" pitchFamily="18" charset="0"/>
                        <a:ea typeface="Cambria Math" panose="02040503050406030204" pitchFamily="18" charset="0"/>
                      </a:rPr>
                      <m:t>=</m:t>
                    </m:r>
                  </m:oMath>
                </a14:m>
                <a:r>
                  <a:rPr lang="en-AU" sz="2400" dirty="0">
                    <a:ea typeface="Cambria Math" panose="02040503050406030204" pitchFamily="18" charset="0"/>
                  </a:rPr>
                  <a:t> </a:t>
                </a:r>
                <a14:m>
                  <m:oMath xmlns:m="http://schemas.openxmlformats.org/officeDocument/2006/math">
                    <m:r>
                      <a:rPr lang="en-AU" sz="2400" i="1">
                        <a:latin typeface="Cambria Math" panose="02040503050406030204" pitchFamily="18" charset="0"/>
                        <a:ea typeface="Cambria Math" panose="02040503050406030204" pitchFamily="18" charset="0"/>
                      </a:rPr>
                      <m:t>𝐴</m:t>
                    </m:r>
                    <m:func>
                      <m:funcPr>
                        <m:ctrlPr>
                          <a:rPr lang="en-AU" sz="2400" i="1">
                            <a:latin typeface="Cambria Math" panose="02040503050406030204" pitchFamily="18" charset="0"/>
                            <a:ea typeface="Cambria Math" panose="02040503050406030204" pitchFamily="18" charset="0"/>
                          </a:rPr>
                        </m:ctrlPr>
                      </m:funcPr>
                      <m:fName>
                        <m:r>
                          <m:rPr>
                            <m:sty m:val="p"/>
                          </m:rPr>
                          <a:rPr lang="en-AU" sz="2400">
                            <a:latin typeface="Cambria Math" panose="02040503050406030204" pitchFamily="18" charset="0"/>
                            <a:ea typeface="Cambria Math" panose="02040503050406030204" pitchFamily="18" charset="0"/>
                          </a:rPr>
                          <m:t>cos</m:t>
                        </m:r>
                      </m:fName>
                      <m:e>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𝛽</m:t>
                        </m:r>
                        <m:r>
                          <a:rPr lang="en-AU" sz="2400" i="1">
                            <a:latin typeface="Cambria Math" panose="02040503050406030204" pitchFamily="18" charset="0"/>
                            <a:ea typeface="Cambria Math" panose="02040503050406030204" pitchFamily="18" charset="0"/>
                          </a:rPr>
                          <m:t>𝑥</m:t>
                        </m:r>
                        <m:r>
                          <a:rPr lang="en-AU" sz="2400" i="1">
                            <a:latin typeface="Cambria Math" panose="02040503050406030204" pitchFamily="18" charset="0"/>
                            <a:ea typeface="Cambria Math" panose="02040503050406030204" pitchFamily="18" charset="0"/>
                          </a:rPr>
                          <m:t>)</m:t>
                        </m:r>
                      </m:e>
                    </m:func>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𝐵</m:t>
                    </m:r>
                    <m:func>
                      <m:funcPr>
                        <m:ctrlPr>
                          <a:rPr lang="en-AU" sz="2400" i="1">
                            <a:latin typeface="Cambria Math" panose="02040503050406030204" pitchFamily="18" charset="0"/>
                            <a:ea typeface="Cambria Math" panose="02040503050406030204" pitchFamily="18" charset="0"/>
                          </a:rPr>
                        </m:ctrlPr>
                      </m:funcPr>
                      <m:fName>
                        <m:r>
                          <m:rPr>
                            <m:sty m:val="p"/>
                          </m:rPr>
                          <a:rPr lang="en-AU" sz="2400">
                            <a:latin typeface="Cambria Math" panose="02040503050406030204" pitchFamily="18" charset="0"/>
                            <a:ea typeface="Cambria Math" panose="02040503050406030204" pitchFamily="18" charset="0"/>
                          </a:rPr>
                          <m:t>sin</m:t>
                        </m:r>
                      </m:fName>
                      <m:e>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𝛽</m:t>
                        </m:r>
                        <m:r>
                          <a:rPr lang="en-AU" sz="2400" i="1">
                            <a:latin typeface="Cambria Math" panose="02040503050406030204" pitchFamily="18" charset="0"/>
                            <a:ea typeface="Cambria Math" panose="02040503050406030204" pitchFamily="18" charset="0"/>
                          </a:rPr>
                          <m:t>𝑥</m:t>
                        </m:r>
                        <m:r>
                          <a:rPr lang="en-AU" sz="2400" i="1">
                            <a:latin typeface="Cambria Math" panose="02040503050406030204" pitchFamily="18" charset="0"/>
                            <a:ea typeface="Cambria Math" panose="02040503050406030204" pitchFamily="18" charset="0"/>
                          </a:rPr>
                          <m:t>)</m:t>
                        </m:r>
                      </m:e>
                    </m:func>
                  </m:oMath>
                </a14:m>
                <a:r>
                  <a:rPr lang="en-AU" sz="2400" dirty="0">
                    <a:latin typeface="+mj-lt"/>
                  </a:rPr>
                  <a:t>, then the particular solution is given by </a:t>
                </a:r>
                <a14:m>
                  <m:oMath xmlns:m="http://schemas.openxmlformats.org/officeDocument/2006/math">
                    <m:sSub>
                      <m:sSubPr>
                        <m:ctrlPr>
                          <a:rPr lang="en-AU" sz="2400" i="1">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𝑦</m:t>
                        </m:r>
                      </m:e>
                      <m:sub>
                        <m:r>
                          <a:rPr lang="en-AU" sz="2400" b="0" i="1" smtClean="0">
                            <a:latin typeface="Cambria Math" panose="02040503050406030204" pitchFamily="18" charset="0"/>
                            <a:ea typeface="Cambria Math" panose="02040503050406030204" pitchFamily="18" charset="0"/>
                          </a:rPr>
                          <m:t>𝑃</m:t>
                        </m:r>
                      </m:sub>
                    </m:sSub>
                    <m:d>
                      <m:dPr>
                        <m:ctrlPr>
                          <a:rPr lang="en-AU" sz="2400" i="1">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𝑥</m:t>
                        </m:r>
                      </m:e>
                    </m:d>
                    <m:r>
                      <a:rPr lang="en-AU" sz="2400" i="1">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𝐶</m:t>
                    </m:r>
                    <m:func>
                      <m:funcPr>
                        <m:ctrlPr>
                          <a:rPr lang="en-AU" sz="2400" i="1">
                            <a:latin typeface="Cambria Math" panose="02040503050406030204" pitchFamily="18" charset="0"/>
                            <a:ea typeface="Cambria Math" panose="02040503050406030204" pitchFamily="18" charset="0"/>
                          </a:rPr>
                        </m:ctrlPr>
                      </m:funcPr>
                      <m:fName>
                        <m:r>
                          <m:rPr>
                            <m:sty m:val="p"/>
                          </m:rPr>
                          <a:rPr lang="en-AU" sz="2400">
                            <a:latin typeface="Cambria Math" panose="02040503050406030204" pitchFamily="18" charset="0"/>
                            <a:ea typeface="Cambria Math" panose="02040503050406030204" pitchFamily="18" charset="0"/>
                          </a:rPr>
                          <m:t>cos</m:t>
                        </m:r>
                      </m:fName>
                      <m:e>
                        <m:d>
                          <m:dPr>
                            <m:ctrlPr>
                              <a:rPr lang="en-AU" sz="2400" i="1">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𝛽</m:t>
                            </m:r>
                            <m:r>
                              <a:rPr lang="en-AU" sz="2400" i="1">
                                <a:latin typeface="Cambria Math" panose="02040503050406030204" pitchFamily="18" charset="0"/>
                                <a:ea typeface="Cambria Math" panose="02040503050406030204" pitchFamily="18" charset="0"/>
                              </a:rPr>
                              <m:t>𝑥</m:t>
                            </m:r>
                          </m:e>
                        </m:d>
                      </m:e>
                    </m:func>
                    <m:r>
                      <a:rPr lang="en-AU" sz="2400" i="1">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𝐷</m:t>
                    </m:r>
                    <m:func>
                      <m:funcPr>
                        <m:ctrlPr>
                          <a:rPr lang="en-AU" sz="2400" i="1">
                            <a:latin typeface="Cambria Math" panose="02040503050406030204" pitchFamily="18" charset="0"/>
                            <a:ea typeface="Cambria Math" panose="02040503050406030204" pitchFamily="18" charset="0"/>
                          </a:rPr>
                        </m:ctrlPr>
                      </m:funcPr>
                      <m:fName>
                        <m:r>
                          <m:rPr>
                            <m:sty m:val="p"/>
                          </m:rPr>
                          <a:rPr lang="en-AU" sz="2400">
                            <a:latin typeface="Cambria Math" panose="02040503050406030204" pitchFamily="18" charset="0"/>
                            <a:ea typeface="Cambria Math" panose="02040503050406030204" pitchFamily="18" charset="0"/>
                          </a:rPr>
                          <m:t>sin</m:t>
                        </m:r>
                      </m:fName>
                      <m:e>
                        <m:d>
                          <m:dPr>
                            <m:ctrlPr>
                              <a:rPr lang="en-AU" sz="2400" i="1">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𝛽</m:t>
                            </m:r>
                            <m:r>
                              <a:rPr lang="en-AU" sz="2400" i="1">
                                <a:latin typeface="Cambria Math" panose="02040503050406030204" pitchFamily="18" charset="0"/>
                                <a:ea typeface="Cambria Math" panose="02040503050406030204" pitchFamily="18" charset="0"/>
                              </a:rPr>
                              <m:t>𝑥</m:t>
                            </m:r>
                          </m:e>
                        </m:d>
                      </m:e>
                    </m:func>
                    <m:r>
                      <a:rPr lang="en-AU" sz="2400" b="0" i="1" smtClean="0">
                        <a:latin typeface="Cambria Math" panose="02040503050406030204" pitchFamily="18" charset="0"/>
                        <a:ea typeface="Cambria Math" panose="02040503050406030204" pitchFamily="18" charset="0"/>
                      </a:rPr>
                      <m:t>)</m:t>
                    </m:r>
                  </m:oMath>
                </a14:m>
                <a:endParaRPr lang="en-AU" sz="2400" dirty="0">
                  <a:latin typeface="+mj-lt"/>
                </a:endParaRPr>
              </a:p>
              <a:p>
                <a:pPr marL="342900" indent="-342900">
                  <a:buFont typeface="Arial" panose="020B0604020202020204" pitchFamily="34" charset="0"/>
                  <a:buChar char="•"/>
                </a:pPr>
                <a:r>
                  <a:rPr lang="en-AU" sz="2400" dirty="0">
                    <a:latin typeface="+mj-lt"/>
                  </a:rPr>
                  <a:t>If </a:t>
                </a:r>
                <a14:m>
                  <m:oMath xmlns:m="http://schemas.openxmlformats.org/officeDocument/2006/math">
                    <m:r>
                      <a:rPr lang="en-AU" sz="2400" smtClean="0">
                        <a:latin typeface="Cambria Math" panose="02040503050406030204" pitchFamily="18" charset="0"/>
                      </a:rPr>
                      <m:t>ℛ</m:t>
                    </m:r>
                    <m:d>
                      <m:dPr>
                        <m:ctrlPr>
                          <a:rPr lang="en-AU" sz="2400" i="1" smtClean="0">
                            <a:latin typeface="Cambria Math" panose="02040503050406030204" pitchFamily="18" charset="0"/>
                          </a:rPr>
                        </m:ctrlPr>
                      </m:dPr>
                      <m:e>
                        <m:r>
                          <a:rPr lang="en-AU" sz="2400" smtClean="0">
                            <a:latin typeface="Cambria Math" panose="02040503050406030204" pitchFamily="18" charset="0"/>
                          </a:rPr>
                          <m:t>𝑥</m:t>
                        </m:r>
                      </m:e>
                    </m:d>
                  </m:oMath>
                </a14:m>
                <a:r>
                  <a:rPr lang="en-AU" sz="2400" dirty="0">
                    <a:latin typeface="+mj-lt"/>
                  </a:rPr>
                  <a:t> is an </a:t>
                </a:r>
                <a14:m>
                  <m:oMath xmlns:m="http://schemas.openxmlformats.org/officeDocument/2006/math">
                    <m:sSup>
                      <m:sSupPr>
                        <m:ctrlPr>
                          <a:rPr lang="en-AU" sz="2400" i="1" smtClean="0">
                            <a:latin typeface="Cambria Math" panose="02040503050406030204" pitchFamily="18" charset="0"/>
                          </a:rPr>
                        </m:ctrlPr>
                      </m:sSupPr>
                      <m:e>
                        <m:r>
                          <a:rPr lang="en-AU" sz="2400" b="0" i="1" smtClean="0">
                            <a:latin typeface="Cambria Math" panose="02040503050406030204" pitchFamily="18" charset="0"/>
                          </a:rPr>
                          <m:t>𝑛</m:t>
                        </m:r>
                      </m:e>
                      <m:sup>
                        <m:r>
                          <a:rPr lang="en-AU" sz="2400" b="0" i="1" smtClean="0">
                            <a:latin typeface="Cambria Math" panose="02040503050406030204" pitchFamily="18" charset="0"/>
                          </a:rPr>
                          <m:t>𝑡h</m:t>
                        </m:r>
                      </m:sup>
                    </m:sSup>
                  </m:oMath>
                </a14:m>
                <a:r>
                  <a:rPr lang="en-AU" sz="2400" dirty="0">
                    <a:latin typeface="+mj-lt"/>
                  </a:rPr>
                  <a:t> degree polynomial and the general solution of the homogeneous equation is </a:t>
                </a:r>
                <a14:m>
                  <m:oMath xmlns:m="http://schemas.openxmlformats.org/officeDocument/2006/math">
                    <m:sSub>
                      <m:sSubPr>
                        <m:ctrlPr>
                          <a:rPr lang="en-AU" sz="2400" i="1">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𝑦</m:t>
                        </m:r>
                      </m:e>
                      <m:sub>
                        <m:r>
                          <a:rPr lang="en-AU" sz="2400" i="1">
                            <a:latin typeface="Cambria Math" panose="02040503050406030204" pitchFamily="18" charset="0"/>
                            <a:ea typeface="Cambria Math" panose="02040503050406030204" pitchFamily="18" charset="0"/>
                          </a:rPr>
                          <m:t>𝐻</m:t>
                        </m:r>
                      </m:sub>
                    </m:sSub>
                    <m:d>
                      <m:dPr>
                        <m:ctrlPr>
                          <a:rPr lang="en-AU" sz="2400" i="1">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𝑥</m:t>
                        </m:r>
                      </m:e>
                    </m:d>
                    <m:r>
                      <a:rPr lang="en-AU" sz="2400" i="1">
                        <a:latin typeface="Cambria Math" panose="02040503050406030204" pitchFamily="18" charset="0"/>
                        <a:ea typeface="Cambria Math" panose="02040503050406030204" pitchFamily="18" charset="0"/>
                      </a:rPr>
                      <m:t>=</m:t>
                    </m:r>
                  </m:oMath>
                </a14:m>
                <a:r>
                  <a:rPr lang="en-AU" sz="2400" dirty="0">
                    <a:ea typeface="Cambria Math" panose="02040503050406030204" pitchFamily="18" charset="0"/>
                  </a:rPr>
                  <a:t> </a:t>
                </a:r>
                <a14:m>
                  <m:oMath xmlns:m="http://schemas.openxmlformats.org/officeDocument/2006/math">
                    <m:r>
                      <a:rPr lang="en-AU" sz="2400" i="1">
                        <a:latin typeface="Cambria Math" panose="02040503050406030204" pitchFamily="18" charset="0"/>
                        <a:ea typeface="Cambria Math" panose="02040503050406030204" pitchFamily="18" charset="0"/>
                      </a:rPr>
                      <m:t>𝐴</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𝐵</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𝑒</m:t>
                        </m:r>
                      </m:e>
                      <m:sup>
                        <m:r>
                          <a:rPr lang="en-AU" sz="2400" b="0" i="1" smtClean="0">
                            <a:latin typeface="Cambria Math" panose="02040503050406030204" pitchFamily="18" charset="0"/>
                            <a:ea typeface="Cambria Math" panose="02040503050406030204" pitchFamily="18" charset="0"/>
                          </a:rPr>
                          <m:t>𝜆</m:t>
                        </m:r>
                        <m:r>
                          <a:rPr lang="en-AU" sz="2400" b="0" i="1" smtClean="0">
                            <a:latin typeface="Cambria Math" panose="02040503050406030204" pitchFamily="18" charset="0"/>
                            <a:ea typeface="Cambria Math" panose="02040503050406030204" pitchFamily="18" charset="0"/>
                          </a:rPr>
                          <m:t>𝑥</m:t>
                        </m:r>
                      </m:sup>
                    </m:sSup>
                  </m:oMath>
                </a14:m>
                <a:r>
                  <a:rPr lang="en-AU" sz="2400" dirty="0">
                    <a:latin typeface="+mj-lt"/>
                  </a:rPr>
                  <a:t>, then the particular solution is given by the </a:t>
                </a:r>
                <a14:m>
                  <m:oMath xmlns:m="http://schemas.openxmlformats.org/officeDocument/2006/math">
                    <m:sSup>
                      <m:sSupPr>
                        <m:ctrlPr>
                          <a:rPr lang="en-AU" sz="240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𝑛</m:t>
                        </m:r>
                        <m:r>
                          <a:rPr lang="en-AU" sz="2400" b="0" i="1" smtClean="0">
                            <a:latin typeface="Cambria Math" panose="02040503050406030204" pitchFamily="18" charset="0"/>
                            <a:ea typeface="Cambria Math" panose="02040503050406030204" pitchFamily="18" charset="0"/>
                          </a:rPr>
                          <m:t>+1)</m:t>
                        </m:r>
                      </m:e>
                      <m:sup>
                        <m:r>
                          <a:rPr lang="en-AU" sz="2400" b="0" i="1" smtClean="0">
                            <a:latin typeface="Cambria Math" panose="02040503050406030204" pitchFamily="18" charset="0"/>
                            <a:ea typeface="Cambria Math" panose="02040503050406030204" pitchFamily="18" charset="0"/>
                          </a:rPr>
                          <m:t>𝑡h</m:t>
                        </m:r>
                      </m:sup>
                    </m:sSup>
                  </m:oMath>
                </a14:m>
                <a:r>
                  <a:rPr lang="en-AU" sz="2400" dirty="0">
                    <a:latin typeface="+mj-lt"/>
                  </a:rPr>
                  <a:t> degree polynomial </a:t>
                </a:r>
                <a14:m>
                  <m:oMath xmlns:m="http://schemas.openxmlformats.org/officeDocument/2006/math">
                    <m:sSub>
                      <m:sSubPr>
                        <m:ctrlPr>
                          <a:rPr lang="en-AU" sz="2400" i="1">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𝑦</m:t>
                        </m:r>
                      </m:e>
                      <m:sub>
                        <m:r>
                          <a:rPr lang="en-AU" sz="2400" i="1">
                            <a:latin typeface="Cambria Math" panose="02040503050406030204" pitchFamily="18" charset="0"/>
                            <a:ea typeface="Cambria Math" panose="02040503050406030204" pitchFamily="18" charset="0"/>
                          </a:rPr>
                          <m:t>𝐻</m:t>
                        </m:r>
                      </m:sub>
                    </m:sSub>
                    <m:d>
                      <m:dPr>
                        <m:ctrlPr>
                          <a:rPr lang="en-AU" sz="2400" i="1">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𝑥</m:t>
                        </m:r>
                      </m:e>
                    </m:d>
                    <m:r>
                      <a:rPr lang="en-AU" sz="2400" i="1">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sSub>
                      <m:sSubPr>
                        <m:ctrlPr>
                          <a:rPr lang="en-GB" sz="2400" i="1">
                            <a:latin typeface="Cambria Math" panose="02040503050406030204" pitchFamily="18" charset="0"/>
                          </a:rPr>
                        </m:ctrlPr>
                      </m:sSubPr>
                      <m:e>
                        <m:r>
                          <a:rPr lang="en-AU" sz="2400" i="1">
                            <a:latin typeface="Cambria Math" panose="02040503050406030204" pitchFamily="18" charset="0"/>
                          </a:rPr>
                          <m:t>𝐴</m:t>
                        </m:r>
                      </m:e>
                      <m:sub>
                        <m:r>
                          <a:rPr lang="en-AU" sz="2400" i="1">
                            <a:latin typeface="Cambria Math" panose="02040503050406030204" pitchFamily="18" charset="0"/>
                          </a:rPr>
                          <m:t>𝑛</m:t>
                        </m:r>
                      </m:sub>
                    </m:sSub>
                    <m:sSup>
                      <m:sSupPr>
                        <m:ctrlPr>
                          <a:rPr lang="en-GB" sz="2400" i="1">
                            <a:latin typeface="Cambria Math" panose="02040503050406030204" pitchFamily="18" charset="0"/>
                          </a:rPr>
                        </m:ctrlPr>
                      </m:sSupPr>
                      <m:e>
                        <m:r>
                          <a:rPr lang="en-AU" sz="2400" i="1">
                            <a:latin typeface="Cambria Math" panose="02040503050406030204" pitchFamily="18" charset="0"/>
                          </a:rPr>
                          <m:t>𝑥</m:t>
                        </m:r>
                      </m:e>
                      <m:sup>
                        <m:r>
                          <a:rPr lang="en-AU" sz="2400" i="1">
                            <a:latin typeface="Cambria Math" panose="02040503050406030204" pitchFamily="18" charset="0"/>
                          </a:rPr>
                          <m:t>𝑛</m:t>
                        </m:r>
                      </m:sup>
                    </m:sSup>
                    <m:r>
                      <a:rPr lang="en-AU" sz="2400" i="1">
                        <a:latin typeface="Cambria Math" panose="02040503050406030204" pitchFamily="18" charset="0"/>
                      </a:rPr>
                      <m:t>+</m:t>
                    </m:r>
                    <m:sSub>
                      <m:sSubPr>
                        <m:ctrlPr>
                          <a:rPr lang="en-GB" sz="2400" i="1">
                            <a:latin typeface="Cambria Math" panose="02040503050406030204" pitchFamily="18" charset="0"/>
                          </a:rPr>
                        </m:ctrlPr>
                      </m:sSubPr>
                      <m:e>
                        <m:r>
                          <a:rPr lang="en-AU" sz="2400" i="1">
                            <a:latin typeface="Cambria Math" panose="02040503050406030204" pitchFamily="18" charset="0"/>
                          </a:rPr>
                          <m:t>𝐴</m:t>
                        </m:r>
                      </m:e>
                      <m:sub>
                        <m:r>
                          <a:rPr lang="en-AU" sz="2400" i="1">
                            <a:latin typeface="Cambria Math" panose="02040503050406030204" pitchFamily="18" charset="0"/>
                          </a:rPr>
                          <m:t>𝑛</m:t>
                        </m:r>
                        <m:r>
                          <a:rPr lang="en-AU" sz="2400" i="1">
                            <a:latin typeface="Cambria Math" panose="02040503050406030204" pitchFamily="18" charset="0"/>
                          </a:rPr>
                          <m:t>−1</m:t>
                        </m:r>
                      </m:sub>
                    </m:sSub>
                    <m:sSup>
                      <m:sSupPr>
                        <m:ctrlPr>
                          <a:rPr lang="en-GB" sz="2400" i="1">
                            <a:latin typeface="Cambria Math" panose="02040503050406030204" pitchFamily="18" charset="0"/>
                          </a:rPr>
                        </m:ctrlPr>
                      </m:sSupPr>
                      <m:e>
                        <m:r>
                          <a:rPr lang="en-AU" sz="2400" i="1">
                            <a:latin typeface="Cambria Math" panose="02040503050406030204" pitchFamily="18" charset="0"/>
                          </a:rPr>
                          <m:t>𝑥</m:t>
                        </m:r>
                      </m:e>
                      <m:sup>
                        <m:r>
                          <a:rPr lang="en-AU" sz="2400" i="1">
                            <a:latin typeface="Cambria Math" panose="02040503050406030204" pitchFamily="18" charset="0"/>
                          </a:rPr>
                          <m:t>𝑛</m:t>
                        </m:r>
                        <m:r>
                          <a:rPr lang="en-AU" sz="2400" i="1">
                            <a:latin typeface="Cambria Math" panose="02040503050406030204" pitchFamily="18" charset="0"/>
                          </a:rPr>
                          <m:t>−1</m:t>
                        </m:r>
                      </m:sup>
                    </m:sSup>
                    <m:r>
                      <a:rPr lang="en-AU" sz="2400" i="1">
                        <a:latin typeface="Cambria Math" panose="02040503050406030204" pitchFamily="18" charset="0"/>
                      </a:rPr>
                      <m:t>+…+</m:t>
                    </m:r>
                    <m:sSub>
                      <m:sSubPr>
                        <m:ctrlPr>
                          <a:rPr lang="en-GB" sz="2400" i="1">
                            <a:latin typeface="Cambria Math" panose="02040503050406030204" pitchFamily="18" charset="0"/>
                          </a:rPr>
                        </m:ctrlPr>
                      </m:sSubPr>
                      <m:e>
                        <m:r>
                          <a:rPr lang="en-AU" sz="2400" i="1">
                            <a:latin typeface="Cambria Math" panose="02040503050406030204" pitchFamily="18" charset="0"/>
                          </a:rPr>
                          <m:t>𝐴</m:t>
                        </m:r>
                      </m:e>
                      <m:sub>
                        <m:r>
                          <a:rPr lang="en-AU" sz="2400" i="1">
                            <a:latin typeface="Cambria Math" panose="02040503050406030204" pitchFamily="18" charset="0"/>
                          </a:rPr>
                          <m:t>1</m:t>
                        </m:r>
                      </m:sub>
                    </m:sSub>
                    <m:r>
                      <a:rPr lang="en-AU" sz="2400" i="1">
                        <a:latin typeface="Cambria Math" panose="02040503050406030204" pitchFamily="18" charset="0"/>
                      </a:rPr>
                      <m:t>𝑥</m:t>
                    </m:r>
                    <m:r>
                      <a:rPr lang="en-AU" sz="2400" i="1">
                        <a:latin typeface="Cambria Math" panose="02040503050406030204" pitchFamily="18" charset="0"/>
                      </a:rPr>
                      <m:t>+</m:t>
                    </m:r>
                    <m:sSub>
                      <m:sSubPr>
                        <m:ctrlPr>
                          <a:rPr lang="en-GB" sz="2400" i="1">
                            <a:latin typeface="Cambria Math" panose="02040503050406030204" pitchFamily="18" charset="0"/>
                          </a:rPr>
                        </m:ctrlPr>
                      </m:sSubPr>
                      <m:e>
                        <m:r>
                          <a:rPr lang="en-AU" sz="2400" i="1">
                            <a:latin typeface="Cambria Math" panose="02040503050406030204" pitchFamily="18" charset="0"/>
                          </a:rPr>
                          <m:t>𝐴</m:t>
                        </m:r>
                      </m:e>
                      <m:sub>
                        <m:r>
                          <a:rPr lang="en-AU" sz="2400" i="1">
                            <a:latin typeface="Cambria Math" panose="02040503050406030204" pitchFamily="18" charset="0"/>
                          </a:rPr>
                          <m:t>0</m:t>
                        </m:r>
                      </m:sub>
                    </m:sSub>
                    <m:r>
                      <a:rPr lang="en-AU" sz="2400" b="0" i="1" smtClean="0">
                        <a:latin typeface="Cambria Math" panose="02040503050406030204" pitchFamily="18" charset="0"/>
                      </a:rPr>
                      <m:t>)</m:t>
                    </m:r>
                  </m:oMath>
                </a14:m>
                <a:endParaRPr lang="en-AU" sz="2400" dirty="0">
                  <a:latin typeface="+mj-lt"/>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4934812"/>
              </a:xfrm>
              <a:prstGeom prst="rect">
                <a:avLst/>
              </a:prstGeom>
              <a:blipFill>
                <a:blip r:embed="rId2"/>
                <a:stretch>
                  <a:fillRect l="-836" t="-988" r="-261" b="-1852"/>
                </a:stretch>
              </a:blipFill>
            </p:spPr>
            <p:txBody>
              <a:bodyPr/>
              <a:lstStyle/>
              <a:p>
                <a:r>
                  <a:rPr lang="en-GB">
                    <a:noFill/>
                  </a:rPr>
                  <a:t> </a:t>
                </a:r>
              </a:p>
            </p:txBody>
          </p:sp>
        </mc:Fallback>
      </mc:AlternateContent>
    </p:spTree>
    <p:extLst>
      <p:ext uri="{BB962C8B-B14F-4D97-AF65-F5344CB8AC3E}">
        <p14:creationId xmlns:p14="http://schemas.microsoft.com/office/powerpoint/2010/main" val="1760482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11078802" cy="523220"/>
          </a:xfrm>
          <a:prstGeom prst="rect">
            <a:avLst/>
          </a:prstGeom>
          <a:noFill/>
        </p:spPr>
        <p:txBody>
          <a:bodyPr wrap="none" rtlCol="0">
            <a:spAutoFit/>
          </a:bodyPr>
          <a:lstStyle/>
          <a:p>
            <a:r>
              <a:rPr lang="en-AU" sz="2800" b="1" cap="small" dirty="0">
                <a:solidFill>
                  <a:schemeClr val="bg1"/>
                </a:solidFill>
                <a:latin typeface="+mj-lt"/>
              </a:rPr>
              <a:t>6.8 Finding a particular solution with the method of undetermined coefficients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5351080"/>
              </a:xfrm>
              <a:prstGeom prst="rect">
                <a:avLst/>
              </a:prstGeom>
              <a:noFill/>
            </p:spPr>
            <p:txBody>
              <a:bodyPr wrap="square" rtlCol="0">
                <a:spAutoFit/>
              </a:bodyPr>
              <a:lstStyle/>
              <a:p>
                <a:r>
                  <a:rPr lang="en-AU" sz="2400" b="0" dirty="0">
                    <a:latin typeface="+mj-lt"/>
                    <a:ea typeface="Cambria Math" panose="02040503050406030204" pitchFamily="18" charset="0"/>
                  </a:rPr>
                  <a:t>Theorem (Special solution for a generic combination of functions in </a:t>
                </a:r>
                <a14:m>
                  <m:oMath xmlns:m="http://schemas.openxmlformats.org/officeDocument/2006/math">
                    <m:r>
                      <a:rPr lang="en-AU" sz="2400" smtClean="0">
                        <a:latin typeface="Cambria Math" panose="02040503050406030204" pitchFamily="18" charset="0"/>
                      </a:rPr>
                      <m:t>ℛ</m:t>
                    </m:r>
                    <m:d>
                      <m:dPr>
                        <m:ctrlPr>
                          <a:rPr lang="en-AU" sz="2400" i="1" smtClean="0">
                            <a:latin typeface="Cambria Math" panose="02040503050406030204" pitchFamily="18" charset="0"/>
                          </a:rPr>
                        </m:ctrlPr>
                      </m:dPr>
                      <m:e>
                        <m:r>
                          <a:rPr lang="en-AU" sz="2400" smtClean="0">
                            <a:latin typeface="Cambria Math" panose="02040503050406030204" pitchFamily="18" charset="0"/>
                          </a:rPr>
                          <m:t>𝑥</m:t>
                        </m:r>
                      </m:e>
                    </m:d>
                  </m:oMath>
                </a14:m>
                <a:r>
                  <a:rPr lang="en-AU" sz="2400" dirty="0">
                    <a:latin typeface="+mj-lt"/>
                  </a:rPr>
                  <a:t>). Consider a generic second order inhomogeneous ODE with constant coefficients:</a:t>
                </a:r>
              </a:p>
              <a:p>
                <a:endParaRPr lang="en-AU" sz="2400" dirty="0">
                  <a:latin typeface="+mj-lt"/>
                </a:endParaRP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𝑎</m:t>
                      </m:r>
                      <m:f>
                        <m:fPr>
                          <m:ctrlPr>
                            <a:rPr lang="en-AU" sz="2400" b="0" i="1" smtClean="0">
                              <a:latin typeface="Cambria Math" panose="02040503050406030204" pitchFamily="18" charset="0"/>
                            </a:rPr>
                          </m:ctrlPr>
                        </m:fPr>
                        <m:num>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𝑑</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𝑦</m:t>
                          </m:r>
                        </m:num>
                        <m:den>
                          <m:r>
                            <a:rPr lang="en-AU" sz="2400" b="0" i="1" smtClean="0">
                              <a:latin typeface="Cambria Math" panose="02040503050406030204" pitchFamily="18" charset="0"/>
                            </a:rPr>
                            <m:t>𝑑</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den>
                      </m:f>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𝑑𝑦</m:t>
                          </m:r>
                        </m:num>
                        <m:den>
                          <m:r>
                            <a:rPr lang="en-AU" sz="2400" b="0" i="1" smtClean="0">
                              <a:latin typeface="Cambria Math" panose="02040503050406030204" pitchFamily="18" charset="0"/>
                              <a:ea typeface="Cambria Math" panose="02040503050406030204" pitchFamily="18" charset="0"/>
                            </a:rPr>
                            <m:t>𝑑𝑥</m:t>
                          </m:r>
                        </m:den>
                      </m:f>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𝑐𝑦</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ℛ</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oMath>
                  </m:oMathPara>
                </a14:m>
                <a:endParaRPr lang="en-AU" sz="2400" b="0" dirty="0">
                  <a:latin typeface="+mj-lt"/>
                  <a:ea typeface="Cambria Math" panose="02040503050406030204" pitchFamily="18" charset="0"/>
                </a:endParaRPr>
              </a:p>
              <a:p>
                <a:endParaRPr lang="en-AU" sz="2400" b="0" dirty="0">
                  <a:latin typeface="+mj-lt"/>
                  <a:ea typeface="Cambria Math" panose="02040503050406030204" pitchFamily="18" charset="0"/>
                </a:endParaRPr>
              </a:p>
              <a:p>
                <a:r>
                  <a:rPr lang="en-AU" sz="2400" dirty="0">
                    <a:latin typeface="+mj-lt"/>
                  </a:rPr>
                  <a:t>with </a:t>
                </a:r>
                <a14:m>
                  <m:oMath xmlns:m="http://schemas.openxmlformats.org/officeDocument/2006/math">
                    <m:r>
                      <a:rPr lang="en-AU" sz="2400" b="0" i="1" smtClean="0">
                        <a:latin typeface="Cambria Math" panose="02040503050406030204" pitchFamily="18" charset="0"/>
                        <a:ea typeface="Cambria Math" panose="02040503050406030204" pitchFamily="18" charset="0"/>
                      </a:rPr>
                      <m:t>ℛ</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oMath>
                </a14:m>
                <a:r>
                  <a:rPr lang="en-AU" sz="2400" b="0" dirty="0">
                    <a:latin typeface="+mj-lt"/>
                    <a:ea typeface="Cambria Math" panose="02040503050406030204" pitchFamily="18" charset="0"/>
                  </a:rPr>
                  <a:t> given by</a:t>
                </a:r>
              </a:p>
              <a:p>
                <a:endParaRPr lang="en-AU" sz="2400" b="0" dirty="0">
                  <a:latin typeface="+mj-lt"/>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ea typeface="Cambria Math" panose="02040503050406030204" pitchFamily="18" charset="0"/>
                        </a:rPr>
                        <m:t>ℛ</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m:t>
                      </m:r>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𝑐</m:t>
                          </m:r>
                        </m:e>
                        <m:sub>
                          <m:r>
                            <a:rPr lang="en-AU" sz="2400" b="0" i="1" smtClean="0">
                              <a:latin typeface="Cambria Math" panose="02040503050406030204" pitchFamily="18" charset="0"/>
                              <a:ea typeface="Cambria Math" panose="02040503050406030204" pitchFamily="18" charset="0"/>
                            </a:rPr>
                            <m:t>1</m:t>
                          </m:r>
                        </m:sub>
                      </m:sSub>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𝑓</m:t>
                          </m:r>
                        </m:e>
                        <m:sub>
                          <m:r>
                            <a:rPr lang="en-AU" sz="2400" b="0" i="1" smtClean="0">
                              <a:latin typeface="Cambria Math" panose="02040503050406030204" pitchFamily="18" charset="0"/>
                              <a:ea typeface="Cambria Math" panose="02040503050406030204" pitchFamily="18" charset="0"/>
                            </a:rPr>
                            <m:t>𝑝</m:t>
                          </m:r>
                        </m:sub>
                      </m:sSub>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m:t>
                      </m:r>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𝑐</m:t>
                          </m:r>
                        </m:e>
                        <m:sub>
                          <m:r>
                            <a:rPr lang="en-AU" sz="2400" b="0" i="1" smtClean="0">
                              <a:latin typeface="Cambria Math" panose="02040503050406030204" pitchFamily="18" charset="0"/>
                              <a:ea typeface="Cambria Math" panose="02040503050406030204" pitchFamily="18" charset="0"/>
                            </a:rPr>
                            <m:t>2</m:t>
                          </m:r>
                        </m:sub>
                      </m:sSub>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𝑓</m:t>
                          </m:r>
                        </m:e>
                        <m:sub>
                          <m:r>
                            <a:rPr lang="en-AU" sz="2400" b="0" i="1" smtClean="0">
                              <a:latin typeface="Cambria Math" panose="02040503050406030204" pitchFamily="18" charset="0"/>
                              <a:ea typeface="Cambria Math" panose="02040503050406030204" pitchFamily="18" charset="0"/>
                            </a:rPr>
                            <m:t>𝑡</m:t>
                          </m:r>
                        </m:sub>
                      </m:sSub>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m:t>
                      </m:r>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𝑐</m:t>
                          </m:r>
                        </m:e>
                        <m:sub>
                          <m:r>
                            <a:rPr lang="en-AU" sz="2400" b="0" i="1" smtClean="0">
                              <a:latin typeface="Cambria Math" panose="02040503050406030204" pitchFamily="18" charset="0"/>
                              <a:ea typeface="Cambria Math" panose="02040503050406030204" pitchFamily="18" charset="0"/>
                            </a:rPr>
                            <m:t>3</m:t>
                          </m:r>
                        </m:sub>
                      </m:sSub>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𝑓</m:t>
                          </m:r>
                        </m:e>
                        <m:sub>
                          <m:r>
                            <a:rPr lang="en-AU" sz="2400" b="0" i="1" smtClean="0">
                              <a:latin typeface="Cambria Math" panose="02040503050406030204" pitchFamily="18" charset="0"/>
                              <a:ea typeface="Cambria Math" panose="02040503050406030204" pitchFamily="18" charset="0"/>
                            </a:rPr>
                            <m:t>𝑒</m:t>
                          </m:r>
                        </m:sub>
                      </m:sSub>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oMath>
                  </m:oMathPara>
                </a14:m>
                <a:endParaRPr lang="en-AU" sz="2400" b="0" dirty="0">
                  <a:latin typeface="+mj-lt"/>
                  <a:ea typeface="Cambria Math" panose="02040503050406030204" pitchFamily="18" charset="0"/>
                </a:endParaRPr>
              </a:p>
              <a:p>
                <a:endParaRPr lang="en-AU" sz="2400" b="0" dirty="0">
                  <a:latin typeface="+mj-lt"/>
                  <a:ea typeface="Cambria Math" panose="02040503050406030204" pitchFamily="18" charset="0"/>
                </a:endParaRPr>
              </a:p>
              <a:p>
                <a:r>
                  <a:rPr lang="en-AU" sz="2400" dirty="0">
                    <a:latin typeface="+mj-lt"/>
                    <a:ea typeface="Cambria Math" panose="02040503050406030204" pitchFamily="18" charset="0"/>
                  </a:rPr>
                  <a:t>where </a:t>
                </a:r>
                <a14:m>
                  <m:oMath xmlns:m="http://schemas.openxmlformats.org/officeDocument/2006/math">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𝑐</m:t>
                        </m:r>
                      </m:e>
                      <m:sub>
                        <m:r>
                          <a:rPr lang="en-AU" sz="2400" b="0" i="1" smtClean="0">
                            <a:latin typeface="Cambria Math" panose="02040503050406030204" pitchFamily="18" charset="0"/>
                            <a:ea typeface="Cambria Math" panose="02040503050406030204" pitchFamily="18" charset="0"/>
                          </a:rPr>
                          <m:t>1</m:t>
                        </m:r>
                      </m:sub>
                    </m:sSub>
                    <m:r>
                      <a:rPr lang="en-AU" sz="2400" b="0" i="1" smtClean="0">
                        <a:latin typeface="Cambria Math" panose="02040503050406030204" pitchFamily="18" charset="0"/>
                        <a:ea typeface="Cambria Math" panose="02040503050406030204" pitchFamily="18" charset="0"/>
                      </a:rPr>
                      <m:t>,</m:t>
                    </m:r>
                    <m:sSub>
                      <m:sSubPr>
                        <m:ctrlPr>
                          <a:rPr lang="en-AU" sz="2400" i="1">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𝑐</m:t>
                        </m:r>
                      </m:e>
                      <m:sub>
                        <m:r>
                          <a:rPr lang="en-AU" sz="2400" b="0" i="1" smtClean="0">
                            <a:latin typeface="Cambria Math" panose="02040503050406030204" pitchFamily="18" charset="0"/>
                            <a:ea typeface="Cambria Math" panose="02040503050406030204" pitchFamily="18" charset="0"/>
                          </a:rPr>
                          <m:t>2</m:t>
                        </m:r>
                      </m:sub>
                    </m:sSub>
                    <m:r>
                      <a:rPr lang="en-AU" sz="2400" b="0" i="0" smtClean="0">
                        <a:latin typeface="Cambria Math" panose="02040503050406030204" pitchFamily="18" charset="0"/>
                        <a:ea typeface="Cambria Math" panose="02040503050406030204" pitchFamily="18" charset="0"/>
                      </a:rPr>
                      <m:t>,</m:t>
                    </m:r>
                    <m:sSub>
                      <m:sSubPr>
                        <m:ctrlPr>
                          <a:rPr lang="en-AU" sz="2400" i="1">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𝑐</m:t>
                        </m:r>
                      </m:e>
                      <m:sub>
                        <m:r>
                          <a:rPr lang="en-AU" sz="2400" b="0" i="1" smtClean="0">
                            <a:latin typeface="Cambria Math" panose="02040503050406030204" pitchFamily="18" charset="0"/>
                            <a:ea typeface="Cambria Math" panose="02040503050406030204" pitchFamily="18" charset="0"/>
                          </a:rPr>
                          <m:t>3</m:t>
                        </m:r>
                      </m:sub>
                    </m:sSub>
                    <m:r>
                      <a:rPr lang="en-AU" sz="2400" i="1" smtClean="0">
                        <a:latin typeface="Cambria Math" panose="02040503050406030204" pitchFamily="18" charset="0"/>
                        <a:ea typeface="Cambria Math" panose="02040503050406030204" pitchFamily="18" charset="0"/>
                      </a:rPr>
                      <m:t>∈</m:t>
                    </m:r>
                    <m:r>
                      <a:rPr lang="en-AU" sz="2400" i="1" smtClean="0">
                        <a:latin typeface="Cambria Math" panose="02040503050406030204" pitchFamily="18" charset="0"/>
                        <a:ea typeface="Cambria Math" panose="02040503050406030204" pitchFamily="18" charset="0"/>
                      </a:rPr>
                      <m:t>ℝ</m:t>
                    </m:r>
                  </m:oMath>
                </a14:m>
                <a:r>
                  <a:rPr lang="en-AU" sz="2400" b="0" dirty="0">
                    <a:latin typeface="+mj-lt"/>
                    <a:ea typeface="Cambria Math" panose="02040503050406030204" pitchFamily="18" charset="0"/>
                  </a:rPr>
                  <a:t> are constants and </a:t>
                </a:r>
                <a14:m>
                  <m:oMath xmlns:m="http://schemas.openxmlformats.org/officeDocument/2006/math">
                    <m:sSub>
                      <m:sSubPr>
                        <m:ctrlPr>
                          <a:rPr lang="en-AU" sz="2400" i="1">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𝑓</m:t>
                        </m:r>
                      </m:e>
                      <m:sub>
                        <m:r>
                          <a:rPr lang="en-AU" sz="2400" b="0" i="1" smtClean="0">
                            <a:latin typeface="Cambria Math" panose="02040503050406030204" pitchFamily="18" charset="0"/>
                            <a:ea typeface="Cambria Math" panose="02040503050406030204" pitchFamily="18" charset="0"/>
                          </a:rPr>
                          <m:t>𝑝</m:t>
                        </m:r>
                      </m:sub>
                    </m:sSub>
                    <m:d>
                      <m:dPr>
                        <m:ctrlPr>
                          <a:rPr lang="en-AU" sz="2400" i="1">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𝑥</m:t>
                        </m:r>
                      </m:e>
                    </m:d>
                  </m:oMath>
                </a14:m>
                <a:r>
                  <a:rPr lang="en-AU" sz="2400" b="0" dirty="0">
                    <a:latin typeface="+mj-lt"/>
                    <a:ea typeface="Cambria Math" panose="02040503050406030204" pitchFamily="18" charset="0"/>
                  </a:rPr>
                  <a:t> is a polynomial function, </a:t>
                </a:r>
                <a14:m>
                  <m:oMath xmlns:m="http://schemas.openxmlformats.org/officeDocument/2006/math">
                    <m:sSub>
                      <m:sSubPr>
                        <m:ctrlPr>
                          <a:rPr lang="en-AU" sz="2400" i="1">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𝑓</m:t>
                        </m:r>
                      </m:e>
                      <m:sub>
                        <m:r>
                          <a:rPr lang="en-AU" sz="2400" b="0" i="1" smtClean="0">
                            <a:latin typeface="Cambria Math" panose="02040503050406030204" pitchFamily="18" charset="0"/>
                            <a:ea typeface="Cambria Math" panose="02040503050406030204" pitchFamily="18" charset="0"/>
                          </a:rPr>
                          <m:t>𝑡</m:t>
                        </m:r>
                      </m:sub>
                    </m:sSub>
                    <m:d>
                      <m:dPr>
                        <m:ctrlPr>
                          <a:rPr lang="en-AU" sz="2400" i="1">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𝑥</m:t>
                        </m:r>
                      </m:e>
                    </m:d>
                  </m:oMath>
                </a14:m>
                <a:r>
                  <a:rPr lang="en-AU" sz="2400" b="0" dirty="0">
                    <a:latin typeface="+mj-lt"/>
                    <a:ea typeface="Cambria Math" panose="02040503050406030204" pitchFamily="18" charset="0"/>
                  </a:rPr>
                  <a:t> is a trigonometric function, and </a:t>
                </a:r>
                <a14:m>
                  <m:oMath xmlns:m="http://schemas.openxmlformats.org/officeDocument/2006/math">
                    <m:sSub>
                      <m:sSubPr>
                        <m:ctrlPr>
                          <a:rPr lang="en-AU" sz="2400" i="1">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𝑓</m:t>
                        </m:r>
                      </m:e>
                      <m:sub>
                        <m:r>
                          <a:rPr lang="en-AU" sz="2400" b="0" i="1" smtClean="0">
                            <a:latin typeface="Cambria Math" panose="02040503050406030204" pitchFamily="18" charset="0"/>
                            <a:ea typeface="Cambria Math" panose="02040503050406030204" pitchFamily="18" charset="0"/>
                          </a:rPr>
                          <m:t>𝑒</m:t>
                        </m:r>
                      </m:sub>
                    </m:sSub>
                    <m:d>
                      <m:dPr>
                        <m:ctrlPr>
                          <a:rPr lang="en-AU" sz="2400" i="1">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𝑥</m:t>
                        </m:r>
                      </m:e>
                    </m:d>
                  </m:oMath>
                </a14:m>
                <a:r>
                  <a:rPr lang="en-AU" sz="2400" b="0" dirty="0">
                    <a:latin typeface="+mj-lt"/>
                    <a:ea typeface="Cambria Math" panose="02040503050406030204" pitchFamily="18" charset="0"/>
                  </a:rPr>
                  <a:t> is an exponential function, of the types described above. The special solution </a:t>
                </a:r>
                <a14:m>
                  <m:oMath xmlns:m="http://schemas.openxmlformats.org/officeDocument/2006/math">
                    <m:sSub>
                      <m:sSubPr>
                        <m:ctrlPr>
                          <a:rPr lang="en-AU" sz="2400" i="1">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𝑦</m:t>
                        </m:r>
                      </m:e>
                      <m:sub>
                        <m:r>
                          <a:rPr lang="en-AU" sz="2400" i="1">
                            <a:latin typeface="Cambria Math" panose="02040503050406030204" pitchFamily="18" charset="0"/>
                            <a:ea typeface="Cambria Math" panose="02040503050406030204" pitchFamily="18" charset="0"/>
                          </a:rPr>
                          <m:t>𝑃</m:t>
                        </m:r>
                      </m:sub>
                    </m:sSub>
                    <m:d>
                      <m:dPr>
                        <m:ctrlPr>
                          <a:rPr lang="en-AU" sz="2400" i="1">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𝑥</m:t>
                        </m:r>
                      </m:e>
                    </m:d>
                  </m:oMath>
                </a14:m>
                <a:r>
                  <a:rPr lang="en-AU" sz="2400" b="0" dirty="0">
                    <a:latin typeface="+mj-lt"/>
                    <a:ea typeface="Cambria Math" panose="02040503050406030204" pitchFamily="18" charset="0"/>
                  </a:rPr>
                  <a:t> is then a linear combination of the solutions for each of the terms </a:t>
                </a:r>
                <a14:m>
                  <m:oMath xmlns:m="http://schemas.openxmlformats.org/officeDocument/2006/math">
                    <m:sSub>
                      <m:sSubPr>
                        <m:ctrlPr>
                          <a:rPr lang="en-AU" sz="2400" i="1">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𝑓</m:t>
                        </m:r>
                      </m:e>
                      <m:sub>
                        <m:r>
                          <a:rPr lang="en-AU" sz="2400" i="1">
                            <a:latin typeface="Cambria Math" panose="02040503050406030204" pitchFamily="18" charset="0"/>
                            <a:ea typeface="Cambria Math" panose="02040503050406030204" pitchFamily="18" charset="0"/>
                          </a:rPr>
                          <m:t>𝑝</m:t>
                        </m:r>
                      </m:sub>
                    </m:sSub>
                    <m:d>
                      <m:dPr>
                        <m:ctrlPr>
                          <a:rPr lang="en-AU" sz="2400" i="1">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𝑥</m:t>
                        </m:r>
                      </m:e>
                    </m:d>
                    <m:r>
                      <a:rPr lang="en-AU" sz="2400" b="0" i="0" smtClean="0">
                        <a:latin typeface="Cambria Math" panose="02040503050406030204" pitchFamily="18" charset="0"/>
                        <a:ea typeface="Cambria Math" panose="02040503050406030204" pitchFamily="18" charset="0"/>
                      </a:rPr>
                      <m:t>,</m:t>
                    </m:r>
                    <m:sSub>
                      <m:sSubPr>
                        <m:ctrlPr>
                          <a:rPr lang="en-AU" sz="2400" i="1">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𝑓</m:t>
                        </m:r>
                      </m:e>
                      <m:sub>
                        <m:r>
                          <a:rPr lang="en-AU" sz="2400" b="0" i="1" smtClean="0">
                            <a:latin typeface="Cambria Math" panose="02040503050406030204" pitchFamily="18" charset="0"/>
                            <a:ea typeface="Cambria Math" panose="02040503050406030204" pitchFamily="18" charset="0"/>
                          </a:rPr>
                          <m:t>𝑡</m:t>
                        </m:r>
                      </m:sub>
                    </m:sSub>
                    <m:d>
                      <m:dPr>
                        <m:ctrlPr>
                          <a:rPr lang="en-AU" sz="2400" i="1">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𝑥</m:t>
                        </m:r>
                      </m:e>
                    </m:d>
                  </m:oMath>
                </a14:m>
                <a:r>
                  <a:rPr lang="en-AU" sz="2400" dirty="0">
                    <a:ea typeface="Cambria Math" panose="02040503050406030204" pitchFamily="18" charset="0"/>
                  </a:rPr>
                  <a:t> and </a:t>
                </a:r>
                <a14:m>
                  <m:oMath xmlns:m="http://schemas.openxmlformats.org/officeDocument/2006/math">
                    <m:sSub>
                      <m:sSubPr>
                        <m:ctrlPr>
                          <a:rPr lang="en-AU" sz="2400" i="1">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𝑓</m:t>
                        </m:r>
                      </m:e>
                      <m:sub>
                        <m:r>
                          <a:rPr lang="en-AU" sz="2400" b="0" i="1" smtClean="0">
                            <a:latin typeface="Cambria Math" panose="02040503050406030204" pitchFamily="18" charset="0"/>
                            <a:ea typeface="Cambria Math" panose="02040503050406030204" pitchFamily="18" charset="0"/>
                          </a:rPr>
                          <m:t>𝑒</m:t>
                        </m:r>
                      </m:sub>
                    </m:sSub>
                    <m:d>
                      <m:dPr>
                        <m:ctrlPr>
                          <a:rPr lang="en-AU" sz="2400" i="1">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𝑥</m:t>
                        </m:r>
                      </m:e>
                    </m:d>
                  </m:oMath>
                </a14:m>
                <a:r>
                  <a:rPr lang="en-AU" sz="2400" b="0" dirty="0">
                    <a:latin typeface="+mj-lt"/>
                    <a:ea typeface="Cambria Math" panose="02040503050406030204" pitchFamily="18" charset="0"/>
                  </a:rPr>
                  <a:t>.</a:t>
                </a: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5351080"/>
              </a:xfrm>
              <a:prstGeom prst="rect">
                <a:avLst/>
              </a:prstGeom>
              <a:blipFill>
                <a:blip r:embed="rId2"/>
                <a:stretch>
                  <a:fillRect l="-836" t="-911" r="-1097" b="-1595"/>
                </a:stretch>
              </a:blipFill>
            </p:spPr>
            <p:txBody>
              <a:bodyPr/>
              <a:lstStyle/>
              <a:p>
                <a:r>
                  <a:rPr lang="en-GB">
                    <a:noFill/>
                  </a:rPr>
                  <a:t> </a:t>
                </a:r>
              </a:p>
            </p:txBody>
          </p:sp>
        </mc:Fallback>
      </mc:AlternateContent>
    </p:spTree>
    <p:extLst>
      <p:ext uri="{BB962C8B-B14F-4D97-AF65-F5344CB8AC3E}">
        <p14:creationId xmlns:p14="http://schemas.microsoft.com/office/powerpoint/2010/main" val="923325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11078802" cy="523220"/>
          </a:xfrm>
          <a:prstGeom prst="rect">
            <a:avLst/>
          </a:prstGeom>
          <a:noFill/>
        </p:spPr>
        <p:txBody>
          <a:bodyPr wrap="none" rtlCol="0">
            <a:spAutoFit/>
          </a:bodyPr>
          <a:lstStyle/>
          <a:p>
            <a:r>
              <a:rPr lang="en-AU" sz="2800" b="1" cap="small" dirty="0">
                <a:solidFill>
                  <a:schemeClr val="bg1"/>
                </a:solidFill>
                <a:latin typeface="+mj-lt"/>
              </a:rPr>
              <a:t>6.8 Finding a particular solution with the method of undetermined coefficients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668388"/>
              </a:xfrm>
              <a:prstGeom prst="rect">
                <a:avLst/>
              </a:prstGeom>
              <a:noFill/>
            </p:spPr>
            <p:txBody>
              <a:bodyPr wrap="square" rtlCol="0">
                <a:spAutoFit/>
              </a:bodyPr>
              <a:lstStyle/>
              <a:p>
                <a:r>
                  <a:rPr lang="en-AU" sz="2400" dirty="0">
                    <a:latin typeface="+mj-lt"/>
                  </a:rPr>
                  <a:t>Example. Find the general solution to the DE: </a:t>
                </a:r>
                <a14:m>
                  <m:oMath xmlns:m="http://schemas.openxmlformats.org/officeDocument/2006/math">
                    <m:f>
                      <m:fPr>
                        <m:ctrlPr>
                          <a:rPr lang="en-AU" sz="2400" b="0" i="1" smtClean="0">
                            <a:latin typeface="Cambria Math" panose="02040503050406030204" pitchFamily="18" charset="0"/>
                          </a:rPr>
                        </m:ctrlPr>
                      </m:fPr>
                      <m:num>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𝑑</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𝑦</m:t>
                        </m:r>
                      </m:num>
                      <m:den>
                        <m:r>
                          <a:rPr lang="en-AU" sz="2400" b="0" i="1" smtClean="0">
                            <a:latin typeface="Cambria Math" panose="02040503050406030204" pitchFamily="18" charset="0"/>
                          </a:rPr>
                          <m:t>𝑑</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den>
                    </m:f>
                    <m:r>
                      <a:rPr lang="en-AU" sz="2400" b="0" i="1" smtClean="0">
                        <a:latin typeface="Cambria Math" panose="02040503050406030204" pitchFamily="18" charset="0"/>
                      </a:rPr>
                      <m:t>+4</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𝑑𝑦</m:t>
                        </m:r>
                      </m:num>
                      <m:den>
                        <m:r>
                          <a:rPr lang="en-AU" sz="2400" b="0" i="1" smtClean="0">
                            <a:latin typeface="Cambria Math" panose="02040503050406030204" pitchFamily="18" charset="0"/>
                          </a:rPr>
                          <m:t>𝑑𝑥</m:t>
                        </m:r>
                      </m:den>
                    </m:f>
                    <m:r>
                      <a:rPr lang="en-AU" sz="2400" b="0" i="1" smtClean="0">
                        <a:latin typeface="Cambria Math" panose="02040503050406030204" pitchFamily="18" charset="0"/>
                      </a:rPr>
                      <m:t>+6</m:t>
                    </m:r>
                    <m:r>
                      <a:rPr lang="en-AU" sz="2400" b="0" i="1" smtClean="0">
                        <a:latin typeface="Cambria Math" panose="02040503050406030204" pitchFamily="18" charset="0"/>
                      </a:rPr>
                      <m:t>𝑦</m:t>
                    </m:r>
                    <m:r>
                      <a:rPr lang="en-AU" sz="2400" b="0" i="1" smtClean="0">
                        <a:latin typeface="Cambria Math" panose="02040503050406030204" pitchFamily="18" charset="0"/>
                      </a:rPr>
                      <m:t>=12</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oMath>
                </a14:m>
                <a:endParaRPr lang="en-AU" sz="2400" b="0" dirty="0">
                  <a:latin typeface="+mj-lt"/>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668388"/>
              </a:xfrm>
              <a:prstGeom prst="rect">
                <a:avLst/>
              </a:prstGeom>
              <a:blipFill>
                <a:blip r:embed="rId2"/>
                <a:stretch>
                  <a:fillRect l="-836" b="-8182"/>
                </a:stretch>
              </a:blipFill>
            </p:spPr>
            <p:txBody>
              <a:bodyPr/>
              <a:lstStyle/>
              <a:p>
                <a:r>
                  <a:rPr lang="en-GB">
                    <a:noFill/>
                  </a:rPr>
                  <a:t> </a:t>
                </a:r>
              </a:p>
            </p:txBody>
          </p:sp>
        </mc:Fallback>
      </mc:AlternateContent>
    </p:spTree>
    <p:extLst>
      <p:ext uri="{BB962C8B-B14F-4D97-AF65-F5344CB8AC3E}">
        <p14:creationId xmlns:p14="http://schemas.microsoft.com/office/powerpoint/2010/main" val="204756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11078802" cy="523220"/>
          </a:xfrm>
          <a:prstGeom prst="rect">
            <a:avLst/>
          </a:prstGeom>
          <a:noFill/>
        </p:spPr>
        <p:txBody>
          <a:bodyPr wrap="none" rtlCol="0">
            <a:spAutoFit/>
          </a:bodyPr>
          <a:lstStyle/>
          <a:p>
            <a:r>
              <a:rPr lang="en-AU" sz="2800" b="1" cap="small" dirty="0">
                <a:solidFill>
                  <a:schemeClr val="bg1"/>
                </a:solidFill>
                <a:latin typeface="+mj-lt"/>
              </a:rPr>
              <a:t>6.8 Finding a particular solution with the method of undetermined coefficients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668388"/>
              </a:xfrm>
              <a:prstGeom prst="rect">
                <a:avLst/>
              </a:prstGeom>
              <a:noFill/>
            </p:spPr>
            <p:txBody>
              <a:bodyPr wrap="square" rtlCol="0">
                <a:spAutoFit/>
              </a:bodyPr>
              <a:lstStyle/>
              <a:p>
                <a:r>
                  <a:rPr lang="en-AU" sz="2400" dirty="0">
                    <a:latin typeface="+mj-lt"/>
                  </a:rPr>
                  <a:t>Example. Find the general solution to the DE: </a:t>
                </a:r>
                <a14:m>
                  <m:oMath xmlns:m="http://schemas.openxmlformats.org/officeDocument/2006/math">
                    <m:f>
                      <m:fPr>
                        <m:ctrlPr>
                          <a:rPr lang="en-AU" sz="2400" b="0" i="1" smtClean="0">
                            <a:latin typeface="Cambria Math" panose="02040503050406030204" pitchFamily="18" charset="0"/>
                          </a:rPr>
                        </m:ctrlPr>
                      </m:fPr>
                      <m:num>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𝑑</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𝑦</m:t>
                        </m:r>
                      </m:num>
                      <m:den>
                        <m:r>
                          <a:rPr lang="en-AU" sz="2400" b="0" i="1" smtClean="0">
                            <a:latin typeface="Cambria Math" panose="02040503050406030204" pitchFamily="18" charset="0"/>
                          </a:rPr>
                          <m:t>𝑑</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den>
                    </m:f>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𝑑𝑦</m:t>
                        </m:r>
                      </m:num>
                      <m:den>
                        <m:r>
                          <a:rPr lang="en-AU" sz="2400" b="0" i="1" smtClean="0">
                            <a:latin typeface="Cambria Math" panose="02040503050406030204" pitchFamily="18" charset="0"/>
                          </a:rPr>
                          <m:t>𝑑𝑥</m:t>
                        </m:r>
                      </m:den>
                    </m:f>
                    <m:r>
                      <a:rPr lang="en-AU" sz="2400" b="0" i="1" smtClean="0">
                        <a:latin typeface="Cambria Math" panose="02040503050406030204" pitchFamily="18" charset="0"/>
                      </a:rPr>
                      <m:t>−2</m:t>
                    </m:r>
                    <m:r>
                      <a:rPr lang="en-AU" sz="2400" b="0" i="1" smtClean="0">
                        <a:latin typeface="Cambria Math" panose="02040503050406030204" pitchFamily="18" charset="0"/>
                      </a:rPr>
                      <m:t>𝑦</m:t>
                    </m:r>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r>
                          <a:rPr lang="en-AU" sz="2400" b="0" i="1" smtClean="0">
                            <a:latin typeface="Cambria Math" panose="02040503050406030204" pitchFamily="18" charset="0"/>
                          </a:rPr>
                          <m:t>𝑥</m:t>
                        </m:r>
                      </m:e>
                    </m:func>
                  </m:oMath>
                </a14:m>
                <a:endParaRPr lang="en-AU" sz="2400" b="0" dirty="0">
                  <a:latin typeface="+mj-lt"/>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668388"/>
              </a:xfrm>
              <a:prstGeom prst="rect">
                <a:avLst/>
              </a:prstGeom>
              <a:blipFill>
                <a:blip r:embed="rId2"/>
                <a:stretch>
                  <a:fillRect l="-836" b="-8182"/>
                </a:stretch>
              </a:blipFill>
            </p:spPr>
            <p:txBody>
              <a:bodyPr/>
              <a:lstStyle/>
              <a:p>
                <a:r>
                  <a:rPr lang="en-GB">
                    <a:noFill/>
                  </a:rPr>
                  <a:t> </a:t>
                </a:r>
              </a:p>
            </p:txBody>
          </p:sp>
        </mc:Fallback>
      </mc:AlternateContent>
      <p:sp>
        <p:nvSpPr>
          <p:cNvPr id="4" name="Rectangle 3">
            <a:extLst>
              <a:ext uri="{FF2B5EF4-FFF2-40B4-BE49-F238E27FC236}">
                <a16:creationId xmlns:a16="http://schemas.microsoft.com/office/drawing/2014/main" id="{15D08C6F-13D9-41D0-99D5-75C6FFC863D1}"/>
              </a:ext>
            </a:extLst>
          </p:cNvPr>
          <p:cNvSpPr/>
          <p:nvPr/>
        </p:nvSpPr>
        <p:spPr>
          <a:xfrm>
            <a:off x="11842379" y="6391836"/>
            <a:ext cx="98612" cy="107576"/>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79825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11078802" cy="523220"/>
          </a:xfrm>
          <a:prstGeom prst="rect">
            <a:avLst/>
          </a:prstGeom>
          <a:noFill/>
        </p:spPr>
        <p:txBody>
          <a:bodyPr wrap="none" rtlCol="0">
            <a:spAutoFit/>
          </a:bodyPr>
          <a:lstStyle/>
          <a:p>
            <a:r>
              <a:rPr lang="en-AU" sz="2800" b="1" cap="small" dirty="0">
                <a:solidFill>
                  <a:schemeClr val="bg1"/>
                </a:solidFill>
                <a:latin typeface="+mj-lt"/>
              </a:rPr>
              <a:t>6.8 Finding a particular solution with the method of undetermined coefficients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668388"/>
              </a:xfrm>
              <a:prstGeom prst="rect">
                <a:avLst/>
              </a:prstGeom>
              <a:noFill/>
            </p:spPr>
            <p:txBody>
              <a:bodyPr wrap="square" rtlCol="0">
                <a:spAutoFit/>
              </a:bodyPr>
              <a:lstStyle/>
              <a:p>
                <a:r>
                  <a:rPr lang="en-AU" sz="2400" dirty="0">
                    <a:latin typeface="+mj-lt"/>
                  </a:rPr>
                  <a:t>Example. Find the general solution to the DE: </a:t>
                </a:r>
                <a14:m>
                  <m:oMath xmlns:m="http://schemas.openxmlformats.org/officeDocument/2006/math">
                    <m:f>
                      <m:fPr>
                        <m:ctrlPr>
                          <a:rPr lang="en-AU" sz="2400" b="0" i="1" smtClean="0">
                            <a:latin typeface="Cambria Math" panose="02040503050406030204" pitchFamily="18" charset="0"/>
                          </a:rPr>
                        </m:ctrlPr>
                      </m:fPr>
                      <m:num>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𝑑</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𝑦</m:t>
                        </m:r>
                      </m:num>
                      <m:den>
                        <m:r>
                          <a:rPr lang="en-AU" sz="2400" b="0" i="1" smtClean="0">
                            <a:latin typeface="Cambria Math" panose="02040503050406030204" pitchFamily="18" charset="0"/>
                          </a:rPr>
                          <m:t>𝑑</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den>
                    </m:f>
                    <m:r>
                      <a:rPr lang="en-AU" sz="2400" b="0" i="1" smtClean="0">
                        <a:latin typeface="Cambria Math" panose="02040503050406030204" pitchFamily="18" charset="0"/>
                      </a:rPr>
                      <m:t>−2</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𝑑𝑦</m:t>
                        </m:r>
                      </m:num>
                      <m:den>
                        <m:r>
                          <a:rPr lang="en-AU" sz="2400" b="0" i="1" smtClean="0">
                            <a:latin typeface="Cambria Math" panose="02040503050406030204" pitchFamily="18" charset="0"/>
                          </a:rPr>
                          <m:t>𝑑𝑥</m:t>
                        </m:r>
                      </m:den>
                    </m:f>
                    <m:r>
                      <a:rPr lang="en-AU" sz="2400" b="0" i="1" smtClean="0">
                        <a:latin typeface="Cambria Math" panose="02040503050406030204" pitchFamily="18" charset="0"/>
                      </a:rPr>
                      <m:t>−15</m:t>
                    </m:r>
                    <m:r>
                      <a:rPr lang="en-AU" sz="2400" b="0" i="1" smtClean="0">
                        <a:latin typeface="Cambria Math" panose="02040503050406030204" pitchFamily="18" charset="0"/>
                      </a:rPr>
                      <m:t>𝑦</m:t>
                    </m:r>
                    <m:r>
                      <a:rPr lang="en-AU" sz="2400" b="0" i="1" smtClean="0">
                        <a:latin typeface="Cambria Math" panose="02040503050406030204" pitchFamily="18" charset="0"/>
                      </a:rPr>
                      <m:t>=32</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𝑒</m:t>
                        </m:r>
                      </m:e>
                      <m:sup>
                        <m:r>
                          <a:rPr lang="en-AU" sz="2400" b="0" i="1" smtClean="0">
                            <a:latin typeface="Cambria Math" panose="02040503050406030204" pitchFamily="18" charset="0"/>
                          </a:rPr>
                          <m:t>−3</m:t>
                        </m:r>
                        <m:r>
                          <a:rPr lang="en-AU" sz="2400" b="0" i="1" smtClean="0">
                            <a:latin typeface="Cambria Math" panose="02040503050406030204" pitchFamily="18" charset="0"/>
                          </a:rPr>
                          <m:t>𝑥</m:t>
                        </m:r>
                      </m:sup>
                    </m:sSup>
                  </m:oMath>
                </a14:m>
                <a:endParaRPr lang="en-AU" sz="2400" b="0" dirty="0">
                  <a:latin typeface="+mj-lt"/>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668388"/>
              </a:xfrm>
              <a:prstGeom prst="rect">
                <a:avLst/>
              </a:prstGeom>
              <a:blipFill>
                <a:blip r:embed="rId2"/>
                <a:stretch>
                  <a:fillRect l="-836" b="-8182"/>
                </a:stretch>
              </a:blipFill>
            </p:spPr>
            <p:txBody>
              <a:bodyPr/>
              <a:lstStyle/>
              <a:p>
                <a:r>
                  <a:rPr lang="en-GB">
                    <a:noFill/>
                  </a:rPr>
                  <a:t> </a:t>
                </a:r>
              </a:p>
            </p:txBody>
          </p:sp>
        </mc:Fallback>
      </mc:AlternateContent>
    </p:spTree>
    <p:extLst>
      <p:ext uri="{BB962C8B-B14F-4D97-AF65-F5344CB8AC3E}">
        <p14:creationId xmlns:p14="http://schemas.microsoft.com/office/powerpoint/2010/main" val="3446945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11078802" cy="523220"/>
          </a:xfrm>
          <a:prstGeom prst="rect">
            <a:avLst/>
          </a:prstGeom>
          <a:noFill/>
        </p:spPr>
        <p:txBody>
          <a:bodyPr wrap="none" rtlCol="0">
            <a:spAutoFit/>
          </a:bodyPr>
          <a:lstStyle/>
          <a:p>
            <a:r>
              <a:rPr lang="en-AU" sz="2800" b="1" cap="small" dirty="0">
                <a:solidFill>
                  <a:schemeClr val="bg1"/>
                </a:solidFill>
                <a:latin typeface="+mj-lt"/>
              </a:rPr>
              <a:t>6.8 Finding a particular solution with the method of undetermined coefficients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668388"/>
              </a:xfrm>
              <a:prstGeom prst="rect">
                <a:avLst/>
              </a:prstGeom>
              <a:noFill/>
            </p:spPr>
            <p:txBody>
              <a:bodyPr wrap="square" rtlCol="0">
                <a:spAutoFit/>
              </a:bodyPr>
              <a:lstStyle/>
              <a:p>
                <a:r>
                  <a:rPr lang="en-AU" sz="2400" dirty="0">
                    <a:latin typeface="+mj-lt"/>
                  </a:rPr>
                  <a:t>Example. Find the general solution to the DE: </a:t>
                </a:r>
                <a14:m>
                  <m:oMath xmlns:m="http://schemas.openxmlformats.org/officeDocument/2006/math">
                    <m:f>
                      <m:fPr>
                        <m:ctrlPr>
                          <a:rPr lang="en-AU" sz="2400" b="0" i="1" smtClean="0">
                            <a:latin typeface="Cambria Math" panose="02040503050406030204" pitchFamily="18" charset="0"/>
                          </a:rPr>
                        </m:ctrlPr>
                      </m:fPr>
                      <m:num>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𝑑</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𝑦</m:t>
                        </m:r>
                      </m:num>
                      <m:den>
                        <m:r>
                          <a:rPr lang="en-AU" sz="2400" b="0" i="1" smtClean="0">
                            <a:latin typeface="Cambria Math" panose="02040503050406030204" pitchFamily="18" charset="0"/>
                          </a:rPr>
                          <m:t>𝑑</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den>
                    </m:f>
                    <m:r>
                      <a:rPr lang="en-AU" sz="2400" b="0" i="1" smtClean="0">
                        <a:latin typeface="Cambria Math" panose="02040503050406030204" pitchFamily="18" charset="0"/>
                      </a:rPr>
                      <m:t>+4</m:t>
                    </m:r>
                    <m:r>
                      <a:rPr lang="en-AU" sz="2400" b="0" i="1" smtClean="0">
                        <a:latin typeface="Cambria Math" panose="02040503050406030204" pitchFamily="18" charset="0"/>
                      </a:rPr>
                      <m:t>𝑦</m:t>
                    </m:r>
                    <m:r>
                      <a:rPr lang="en-AU" sz="2400" b="0" i="1" smtClean="0">
                        <a:latin typeface="Cambria Math" panose="02040503050406030204" pitchFamily="18" charset="0"/>
                      </a:rPr>
                      <m:t>=8</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r>
                          <a:rPr lang="en-AU" sz="2400" b="0" i="1" smtClean="0">
                            <a:latin typeface="Cambria Math" panose="02040503050406030204" pitchFamily="18" charset="0"/>
                          </a:rPr>
                          <m:t>2</m:t>
                        </m:r>
                        <m:r>
                          <a:rPr lang="en-AU" sz="2400" b="0" i="1" smtClean="0">
                            <a:latin typeface="Cambria Math" panose="02040503050406030204" pitchFamily="18" charset="0"/>
                          </a:rPr>
                          <m:t>𝑥</m:t>
                        </m:r>
                      </m:e>
                    </m:func>
                  </m:oMath>
                </a14:m>
                <a:endParaRPr lang="en-AU" sz="2400" b="0" dirty="0">
                  <a:latin typeface="+mj-lt"/>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668388"/>
              </a:xfrm>
              <a:prstGeom prst="rect">
                <a:avLst/>
              </a:prstGeom>
              <a:blipFill>
                <a:blip r:embed="rId2"/>
                <a:stretch>
                  <a:fillRect l="-836" b="-8182"/>
                </a:stretch>
              </a:blipFill>
            </p:spPr>
            <p:txBody>
              <a:bodyPr/>
              <a:lstStyle/>
              <a:p>
                <a:r>
                  <a:rPr lang="en-GB">
                    <a:noFill/>
                  </a:rPr>
                  <a:t> </a:t>
                </a:r>
              </a:p>
            </p:txBody>
          </p:sp>
        </mc:Fallback>
      </mc:AlternateContent>
    </p:spTree>
    <p:extLst>
      <p:ext uri="{BB962C8B-B14F-4D97-AF65-F5344CB8AC3E}">
        <p14:creationId xmlns:p14="http://schemas.microsoft.com/office/powerpoint/2010/main" val="1099191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8127931" cy="523220"/>
          </a:xfrm>
          <a:prstGeom prst="rect">
            <a:avLst/>
          </a:prstGeom>
          <a:noFill/>
        </p:spPr>
        <p:txBody>
          <a:bodyPr wrap="none" rtlCol="0">
            <a:spAutoFit/>
          </a:bodyPr>
          <a:lstStyle/>
          <a:p>
            <a:r>
              <a:rPr lang="en-AU" sz="2800" b="1" cap="small" dirty="0">
                <a:solidFill>
                  <a:schemeClr val="bg1"/>
                </a:solidFill>
                <a:latin typeface="+mj-lt"/>
              </a:rPr>
              <a:t>6.9 IVP for second order ODEs with constant coefficients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5228098"/>
              </a:xfrm>
              <a:prstGeom prst="rect">
                <a:avLst/>
              </a:prstGeom>
              <a:noFill/>
            </p:spPr>
            <p:txBody>
              <a:bodyPr wrap="square" rtlCol="0">
                <a:spAutoFit/>
              </a:bodyPr>
              <a:lstStyle/>
              <a:p>
                <a:r>
                  <a:rPr lang="en-AU" sz="2400" b="0" dirty="0">
                    <a:latin typeface="+mj-lt"/>
                    <a:ea typeface="Cambria Math" panose="02040503050406030204" pitchFamily="18" charset="0"/>
                  </a:rPr>
                  <a:t>Definition (Initial value problems for a second order ODE). An initial value problem for a second order ODE with constant coefficients is a problem consisting of:</a:t>
                </a:r>
              </a:p>
              <a:p>
                <a:pPr marL="457200" indent="-457200">
                  <a:buAutoNum type="arabicPeriod"/>
                </a:pPr>
                <a:r>
                  <a:rPr lang="en-AU" sz="2400" dirty="0">
                    <a:latin typeface="+mj-lt"/>
                    <a:ea typeface="Cambria Math" panose="02040503050406030204" pitchFamily="18" charset="0"/>
                  </a:rPr>
                  <a:t>A generic second order ODE of the form:</a:t>
                </a: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𝑎</m:t>
                      </m:r>
                      <m:f>
                        <m:fPr>
                          <m:ctrlPr>
                            <a:rPr lang="en-AU" sz="2400" b="0" i="1" smtClean="0">
                              <a:latin typeface="Cambria Math" panose="02040503050406030204" pitchFamily="18" charset="0"/>
                            </a:rPr>
                          </m:ctrlPr>
                        </m:fPr>
                        <m:num>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𝑑</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𝑦</m:t>
                          </m:r>
                        </m:num>
                        <m:den>
                          <m:r>
                            <a:rPr lang="en-AU" sz="2400" b="0" i="1" smtClean="0">
                              <a:latin typeface="Cambria Math" panose="02040503050406030204" pitchFamily="18" charset="0"/>
                            </a:rPr>
                            <m:t>𝑑</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den>
                      </m:f>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𝑑𝑦</m:t>
                          </m:r>
                        </m:num>
                        <m:den>
                          <m:r>
                            <a:rPr lang="en-AU" sz="2400" b="0" i="1" smtClean="0">
                              <a:latin typeface="Cambria Math" panose="02040503050406030204" pitchFamily="18" charset="0"/>
                              <a:ea typeface="Cambria Math" panose="02040503050406030204" pitchFamily="18" charset="0"/>
                            </a:rPr>
                            <m:t>𝑑𝑥</m:t>
                          </m:r>
                        </m:den>
                      </m:f>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𝑐𝑦</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ℛ</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oMath>
                  </m:oMathPara>
                </a14:m>
                <a:endParaRPr lang="en-AU" sz="2400" b="0" dirty="0">
                  <a:latin typeface="+mj-lt"/>
                  <a:ea typeface="Cambria Math" panose="02040503050406030204" pitchFamily="18" charset="0"/>
                </a:endParaRPr>
              </a:p>
              <a:p>
                <a:r>
                  <a:rPr lang="en-AU" sz="2400" b="0" dirty="0">
                    <a:latin typeface="+mj-lt"/>
                    <a:ea typeface="Cambria Math" panose="02040503050406030204" pitchFamily="18" charset="0"/>
                  </a:rPr>
                  <a:t>2. Initial (sometimes called boundary) conditions of the following type:</a:t>
                </a: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ea typeface="Cambria Math" panose="02040503050406030204" pitchFamily="18" charset="0"/>
                        </a:rPr>
                        <m:t>𝑦</m:t>
                      </m:r>
                      <m:d>
                        <m:dPr>
                          <m:ctrlPr>
                            <a:rPr lang="en-AU" sz="2400" b="0" i="1" smtClean="0">
                              <a:latin typeface="Cambria Math" panose="02040503050406030204" pitchFamily="18" charset="0"/>
                              <a:ea typeface="Cambria Math" panose="02040503050406030204" pitchFamily="18" charset="0"/>
                            </a:rPr>
                          </m:ctrlPr>
                        </m:dPr>
                        <m:e>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𝑥</m:t>
                              </m:r>
                            </m:e>
                            <m:sub>
                              <m:r>
                                <a:rPr lang="en-AU" sz="2400" b="0" i="1" smtClean="0">
                                  <a:latin typeface="Cambria Math" panose="02040503050406030204" pitchFamily="18" charset="0"/>
                                  <a:ea typeface="Cambria Math" panose="02040503050406030204" pitchFamily="18" charset="0"/>
                                </a:rPr>
                                <m:t>0</m:t>
                              </m:r>
                            </m:sub>
                          </m:sSub>
                        </m:e>
                      </m:d>
                      <m:r>
                        <a:rPr lang="en-AU" sz="2400" b="0" i="1" smtClean="0">
                          <a:latin typeface="Cambria Math" panose="02040503050406030204" pitchFamily="18" charset="0"/>
                          <a:ea typeface="Cambria Math" panose="02040503050406030204" pitchFamily="18" charset="0"/>
                        </a:rPr>
                        <m:t>=</m:t>
                      </m:r>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𝑦</m:t>
                          </m:r>
                        </m:e>
                        <m:sub>
                          <m:r>
                            <a:rPr lang="en-AU" sz="2400" b="0" i="1" smtClean="0">
                              <a:latin typeface="Cambria Math" panose="02040503050406030204" pitchFamily="18" charset="0"/>
                              <a:ea typeface="Cambria Math" panose="02040503050406030204" pitchFamily="18" charset="0"/>
                            </a:rPr>
                            <m:t>0</m:t>
                          </m:r>
                        </m:sub>
                      </m:sSub>
                    </m:oMath>
                  </m:oMathPara>
                </a14:m>
                <a:endParaRPr lang="en-AU" sz="2400" dirty="0">
                  <a:latin typeface="+mj-lt"/>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𝑑𝑦</m:t>
                          </m:r>
                        </m:num>
                        <m:den>
                          <m:r>
                            <a:rPr lang="en-AU" sz="2400" b="0" i="1" smtClean="0">
                              <a:latin typeface="Cambria Math" panose="02040503050406030204" pitchFamily="18" charset="0"/>
                              <a:ea typeface="Cambria Math" panose="02040503050406030204" pitchFamily="18" charset="0"/>
                            </a:rPr>
                            <m:t>𝑑𝑥</m:t>
                          </m:r>
                        </m:den>
                      </m:f>
                      <m:d>
                        <m:dPr>
                          <m:ctrlPr>
                            <a:rPr lang="en-AU" sz="2400" b="0" i="1" smtClean="0">
                              <a:latin typeface="Cambria Math" panose="02040503050406030204" pitchFamily="18" charset="0"/>
                              <a:ea typeface="Cambria Math" panose="02040503050406030204" pitchFamily="18" charset="0"/>
                            </a:rPr>
                          </m:ctrlPr>
                        </m:dPr>
                        <m:e>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𝑥</m:t>
                              </m:r>
                            </m:e>
                            <m:sub>
                              <m:r>
                                <a:rPr lang="en-AU" sz="2400" b="0" i="1" smtClean="0">
                                  <a:latin typeface="Cambria Math" panose="02040503050406030204" pitchFamily="18" charset="0"/>
                                  <a:ea typeface="Cambria Math" panose="02040503050406030204" pitchFamily="18" charset="0"/>
                                </a:rPr>
                                <m:t>1</m:t>
                              </m:r>
                            </m:sub>
                          </m:sSub>
                        </m:e>
                      </m:d>
                      <m:r>
                        <a:rPr lang="en-AU" sz="2400" b="0" i="1" smtClean="0">
                          <a:latin typeface="Cambria Math" panose="02040503050406030204" pitchFamily="18" charset="0"/>
                          <a:ea typeface="Cambria Math" panose="02040503050406030204" pitchFamily="18" charset="0"/>
                        </a:rPr>
                        <m:t>=</m:t>
                      </m:r>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𝑦</m:t>
                          </m:r>
                        </m:e>
                        <m:sub>
                          <m:r>
                            <a:rPr lang="en-AU" sz="2400" b="0" i="1" smtClean="0">
                              <a:latin typeface="Cambria Math" panose="02040503050406030204" pitchFamily="18" charset="0"/>
                              <a:ea typeface="Cambria Math" panose="02040503050406030204" pitchFamily="18" charset="0"/>
                            </a:rPr>
                            <m:t>1</m:t>
                          </m:r>
                        </m:sub>
                      </m:sSub>
                    </m:oMath>
                  </m:oMathPara>
                </a14:m>
                <a:endParaRPr lang="en-AU" sz="2400" dirty="0">
                  <a:latin typeface="+mj-lt"/>
                  <a:ea typeface="Cambria Math" panose="02040503050406030204" pitchFamily="18" charset="0"/>
                </a:endParaRPr>
              </a:p>
              <a:p>
                <a:endParaRPr lang="en-AU" sz="2400" dirty="0">
                  <a:latin typeface="+mj-lt"/>
                  <a:ea typeface="Cambria Math" panose="02040503050406030204" pitchFamily="18" charset="0"/>
                </a:endParaRPr>
              </a:p>
              <a:p>
                <a:r>
                  <a:rPr lang="en-AU" sz="2400" dirty="0">
                    <a:latin typeface="+mj-lt"/>
                    <a:ea typeface="Cambria Math" panose="02040503050406030204" pitchFamily="18" charset="0"/>
                  </a:rPr>
                  <a:t>These conditions assign (</a:t>
                </a:r>
                <a:r>
                  <a:rPr lang="en-AU" sz="2400" dirty="0" err="1">
                    <a:latin typeface="+mj-lt"/>
                    <a:ea typeface="Cambria Math" panose="02040503050406030204" pitchFamily="18" charset="0"/>
                  </a:rPr>
                  <a:t>i</a:t>
                </a:r>
                <a:r>
                  <a:rPr lang="en-AU" sz="2400" dirty="0">
                    <a:latin typeface="+mj-lt"/>
                    <a:ea typeface="Cambria Math" panose="02040503050406030204" pitchFamily="18" charset="0"/>
                  </a:rPr>
                  <a:t>) a specific value </a:t>
                </a:r>
                <a14:m>
                  <m:oMath xmlns:m="http://schemas.openxmlformats.org/officeDocument/2006/math">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𝑦</m:t>
                        </m:r>
                      </m:e>
                      <m:sub>
                        <m:r>
                          <a:rPr lang="en-AU" sz="2400" b="0" i="1" smtClean="0">
                            <a:latin typeface="Cambria Math" panose="02040503050406030204" pitchFamily="18" charset="0"/>
                            <a:ea typeface="Cambria Math" panose="02040503050406030204" pitchFamily="18" charset="0"/>
                          </a:rPr>
                          <m:t>0</m:t>
                        </m:r>
                      </m:sub>
                    </m:sSub>
                  </m:oMath>
                </a14:m>
                <a:r>
                  <a:rPr lang="en-AU" sz="2400" dirty="0">
                    <a:latin typeface="+mj-lt"/>
                    <a:ea typeface="Cambria Math" panose="02040503050406030204" pitchFamily="18" charset="0"/>
                  </a:rPr>
                  <a:t> to the solution </a:t>
                </a:r>
                <a14:m>
                  <m:oMath xmlns:m="http://schemas.openxmlformats.org/officeDocument/2006/math">
                    <m:r>
                      <a:rPr lang="en-AU" sz="2400" b="0" i="1" smtClean="0">
                        <a:latin typeface="Cambria Math" panose="02040503050406030204" pitchFamily="18" charset="0"/>
                        <a:ea typeface="Cambria Math" panose="02040503050406030204" pitchFamily="18" charset="0"/>
                      </a:rPr>
                      <m:t>𝑦</m:t>
                    </m:r>
                  </m:oMath>
                </a14:m>
                <a:r>
                  <a:rPr lang="en-AU" sz="2400" dirty="0">
                    <a:latin typeface="+mj-lt"/>
                    <a:ea typeface="Cambria Math" panose="02040503050406030204" pitchFamily="18" charset="0"/>
                  </a:rPr>
                  <a:t> at a given value </a:t>
                </a:r>
                <a14:m>
                  <m:oMath xmlns:m="http://schemas.openxmlformats.org/officeDocument/2006/math">
                    <m:sSub>
                      <m:sSubPr>
                        <m:ctrlPr>
                          <a:rPr lang="en-AU" sz="2400" i="1">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𝑥</m:t>
                        </m:r>
                      </m:e>
                      <m:sub>
                        <m:r>
                          <a:rPr lang="en-AU" sz="2400" i="1">
                            <a:latin typeface="Cambria Math" panose="02040503050406030204" pitchFamily="18" charset="0"/>
                            <a:ea typeface="Cambria Math" panose="02040503050406030204" pitchFamily="18" charset="0"/>
                          </a:rPr>
                          <m:t>0</m:t>
                        </m:r>
                      </m:sub>
                    </m:sSub>
                  </m:oMath>
                </a14:m>
                <a:r>
                  <a:rPr lang="en-AU" sz="2400" dirty="0">
                    <a:latin typeface="+mj-lt"/>
                    <a:ea typeface="Cambria Math" panose="02040503050406030204" pitchFamily="18" charset="0"/>
                  </a:rPr>
                  <a:t> and (ii) a specific value </a:t>
                </a:r>
                <a14:m>
                  <m:oMath xmlns:m="http://schemas.openxmlformats.org/officeDocument/2006/math">
                    <m:sSub>
                      <m:sSubPr>
                        <m:ctrlPr>
                          <a:rPr lang="en-AU" sz="2400" i="1">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𝑦</m:t>
                        </m:r>
                      </m:e>
                      <m:sub>
                        <m:r>
                          <a:rPr lang="en-AU" sz="2400" b="0" i="1" smtClean="0">
                            <a:latin typeface="Cambria Math" panose="02040503050406030204" pitchFamily="18" charset="0"/>
                            <a:ea typeface="Cambria Math" panose="02040503050406030204" pitchFamily="18" charset="0"/>
                          </a:rPr>
                          <m:t>1</m:t>
                        </m:r>
                      </m:sub>
                    </m:sSub>
                  </m:oMath>
                </a14:m>
                <a:r>
                  <a:rPr lang="en-AU" sz="2400" dirty="0">
                    <a:latin typeface="+mj-lt"/>
                    <a:ea typeface="Cambria Math" panose="02040503050406030204" pitchFamily="18" charset="0"/>
                  </a:rPr>
                  <a:t> to the first derivative of the solution </a:t>
                </a:r>
                <a14:m>
                  <m:oMath xmlns:m="http://schemas.openxmlformats.org/officeDocument/2006/math">
                    <m:r>
                      <a:rPr lang="en-AU" sz="2400" i="1">
                        <a:latin typeface="Cambria Math" panose="02040503050406030204" pitchFamily="18" charset="0"/>
                        <a:ea typeface="Cambria Math" panose="02040503050406030204" pitchFamily="18" charset="0"/>
                      </a:rPr>
                      <m:t>𝑦</m:t>
                    </m:r>
                  </m:oMath>
                </a14:m>
                <a:r>
                  <a:rPr lang="en-AU" sz="2400" dirty="0">
                    <a:latin typeface="+mj-lt"/>
                    <a:ea typeface="Cambria Math" panose="02040503050406030204" pitchFamily="18" charset="0"/>
                  </a:rPr>
                  <a:t> at a given value </a:t>
                </a:r>
                <a14:m>
                  <m:oMath xmlns:m="http://schemas.openxmlformats.org/officeDocument/2006/math">
                    <m:sSub>
                      <m:sSubPr>
                        <m:ctrlPr>
                          <a:rPr lang="en-AU" sz="2400" i="1">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𝑥</m:t>
                        </m:r>
                      </m:e>
                      <m:sub>
                        <m:r>
                          <a:rPr lang="en-AU" sz="2400" b="0" i="1" smtClean="0">
                            <a:latin typeface="Cambria Math" panose="02040503050406030204" pitchFamily="18" charset="0"/>
                            <a:ea typeface="Cambria Math" panose="02040503050406030204" pitchFamily="18" charset="0"/>
                          </a:rPr>
                          <m:t>1</m:t>
                        </m:r>
                      </m:sub>
                    </m:sSub>
                  </m:oMath>
                </a14:m>
                <a:r>
                  <a:rPr lang="en-AU" sz="2400" dirty="0">
                    <a:latin typeface="+mj-lt"/>
                    <a:ea typeface="Cambria Math" panose="02040503050406030204" pitchFamily="18" charset="0"/>
                  </a:rPr>
                  <a:t>.</a:t>
                </a:r>
              </a:p>
              <a:p>
                <a:r>
                  <a:rPr lang="en-AU" sz="2400" dirty="0">
                    <a:latin typeface="+mj-lt"/>
                    <a:ea typeface="Cambria Math" panose="02040503050406030204" pitchFamily="18" charset="0"/>
                  </a:rPr>
                  <a:t>Note. In general </a:t>
                </a:r>
                <a14:m>
                  <m:oMath xmlns:m="http://schemas.openxmlformats.org/officeDocument/2006/math">
                    <m:sSub>
                      <m:sSubPr>
                        <m:ctrlPr>
                          <a:rPr lang="en-AU" sz="2400" i="1" smtClean="0">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𝑥</m:t>
                        </m:r>
                      </m:e>
                      <m:sub>
                        <m:r>
                          <a:rPr lang="en-AU" sz="2400" i="1">
                            <a:latin typeface="Cambria Math" panose="02040503050406030204" pitchFamily="18" charset="0"/>
                            <a:ea typeface="Cambria Math" panose="02040503050406030204" pitchFamily="18" charset="0"/>
                          </a:rPr>
                          <m:t>0</m:t>
                        </m:r>
                      </m:sub>
                    </m:sSub>
                    <m:r>
                      <a:rPr lang="en-AU" sz="2400" i="1" smtClean="0">
                        <a:latin typeface="Cambria Math" panose="02040503050406030204" pitchFamily="18" charset="0"/>
                        <a:ea typeface="Cambria Math" panose="02040503050406030204" pitchFamily="18" charset="0"/>
                      </a:rPr>
                      <m:t>≠</m:t>
                    </m:r>
                    <m:sSub>
                      <m:sSubPr>
                        <m:ctrlPr>
                          <a:rPr lang="en-AU" sz="2400" i="1">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𝑥</m:t>
                        </m:r>
                      </m:e>
                      <m:sub>
                        <m:r>
                          <a:rPr lang="en-AU" sz="2400" b="0" i="1" smtClean="0">
                            <a:latin typeface="Cambria Math" panose="02040503050406030204" pitchFamily="18" charset="0"/>
                            <a:ea typeface="Cambria Math" panose="02040503050406030204" pitchFamily="18" charset="0"/>
                          </a:rPr>
                          <m:t>1</m:t>
                        </m:r>
                      </m:sub>
                    </m:sSub>
                  </m:oMath>
                </a14:m>
                <a:r>
                  <a:rPr lang="en-AU" sz="2400" dirty="0">
                    <a:latin typeface="+mj-lt"/>
                    <a:ea typeface="Cambria Math" panose="02040503050406030204" pitchFamily="18" charset="0"/>
                  </a:rPr>
                  <a:t> but we will concentrate on cases where the value at both initial conditions are given is unique.</a:t>
                </a: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5228098"/>
              </a:xfrm>
              <a:prstGeom prst="rect">
                <a:avLst/>
              </a:prstGeom>
              <a:blipFill>
                <a:blip r:embed="rId2"/>
                <a:stretch>
                  <a:fillRect l="-836" t="-932" b="-1632"/>
                </a:stretch>
              </a:blipFill>
            </p:spPr>
            <p:txBody>
              <a:bodyPr/>
              <a:lstStyle/>
              <a:p>
                <a:r>
                  <a:rPr lang="en-GB">
                    <a:noFill/>
                  </a:rPr>
                  <a:t> </a:t>
                </a:r>
              </a:p>
            </p:txBody>
          </p:sp>
        </mc:Fallback>
      </mc:AlternateContent>
    </p:spTree>
    <p:extLst>
      <p:ext uri="{BB962C8B-B14F-4D97-AF65-F5344CB8AC3E}">
        <p14:creationId xmlns:p14="http://schemas.microsoft.com/office/powerpoint/2010/main" val="3507146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8127931" cy="523220"/>
          </a:xfrm>
          <a:prstGeom prst="rect">
            <a:avLst/>
          </a:prstGeom>
          <a:noFill/>
        </p:spPr>
        <p:txBody>
          <a:bodyPr wrap="none" rtlCol="0">
            <a:spAutoFit/>
          </a:bodyPr>
          <a:lstStyle/>
          <a:p>
            <a:r>
              <a:rPr lang="en-AU" sz="2800" b="1" cap="small" dirty="0">
                <a:solidFill>
                  <a:schemeClr val="bg1"/>
                </a:solidFill>
                <a:latin typeface="+mj-lt"/>
              </a:rPr>
              <a:t>6.9 IVP for second order ODEs with constant coefficients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2126480"/>
              </a:xfrm>
              <a:prstGeom prst="rect">
                <a:avLst/>
              </a:prstGeom>
              <a:noFill/>
            </p:spPr>
            <p:txBody>
              <a:bodyPr wrap="square" rtlCol="0">
                <a:spAutoFit/>
              </a:bodyPr>
              <a:lstStyle/>
              <a:p>
                <a:r>
                  <a:rPr lang="en-AU" sz="2400" dirty="0">
                    <a:latin typeface="+mj-lt"/>
                  </a:rPr>
                  <a:t>Example. Find the general solution of the following IVP</a:t>
                </a:r>
              </a:p>
              <a:p>
                <a:pPr/>
                <a14:m>
                  <m:oMathPara xmlns:m="http://schemas.openxmlformats.org/officeDocument/2006/math">
                    <m:oMathParaPr>
                      <m:jc m:val="centerGroup"/>
                    </m:oMathParaPr>
                    <m:oMath xmlns:m="http://schemas.openxmlformats.org/officeDocument/2006/math">
                      <m:d>
                        <m:dPr>
                          <m:begChr m:val="{"/>
                          <m:endChr m:val=""/>
                          <m:ctrlPr>
                            <a:rPr lang="en-AU" sz="2400" b="0" i="1" smtClean="0">
                              <a:latin typeface="Cambria Math" panose="02040503050406030204" pitchFamily="18" charset="0"/>
                            </a:rPr>
                          </m:ctrlPr>
                        </m:dPr>
                        <m:e>
                          <m:m>
                            <m:mPr>
                              <m:mcs>
                                <m:mc>
                                  <m:mcPr>
                                    <m:count m:val="1"/>
                                    <m:mcJc m:val="center"/>
                                  </m:mcPr>
                                </m:mc>
                              </m:mcs>
                              <m:ctrlPr>
                                <a:rPr lang="en-AU" sz="2400" b="0" i="1" smtClean="0">
                                  <a:latin typeface="Cambria Math" panose="02040503050406030204" pitchFamily="18" charset="0"/>
                                </a:rPr>
                              </m:ctrlPr>
                            </m:mPr>
                            <m:mr>
                              <m:e>
                                <m:f>
                                  <m:fPr>
                                    <m:ctrlPr>
                                      <a:rPr lang="en-AU" sz="2400" b="0" i="1" smtClean="0">
                                        <a:latin typeface="Cambria Math" panose="02040503050406030204" pitchFamily="18" charset="0"/>
                                      </a:rPr>
                                    </m:ctrlPr>
                                  </m:fPr>
                                  <m:num>
                                    <m:sSup>
                                      <m:sSupPr>
                                        <m:ctrlPr>
                                          <a:rPr lang="en-AU" sz="2400" b="0" i="1" smtClean="0">
                                            <a:latin typeface="Cambria Math" panose="02040503050406030204" pitchFamily="18" charset="0"/>
                                          </a:rPr>
                                        </m:ctrlPr>
                                      </m:sSupPr>
                                      <m:e>
                                        <m:r>
                                          <m:rPr>
                                            <m:brk m:alnAt="7"/>
                                          </m:rPr>
                                          <a:rPr lang="en-AU" sz="2400" b="0" i="1" smtClean="0">
                                            <a:latin typeface="Cambria Math" panose="02040503050406030204" pitchFamily="18" charset="0"/>
                                          </a:rPr>
                                          <m:t>𝑑</m:t>
                                        </m:r>
                                      </m:e>
                                      <m:sup>
                                        <m:r>
                                          <m:rPr>
                                            <m:brk m:alnAt="7"/>
                                          </m:rPr>
                                          <a:rPr lang="en-AU" sz="2400" b="0" i="1" smtClean="0">
                                            <a:latin typeface="Cambria Math" panose="02040503050406030204" pitchFamily="18" charset="0"/>
                                          </a:rPr>
                                          <m:t>2</m:t>
                                        </m:r>
                                      </m:sup>
                                    </m:sSup>
                                    <m:r>
                                      <m:rPr>
                                        <m:brk m:alnAt="7"/>
                                      </m:rPr>
                                      <a:rPr lang="en-AU" sz="2400" b="0" i="1" smtClean="0">
                                        <a:latin typeface="Cambria Math" panose="02040503050406030204" pitchFamily="18" charset="0"/>
                                      </a:rPr>
                                      <m:t>𝑦</m:t>
                                    </m:r>
                                  </m:num>
                                  <m:den>
                                    <m:r>
                                      <m:rPr>
                                        <m:brk m:alnAt="7"/>
                                      </m:rPr>
                                      <a:rPr lang="en-AU" sz="2400" b="0" i="1" smtClean="0">
                                        <a:latin typeface="Cambria Math" panose="02040503050406030204" pitchFamily="18" charset="0"/>
                                      </a:rPr>
                                      <m:t>𝑑</m:t>
                                    </m:r>
                                    <m:sSup>
                                      <m:sSupPr>
                                        <m:ctrlPr>
                                          <a:rPr lang="en-AU" sz="2400" b="0" i="1" smtClean="0">
                                            <a:latin typeface="Cambria Math" panose="02040503050406030204" pitchFamily="18" charset="0"/>
                                          </a:rPr>
                                        </m:ctrlPr>
                                      </m:sSupPr>
                                      <m:e>
                                        <m:r>
                                          <m:rPr>
                                            <m:brk m:alnAt="7"/>
                                          </m:rPr>
                                          <a:rPr lang="en-AU" sz="2400" b="0" i="1" smtClean="0">
                                            <a:latin typeface="Cambria Math" panose="02040503050406030204" pitchFamily="18" charset="0"/>
                                          </a:rPr>
                                          <m:t>𝑥</m:t>
                                        </m:r>
                                      </m:e>
                                      <m:sup>
                                        <m:r>
                                          <m:rPr>
                                            <m:brk m:alnAt="7"/>
                                          </m:rPr>
                                          <a:rPr lang="en-AU" sz="2400" b="0" i="1" smtClean="0">
                                            <a:latin typeface="Cambria Math" panose="02040503050406030204" pitchFamily="18" charset="0"/>
                                          </a:rPr>
                                          <m:t>2</m:t>
                                        </m:r>
                                      </m:sup>
                                    </m:sSup>
                                  </m:den>
                                </m:f>
                                <m:r>
                                  <m:rPr>
                                    <m:brk m:alnAt="7"/>
                                  </m:rP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m:rPr>
                                        <m:brk m:alnAt="7"/>
                                      </m:rPr>
                                      <a:rPr lang="en-AU" sz="2400" b="0" i="1" smtClean="0">
                                        <a:latin typeface="Cambria Math" panose="02040503050406030204" pitchFamily="18" charset="0"/>
                                      </a:rPr>
                                      <m:t>𝑑</m:t>
                                    </m:r>
                                    <m:r>
                                      <a:rPr lang="en-AU" sz="2400" b="0" i="1" smtClean="0">
                                        <a:latin typeface="Cambria Math" panose="02040503050406030204" pitchFamily="18" charset="0"/>
                                      </a:rPr>
                                      <m:t>𝑦</m:t>
                                    </m:r>
                                  </m:num>
                                  <m:den>
                                    <m:r>
                                      <m:rPr>
                                        <m:brk m:alnAt="7"/>
                                      </m:rPr>
                                      <a:rPr lang="en-AU" sz="2400" b="0" i="1" smtClean="0">
                                        <a:latin typeface="Cambria Math" panose="02040503050406030204" pitchFamily="18" charset="0"/>
                                      </a:rPr>
                                      <m:t>𝑑</m:t>
                                    </m:r>
                                    <m:r>
                                      <a:rPr lang="en-AU" sz="2400" b="0" i="1" smtClean="0">
                                        <a:latin typeface="Cambria Math" panose="02040503050406030204" pitchFamily="18" charset="0"/>
                                      </a:rPr>
                                      <m:t>𝑥</m:t>
                                    </m:r>
                                  </m:den>
                                </m:f>
                                <m:r>
                                  <m:rPr>
                                    <m:brk m:alnAt="7"/>
                                  </m:rPr>
                                  <a:rPr lang="en-AU" sz="2400" b="0" i="1" smtClean="0">
                                    <a:latin typeface="Cambria Math" panose="02040503050406030204" pitchFamily="18" charset="0"/>
                                  </a:rPr>
                                  <m:t>−</m:t>
                                </m:r>
                                <m:r>
                                  <a:rPr lang="en-AU" sz="2400" b="0" i="1" smtClean="0">
                                    <a:latin typeface="Cambria Math" panose="02040503050406030204" pitchFamily="18" charset="0"/>
                                  </a:rPr>
                                  <m:t>6</m:t>
                                </m:r>
                                <m:r>
                                  <a:rPr lang="en-AU" sz="2400" b="0" i="1" smtClean="0">
                                    <a:latin typeface="Cambria Math" panose="02040503050406030204" pitchFamily="18" charset="0"/>
                                  </a:rPr>
                                  <m:t>𝑦</m:t>
                                </m:r>
                                <m:r>
                                  <a:rPr lang="en-AU" sz="2400" b="0" i="1" smtClean="0">
                                    <a:latin typeface="Cambria Math" panose="02040503050406030204" pitchFamily="18" charset="0"/>
                                  </a:rPr>
                                  <m:t>=12</m:t>
                                </m:r>
                                <m:sSup>
                                  <m:sSupPr>
                                    <m:ctrlPr>
                                      <a:rPr lang="en-AU" sz="2400" b="0" i="1" smtClean="0">
                                        <a:latin typeface="Cambria Math" panose="02040503050406030204" pitchFamily="18" charset="0"/>
                                      </a:rPr>
                                    </m:ctrlPr>
                                  </m:sSupPr>
                                  <m:e>
                                    <m:r>
                                      <m:rPr>
                                        <m:brk m:alnAt="7"/>
                                      </m:rPr>
                                      <a:rPr lang="en-AU" sz="2400" b="0" i="1" smtClean="0">
                                        <a:latin typeface="Cambria Math" panose="02040503050406030204" pitchFamily="18" charset="0"/>
                                      </a:rPr>
                                      <m:t>𝑒</m:t>
                                    </m:r>
                                  </m:e>
                                  <m:sup>
                                    <m:r>
                                      <m:rPr>
                                        <m:brk m:alnAt="7"/>
                                      </m:rPr>
                                      <a:rPr lang="en-AU" sz="2400" b="0" i="1" smtClean="0">
                                        <a:latin typeface="Cambria Math" panose="02040503050406030204" pitchFamily="18" charset="0"/>
                                      </a:rPr>
                                      <m:t>3</m:t>
                                    </m:r>
                                    <m:r>
                                      <a:rPr lang="en-AU" sz="2400" b="0" i="1" smtClean="0">
                                        <a:latin typeface="Cambria Math" panose="02040503050406030204" pitchFamily="18" charset="0"/>
                                      </a:rPr>
                                      <m:t>𝑥</m:t>
                                    </m:r>
                                  </m:sup>
                                </m:sSup>
                              </m:e>
                            </m:mr>
                            <m:mr>
                              <m:e>
                                <m:r>
                                  <a:rPr lang="en-AU" sz="2400" b="0" i="1" smtClean="0">
                                    <a:latin typeface="Cambria Math" panose="02040503050406030204" pitchFamily="18" charset="0"/>
                                  </a:rPr>
                                  <m:t>𝑦</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0</m:t>
                                    </m:r>
                                  </m:e>
                                </m:d>
                                <m:r>
                                  <a:rPr lang="en-AU" sz="2400" b="0" i="1" smtClean="0">
                                    <a:latin typeface="Cambria Math" panose="02040503050406030204" pitchFamily="18" charset="0"/>
                                  </a:rPr>
                                  <m:t>=8</m:t>
                                </m:r>
                              </m:e>
                            </m:mr>
                            <m:mr>
                              <m:e>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𝑦</m:t>
                                    </m:r>
                                  </m:e>
                                  <m:sup>
                                    <m:r>
                                      <a:rPr lang="en-AU" sz="2400" b="0" i="1" smtClean="0">
                                        <a:latin typeface="Cambria Math" panose="02040503050406030204" pitchFamily="18" charset="0"/>
                                      </a:rPr>
                                      <m:t>′</m:t>
                                    </m:r>
                                  </m:sup>
                                </m:sSup>
                                <m:d>
                                  <m:dPr>
                                    <m:ctrlPr>
                                      <a:rPr lang="en-AU" sz="2400" b="0" i="1" smtClean="0">
                                        <a:latin typeface="Cambria Math" panose="02040503050406030204" pitchFamily="18" charset="0"/>
                                      </a:rPr>
                                    </m:ctrlPr>
                                  </m:dPr>
                                  <m:e>
                                    <m:r>
                                      <a:rPr lang="en-AU" sz="2400" b="0" i="1" smtClean="0">
                                        <a:latin typeface="Cambria Math" panose="02040503050406030204" pitchFamily="18" charset="0"/>
                                      </a:rPr>
                                      <m:t>0</m:t>
                                    </m:r>
                                  </m:e>
                                </m:d>
                                <m:r>
                                  <a:rPr lang="en-AU" sz="2400" b="0" i="1" smtClean="0">
                                    <a:latin typeface="Cambria Math" panose="02040503050406030204" pitchFamily="18" charset="0"/>
                                  </a:rPr>
                                  <m:t>=−2</m:t>
                                </m:r>
                              </m:e>
                            </m:mr>
                          </m:m>
                        </m:e>
                      </m:d>
                    </m:oMath>
                  </m:oMathPara>
                </a14:m>
                <a:endParaRPr lang="en-AU" sz="2400" b="0" dirty="0">
                  <a:latin typeface="+mj-lt"/>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2126480"/>
              </a:xfrm>
              <a:prstGeom prst="rect">
                <a:avLst/>
              </a:prstGeom>
              <a:blipFill>
                <a:blip r:embed="rId2"/>
                <a:stretch>
                  <a:fillRect l="-836" t="-2292"/>
                </a:stretch>
              </a:blipFill>
            </p:spPr>
            <p:txBody>
              <a:bodyPr/>
              <a:lstStyle/>
              <a:p>
                <a:r>
                  <a:rPr lang="en-GB">
                    <a:noFill/>
                  </a:rPr>
                  <a:t> </a:t>
                </a:r>
              </a:p>
            </p:txBody>
          </p:sp>
        </mc:Fallback>
      </mc:AlternateContent>
      <p:sp>
        <p:nvSpPr>
          <p:cNvPr id="3" name="Rectangle 2">
            <a:extLst>
              <a:ext uri="{FF2B5EF4-FFF2-40B4-BE49-F238E27FC236}">
                <a16:creationId xmlns:a16="http://schemas.microsoft.com/office/drawing/2014/main" id="{3EE900E6-5EFB-4D76-9CF9-39B08EE08661}"/>
              </a:ext>
            </a:extLst>
          </p:cNvPr>
          <p:cNvSpPr/>
          <p:nvPr/>
        </p:nvSpPr>
        <p:spPr>
          <a:xfrm>
            <a:off x="11842379" y="6391836"/>
            <a:ext cx="98612" cy="107576"/>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03885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6549422" cy="523220"/>
          </a:xfrm>
          <a:prstGeom prst="rect">
            <a:avLst/>
          </a:prstGeom>
          <a:noFill/>
        </p:spPr>
        <p:txBody>
          <a:bodyPr wrap="none" rtlCol="0">
            <a:spAutoFit/>
          </a:bodyPr>
          <a:lstStyle/>
          <a:p>
            <a:r>
              <a:rPr lang="en-AU" sz="2800" b="1" cap="small" dirty="0">
                <a:solidFill>
                  <a:schemeClr val="bg1"/>
                </a:solidFill>
                <a:latin typeface="+mj-lt"/>
              </a:rPr>
              <a:t>6.10 Applications of second order linear ODEs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1200329"/>
              </a:xfrm>
              <a:prstGeom prst="rect">
                <a:avLst/>
              </a:prstGeom>
              <a:noFill/>
            </p:spPr>
            <p:txBody>
              <a:bodyPr wrap="square" rtlCol="0">
                <a:spAutoFit/>
              </a:bodyPr>
              <a:lstStyle/>
              <a:p>
                <a:r>
                  <a:rPr lang="en-AU" sz="2400" b="1" dirty="0">
                    <a:latin typeface="+mj-lt"/>
                    <a:ea typeface="Cambria Math" panose="02040503050406030204" pitchFamily="18" charset="0"/>
                  </a:rPr>
                  <a:t>The equation for a mass and a spring with friction: vibrations and resonance</a:t>
                </a:r>
              </a:p>
              <a:p>
                <a:r>
                  <a:rPr lang="en-AU" sz="2400" dirty="0">
                    <a:latin typeface="+mj-lt"/>
                    <a:ea typeface="Cambria Math" panose="02040503050406030204" pitchFamily="18" charset="0"/>
                  </a:rPr>
                  <a:t>Newton’s equation of motion prescribes the total force acting on a body must be equal to the product of the body’s mass and acceleration: </a:t>
                </a:r>
                <a14:m>
                  <m:oMath xmlns:m="http://schemas.openxmlformats.org/officeDocument/2006/math">
                    <m:r>
                      <a:rPr lang="en-AU" sz="2400" b="0" i="1" smtClean="0">
                        <a:latin typeface="Cambria Math" panose="02040503050406030204" pitchFamily="18" charset="0"/>
                        <a:ea typeface="Cambria Math" panose="02040503050406030204" pitchFamily="18" charset="0"/>
                      </a:rPr>
                      <m:t>𝐹</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𝑚𝑎</m:t>
                    </m:r>
                  </m:oMath>
                </a14:m>
                <a:endParaRPr lang="en-AU" sz="2400" dirty="0">
                  <a:latin typeface="+mj-lt"/>
                  <a:ea typeface="Cambria Math" panose="02040503050406030204" pitchFamily="18" charset="0"/>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1200329"/>
              </a:xfrm>
              <a:prstGeom prst="rect">
                <a:avLst/>
              </a:prstGeom>
              <a:blipFill>
                <a:blip r:embed="rId2"/>
                <a:stretch>
                  <a:fillRect l="-836" t="-4061" r="-575" b="-10660"/>
                </a:stretch>
              </a:blipFill>
            </p:spPr>
            <p:txBody>
              <a:bodyPr/>
              <a:lstStyle/>
              <a:p>
                <a:r>
                  <a:rPr lang="en-GB">
                    <a:noFill/>
                  </a:rPr>
                  <a:t> </a:t>
                </a:r>
              </a:p>
            </p:txBody>
          </p:sp>
        </mc:Fallback>
      </mc:AlternateContent>
      <p:pic>
        <p:nvPicPr>
          <p:cNvPr id="4" name="Picture 3">
            <a:extLst>
              <a:ext uri="{FF2B5EF4-FFF2-40B4-BE49-F238E27FC236}">
                <a16:creationId xmlns:a16="http://schemas.microsoft.com/office/drawing/2014/main" id="{31F77E98-10EB-4401-AC99-4FCC26B2FDF9}"/>
              </a:ext>
            </a:extLst>
          </p:cNvPr>
          <p:cNvPicPr>
            <a:picLocks noChangeAspect="1"/>
          </p:cNvPicPr>
          <p:nvPr/>
        </p:nvPicPr>
        <p:blipFill>
          <a:blip r:embed="rId3"/>
          <a:stretch>
            <a:fillRect/>
          </a:stretch>
        </p:blipFill>
        <p:spPr>
          <a:xfrm>
            <a:off x="8997865" y="2195566"/>
            <a:ext cx="2820318" cy="1905918"/>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D905547-74F8-4B68-A950-D864978F9BFA}"/>
                  </a:ext>
                </a:extLst>
              </p:cNvPr>
              <p:cNvSpPr txBox="1"/>
              <p:nvPr/>
            </p:nvSpPr>
            <p:spPr>
              <a:xfrm>
                <a:off x="259976" y="2110785"/>
                <a:ext cx="8570259" cy="2677656"/>
              </a:xfrm>
              <a:prstGeom prst="rect">
                <a:avLst/>
              </a:prstGeom>
              <a:noFill/>
            </p:spPr>
            <p:txBody>
              <a:bodyPr wrap="square" rtlCol="0">
                <a:spAutoFit/>
              </a:bodyPr>
              <a:lstStyle/>
              <a:p>
                <a:r>
                  <a:rPr lang="en-AU" sz="2400" dirty="0">
                    <a:latin typeface="+mj-lt"/>
                    <a:ea typeface="Cambria Math" panose="02040503050406030204" pitchFamily="18" charset="0"/>
                  </a:rPr>
                  <a:t>Let us consider a mass </a:t>
                </a:r>
                <a14:m>
                  <m:oMath xmlns:m="http://schemas.openxmlformats.org/officeDocument/2006/math">
                    <m:r>
                      <a:rPr lang="en-AU" sz="2400" b="0" i="1" smtClean="0">
                        <a:latin typeface="Cambria Math" panose="02040503050406030204" pitchFamily="18" charset="0"/>
                        <a:ea typeface="Cambria Math" panose="02040503050406030204" pitchFamily="18" charset="0"/>
                      </a:rPr>
                      <m:t>𝑚</m:t>
                    </m:r>
                  </m:oMath>
                </a14:m>
                <a:r>
                  <a:rPr lang="en-AU" sz="2400" dirty="0">
                    <a:latin typeface="+mj-lt"/>
                    <a:ea typeface="Cambria Math" panose="02040503050406030204" pitchFamily="18" charset="0"/>
                  </a:rPr>
                  <a:t> attached to a spring, sliding on a horizontal plane. The spring has an elastic constant </a:t>
                </a:r>
                <a14:m>
                  <m:oMath xmlns:m="http://schemas.openxmlformats.org/officeDocument/2006/math">
                    <m:r>
                      <a:rPr lang="en-AU" sz="2400" b="0" i="1" smtClean="0">
                        <a:latin typeface="Cambria Math" panose="02040503050406030204" pitchFamily="18" charset="0"/>
                        <a:ea typeface="Cambria Math" panose="02040503050406030204" pitchFamily="18" charset="0"/>
                      </a:rPr>
                      <m:t>𝑘</m:t>
                    </m:r>
                  </m:oMath>
                </a14:m>
                <a:r>
                  <a:rPr lang="en-AU" sz="2400" dirty="0">
                    <a:latin typeface="+mj-lt"/>
                    <a:ea typeface="Cambria Math" panose="02040503050406030204" pitchFamily="18" charset="0"/>
                  </a:rPr>
                  <a:t> and is fixed to a wall. As the mass moves, the friction is exerted on the mass by the table and we assume that this friction is proportional to the velocity </a:t>
                </a:r>
                <a14:m>
                  <m:oMath xmlns:m="http://schemas.openxmlformats.org/officeDocument/2006/math">
                    <m:r>
                      <a:rPr lang="en-AU" sz="2400" b="0" i="1" smtClean="0">
                        <a:latin typeface="Cambria Math" panose="02040503050406030204" pitchFamily="18" charset="0"/>
                        <a:ea typeface="Cambria Math" panose="02040503050406030204" pitchFamily="18" charset="0"/>
                      </a:rPr>
                      <m:t>𝑣</m:t>
                    </m:r>
                  </m:oMath>
                </a14:m>
                <a:r>
                  <a:rPr lang="en-AU" sz="2400" dirty="0">
                    <a:latin typeface="+mj-lt"/>
                    <a:ea typeface="Cambria Math" panose="02040503050406030204" pitchFamily="18" charset="0"/>
                  </a:rPr>
                  <a:t> of the mass through a constant </a:t>
                </a:r>
                <a14:m>
                  <m:oMath xmlns:m="http://schemas.openxmlformats.org/officeDocument/2006/math">
                    <m:r>
                      <a:rPr lang="en-AU" sz="2400" i="1" smtClean="0">
                        <a:latin typeface="Cambria Math" panose="02040503050406030204" pitchFamily="18" charset="0"/>
                        <a:ea typeface="Cambria Math" panose="02040503050406030204" pitchFamily="18" charset="0"/>
                      </a:rPr>
                      <m:t>𝛽</m:t>
                    </m:r>
                  </m:oMath>
                </a14:m>
                <a:r>
                  <a:rPr lang="en-AU" sz="2400" dirty="0">
                    <a:latin typeface="+mj-lt"/>
                    <a:ea typeface="Cambria Math" panose="02040503050406030204" pitchFamily="18" charset="0"/>
                  </a:rPr>
                  <a:t>. If no external driving forces are present, then, after the spring is stretched from its rest position and the mass is released, the motion is described by Newton’s law as: </a:t>
                </a:r>
                <a14:m>
                  <m:oMath xmlns:m="http://schemas.openxmlformats.org/officeDocument/2006/math">
                    <m:sSub>
                      <m:sSubPr>
                        <m:ctrlPr>
                          <a:rPr lang="en-AU" sz="240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𝐹</m:t>
                        </m:r>
                      </m:e>
                      <m:sub>
                        <m:r>
                          <a:rPr lang="en-AU" sz="2400" b="0" i="1" smtClean="0">
                            <a:latin typeface="Cambria Math" panose="02040503050406030204" pitchFamily="18" charset="0"/>
                            <a:ea typeface="Cambria Math" panose="02040503050406030204" pitchFamily="18" charset="0"/>
                          </a:rPr>
                          <m:t>𝑡𝑜𝑡</m:t>
                        </m:r>
                      </m:sub>
                    </m:sSub>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𝑚𝑎</m:t>
                    </m:r>
                  </m:oMath>
                </a14:m>
                <a:r>
                  <a:rPr lang="en-AU" sz="2400" dirty="0">
                    <a:latin typeface="+mj-lt"/>
                    <a:ea typeface="Cambria Math" panose="02040503050406030204" pitchFamily="18" charset="0"/>
                  </a:rPr>
                  <a:t> </a:t>
                </a:r>
              </a:p>
            </p:txBody>
          </p:sp>
        </mc:Choice>
        <mc:Fallback xmlns="">
          <p:sp>
            <p:nvSpPr>
              <p:cNvPr id="10" name="TextBox 9">
                <a:extLst>
                  <a:ext uri="{FF2B5EF4-FFF2-40B4-BE49-F238E27FC236}">
                    <a16:creationId xmlns:a16="http://schemas.microsoft.com/office/drawing/2014/main" id="{AD905547-74F8-4B68-A950-D864978F9BFA}"/>
                  </a:ext>
                </a:extLst>
              </p:cNvPr>
              <p:cNvSpPr txBox="1">
                <a:spLocks noRot="1" noChangeAspect="1" noMove="1" noResize="1" noEditPoints="1" noAdjustHandles="1" noChangeArrowheads="1" noChangeShapeType="1" noTextEdit="1"/>
              </p:cNvSpPr>
              <p:nvPr/>
            </p:nvSpPr>
            <p:spPr>
              <a:xfrm>
                <a:off x="259976" y="2110785"/>
                <a:ext cx="8570259" cy="2677656"/>
              </a:xfrm>
              <a:prstGeom prst="rect">
                <a:avLst/>
              </a:prstGeom>
              <a:blipFill>
                <a:blip r:embed="rId4"/>
                <a:stretch>
                  <a:fillRect l="-1138" t="-1818" r="-1565" b="-40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A77EEEA-35CB-48E5-8335-74F9A04C1B73}"/>
                  </a:ext>
                </a:extLst>
              </p:cNvPr>
              <p:cNvSpPr txBox="1"/>
              <p:nvPr/>
            </p:nvSpPr>
            <p:spPr>
              <a:xfrm>
                <a:off x="259975" y="4660319"/>
                <a:ext cx="11672047" cy="1259576"/>
              </a:xfrm>
              <a:prstGeom prst="rect">
                <a:avLst/>
              </a:prstGeom>
              <a:noFill/>
            </p:spPr>
            <p:txBody>
              <a:bodyPr wrap="square" rtlCol="0">
                <a:spAutoFit/>
              </a:bodyPr>
              <a:lstStyle/>
              <a:p>
                <a:r>
                  <a:rPr lang="en-AU" sz="2400" dirty="0">
                    <a:latin typeface="+mj-lt"/>
                    <a:ea typeface="Cambria Math" panose="02040503050406030204" pitchFamily="18" charset="0"/>
                  </a:rPr>
                  <a:t>where the forces acting on the mass are Hooke’s (elastic) force </a:t>
                </a:r>
                <a14:m>
                  <m:oMath xmlns:m="http://schemas.openxmlformats.org/officeDocument/2006/math">
                    <m:sSub>
                      <m:sSubPr>
                        <m:ctrlPr>
                          <a:rPr lang="en-AU" sz="240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𝐹</m:t>
                        </m:r>
                      </m:e>
                      <m:sub>
                        <m:r>
                          <a:rPr lang="en-AU" sz="2400" b="0" i="1" smtClean="0">
                            <a:latin typeface="Cambria Math" panose="02040503050406030204" pitchFamily="18" charset="0"/>
                            <a:ea typeface="Cambria Math" panose="02040503050406030204" pitchFamily="18" charset="0"/>
                          </a:rPr>
                          <m:t>𝑒𝑙</m:t>
                        </m:r>
                      </m:sub>
                    </m:sSub>
                  </m:oMath>
                </a14:m>
                <a:r>
                  <a:rPr lang="en-AU" sz="2400" dirty="0">
                    <a:latin typeface="+mj-lt"/>
                    <a:ea typeface="Cambria Math" panose="02040503050406030204" pitchFamily="18" charset="0"/>
                  </a:rPr>
                  <a:t> and the friction force </a:t>
                </a:r>
                <a14:m>
                  <m:oMath xmlns:m="http://schemas.openxmlformats.org/officeDocument/2006/math">
                    <m:sSub>
                      <m:sSubPr>
                        <m:ctrlPr>
                          <a:rPr lang="en-AU" sz="240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𝐹</m:t>
                        </m:r>
                      </m:e>
                      <m:sub>
                        <m:r>
                          <a:rPr lang="en-AU" sz="2400" b="0" i="1" smtClean="0">
                            <a:latin typeface="Cambria Math" panose="02040503050406030204" pitchFamily="18" charset="0"/>
                            <a:ea typeface="Cambria Math" panose="02040503050406030204" pitchFamily="18" charset="0"/>
                          </a:rPr>
                          <m:t>𝑓𝑟</m:t>
                        </m:r>
                      </m:sub>
                    </m:sSub>
                  </m:oMath>
                </a14:m>
                <a:r>
                  <a:rPr lang="en-AU" sz="2400" dirty="0">
                    <a:latin typeface="+mj-lt"/>
                    <a:ea typeface="Cambria Math" panose="02040503050406030204" pitchFamily="18" charset="0"/>
                  </a:rPr>
                  <a:t>:</a:t>
                </a:r>
              </a:p>
              <a:p>
                <a:pPr/>
                <a14:m>
                  <m:oMathPara xmlns:m="http://schemas.openxmlformats.org/officeDocument/2006/math">
                    <m:oMathParaPr>
                      <m:jc m:val="centerGroup"/>
                    </m:oMathParaPr>
                    <m:oMath xmlns:m="http://schemas.openxmlformats.org/officeDocument/2006/math">
                      <m:sSub>
                        <m:sSubPr>
                          <m:ctrlPr>
                            <a:rPr lang="en-AU" sz="240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𝐹</m:t>
                          </m:r>
                        </m:e>
                        <m:sub>
                          <m:r>
                            <a:rPr lang="en-AU" sz="2400" b="0" i="1" smtClean="0">
                              <a:latin typeface="Cambria Math" panose="02040503050406030204" pitchFamily="18" charset="0"/>
                              <a:ea typeface="Cambria Math" panose="02040503050406030204" pitchFamily="18" charset="0"/>
                            </a:rPr>
                            <m:t>𝑒𝑙</m:t>
                          </m:r>
                        </m:sub>
                      </m:sSub>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𝑘𝑥</m:t>
                      </m:r>
                    </m:oMath>
                  </m:oMathPara>
                </a14:m>
                <a:endParaRPr lang="en-AU" sz="2400" dirty="0">
                  <a:latin typeface="+mj-lt"/>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AU" sz="240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𝐹</m:t>
                          </m:r>
                        </m:e>
                        <m:sub>
                          <m:r>
                            <a:rPr lang="en-AU" sz="2400" b="0" i="1" smtClean="0">
                              <a:latin typeface="Cambria Math" panose="02040503050406030204" pitchFamily="18" charset="0"/>
                              <a:ea typeface="Cambria Math" panose="02040503050406030204" pitchFamily="18" charset="0"/>
                            </a:rPr>
                            <m:t>𝑓𝑟</m:t>
                          </m:r>
                        </m:sub>
                      </m:sSub>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𝛽</m:t>
                      </m:r>
                      <m:r>
                        <a:rPr lang="en-AU" sz="2400" b="0" i="1" smtClean="0">
                          <a:latin typeface="Cambria Math" panose="02040503050406030204" pitchFamily="18" charset="0"/>
                          <a:ea typeface="Cambria Math" panose="02040503050406030204" pitchFamily="18" charset="0"/>
                        </a:rPr>
                        <m:t>𝑣</m:t>
                      </m:r>
                    </m:oMath>
                  </m:oMathPara>
                </a14:m>
                <a:endParaRPr lang="en-AU" sz="2400" dirty="0">
                  <a:latin typeface="+mj-lt"/>
                  <a:ea typeface="Cambria Math" panose="02040503050406030204" pitchFamily="18" charset="0"/>
                </a:endParaRPr>
              </a:p>
            </p:txBody>
          </p:sp>
        </mc:Choice>
        <mc:Fallback xmlns="">
          <p:sp>
            <p:nvSpPr>
              <p:cNvPr id="11" name="TextBox 10">
                <a:extLst>
                  <a:ext uri="{FF2B5EF4-FFF2-40B4-BE49-F238E27FC236}">
                    <a16:creationId xmlns:a16="http://schemas.microsoft.com/office/drawing/2014/main" id="{2A77EEEA-35CB-48E5-8335-74F9A04C1B73}"/>
                  </a:ext>
                </a:extLst>
              </p:cNvPr>
              <p:cNvSpPr txBox="1">
                <a:spLocks noRot="1" noChangeAspect="1" noMove="1" noResize="1" noEditPoints="1" noAdjustHandles="1" noChangeArrowheads="1" noChangeShapeType="1" noTextEdit="1"/>
              </p:cNvSpPr>
              <p:nvPr/>
            </p:nvSpPr>
            <p:spPr>
              <a:xfrm>
                <a:off x="259975" y="4660319"/>
                <a:ext cx="11672047" cy="1259576"/>
              </a:xfrm>
              <a:prstGeom prst="rect">
                <a:avLst/>
              </a:prstGeom>
              <a:blipFill>
                <a:blip r:embed="rId5"/>
                <a:stretch>
                  <a:fillRect l="-836" t="-3382" b="-386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56EA7CD-68BB-41B2-9306-ED6691D88826}"/>
                  </a:ext>
                </a:extLst>
              </p:cNvPr>
              <p:cNvSpPr txBox="1"/>
              <p:nvPr/>
            </p:nvSpPr>
            <p:spPr>
              <a:xfrm>
                <a:off x="1396252" y="5827968"/>
                <a:ext cx="9944101" cy="830997"/>
              </a:xfrm>
              <a:prstGeom prst="rect">
                <a:avLst/>
              </a:prstGeom>
              <a:noFill/>
            </p:spPr>
            <p:txBody>
              <a:bodyPr wrap="square">
                <a:spAutoFit/>
              </a:bodyPr>
              <a:lstStyle/>
              <a:p>
                <a:r>
                  <a:rPr lang="en-AU" sz="2400" dirty="0">
                    <a:latin typeface="+mj-lt"/>
                    <a:ea typeface="Cambria Math" panose="02040503050406030204" pitchFamily="18" charset="0"/>
                  </a:rPr>
                  <a:t>with both </a:t>
                </a:r>
                <a14:m>
                  <m:oMath xmlns:m="http://schemas.openxmlformats.org/officeDocument/2006/math">
                    <m:r>
                      <a:rPr lang="en-AU" sz="2400" b="0" i="1" smtClean="0">
                        <a:latin typeface="Cambria Math" panose="02040503050406030204" pitchFamily="18" charset="0"/>
                        <a:ea typeface="Cambria Math" panose="02040503050406030204" pitchFamily="18" charset="0"/>
                      </a:rPr>
                      <m:t>𝑘</m:t>
                    </m:r>
                    <m:r>
                      <a:rPr lang="en-AU" sz="2400" b="0" i="1" smtClean="0">
                        <a:latin typeface="Cambria Math" panose="02040503050406030204" pitchFamily="18" charset="0"/>
                        <a:ea typeface="Cambria Math" panose="02040503050406030204" pitchFamily="18" charset="0"/>
                      </a:rPr>
                      <m:t>&gt;0</m:t>
                    </m:r>
                  </m:oMath>
                </a14:m>
                <a:r>
                  <a:rPr lang="en-AU" sz="2400" dirty="0">
                    <a:latin typeface="+mj-lt"/>
                    <a:ea typeface="Cambria Math" panose="02040503050406030204" pitchFamily="18" charset="0"/>
                  </a:rPr>
                  <a:t> and </a:t>
                </a:r>
                <a14:m>
                  <m:oMath xmlns:m="http://schemas.openxmlformats.org/officeDocument/2006/math">
                    <m:r>
                      <a:rPr lang="en-AU" sz="2400" i="1" smtClean="0">
                        <a:latin typeface="Cambria Math" panose="02040503050406030204" pitchFamily="18" charset="0"/>
                        <a:ea typeface="Cambria Math" panose="02040503050406030204" pitchFamily="18" charset="0"/>
                      </a:rPr>
                      <m:t>𝛽</m:t>
                    </m:r>
                    <m:r>
                      <a:rPr lang="en-AU" sz="2400" b="0" i="1" smtClean="0">
                        <a:latin typeface="Cambria Math" panose="02040503050406030204" pitchFamily="18" charset="0"/>
                        <a:ea typeface="Cambria Math" panose="02040503050406030204" pitchFamily="18" charset="0"/>
                      </a:rPr>
                      <m:t>&gt;0</m:t>
                    </m:r>
                  </m:oMath>
                </a14:m>
                <a:r>
                  <a:rPr lang="en-AU" sz="2400" dirty="0">
                    <a:latin typeface="+mj-lt"/>
                    <a:ea typeface="Cambria Math" panose="02040503050406030204" pitchFamily="18" charset="0"/>
                  </a:rPr>
                  <a:t> by definition. The quantity </a:t>
                </a:r>
                <a14:m>
                  <m:oMath xmlns:m="http://schemas.openxmlformats.org/officeDocument/2006/math">
                    <m:r>
                      <a:rPr lang="en-AU" sz="2400" b="0" i="1" smtClean="0">
                        <a:latin typeface="Cambria Math" panose="02040503050406030204" pitchFamily="18" charset="0"/>
                        <a:ea typeface="Cambria Math" panose="02040503050406030204" pitchFamily="18" charset="0"/>
                      </a:rPr>
                      <m:t>𝑥</m:t>
                    </m:r>
                  </m:oMath>
                </a14:m>
                <a:r>
                  <a:rPr lang="en-AU" sz="2400" dirty="0">
                    <a:latin typeface="+mj-lt"/>
                    <a:ea typeface="Cambria Math" panose="02040503050406030204" pitchFamily="18" charset="0"/>
                  </a:rPr>
                  <a:t> represents the displacement of the spring from its equilibrium position (at rest).</a:t>
                </a:r>
              </a:p>
            </p:txBody>
          </p:sp>
        </mc:Choice>
        <mc:Fallback xmlns="">
          <p:sp>
            <p:nvSpPr>
              <p:cNvPr id="13" name="TextBox 12">
                <a:extLst>
                  <a:ext uri="{FF2B5EF4-FFF2-40B4-BE49-F238E27FC236}">
                    <a16:creationId xmlns:a16="http://schemas.microsoft.com/office/drawing/2014/main" id="{956EA7CD-68BB-41B2-9306-ED6691D88826}"/>
                  </a:ext>
                </a:extLst>
              </p:cNvPr>
              <p:cNvSpPr txBox="1">
                <a:spLocks noRot="1" noChangeAspect="1" noMove="1" noResize="1" noEditPoints="1" noAdjustHandles="1" noChangeArrowheads="1" noChangeShapeType="1" noTextEdit="1"/>
              </p:cNvSpPr>
              <p:nvPr/>
            </p:nvSpPr>
            <p:spPr>
              <a:xfrm>
                <a:off x="1396252" y="5827968"/>
                <a:ext cx="9944101" cy="830997"/>
              </a:xfrm>
              <a:prstGeom prst="rect">
                <a:avLst/>
              </a:prstGeom>
              <a:blipFill>
                <a:blip r:embed="rId6"/>
                <a:stretch>
                  <a:fillRect l="-920" t="-5882" b="-16176"/>
                </a:stretch>
              </a:blipFill>
            </p:spPr>
            <p:txBody>
              <a:bodyPr/>
              <a:lstStyle/>
              <a:p>
                <a:r>
                  <a:rPr lang="en-GB">
                    <a:noFill/>
                  </a:rPr>
                  <a:t> </a:t>
                </a:r>
              </a:p>
            </p:txBody>
          </p:sp>
        </mc:Fallback>
      </mc:AlternateContent>
    </p:spTree>
    <p:extLst>
      <p:ext uri="{BB962C8B-B14F-4D97-AF65-F5344CB8AC3E}">
        <p14:creationId xmlns:p14="http://schemas.microsoft.com/office/powerpoint/2010/main" val="12238622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6549422" cy="523220"/>
          </a:xfrm>
          <a:prstGeom prst="rect">
            <a:avLst/>
          </a:prstGeom>
          <a:noFill/>
        </p:spPr>
        <p:txBody>
          <a:bodyPr wrap="none" rtlCol="0">
            <a:spAutoFit/>
          </a:bodyPr>
          <a:lstStyle/>
          <a:p>
            <a:r>
              <a:rPr lang="en-AU" sz="2800" b="1" cap="small" dirty="0">
                <a:solidFill>
                  <a:schemeClr val="bg1"/>
                </a:solidFill>
                <a:latin typeface="+mj-lt"/>
              </a:rPr>
              <a:t>6.10 Applications of second order linear ODEs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5267852"/>
              </a:xfrm>
              <a:prstGeom prst="rect">
                <a:avLst/>
              </a:prstGeom>
              <a:noFill/>
            </p:spPr>
            <p:txBody>
              <a:bodyPr wrap="square" rtlCol="0">
                <a:spAutoFit/>
              </a:bodyPr>
              <a:lstStyle/>
              <a:p>
                <a:r>
                  <a:rPr lang="en-AU" sz="2400" dirty="0">
                    <a:latin typeface="+mj-lt"/>
                    <a:ea typeface="Cambria Math" panose="02040503050406030204" pitchFamily="18" charset="0"/>
                  </a:rPr>
                  <a:t>Considering that the velocity and the acceleration are given by the first and second derivatives of the displacement, we can rewrite Newton’s equation as</a:t>
                </a:r>
              </a:p>
              <a:p>
                <a:pPr/>
                <a14:m>
                  <m:oMathPara xmlns:m="http://schemas.openxmlformats.org/officeDocument/2006/math">
                    <m:oMathParaPr>
                      <m:jc m:val="centerGroup"/>
                    </m:oMathParaPr>
                    <m:oMath xmlns:m="http://schemas.openxmlformats.org/officeDocument/2006/math">
                      <m:sSub>
                        <m:sSubPr>
                          <m:ctrlPr>
                            <a:rPr lang="en-AU" sz="240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𝐹</m:t>
                          </m:r>
                        </m:e>
                        <m:sub>
                          <m:r>
                            <a:rPr lang="en-AU" sz="2400" b="0" i="1" smtClean="0">
                              <a:latin typeface="Cambria Math" panose="02040503050406030204" pitchFamily="18" charset="0"/>
                              <a:ea typeface="Cambria Math" panose="02040503050406030204" pitchFamily="18" charset="0"/>
                            </a:rPr>
                            <m:t>𝑒𝑙</m:t>
                          </m:r>
                        </m:sub>
                      </m:sSub>
                      <m:r>
                        <a:rPr lang="en-AU" sz="2400" b="0" i="1" smtClean="0">
                          <a:latin typeface="Cambria Math" panose="02040503050406030204" pitchFamily="18" charset="0"/>
                          <a:ea typeface="Cambria Math" panose="02040503050406030204" pitchFamily="18" charset="0"/>
                        </a:rPr>
                        <m:t>+</m:t>
                      </m:r>
                      <m:sSub>
                        <m:sSubPr>
                          <m:ctrlPr>
                            <a:rPr lang="en-AU" sz="240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𝐹</m:t>
                          </m:r>
                        </m:e>
                        <m:sub>
                          <m:r>
                            <a:rPr lang="en-AU" sz="2400" b="0" i="1" smtClean="0">
                              <a:latin typeface="Cambria Math" panose="02040503050406030204" pitchFamily="18" charset="0"/>
                              <a:ea typeface="Cambria Math" panose="02040503050406030204" pitchFamily="18" charset="0"/>
                            </a:rPr>
                            <m:t>𝑓𝑟</m:t>
                          </m:r>
                        </m:sub>
                      </m:sSub>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𝑚𝑎</m:t>
                      </m:r>
                      <m:r>
                        <a:rPr lang="en-AU" sz="2400" b="0" i="1" smtClean="0">
                          <a:latin typeface="Cambria Math" panose="02040503050406030204" pitchFamily="18" charset="0"/>
                          <a:ea typeface="Cambria Math" panose="02040503050406030204" pitchFamily="18" charset="0"/>
                        </a:rPr>
                        <m:t>       ⇒       −</m:t>
                      </m:r>
                      <m:r>
                        <a:rPr lang="en-AU" sz="2400" b="0" i="1" smtClean="0">
                          <a:latin typeface="Cambria Math" panose="02040503050406030204" pitchFamily="18" charset="0"/>
                          <a:ea typeface="Cambria Math" panose="02040503050406030204" pitchFamily="18" charset="0"/>
                        </a:rPr>
                        <m:t>𝛽</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𝑑𝑥</m:t>
                          </m:r>
                        </m:num>
                        <m:den>
                          <m:r>
                            <a:rPr lang="en-AU" sz="2400" b="0" i="1" smtClean="0">
                              <a:latin typeface="Cambria Math" panose="02040503050406030204" pitchFamily="18" charset="0"/>
                              <a:ea typeface="Cambria Math" panose="02040503050406030204" pitchFamily="18" charset="0"/>
                            </a:rPr>
                            <m:t>𝑑𝑡</m:t>
                          </m:r>
                        </m:den>
                      </m:f>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𝑘𝑥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𝑚</m:t>
                      </m:r>
                      <m:f>
                        <m:fPr>
                          <m:ctrlPr>
                            <a:rPr lang="en-AU" sz="2400" b="0" i="1" smtClean="0">
                              <a:latin typeface="Cambria Math" panose="02040503050406030204" pitchFamily="18" charset="0"/>
                              <a:ea typeface="Cambria Math" panose="02040503050406030204" pitchFamily="18" charset="0"/>
                            </a:rPr>
                          </m:ctrlPr>
                        </m:fPr>
                        <m:num>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𝑑</m:t>
                              </m:r>
                            </m:e>
                            <m:sup>
                              <m:r>
                                <a:rPr lang="en-AU" sz="2400" b="0" i="1" smtClean="0">
                                  <a:latin typeface="Cambria Math" panose="02040503050406030204" pitchFamily="18" charset="0"/>
                                  <a:ea typeface="Cambria Math" panose="02040503050406030204" pitchFamily="18" charset="0"/>
                                </a:rPr>
                                <m:t>2</m:t>
                              </m:r>
                            </m:sup>
                          </m:sSup>
                          <m:r>
                            <a:rPr lang="en-AU" sz="2400" b="0" i="1" smtClean="0">
                              <a:latin typeface="Cambria Math" panose="02040503050406030204" pitchFamily="18" charset="0"/>
                              <a:ea typeface="Cambria Math" panose="02040503050406030204" pitchFamily="18" charset="0"/>
                            </a:rPr>
                            <m:t>𝑥</m:t>
                          </m:r>
                        </m:num>
                        <m:den>
                          <m:r>
                            <a:rPr lang="en-AU" sz="2400" b="0" i="1" smtClean="0">
                              <a:latin typeface="Cambria Math" panose="02040503050406030204" pitchFamily="18" charset="0"/>
                              <a:ea typeface="Cambria Math" panose="02040503050406030204" pitchFamily="18" charset="0"/>
                            </a:rPr>
                            <m:t>𝑑</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𝑡</m:t>
                              </m:r>
                            </m:e>
                            <m:sup>
                              <m:r>
                                <a:rPr lang="en-AU" sz="2400" b="0" i="1" smtClean="0">
                                  <a:latin typeface="Cambria Math" panose="02040503050406030204" pitchFamily="18" charset="0"/>
                                  <a:ea typeface="Cambria Math" panose="02040503050406030204" pitchFamily="18" charset="0"/>
                                </a:rPr>
                                <m:t>2</m:t>
                              </m:r>
                            </m:sup>
                          </m:sSup>
                        </m:den>
                      </m:f>
                    </m:oMath>
                  </m:oMathPara>
                </a14:m>
                <a:endParaRPr lang="en-AU" sz="2400" dirty="0">
                  <a:latin typeface="+mj-lt"/>
                  <a:ea typeface="Cambria Math" panose="02040503050406030204" pitchFamily="18" charset="0"/>
                </a:endParaRPr>
              </a:p>
              <a:p>
                <a:r>
                  <a:rPr lang="en-AU" sz="2400" dirty="0">
                    <a:latin typeface="+mj-lt"/>
                    <a:ea typeface="Cambria Math" panose="02040503050406030204" pitchFamily="18" charset="0"/>
                  </a:rPr>
                  <a:t>and re-arranged in a more familiar way:</a:t>
                </a: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ea typeface="Cambria Math" panose="02040503050406030204" pitchFamily="18" charset="0"/>
                        </a:rPr>
                        <m:t>𝑚</m:t>
                      </m:r>
                      <m:f>
                        <m:fPr>
                          <m:ctrlPr>
                            <a:rPr lang="en-AU" sz="2400" b="0" i="1" smtClean="0">
                              <a:latin typeface="Cambria Math" panose="02040503050406030204" pitchFamily="18" charset="0"/>
                              <a:ea typeface="Cambria Math" panose="02040503050406030204" pitchFamily="18" charset="0"/>
                            </a:rPr>
                          </m:ctrlPr>
                        </m:fPr>
                        <m:num>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𝑑</m:t>
                              </m:r>
                            </m:e>
                            <m:sup>
                              <m:r>
                                <a:rPr lang="en-AU" sz="2400" b="0" i="1" smtClean="0">
                                  <a:latin typeface="Cambria Math" panose="02040503050406030204" pitchFamily="18" charset="0"/>
                                  <a:ea typeface="Cambria Math" panose="02040503050406030204" pitchFamily="18" charset="0"/>
                                </a:rPr>
                                <m:t>2</m:t>
                              </m:r>
                            </m:sup>
                          </m:sSup>
                          <m:r>
                            <a:rPr lang="en-AU" sz="2400" b="0" i="1" smtClean="0">
                              <a:latin typeface="Cambria Math" panose="02040503050406030204" pitchFamily="18" charset="0"/>
                              <a:ea typeface="Cambria Math" panose="02040503050406030204" pitchFamily="18" charset="0"/>
                            </a:rPr>
                            <m:t>𝑥</m:t>
                          </m:r>
                        </m:num>
                        <m:den>
                          <m:r>
                            <a:rPr lang="en-AU" sz="2400" b="0" i="1" smtClean="0">
                              <a:latin typeface="Cambria Math" panose="02040503050406030204" pitchFamily="18" charset="0"/>
                              <a:ea typeface="Cambria Math" panose="02040503050406030204" pitchFamily="18" charset="0"/>
                            </a:rPr>
                            <m:t>𝑑</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𝑡</m:t>
                              </m:r>
                            </m:e>
                            <m:sup>
                              <m:r>
                                <a:rPr lang="en-AU" sz="2400" b="0" i="1" smtClean="0">
                                  <a:latin typeface="Cambria Math" panose="02040503050406030204" pitchFamily="18" charset="0"/>
                                  <a:ea typeface="Cambria Math" panose="02040503050406030204" pitchFamily="18" charset="0"/>
                                </a:rPr>
                                <m:t>2</m:t>
                              </m:r>
                            </m:sup>
                          </m:sSup>
                        </m:den>
                      </m:f>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𝛽</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𝑑𝑥</m:t>
                          </m:r>
                        </m:num>
                        <m:den>
                          <m:r>
                            <a:rPr lang="en-AU" sz="2400" b="0" i="1" smtClean="0">
                              <a:latin typeface="Cambria Math" panose="02040503050406030204" pitchFamily="18" charset="0"/>
                              <a:ea typeface="Cambria Math" panose="02040503050406030204" pitchFamily="18" charset="0"/>
                            </a:rPr>
                            <m:t>𝑑𝑡</m:t>
                          </m:r>
                        </m:den>
                      </m:f>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𝑘𝑥</m:t>
                      </m:r>
                      <m:r>
                        <a:rPr lang="en-AU" sz="2400" b="0" i="1" smtClean="0">
                          <a:latin typeface="Cambria Math" panose="02040503050406030204" pitchFamily="18" charset="0"/>
                          <a:ea typeface="Cambria Math" panose="02040503050406030204" pitchFamily="18" charset="0"/>
                        </a:rPr>
                        <m:t>=0</m:t>
                      </m:r>
                    </m:oMath>
                  </m:oMathPara>
                </a14:m>
                <a:endParaRPr lang="en-AU" sz="2400" dirty="0">
                  <a:latin typeface="+mj-lt"/>
                  <a:ea typeface="Cambria Math" panose="02040503050406030204" pitchFamily="18" charset="0"/>
                </a:endParaRPr>
              </a:p>
              <a:p>
                <a:r>
                  <a:rPr lang="en-AU" sz="2400" dirty="0">
                    <a:latin typeface="+mj-lt"/>
                    <a:ea typeface="Cambria Math" panose="02040503050406030204" pitchFamily="18" charset="0"/>
                  </a:rPr>
                  <a:t>which is a homogeneous second order linear ODE with constant coefficients. Depending on the relations among the physical parameters </a:t>
                </a:r>
                <a14:m>
                  <m:oMath xmlns:m="http://schemas.openxmlformats.org/officeDocument/2006/math">
                    <m:r>
                      <a:rPr lang="en-AU" sz="2400" b="0" i="1" smtClean="0">
                        <a:latin typeface="Cambria Math" panose="02040503050406030204" pitchFamily="18" charset="0"/>
                        <a:ea typeface="Cambria Math" panose="02040503050406030204" pitchFamily="18" charset="0"/>
                      </a:rPr>
                      <m:t>𝑚</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𝛽</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𝑘</m:t>
                    </m:r>
                  </m:oMath>
                </a14:m>
                <a:r>
                  <a:rPr lang="en-AU" sz="2400" dirty="0">
                    <a:latin typeface="+mj-lt"/>
                    <a:ea typeface="Cambria Math" panose="02040503050406030204" pitchFamily="18" charset="0"/>
                  </a:rPr>
                  <a:t> different solutions are possible, and these are determined by the roots of the characteristic equation:</a:t>
                </a: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ea typeface="Cambria Math" panose="02040503050406030204" pitchFamily="18" charset="0"/>
                        </a:rPr>
                        <m:t>𝑚</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𝜆</m:t>
                          </m:r>
                        </m:e>
                        <m:sup>
                          <m:r>
                            <a:rPr lang="en-AU" sz="2400" b="0" i="1" smtClean="0">
                              <a:latin typeface="Cambria Math" panose="02040503050406030204" pitchFamily="18" charset="0"/>
                              <a:ea typeface="Cambria Math" panose="02040503050406030204" pitchFamily="18" charset="0"/>
                            </a:rPr>
                            <m:t>2</m:t>
                          </m:r>
                        </m:sup>
                      </m:sSup>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𝛽𝜆</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𝑘</m:t>
                      </m:r>
                      <m:r>
                        <a:rPr lang="en-AU" sz="2400" b="0" i="1" smtClean="0">
                          <a:latin typeface="Cambria Math" panose="02040503050406030204" pitchFamily="18" charset="0"/>
                          <a:ea typeface="Cambria Math" panose="02040503050406030204" pitchFamily="18" charset="0"/>
                        </a:rPr>
                        <m:t>=0</m:t>
                      </m:r>
                    </m:oMath>
                  </m:oMathPara>
                </a14:m>
                <a:endParaRPr lang="en-AU" sz="2400" dirty="0">
                  <a:latin typeface="+mj-lt"/>
                  <a:ea typeface="Cambria Math" panose="02040503050406030204" pitchFamily="18" charset="0"/>
                </a:endParaRPr>
              </a:p>
              <a:p>
                <a:r>
                  <a:rPr lang="en-AU" sz="2400" dirty="0">
                    <a:latin typeface="+mj-lt"/>
                    <a:ea typeface="Cambria Math" panose="02040503050406030204" pitchFamily="18" charset="0"/>
                  </a:rPr>
                  <a:t>It is customary to consider different scenarios according to different values of </a:t>
                </a:r>
                <a14:m>
                  <m:oMath xmlns:m="http://schemas.openxmlformats.org/officeDocument/2006/math">
                    <m:r>
                      <a:rPr lang="en-AU" sz="2400" i="1" smtClean="0">
                        <a:latin typeface="Cambria Math" panose="02040503050406030204" pitchFamily="18" charset="0"/>
                        <a:ea typeface="Cambria Math" panose="02040503050406030204" pitchFamily="18" charset="0"/>
                      </a:rPr>
                      <m:t>𝛽</m:t>
                    </m:r>
                  </m:oMath>
                </a14:m>
                <a:r>
                  <a:rPr lang="en-AU" sz="2400" dirty="0">
                    <a:latin typeface="+mj-lt"/>
                    <a:ea typeface="Cambria Math" panose="02040503050406030204" pitchFamily="18" charset="0"/>
                  </a:rPr>
                  <a:t>, which regulates the intensity of the friction. Depending on such values, solutions can be identified as weakly, critically or strongly damped.</a:t>
                </a: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5267852"/>
              </a:xfrm>
              <a:prstGeom prst="rect">
                <a:avLst/>
              </a:prstGeom>
              <a:blipFill>
                <a:blip r:embed="rId2"/>
                <a:stretch>
                  <a:fillRect l="-836" t="-925" r="-1306" b="-1618"/>
                </a:stretch>
              </a:blipFill>
            </p:spPr>
            <p:txBody>
              <a:bodyPr/>
              <a:lstStyle/>
              <a:p>
                <a:r>
                  <a:rPr lang="en-GB">
                    <a:noFill/>
                  </a:rPr>
                  <a:t> </a:t>
                </a:r>
              </a:p>
            </p:txBody>
          </p:sp>
        </mc:Fallback>
      </mc:AlternateContent>
    </p:spTree>
    <p:extLst>
      <p:ext uri="{BB962C8B-B14F-4D97-AF65-F5344CB8AC3E}">
        <p14:creationId xmlns:p14="http://schemas.microsoft.com/office/powerpoint/2010/main" val="17565414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6549422" cy="523220"/>
          </a:xfrm>
          <a:prstGeom prst="rect">
            <a:avLst/>
          </a:prstGeom>
          <a:noFill/>
        </p:spPr>
        <p:txBody>
          <a:bodyPr wrap="none" rtlCol="0">
            <a:spAutoFit/>
          </a:bodyPr>
          <a:lstStyle/>
          <a:p>
            <a:r>
              <a:rPr lang="en-AU" sz="2800" b="1" cap="small" dirty="0">
                <a:solidFill>
                  <a:schemeClr val="bg1"/>
                </a:solidFill>
                <a:latin typeface="+mj-lt"/>
              </a:rPr>
              <a:t>6.10 Applications of second order linear ODEs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4990084"/>
              </a:xfrm>
              <a:prstGeom prst="rect">
                <a:avLst/>
              </a:prstGeom>
              <a:noFill/>
            </p:spPr>
            <p:txBody>
              <a:bodyPr wrap="square" rtlCol="0">
                <a:spAutoFit/>
              </a:bodyPr>
              <a:lstStyle/>
              <a:p>
                <a:r>
                  <a:rPr lang="en-AU" sz="2400" dirty="0">
                    <a:latin typeface="+mj-lt"/>
                    <a:ea typeface="Cambria Math" panose="02040503050406030204" pitchFamily="18" charset="0"/>
                  </a:rPr>
                  <a:t>Of particular interest is the case where an external force </a:t>
                </a:r>
                <a14:m>
                  <m:oMath xmlns:m="http://schemas.openxmlformats.org/officeDocument/2006/math">
                    <m:sSub>
                      <m:sSubPr>
                        <m:ctrlPr>
                          <a:rPr lang="en-AU" sz="240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𝑓</m:t>
                        </m:r>
                      </m:e>
                      <m:sub>
                        <m:r>
                          <a:rPr lang="en-AU" sz="2400" b="0" i="1" smtClean="0">
                            <a:latin typeface="Cambria Math" panose="02040503050406030204" pitchFamily="18" charset="0"/>
                            <a:ea typeface="Cambria Math" panose="02040503050406030204" pitchFamily="18" charset="0"/>
                          </a:rPr>
                          <m:t>𝑒𝑥𝑡</m:t>
                        </m:r>
                      </m:sub>
                    </m:sSub>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𝑡</m:t>
                    </m:r>
                    <m:r>
                      <a:rPr lang="en-AU" sz="2400" b="0" i="1" smtClean="0">
                        <a:latin typeface="Cambria Math" panose="02040503050406030204" pitchFamily="18" charset="0"/>
                        <a:ea typeface="Cambria Math" panose="02040503050406030204" pitchFamily="18" charset="0"/>
                      </a:rPr>
                      <m:t>)</m:t>
                    </m:r>
                  </m:oMath>
                </a14:m>
                <a:r>
                  <a:rPr lang="en-AU" sz="2400" dirty="0">
                    <a:latin typeface="+mj-lt"/>
                    <a:ea typeface="Cambria Math" panose="02040503050406030204" pitchFamily="18" charset="0"/>
                  </a:rPr>
                  <a:t> is driving the motion. This means that there is some mechanism that is capable of counteracting, to some extent, the presence of friction and keeping, at least for some time, the mass in motion. This is very important because of a phenomenon called resonance can arise; this occurrence may have disastrous consequences on mechanical structures. Newton’s law in this case implies:</a:t>
                </a:r>
              </a:p>
              <a:p>
                <a:pPr/>
                <a14:m>
                  <m:oMathPara xmlns:m="http://schemas.openxmlformats.org/officeDocument/2006/math">
                    <m:oMathParaPr>
                      <m:jc m:val="centerGroup"/>
                    </m:oMathParaPr>
                    <m:oMath xmlns:m="http://schemas.openxmlformats.org/officeDocument/2006/math">
                      <m:sSub>
                        <m:sSubPr>
                          <m:ctrlPr>
                            <a:rPr lang="en-AU" sz="240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𝐹</m:t>
                          </m:r>
                        </m:e>
                        <m:sub>
                          <m:r>
                            <a:rPr lang="en-AU" sz="2400" b="0" i="1" smtClean="0">
                              <a:latin typeface="Cambria Math" panose="02040503050406030204" pitchFamily="18" charset="0"/>
                              <a:ea typeface="Cambria Math" panose="02040503050406030204" pitchFamily="18" charset="0"/>
                            </a:rPr>
                            <m:t>𝑒𝑙</m:t>
                          </m:r>
                        </m:sub>
                      </m:sSub>
                      <m:r>
                        <a:rPr lang="en-AU" sz="2400" b="0" i="1" smtClean="0">
                          <a:latin typeface="Cambria Math" panose="02040503050406030204" pitchFamily="18" charset="0"/>
                          <a:ea typeface="Cambria Math" panose="02040503050406030204" pitchFamily="18" charset="0"/>
                        </a:rPr>
                        <m:t>+</m:t>
                      </m:r>
                      <m:sSub>
                        <m:sSubPr>
                          <m:ctrlPr>
                            <a:rPr lang="en-AU" sz="240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𝐹</m:t>
                          </m:r>
                        </m:e>
                        <m:sub>
                          <m:r>
                            <a:rPr lang="en-AU" sz="2400" b="0" i="1" smtClean="0">
                              <a:latin typeface="Cambria Math" panose="02040503050406030204" pitchFamily="18" charset="0"/>
                              <a:ea typeface="Cambria Math" panose="02040503050406030204" pitchFamily="18" charset="0"/>
                            </a:rPr>
                            <m:t>𝑓𝑟</m:t>
                          </m:r>
                        </m:sub>
                      </m:sSub>
                      <m:r>
                        <a:rPr lang="en-AU" sz="2400" b="0" i="1" smtClean="0">
                          <a:latin typeface="Cambria Math" panose="02040503050406030204" pitchFamily="18" charset="0"/>
                          <a:ea typeface="Cambria Math" panose="02040503050406030204" pitchFamily="18" charset="0"/>
                        </a:rPr>
                        <m:t>+</m:t>
                      </m:r>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𝑓</m:t>
                          </m:r>
                        </m:e>
                        <m:sub>
                          <m:r>
                            <a:rPr lang="en-AU" sz="2400" b="0" i="1" smtClean="0">
                              <a:latin typeface="Cambria Math" panose="02040503050406030204" pitchFamily="18" charset="0"/>
                              <a:ea typeface="Cambria Math" panose="02040503050406030204" pitchFamily="18" charset="0"/>
                            </a:rPr>
                            <m:t>𝑒𝑥𝑡</m:t>
                          </m:r>
                        </m:sub>
                      </m:sSub>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𝑚𝑎</m:t>
                      </m:r>
                      <m:r>
                        <a:rPr lang="en-AU" sz="2400" b="0" i="1" smtClean="0">
                          <a:latin typeface="Cambria Math" panose="02040503050406030204" pitchFamily="18" charset="0"/>
                          <a:ea typeface="Cambria Math" panose="02040503050406030204" pitchFamily="18" charset="0"/>
                        </a:rPr>
                        <m:t>       ⇒    </m:t>
                      </m:r>
                      <m:r>
                        <a:rPr lang="en-AU" sz="2400" i="1">
                          <a:latin typeface="Cambria Math" panose="02040503050406030204" pitchFamily="18" charset="0"/>
                          <a:ea typeface="Cambria Math" panose="02040503050406030204" pitchFamily="18" charset="0"/>
                        </a:rPr>
                        <m:t>𝑚</m:t>
                      </m:r>
                      <m:f>
                        <m:fPr>
                          <m:ctrlPr>
                            <a:rPr lang="en-AU" sz="2400" i="1">
                              <a:latin typeface="Cambria Math" panose="02040503050406030204" pitchFamily="18" charset="0"/>
                              <a:ea typeface="Cambria Math" panose="02040503050406030204" pitchFamily="18" charset="0"/>
                            </a:rPr>
                          </m:ctrlPr>
                        </m:fPr>
                        <m:num>
                          <m:sSup>
                            <m:sSupPr>
                              <m:ctrlPr>
                                <a:rPr lang="en-AU" sz="2400" i="1">
                                  <a:latin typeface="Cambria Math" panose="02040503050406030204" pitchFamily="18" charset="0"/>
                                  <a:ea typeface="Cambria Math" panose="02040503050406030204" pitchFamily="18" charset="0"/>
                                </a:rPr>
                              </m:ctrlPr>
                            </m:sSupPr>
                            <m:e>
                              <m:r>
                                <a:rPr lang="en-AU" sz="2400" i="1">
                                  <a:latin typeface="Cambria Math" panose="02040503050406030204" pitchFamily="18" charset="0"/>
                                  <a:ea typeface="Cambria Math" panose="02040503050406030204" pitchFamily="18" charset="0"/>
                                </a:rPr>
                                <m:t>𝑑</m:t>
                              </m:r>
                            </m:e>
                            <m:sup>
                              <m:r>
                                <a:rPr lang="en-AU" sz="2400" i="1">
                                  <a:latin typeface="Cambria Math" panose="02040503050406030204" pitchFamily="18" charset="0"/>
                                  <a:ea typeface="Cambria Math" panose="02040503050406030204" pitchFamily="18" charset="0"/>
                                </a:rPr>
                                <m:t>2</m:t>
                              </m:r>
                            </m:sup>
                          </m:sSup>
                          <m:r>
                            <a:rPr lang="en-AU" sz="2400" i="1">
                              <a:latin typeface="Cambria Math" panose="02040503050406030204" pitchFamily="18" charset="0"/>
                              <a:ea typeface="Cambria Math" panose="02040503050406030204" pitchFamily="18" charset="0"/>
                            </a:rPr>
                            <m:t>𝑥</m:t>
                          </m:r>
                        </m:num>
                        <m:den>
                          <m:r>
                            <a:rPr lang="en-AU" sz="2400" i="1">
                              <a:latin typeface="Cambria Math" panose="02040503050406030204" pitchFamily="18" charset="0"/>
                              <a:ea typeface="Cambria Math" panose="02040503050406030204" pitchFamily="18" charset="0"/>
                            </a:rPr>
                            <m:t>𝑑</m:t>
                          </m:r>
                          <m:sSup>
                            <m:sSupPr>
                              <m:ctrlPr>
                                <a:rPr lang="en-AU" sz="2400" i="1">
                                  <a:latin typeface="Cambria Math" panose="02040503050406030204" pitchFamily="18" charset="0"/>
                                  <a:ea typeface="Cambria Math" panose="02040503050406030204" pitchFamily="18" charset="0"/>
                                </a:rPr>
                              </m:ctrlPr>
                            </m:sSupPr>
                            <m:e>
                              <m:r>
                                <a:rPr lang="en-AU" sz="2400" i="1">
                                  <a:latin typeface="Cambria Math" panose="02040503050406030204" pitchFamily="18" charset="0"/>
                                  <a:ea typeface="Cambria Math" panose="02040503050406030204" pitchFamily="18" charset="0"/>
                                </a:rPr>
                                <m:t>𝑡</m:t>
                              </m:r>
                            </m:e>
                            <m:sup>
                              <m:r>
                                <a:rPr lang="en-AU" sz="2400" i="1">
                                  <a:latin typeface="Cambria Math" panose="02040503050406030204" pitchFamily="18" charset="0"/>
                                  <a:ea typeface="Cambria Math" panose="02040503050406030204" pitchFamily="18" charset="0"/>
                                </a:rPr>
                                <m:t>2</m:t>
                              </m:r>
                            </m:sup>
                          </m:sSup>
                        </m:den>
                      </m:f>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𝛽</m:t>
                      </m:r>
                      <m:f>
                        <m:fPr>
                          <m:ctrlPr>
                            <a:rPr lang="en-AU" sz="2400" i="1">
                              <a:latin typeface="Cambria Math" panose="02040503050406030204" pitchFamily="18" charset="0"/>
                              <a:ea typeface="Cambria Math" panose="02040503050406030204" pitchFamily="18" charset="0"/>
                            </a:rPr>
                          </m:ctrlPr>
                        </m:fPr>
                        <m:num>
                          <m:r>
                            <a:rPr lang="en-AU" sz="2400" i="1">
                              <a:latin typeface="Cambria Math" panose="02040503050406030204" pitchFamily="18" charset="0"/>
                              <a:ea typeface="Cambria Math" panose="02040503050406030204" pitchFamily="18" charset="0"/>
                            </a:rPr>
                            <m:t>𝑑𝑥</m:t>
                          </m:r>
                        </m:num>
                        <m:den>
                          <m:r>
                            <a:rPr lang="en-AU" sz="2400" i="1">
                              <a:latin typeface="Cambria Math" panose="02040503050406030204" pitchFamily="18" charset="0"/>
                              <a:ea typeface="Cambria Math" panose="02040503050406030204" pitchFamily="18" charset="0"/>
                            </a:rPr>
                            <m:t>𝑑𝑡</m:t>
                          </m:r>
                        </m:den>
                      </m:f>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𝑘𝑥</m:t>
                      </m:r>
                      <m:r>
                        <a:rPr lang="en-AU" sz="2400" i="1">
                          <a:latin typeface="Cambria Math" panose="02040503050406030204" pitchFamily="18" charset="0"/>
                          <a:ea typeface="Cambria Math" panose="02040503050406030204" pitchFamily="18" charset="0"/>
                        </a:rPr>
                        <m:t>=</m:t>
                      </m:r>
                      <m:sSub>
                        <m:sSubPr>
                          <m:ctrlPr>
                            <a:rPr lang="en-AU" sz="240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𝑓</m:t>
                          </m:r>
                        </m:e>
                        <m:sub>
                          <m:r>
                            <a:rPr lang="en-AU" sz="2400" b="0" i="1" smtClean="0">
                              <a:latin typeface="Cambria Math" panose="02040503050406030204" pitchFamily="18" charset="0"/>
                              <a:ea typeface="Cambria Math" panose="02040503050406030204" pitchFamily="18" charset="0"/>
                            </a:rPr>
                            <m:t>𝑒𝑥𝑡</m:t>
                          </m:r>
                        </m:sub>
                      </m:sSub>
                    </m:oMath>
                  </m:oMathPara>
                </a14:m>
                <a:endParaRPr lang="en-AU" sz="2400" dirty="0">
                  <a:ea typeface="Cambria Math" panose="02040503050406030204" pitchFamily="18" charset="0"/>
                </a:endParaRPr>
              </a:p>
              <a:p>
                <a:r>
                  <a:rPr lang="en-AU" sz="2400" dirty="0">
                    <a:latin typeface="+mj-lt"/>
                    <a:ea typeface="Cambria Math" panose="02040503050406030204" pitchFamily="18" charset="0"/>
                  </a:rPr>
                  <a:t>For simplicity, let us consider a particular case where friction is absent and the external force is periodic and given by</a:t>
                </a:r>
              </a:p>
              <a:p>
                <a:pPr/>
                <a14:m>
                  <m:oMathPara xmlns:m="http://schemas.openxmlformats.org/officeDocument/2006/math">
                    <m:oMathParaPr>
                      <m:jc m:val="centerGroup"/>
                    </m:oMathParaPr>
                    <m:oMath xmlns:m="http://schemas.openxmlformats.org/officeDocument/2006/math">
                      <m:sSub>
                        <m:sSubPr>
                          <m:ctrlPr>
                            <a:rPr lang="en-AU" sz="240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𝑓</m:t>
                          </m:r>
                        </m:e>
                        <m:sub>
                          <m:r>
                            <a:rPr lang="en-AU" sz="2400" b="0" i="1" smtClean="0">
                              <a:latin typeface="Cambria Math" panose="02040503050406030204" pitchFamily="18" charset="0"/>
                              <a:ea typeface="Cambria Math" panose="02040503050406030204" pitchFamily="18" charset="0"/>
                            </a:rPr>
                            <m:t>𝑒𝑥𝑡</m:t>
                          </m:r>
                        </m:sub>
                      </m:sSub>
                      <m:r>
                        <a:rPr lang="en-AU" sz="2400" b="0" i="1" smtClean="0">
                          <a:latin typeface="Cambria Math" panose="02040503050406030204" pitchFamily="18" charset="0"/>
                          <a:ea typeface="Cambria Math" panose="02040503050406030204" pitchFamily="18" charset="0"/>
                        </a:rPr>
                        <m:t>=</m:t>
                      </m:r>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𝑓</m:t>
                          </m:r>
                        </m:e>
                        <m:sub>
                          <m:r>
                            <a:rPr lang="en-AU" sz="2400" b="0" i="1" smtClean="0">
                              <a:latin typeface="Cambria Math" panose="02040503050406030204" pitchFamily="18" charset="0"/>
                              <a:ea typeface="Cambria Math" panose="02040503050406030204" pitchFamily="18" charset="0"/>
                            </a:rPr>
                            <m:t>0</m:t>
                          </m:r>
                        </m:sub>
                      </m:sSub>
                      <m:func>
                        <m:funcPr>
                          <m:ctrlPr>
                            <a:rPr lang="en-AU" sz="2400" b="0" i="1" smtClean="0">
                              <a:latin typeface="Cambria Math" panose="02040503050406030204" pitchFamily="18" charset="0"/>
                              <a:ea typeface="Cambria Math" panose="02040503050406030204" pitchFamily="18" charset="0"/>
                            </a:rPr>
                          </m:ctrlPr>
                        </m:funcPr>
                        <m:fName>
                          <m:r>
                            <m:rPr>
                              <m:sty m:val="p"/>
                            </m:rPr>
                            <a:rPr lang="en-AU" sz="2400" b="0" i="0" smtClean="0">
                              <a:latin typeface="Cambria Math" panose="02040503050406030204" pitchFamily="18" charset="0"/>
                              <a:ea typeface="Cambria Math" panose="02040503050406030204" pitchFamily="18" charset="0"/>
                            </a:rPr>
                            <m:t>cos</m:t>
                          </m:r>
                        </m:fName>
                        <m:e>
                          <m:d>
                            <m:dPr>
                              <m:ctrlPr>
                                <a:rPr lang="en-AU" sz="2400" b="0" i="1" smtClean="0">
                                  <a:latin typeface="Cambria Math" panose="02040503050406030204" pitchFamily="18" charset="0"/>
                                  <a:ea typeface="Cambria Math" panose="02040503050406030204" pitchFamily="18" charset="0"/>
                                </a:rPr>
                              </m:ctrlPr>
                            </m:dPr>
                            <m:e>
                              <m:rad>
                                <m:radPr>
                                  <m:degHide m:val="on"/>
                                  <m:ctrlPr>
                                    <a:rPr lang="en-AU" sz="2400" b="0" i="1" smtClean="0">
                                      <a:latin typeface="Cambria Math" panose="02040503050406030204" pitchFamily="18" charset="0"/>
                                      <a:ea typeface="Cambria Math" panose="02040503050406030204" pitchFamily="18" charset="0"/>
                                    </a:rPr>
                                  </m:ctrlPr>
                                </m:radPr>
                                <m:deg/>
                                <m:e>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𝑘</m:t>
                                      </m:r>
                                    </m:num>
                                    <m:den>
                                      <m:r>
                                        <a:rPr lang="en-AU" sz="2400" b="0" i="1" smtClean="0">
                                          <a:latin typeface="Cambria Math" panose="02040503050406030204" pitchFamily="18" charset="0"/>
                                          <a:ea typeface="Cambria Math" panose="02040503050406030204" pitchFamily="18" charset="0"/>
                                        </a:rPr>
                                        <m:t>𝑚</m:t>
                                      </m:r>
                                    </m:den>
                                  </m:f>
                                </m:e>
                              </m:rad>
                              <m:r>
                                <a:rPr lang="en-AU" sz="2400" b="0" i="1" smtClean="0">
                                  <a:latin typeface="Cambria Math" panose="02040503050406030204" pitchFamily="18" charset="0"/>
                                  <a:ea typeface="Cambria Math" panose="02040503050406030204" pitchFamily="18" charset="0"/>
                                </a:rPr>
                                <m:t>𝑡</m:t>
                              </m:r>
                            </m:e>
                          </m:d>
                        </m:e>
                      </m:func>
                    </m:oMath>
                  </m:oMathPara>
                </a14:m>
                <a:endParaRPr lang="en-AU" sz="2400" dirty="0">
                  <a:latin typeface="+mj-lt"/>
                  <a:ea typeface="Cambria Math" panose="02040503050406030204" pitchFamily="18" charset="0"/>
                </a:endParaRPr>
              </a:p>
              <a:p>
                <a:r>
                  <a:rPr lang="en-AU" sz="2400" dirty="0">
                    <a:latin typeface="+mj-lt"/>
                    <a:ea typeface="Cambria Math" panose="02040503050406030204" pitchFamily="18" charset="0"/>
                  </a:rPr>
                  <a:t>where </a:t>
                </a:r>
                <a14:m>
                  <m:oMath xmlns:m="http://schemas.openxmlformats.org/officeDocument/2006/math">
                    <m:sSub>
                      <m:sSubPr>
                        <m:ctrlPr>
                          <a:rPr lang="en-AU" sz="240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𝑓</m:t>
                        </m:r>
                      </m:e>
                      <m:sub>
                        <m:r>
                          <a:rPr lang="en-AU" sz="2400" b="0" i="1" smtClean="0">
                            <a:latin typeface="Cambria Math" panose="02040503050406030204" pitchFamily="18" charset="0"/>
                            <a:ea typeface="Cambria Math" panose="02040503050406030204" pitchFamily="18" charset="0"/>
                          </a:rPr>
                          <m:t>0</m:t>
                        </m:r>
                      </m:sub>
                    </m:sSub>
                  </m:oMath>
                </a14:m>
                <a:r>
                  <a:rPr lang="en-AU" sz="2400" dirty="0">
                    <a:latin typeface="+mj-lt"/>
                    <a:ea typeface="Cambria Math" panose="02040503050406030204" pitchFamily="18" charset="0"/>
                  </a:rPr>
                  <a:t> is the maximum amplitude of the periodic force considered.</a:t>
                </a: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4990084"/>
              </a:xfrm>
              <a:prstGeom prst="rect">
                <a:avLst/>
              </a:prstGeom>
              <a:blipFill>
                <a:blip r:embed="rId2"/>
                <a:stretch>
                  <a:fillRect l="-836" t="-977" b="-1832"/>
                </a:stretch>
              </a:blipFill>
            </p:spPr>
            <p:txBody>
              <a:bodyPr/>
              <a:lstStyle/>
              <a:p>
                <a:r>
                  <a:rPr lang="en-GB">
                    <a:noFill/>
                  </a:rPr>
                  <a:t> </a:t>
                </a:r>
              </a:p>
            </p:txBody>
          </p:sp>
        </mc:Fallback>
      </mc:AlternateContent>
    </p:spTree>
    <p:extLst>
      <p:ext uri="{BB962C8B-B14F-4D97-AF65-F5344CB8AC3E}">
        <p14:creationId xmlns:p14="http://schemas.microsoft.com/office/powerpoint/2010/main" val="28131930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6549422" cy="523220"/>
          </a:xfrm>
          <a:prstGeom prst="rect">
            <a:avLst/>
          </a:prstGeom>
          <a:noFill/>
        </p:spPr>
        <p:txBody>
          <a:bodyPr wrap="none" rtlCol="0">
            <a:spAutoFit/>
          </a:bodyPr>
          <a:lstStyle/>
          <a:p>
            <a:r>
              <a:rPr lang="en-AU" sz="2800" b="1" cap="small" dirty="0">
                <a:solidFill>
                  <a:schemeClr val="bg1"/>
                </a:solidFill>
                <a:latin typeface="+mj-lt"/>
              </a:rPr>
              <a:t>6.10 Applications of second order linear ODEs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5159554"/>
              </a:xfrm>
              <a:prstGeom prst="rect">
                <a:avLst/>
              </a:prstGeom>
              <a:noFill/>
            </p:spPr>
            <p:txBody>
              <a:bodyPr wrap="square" rtlCol="0">
                <a:spAutoFit/>
              </a:bodyPr>
              <a:lstStyle/>
              <a:p>
                <a:r>
                  <a:rPr lang="en-AU" sz="2400" dirty="0">
                    <a:latin typeface="+mj-lt"/>
                    <a:ea typeface="Cambria Math" panose="02040503050406030204" pitchFamily="18" charset="0"/>
                  </a:rPr>
                  <a:t>It can be shown that the general solution to the homogeneous equation in this case is that of harmonic motion:</a:t>
                </a:r>
              </a:p>
              <a:p>
                <a:pPr/>
                <a14:m>
                  <m:oMathPara xmlns:m="http://schemas.openxmlformats.org/officeDocument/2006/math">
                    <m:oMathParaPr>
                      <m:jc m:val="centerGroup"/>
                    </m:oMathParaPr>
                    <m:oMath xmlns:m="http://schemas.openxmlformats.org/officeDocument/2006/math">
                      <m:sSub>
                        <m:sSubPr>
                          <m:ctrlPr>
                            <a:rPr lang="en-AU" sz="240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𝑦</m:t>
                          </m:r>
                        </m:e>
                        <m:sub>
                          <m:r>
                            <a:rPr lang="en-AU" sz="2400" b="0" i="1" smtClean="0">
                              <a:latin typeface="Cambria Math" panose="02040503050406030204" pitchFamily="18" charset="0"/>
                              <a:ea typeface="Cambria Math" panose="02040503050406030204" pitchFamily="18" charset="0"/>
                            </a:rPr>
                            <m:t>𝐻</m:t>
                          </m:r>
                        </m:sub>
                      </m:sSub>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𝑡</m:t>
                          </m:r>
                        </m:e>
                      </m:d>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𝐴</m:t>
                      </m:r>
                      <m:func>
                        <m:funcPr>
                          <m:ctrlPr>
                            <a:rPr lang="en-AU" sz="2400" b="0" i="1" smtClean="0">
                              <a:latin typeface="Cambria Math" panose="02040503050406030204" pitchFamily="18" charset="0"/>
                              <a:ea typeface="Cambria Math" panose="02040503050406030204" pitchFamily="18" charset="0"/>
                            </a:rPr>
                          </m:ctrlPr>
                        </m:funcPr>
                        <m:fName>
                          <m:r>
                            <m:rPr>
                              <m:sty m:val="p"/>
                            </m:rPr>
                            <a:rPr lang="en-AU" sz="2400" b="0" i="0" smtClean="0">
                              <a:latin typeface="Cambria Math" panose="02040503050406030204" pitchFamily="18" charset="0"/>
                              <a:ea typeface="Cambria Math" panose="02040503050406030204" pitchFamily="18" charset="0"/>
                            </a:rPr>
                            <m:t>cos</m:t>
                          </m:r>
                        </m:fName>
                        <m:e>
                          <m:d>
                            <m:dPr>
                              <m:ctrlPr>
                                <a:rPr lang="en-AU" sz="2400" b="0" i="1" smtClean="0">
                                  <a:latin typeface="Cambria Math" panose="02040503050406030204" pitchFamily="18" charset="0"/>
                                  <a:ea typeface="Cambria Math" panose="02040503050406030204" pitchFamily="18" charset="0"/>
                                </a:rPr>
                              </m:ctrlPr>
                            </m:dPr>
                            <m:e>
                              <m:rad>
                                <m:radPr>
                                  <m:degHide m:val="on"/>
                                  <m:ctrlPr>
                                    <a:rPr lang="en-AU" sz="2400" b="0" i="1" smtClean="0">
                                      <a:latin typeface="Cambria Math" panose="02040503050406030204" pitchFamily="18" charset="0"/>
                                      <a:ea typeface="Cambria Math" panose="02040503050406030204" pitchFamily="18" charset="0"/>
                                    </a:rPr>
                                  </m:ctrlPr>
                                </m:radPr>
                                <m:deg/>
                                <m:e>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𝑘</m:t>
                                      </m:r>
                                    </m:num>
                                    <m:den>
                                      <m:r>
                                        <a:rPr lang="en-AU" sz="2400" b="0" i="1" smtClean="0">
                                          <a:latin typeface="Cambria Math" panose="02040503050406030204" pitchFamily="18" charset="0"/>
                                          <a:ea typeface="Cambria Math" panose="02040503050406030204" pitchFamily="18" charset="0"/>
                                        </a:rPr>
                                        <m:t>𝑚</m:t>
                                      </m:r>
                                    </m:den>
                                  </m:f>
                                </m:e>
                              </m:rad>
                              <m:r>
                                <a:rPr lang="en-AU" sz="2400" b="0" i="1" smtClean="0">
                                  <a:latin typeface="Cambria Math" panose="02040503050406030204" pitchFamily="18" charset="0"/>
                                  <a:ea typeface="Cambria Math" panose="02040503050406030204" pitchFamily="18" charset="0"/>
                                </a:rPr>
                                <m:t>𝑡</m:t>
                              </m:r>
                            </m:e>
                          </m:d>
                        </m:e>
                      </m:func>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𝐵</m:t>
                      </m:r>
                      <m:func>
                        <m:funcPr>
                          <m:ctrlPr>
                            <a:rPr lang="en-AU" sz="2400" b="0" i="1" smtClean="0">
                              <a:latin typeface="Cambria Math" panose="02040503050406030204" pitchFamily="18" charset="0"/>
                              <a:ea typeface="Cambria Math" panose="02040503050406030204" pitchFamily="18" charset="0"/>
                            </a:rPr>
                          </m:ctrlPr>
                        </m:funcPr>
                        <m:fName>
                          <m:r>
                            <m:rPr>
                              <m:sty m:val="p"/>
                            </m:rPr>
                            <a:rPr lang="en-AU" sz="2400" b="0" i="0" smtClean="0">
                              <a:latin typeface="Cambria Math" panose="02040503050406030204" pitchFamily="18" charset="0"/>
                              <a:ea typeface="Cambria Math" panose="02040503050406030204" pitchFamily="18" charset="0"/>
                            </a:rPr>
                            <m:t>sin</m:t>
                          </m:r>
                        </m:fName>
                        <m:e>
                          <m:d>
                            <m:dPr>
                              <m:ctrlPr>
                                <a:rPr lang="en-AU" sz="2400" i="1">
                                  <a:latin typeface="Cambria Math" panose="02040503050406030204" pitchFamily="18" charset="0"/>
                                  <a:ea typeface="Cambria Math" panose="02040503050406030204" pitchFamily="18" charset="0"/>
                                </a:rPr>
                              </m:ctrlPr>
                            </m:dPr>
                            <m:e>
                              <m:rad>
                                <m:radPr>
                                  <m:degHide m:val="on"/>
                                  <m:ctrlPr>
                                    <a:rPr lang="en-AU" sz="2400" i="1">
                                      <a:latin typeface="Cambria Math" panose="02040503050406030204" pitchFamily="18" charset="0"/>
                                      <a:ea typeface="Cambria Math" panose="02040503050406030204" pitchFamily="18" charset="0"/>
                                    </a:rPr>
                                  </m:ctrlPr>
                                </m:radPr>
                                <m:deg/>
                                <m:e>
                                  <m:f>
                                    <m:fPr>
                                      <m:ctrlPr>
                                        <a:rPr lang="en-AU" sz="2400" i="1">
                                          <a:latin typeface="Cambria Math" panose="02040503050406030204" pitchFamily="18" charset="0"/>
                                          <a:ea typeface="Cambria Math" panose="02040503050406030204" pitchFamily="18" charset="0"/>
                                        </a:rPr>
                                      </m:ctrlPr>
                                    </m:fPr>
                                    <m:num>
                                      <m:r>
                                        <a:rPr lang="en-AU" sz="2400" i="1">
                                          <a:latin typeface="Cambria Math" panose="02040503050406030204" pitchFamily="18" charset="0"/>
                                          <a:ea typeface="Cambria Math" panose="02040503050406030204" pitchFamily="18" charset="0"/>
                                        </a:rPr>
                                        <m:t>𝑘</m:t>
                                      </m:r>
                                    </m:num>
                                    <m:den>
                                      <m:r>
                                        <a:rPr lang="en-AU" sz="2400" i="1">
                                          <a:latin typeface="Cambria Math" panose="02040503050406030204" pitchFamily="18" charset="0"/>
                                          <a:ea typeface="Cambria Math" panose="02040503050406030204" pitchFamily="18" charset="0"/>
                                        </a:rPr>
                                        <m:t>𝑚</m:t>
                                      </m:r>
                                    </m:den>
                                  </m:f>
                                </m:e>
                              </m:rad>
                              <m:r>
                                <a:rPr lang="en-AU" sz="2400" i="1">
                                  <a:latin typeface="Cambria Math" panose="02040503050406030204" pitchFamily="18" charset="0"/>
                                  <a:ea typeface="Cambria Math" panose="02040503050406030204" pitchFamily="18" charset="0"/>
                                </a:rPr>
                                <m:t>𝑡</m:t>
                              </m:r>
                            </m:e>
                          </m:d>
                        </m:e>
                      </m:func>
                    </m:oMath>
                  </m:oMathPara>
                </a14:m>
                <a:endParaRPr lang="en-AU" sz="2400" dirty="0">
                  <a:latin typeface="+mj-lt"/>
                  <a:ea typeface="Cambria Math" panose="02040503050406030204" pitchFamily="18" charset="0"/>
                </a:endParaRPr>
              </a:p>
              <a:p>
                <a:r>
                  <a:rPr lang="en-AU" sz="2400" dirty="0">
                    <a:latin typeface="+mj-lt"/>
                    <a:ea typeface="Cambria Math" panose="02040503050406030204" pitchFamily="18" charset="0"/>
                  </a:rPr>
                  <a:t>where the term </a:t>
                </a:r>
                <a14:m>
                  <m:oMath xmlns:m="http://schemas.openxmlformats.org/officeDocument/2006/math">
                    <m:rad>
                      <m:radPr>
                        <m:degHide m:val="on"/>
                        <m:ctrlPr>
                          <a:rPr lang="en-AU" sz="2400" i="1" smtClean="0">
                            <a:latin typeface="Cambria Math" panose="02040503050406030204" pitchFamily="18" charset="0"/>
                            <a:ea typeface="Cambria Math" panose="02040503050406030204" pitchFamily="18" charset="0"/>
                          </a:rPr>
                        </m:ctrlPr>
                      </m:radPr>
                      <m:deg/>
                      <m:e>
                        <m:f>
                          <m:fPr>
                            <m:type m:val="lin"/>
                            <m:ctrlPr>
                              <a:rPr lang="en-AU" sz="240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𝑘</m:t>
                            </m:r>
                          </m:num>
                          <m:den>
                            <m:r>
                              <a:rPr lang="en-AU" sz="2400" b="0" i="1" smtClean="0">
                                <a:latin typeface="Cambria Math" panose="02040503050406030204" pitchFamily="18" charset="0"/>
                                <a:ea typeface="Cambria Math" panose="02040503050406030204" pitchFamily="18" charset="0"/>
                              </a:rPr>
                              <m:t>𝑚</m:t>
                            </m:r>
                          </m:den>
                        </m:f>
                      </m:e>
                    </m:rad>
                  </m:oMath>
                </a14:m>
                <a:r>
                  <a:rPr lang="en-AU" sz="2400" dirty="0">
                    <a:latin typeface="+mj-lt"/>
                    <a:ea typeface="Cambria Math" panose="02040503050406030204" pitchFamily="18" charset="0"/>
                  </a:rPr>
                  <a:t> is known as the natural frequency of the system. The given </a:t>
                </a:r>
                <a14:m>
                  <m:oMath xmlns:m="http://schemas.openxmlformats.org/officeDocument/2006/math">
                    <m:sSub>
                      <m:sSubPr>
                        <m:ctrlPr>
                          <a:rPr lang="en-AU" sz="2400" i="1">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𝑓</m:t>
                        </m:r>
                      </m:e>
                      <m:sub>
                        <m:r>
                          <a:rPr lang="en-AU" sz="2400" i="1">
                            <a:latin typeface="Cambria Math" panose="02040503050406030204" pitchFamily="18" charset="0"/>
                            <a:ea typeface="Cambria Math" panose="02040503050406030204" pitchFamily="18" charset="0"/>
                          </a:rPr>
                          <m:t>𝑒𝑥𝑡</m:t>
                        </m:r>
                      </m:sub>
                    </m:sSub>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𝑡</m:t>
                    </m:r>
                    <m:r>
                      <a:rPr lang="en-AU" sz="2400" b="0" i="1" smtClean="0">
                        <a:latin typeface="Cambria Math" panose="02040503050406030204" pitchFamily="18" charset="0"/>
                        <a:ea typeface="Cambria Math" panose="02040503050406030204" pitchFamily="18" charset="0"/>
                      </a:rPr>
                      <m:t>)</m:t>
                    </m:r>
                  </m:oMath>
                </a14:m>
                <a:r>
                  <a:rPr lang="en-AU" sz="2400" dirty="0">
                    <a:latin typeface="+mj-lt"/>
                    <a:ea typeface="Cambria Math" panose="02040503050406030204" pitchFamily="18" charset="0"/>
                  </a:rPr>
                  <a:t> is clearly not linearly independent of </a:t>
                </a:r>
                <a14:m>
                  <m:oMath xmlns:m="http://schemas.openxmlformats.org/officeDocument/2006/math">
                    <m:sSub>
                      <m:sSubPr>
                        <m:ctrlPr>
                          <a:rPr lang="en-AU" sz="2400" i="1">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𝑦</m:t>
                        </m:r>
                      </m:e>
                      <m:sub>
                        <m:r>
                          <a:rPr lang="en-AU" sz="2400" i="1">
                            <a:latin typeface="Cambria Math" panose="02040503050406030204" pitchFamily="18" charset="0"/>
                            <a:ea typeface="Cambria Math" panose="02040503050406030204" pitchFamily="18" charset="0"/>
                          </a:rPr>
                          <m:t>𝐻</m:t>
                        </m:r>
                      </m:sub>
                    </m:sSub>
                    <m:d>
                      <m:dPr>
                        <m:ctrlPr>
                          <a:rPr lang="en-AU" sz="2400" i="1">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𝑡</m:t>
                        </m:r>
                      </m:e>
                    </m:d>
                  </m:oMath>
                </a14:m>
                <a:r>
                  <a:rPr lang="en-AU" sz="2400" dirty="0">
                    <a:latin typeface="+mj-lt"/>
                    <a:ea typeface="Cambria Math" panose="02040503050406030204" pitchFamily="18" charset="0"/>
                  </a:rPr>
                  <a:t> and this occurrence is very important from a practical point of view. Given this, the special solution has to be</a:t>
                </a:r>
              </a:p>
              <a:p>
                <a:pPr/>
                <a14:m>
                  <m:oMathPara xmlns:m="http://schemas.openxmlformats.org/officeDocument/2006/math">
                    <m:oMathParaPr>
                      <m:jc m:val="centerGroup"/>
                    </m:oMathParaPr>
                    <m:oMath xmlns:m="http://schemas.openxmlformats.org/officeDocument/2006/math">
                      <m:sSub>
                        <m:sSubPr>
                          <m:ctrlPr>
                            <a:rPr lang="en-AU" sz="240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𝑦</m:t>
                          </m:r>
                        </m:e>
                        <m:sub>
                          <m:r>
                            <a:rPr lang="en-AU" sz="2400" b="0" i="1" smtClean="0">
                              <a:latin typeface="Cambria Math" panose="02040503050406030204" pitchFamily="18" charset="0"/>
                              <a:ea typeface="Cambria Math" panose="02040503050406030204" pitchFamily="18" charset="0"/>
                            </a:rPr>
                            <m:t>𝑃</m:t>
                          </m:r>
                        </m:sub>
                      </m:sSub>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𝑡</m:t>
                          </m:r>
                        </m:e>
                      </m:d>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𝑡</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𝐶</m:t>
                          </m:r>
                          <m:func>
                            <m:funcPr>
                              <m:ctrlPr>
                                <a:rPr lang="en-AU" sz="2400" i="1">
                                  <a:latin typeface="Cambria Math" panose="02040503050406030204" pitchFamily="18" charset="0"/>
                                  <a:ea typeface="Cambria Math" panose="02040503050406030204" pitchFamily="18" charset="0"/>
                                </a:rPr>
                              </m:ctrlPr>
                            </m:funcPr>
                            <m:fName>
                              <m:r>
                                <m:rPr>
                                  <m:sty m:val="p"/>
                                </m:rPr>
                                <a:rPr lang="en-AU" sz="2400">
                                  <a:latin typeface="Cambria Math" panose="02040503050406030204" pitchFamily="18" charset="0"/>
                                  <a:ea typeface="Cambria Math" panose="02040503050406030204" pitchFamily="18" charset="0"/>
                                </a:rPr>
                                <m:t>cos</m:t>
                              </m:r>
                            </m:fName>
                            <m:e>
                              <m:d>
                                <m:dPr>
                                  <m:ctrlPr>
                                    <a:rPr lang="en-AU" sz="2400" i="1">
                                      <a:latin typeface="Cambria Math" panose="02040503050406030204" pitchFamily="18" charset="0"/>
                                      <a:ea typeface="Cambria Math" panose="02040503050406030204" pitchFamily="18" charset="0"/>
                                    </a:rPr>
                                  </m:ctrlPr>
                                </m:dPr>
                                <m:e>
                                  <m:rad>
                                    <m:radPr>
                                      <m:degHide m:val="on"/>
                                      <m:ctrlPr>
                                        <a:rPr lang="en-AU" sz="2400" i="1">
                                          <a:latin typeface="Cambria Math" panose="02040503050406030204" pitchFamily="18" charset="0"/>
                                          <a:ea typeface="Cambria Math" panose="02040503050406030204" pitchFamily="18" charset="0"/>
                                        </a:rPr>
                                      </m:ctrlPr>
                                    </m:radPr>
                                    <m:deg/>
                                    <m:e>
                                      <m:f>
                                        <m:fPr>
                                          <m:ctrlPr>
                                            <a:rPr lang="en-AU" sz="2400" i="1">
                                              <a:latin typeface="Cambria Math" panose="02040503050406030204" pitchFamily="18" charset="0"/>
                                              <a:ea typeface="Cambria Math" panose="02040503050406030204" pitchFamily="18" charset="0"/>
                                            </a:rPr>
                                          </m:ctrlPr>
                                        </m:fPr>
                                        <m:num>
                                          <m:r>
                                            <a:rPr lang="en-AU" sz="2400" i="1">
                                              <a:latin typeface="Cambria Math" panose="02040503050406030204" pitchFamily="18" charset="0"/>
                                              <a:ea typeface="Cambria Math" panose="02040503050406030204" pitchFamily="18" charset="0"/>
                                            </a:rPr>
                                            <m:t>𝑘</m:t>
                                          </m:r>
                                        </m:num>
                                        <m:den>
                                          <m:r>
                                            <a:rPr lang="en-AU" sz="2400" i="1">
                                              <a:latin typeface="Cambria Math" panose="02040503050406030204" pitchFamily="18" charset="0"/>
                                              <a:ea typeface="Cambria Math" panose="02040503050406030204" pitchFamily="18" charset="0"/>
                                            </a:rPr>
                                            <m:t>𝑚</m:t>
                                          </m:r>
                                        </m:den>
                                      </m:f>
                                    </m:e>
                                  </m:rad>
                                  <m:r>
                                    <a:rPr lang="en-AU" sz="2400" i="1">
                                      <a:latin typeface="Cambria Math" panose="02040503050406030204" pitchFamily="18" charset="0"/>
                                      <a:ea typeface="Cambria Math" panose="02040503050406030204" pitchFamily="18" charset="0"/>
                                    </a:rPr>
                                    <m:t>𝑡</m:t>
                                  </m:r>
                                </m:e>
                              </m:d>
                            </m:e>
                          </m:func>
                          <m:r>
                            <a:rPr lang="en-AU" sz="2400" i="1">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𝐷</m:t>
                          </m:r>
                          <m:func>
                            <m:funcPr>
                              <m:ctrlPr>
                                <a:rPr lang="en-AU" sz="2400" i="1">
                                  <a:latin typeface="Cambria Math" panose="02040503050406030204" pitchFamily="18" charset="0"/>
                                  <a:ea typeface="Cambria Math" panose="02040503050406030204" pitchFamily="18" charset="0"/>
                                </a:rPr>
                              </m:ctrlPr>
                            </m:funcPr>
                            <m:fName>
                              <m:r>
                                <m:rPr>
                                  <m:sty m:val="p"/>
                                </m:rPr>
                                <a:rPr lang="en-AU" sz="2400">
                                  <a:latin typeface="Cambria Math" panose="02040503050406030204" pitchFamily="18" charset="0"/>
                                  <a:ea typeface="Cambria Math" panose="02040503050406030204" pitchFamily="18" charset="0"/>
                                </a:rPr>
                                <m:t>sin</m:t>
                              </m:r>
                            </m:fName>
                            <m:e>
                              <m:d>
                                <m:dPr>
                                  <m:ctrlPr>
                                    <a:rPr lang="en-AU" sz="2400" i="1">
                                      <a:latin typeface="Cambria Math" panose="02040503050406030204" pitchFamily="18" charset="0"/>
                                      <a:ea typeface="Cambria Math" panose="02040503050406030204" pitchFamily="18" charset="0"/>
                                    </a:rPr>
                                  </m:ctrlPr>
                                </m:dPr>
                                <m:e>
                                  <m:rad>
                                    <m:radPr>
                                      <m:degHide m:val="on"/>
                                      <m:ctrlPr>
                                        <a:rPr lang="en-AU" sz="2400" i="1">
                                          <a:latin typeface="Cambria Math" panose="02040503050406030204" pitchFamily="18" charset="0"/>
                                          <a:ea typeface="Cambria Math" panose="02040503050406030204" pitchFamily="18" charset="0"/>
                                        </a:rPr>
                                      </m:ctrlPr>
                                    </m:radPr>
                                    <m:deg/>
                                    <m:e>
                                      <m:f>
                                        <m:fPr>
                                          <m:ctrlPr>
                                            <a:rPr lang="en-AU" sz="2400" i="1">
                                              <a:latin typeface="Cambria Math" panose="02040503050406030204" pitchFamily="18" charset="0"/>
                                              <a:ea typeface="Cambria Math" panose="02040503050406030204" pitchFamily="18" charset="0"/>
                                            </a:rPr>
                                          </m:ctrlPr>
                                        </m:fPr>
                                        <m:num>
                                          <m:r>
                                            <a:rPr lang="en-AU" sz="2400" i="1">
                                              <a:latin typeface="Cambria Math" panose="02040503050406030204" pitchFamily="18" charset="0"/>
                                              <a:ea typeface="Cambria Math" panose="02040503050406030204" pitchFamily="18" charset="0"/>
                                            </a:rPr>
                                            <m:t>𝑘</m:t>
                                          </m:r>
                                        </m:num>
                                        <m:den>
                                          <m:r>
                                            <a:rPr lang="en-AU" sz="2400" i="1">
                                              <a:latin typeface="Cambria Math" panose="02040503050406030204" pitchFamily="18" charset="0"/>
                                              <a:ea typeface="Cambria Math" panose="02040503050406030204" pitchFamily="18" charset="0"/>
                                            </a:rPr>
                                            <m:t>𝑚</m:t>
                                          </m:r>
                                        </m:den>
                                      </m:f>
                                    </m:e>
                                  </m:rad>
                                  <m:r>
                                    <a:rPr lang="en-AU" sz="2400" i="1">
                                      <a:latin typeface="Cambria Math" panose="02040503050406030204" pitchFamily="18" charset="0"/>
                                      <a:ea typeface="Cambria Math" panose="02040503050406030204" pitchFamily="18" charset="0"/>
                                    </a:rPr>
                                    <m:t>𝑡</m:t>
                                  </m:r>
                                </m:e>
                              </m:d>
                            </m:e>
                          </m:func>
                        </m:e>
                      </m:d>
                    </m:oMath>
                  </m:oMathPara>
                </a14:m>
                <a:endParaRPr lang="en-AU" sz="2400" dirty="0">
                  <a:latin typeface="+mj-lt"/>
                  <a:ea typeface="Cambria Math" panose="02040503050406030204" pitchFamily="18" charset="0"/>
                </a:endParaRPr>
              </a:p>
              <a:p>
                <a:r>
                  <a:rPr lang="en-AU" sz="2400" dirty="0">
                    <a:latin typeface="+mj-lt"/>
                    <a:ea typeface="Cambria Math" panose="02040503050406030204" pitchFamily="18" charset="0"/>
                  </a:rPr>
                  <a:t>So the fact that this solution contains terms </a:t>
                </a:r>
                <a14:m>
                  <m:oMath xmlns:m="http://schemas.openxmlformats.org/officeDocument/2006/math">
                    <m:r>
                      <a:rPr lang="en-AU" sz="2400" b="0" i="1" smtClean="0">
                        <a:latin typeface="Cambria Math" panose="02040503050406030204" pitchFamily="18" charset="0"/>
                        <a:ea typeface="Cambria Math" panose="02040503050406030204" pitchFamily="18" charset="0"/>
                      </a:rPr>
                      <m:t>𝑡</m:t>
                    </m:r>
                    <m:r>
                      <a:rPr lang="en-AU" sz="2400" b="0" i="1" smtClean="0">
                        <a:latin typeface="Cambria Math" panose="02040503050406030204" pitchFamily="18" charset="0"/>
                        <a:ea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𝑠𝑖𝑛</m:t>
                    </m:r>
                  </m:oMath>
                </a14:m>
                <a:r>
                  <a:rPr lang="en-AU" sz="2400" dirty="0">
                    <a:latin typeface="+mj-lt"/>
                    <a:ea typeface="Cambria Math" panose="02040503050406030204" pitchFamily="18" charset="0"/>
                  </a:rPr>
                  <a:t> and </a:t>
                </a:r>
                <a14:m>
                  <m:oMath xmlns:m="http://schemas.openxmlformats.org/officeDocument/2006/math">
                    <m:r>
                      <a:rPr lang="en-AU" sz="2400" b="0" i="1" smtClean="0">
                        <a:latin typeface="Cambria Math" panose="02040503050406030204" pitchFamily="18" charset="0"/>
                        <a:ea typeface="Cambria Math" panose="02040503050406030204" pitchFamily="18" charset="0"/>
                      </a:rPr>
                      <m:t>𝑡</m:t>
                    </m:r>
                    <m:r>
                      <a:rPr lang="en-AU" sz="2400" b="0" i="1" smtClean="0">
                        <a:latin typeface="Cambria Math" panose="02040503050406030204" pitchFamily="18" charset="0"/>
                        <a:ea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𝑐𝑜𝑠</m:t>
                    </m:r>
                  </m:oMath>
                </a14:m>
                <a:r>
                  <a:rPr lang="en-AU" sz="2400" dirty="0">
                    <a:latin typeface="+mj-lt"/>
                    <a:ea typeface="Cambria Math" panose="02040503050406030204" pitchFamily="18" charset="0"/>
                  </a:rPr>
                  <a:t> tell us that oscillations tend to grow, causing the spring to eventually break.</a:t>
                </a: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5159554"/>
              </a:xfrm>
              <a:prstGeom prst="rect">
                <a:avLst/>
              </a:prstGeom>
              <a:blipFill>
                <a:blip r:embed="rId2"/>
                <a:stretch>
                  <a:fillRect l="-836" t="-945" r="-52" b="-1653"/>
                </a:stretch>
              </a:blipFill>
            </p:spPr>
            <p:txBody>
              <a:bodyPr/>
              <a:lstStyle/>
              <a:p>
                <a:r>
                  <a:rPr lang="en-GB">
                    <a:noFill/>
                  </a:rPr>
                  <a:t> </a:t>
                </a:r>
              </a:p>
            </p:txBody>
          </p:sp>
        </mc:Fallback>
      </mc:AlternateContent>
    </p:spTree>
    <p:extLst>
      <p:ext uri="{BB962C8B-B14F-4D97-AF65-F5344CB8AC3E}">
        <p14:creationId xmlns:p14="http://schemas.microsoft.com/office/powerpoint/2010/main" val="17361074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6549422" cy="523220"/>
          </a:xfrm>
          <a:prstGeom prst="rect">
            <a:avLst/>
          </a:prstGeom>
          <a:noFill/>
        </p:spPr>
        <p:txBody>
          <a:bodyPr wrap="none" rtlCol="0">
            <a:spAutoFit/>
          </a:bodyPr>
          <a:lstStyle/>
          <a:p>
            <a:r>
              <a:rPr lang="en-AU" sz="2800" b="1" cap="small" dirty="0">
                <a:solidFill>
                  <a:schemeClr val="bg1"/>
                </a:solidFill>
                <a:latin typeface="+mj-lt"/>
              </a:rPr>
              <a:t>6.10 Applications of second order linear ODEs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1200329"/>
              </a:xfrm>
              <a:prstGeom prst="rect">
                <a:avLst/>
              </a:prstGeom>
              <a:noFill/>
            </p:spPr>
            <p:txBody>
              <a:bodyPr wrap="square" rtlCol="0">
                <a:spAutoFit/>
              </a:bodyPr>
              <a:lstStyle/>
              <a:p>
                <a:r>
                  <a:rPr lang="en-AU" sz="2400" dirty="0">
                    <a:latin typeface="+mj-lt"/>
                    <a:ea typeface="Cambria Math" panose="02040503050406030204" pitchFamily="18" charset="0"/>
                  </a:rPr>
                  <a:t>If we consider the case where </a:t>
                </a:r>
                <a14:m>
                  <m:oMath xmlns:m="http://schemas.openxmlformats.org/officeDocument/2006/math">
                    <m:r>
                      <a:rPr lang="en-AU" sz="2400" b="0" i="1" smtClean="0">
                        <a:latin typeface="Cambria Math" panose="02040503050406030204" pitchFamily="18" charset="0"/>
                        <a:ea typeface="Cambria Math" panose="02040503050406030204" pitchFamily="18" charset="0"/>
                      </a:rPr>
                      <m:t>𝑚</m:t>
                    </m:r>
                    <m:r>
                      <a:rPr lang="en-AU" sz="2400" b="0" i="1" smtClean="0">
                        <a:latin typeface="Cambria Math" panose="02040503050406030204" pitchFamily="18" charset="0"/>
                        <a:ea typeface="Cambria Math" panose="02040503050406030204" pitchFamily="18" charset="0"/>
                      </a:rPr>
                      <m:t>=1</m:t>
                    </m:r>
                  </m:oMath>
                </a14:m>
                <a:r>
                  <a:rPr lang="en-AU" sz="2400" dirty="0">
                    <a:latin typeface="+mj-lt"/>
                    <a:ea typeface="Cambria Math" panose="02040503050406030204" pitchFamily="18" charset="0"/>
                  </a:rPr>
                  <a:t> and </a:t>
                </a:r>
                <a14:m>
                  <m:oMath xmlns:m="http://schemas.openxmlformats.org/officeDocument/2006/math">
                    <m:r>
                      <a:rPr lang="en-AU" sz="2400" b="0" i="1" smtClean="0">
                        <a:latin typeface="Cambria Math" panose="02040503050406030204" pitchFamily="18" charset="0"/>
                        <a:ea typeface="Cambria Math" panose="02040503050406030204" pitchFamily="18" charset="0"/>
                      </a:rPr>
                      <m:t>𝑘</m:t>
                    </m:r>
                    <m:r>
                      <a:rPr lang="en-AU" sz="2400" b="0" i="1" smtClean="0">
                        <a:latin typeface="Cambria Math" panose="02040503050406030204" pitchFamily="18" charset="0"/>
                        <a:ea typeface="Cambria Math" panose="02040503050406030204" pitchFamily="18" charset="0"/>
                      </a:rPr>
                      <m:t>=1</m:t>
                    </m:r>
                  </m:oMath>
                </a14:m>
                <a:r>
                  <a:rPr lang="en-AU" sz="2400" dirty="0">
                    <a:latin typeface="+mj-lt"/>
                    <a:ea typeface="Cambria Math" panose="02040503050406030204" pitchFamily="18" charset="0"/>
                  </a:rPr>
                  <a:t>, and initial condition where the spring is initially pulled out of its equilibrium position (</a:t>
                </a:r>
                <a14:m>
                  <m:oMath xmlns:m="http://schemas.openxmlformats.org/officeDocument/2006/math">
                    <m:r>
                      <a:rPr lang="en-AU" sz="2400" b="0" i="1" smtClean="0">
                        <a:latin typeface="Cambria Math" panose="02040503050406030204" pitchFamily="18" charset="0"/>
                        <a:ea typeface="Cambria Math" panose="02040503050406030204" pitchFamily="18" charset="0"/>
                      </a:rPr>
                      <m:t>𝑥</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0</m:t>
                        </m:r>
                      </m:e>
                    </m:d>
                    <m:r>
                      <a:rPr lang="en-AU" sz="2400" b="0" i="1" smtClean="0">
                        <a:latin typeface="Cambria Math" panose="02040503050406030204" pitchFamily="18" charset="0"/>
                        <a:ea typeface="Cambria Math" panose="02040503050406030204" pitchFamily="18" charset="0"/>
                      </a:rPr>
                      <m:t>=1</m:t>
                    </m:r>
                  </m:oMath>
                </a14:m>
                <a:r>
                  <a:rPr lang="en-AU" sz="2400" dirty="0">
                    <a:latin typeface="+mj-lt"/>
                    <a:ea typeface="Cambria Math" panose="02040503050406030204" pitchFamily="18" charset="0"/>
                  </a:rPr>
                  <a:t>) but no initial velocity is present (</a:t>
                </a:r>
                <a14:m>
                  <m:oMath xmlns:m="http://schemas.openxmlformats.org/officeDocument/2006/math">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𝑥</m:t>
                        </m:r>
                      </m:e>
                      <m:sup>
                        <m:r>
                          <a:rPr lang="en-AU" sz="2400" b="0" i="1" smtClean="0">
                            <a:latin typeface="Cambria Math" panose="02040503050406030204" pitchFamily="18" charset="0"/>
                            <a:ea typeface="Cambria Math" panose="02040503050406030204" pitchFamily="18" charset="0"/>
                          </a:rPr>
                          <m:t>′</m:t>
                        </m:r>
                      </m:sup>
                    </m:sSup>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0</m:t>
                        </m:r>
                      </m:e>
                    </m:d>
                    <m:r>
                      <a:rPr lang="en-AU" sz="2400" b="0" i="1" smtClean="0">
                        <a:latin typeface="Cambria Math" panose="02040503050406030204" pitchFamily="18" charset="0"/>
                        <a:ea typeface="Cambria Math" panose="02040503050406030204" pitchFamily="18" charset="0"/>
                      </a:rPr>
                      <m:t>=0</m:t>
                    </m:r>
                  </m:oMath>
                </a14:m>
                <a:r>
                  <a:rPr lang="en-AU" sz="2400" dirty="0">
                    <a:latin typeface="+mj-lt"/>
                    <a:ea typeface="Cambria Math" panose="02040503050406030204" pitchFamily="18" charset="0"/>
                  </a:rPr>
                  <a:t>), and a convenient </a:t>
                </a:r>
                <a14:m>
                  <m:oMath xmlns:m="http://schemas.openxmlformats.org/officeDocument/2006/math">
                    <m:sSub>
                      <m:sSubPr>
                        <m:ctrlPr>
                          <a:rPr lang="en-AU" sz="240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𝑓</m:t>
                        </m:r>
                      </m:e>
                      <m:sub>
                        <m:r>
                          <a:rPr lang="en-AU" sz="2400" b="0" i="1" smtClean="0">
                            <a:latin typeface="Cambria Math" panose="02040503050406030204" pitchFamily="18" charset="0"/>
                            <a:ea typeface="Cambria Math" panose="02040503050406030204" pitchFamily="18" charset="0"/>
                          </a:rPr>
                          <m:t>0</m:t>
                        </m:r>
                      </m:sub>
                    </m:sSub>
                    <m:r>
                      <a:rPr lang="en-AU" sz="2400" b="0" i="1" smtClean="0">
                        <a:latin typeface="Cambria Math" panose="02040503050406030204" pitchFamily="18" charset="0"/>
                        <a:ea typeface="Cambria Math" panose="02040503050406030204" pitchFamily="18" charset="0"/>
                      </a:rPr>
                      <m:t>=1</m:t>
                    </m:r>
                  </m:oMath>
                </a14:m>
                <a:r>
                  <a:rPr lang="en-AU" sz="2400" dirty="0">
                    <a:latin typeface="+mj-lt"/>
                    <a:ea typeface="Cambria Math" panose="02040503050406030204" pitchFamily="18" charset="0"/>
                  </a:rPr>
                  <a:t> we have the following IVP</a:t>
                </a: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1200329"/>
              </a:xfrm>
              <a:prstGeom prst="rect">
                <a:avLst/>
              </a:prstGeom>
              <a:blipFill>
                <a:blip r:embed="rId2"/>
                <a:stretch>
                  <a:fillRect l="-836" t="-4061" b="-10660"/>
                </a:stretch>
              </a:blipFill>
            </p:spPr>
            <p:txBody>
              <a:bodyPr/>
              <a:lstStyle/>
              <a:p>
                <a:r>
                  <a:rPr lang="en-GB">
                    <a:noFill/>
                  </a:rPr>
                  <a:t> </a:t>
                </a:r>
              </a:p>
            </p:txBody>
          </p:sp>
        </mc:Fallback>
      </mc:AlternateContent>
      <p:pic>
        <p:nvPicPr>
          <p:cNvPr id="3" name="Picture 2">
            <a:extLst>
              <a:ext uri="{FF2B5EF4-FFF2-40B4-BE49-F238E27FC236}">
                <a16:creationId xmlns:a16="http://schemas.microsoft.com/office/drawing/2014/main" id="{27FE23AF-3FBA-410D-83C3-02645281EC7F}"/>
              </a:ext>
            </a:extLst>
          </p:cNvPr>
          <p:cNvPicPr>
            <a:picLocks noChangeAspect="1"/>
          </p:cNvPicPr>
          <p:nvPr/>
        </p:nvPicPr>
        <p:blipFill>
          <a:blip r:embed="rId3"/>
          <a:stretch>
            <a:fillRect/>
          </a:stretch>
        </p:blipFill>
        <p:spPr>
          <a:xfrm>
            <a:off x="7520382" y="2065874"/>
            <a:ext cx="4411641" cy="2523968"/>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3936370-974A-4808-97C4-CDFE0A2F9162}"/>
                  </a:ext>
                </a:extLst>
              </p:cNvPr>
              <p:cNvSpPr txBox="1"/>
              <p:nvPr/>
            </p:nvSpPr>
            <p:spPr>
              <a:xfrm>
                <a:off x="259976" y="2140682"/>
                <a:ext cx="7315200" cy="2630015"/>
              </a:xfrm>
              <a:prstGeom prst="rect">
                <a:avLst/>
              </a:prstGeom>
              <a:noFill/>
            </p:spPr>
            <p:txBody>
              <a:bodyPr wrap="square" rtlCol="0">
                <a:spAutoFit/>
              </a:bodyPr>
              <a:lstStyle/>
              <a:p>
                <a:r>
                  <a:rPr lang="en-AU" sz="2400" dirty="0">
                    <a:ea typeface="Cambria Math" panose="02040503050406030204" pitchFamily="18" charset="0"/>
                  </a:rPr>
                  <a:t> </a:t>
                </a:r>
                <a14:m>
                  <m:oMath xmlns:m="http://schemas.openxmlformats.org/officeDocument/2006/math">
                    <m:d>
                      <m:dPr>
                        <m:begChr m:val="{"/>
                        <m:endChr m:val=""/>
                        <m:ctrlPr>
                          <a:rPr lang="en-AU" sz="2400" i="1" smtClean="0">
                            <a:latin typeface="Cambria Math" panose="02040503050406030204" pitchFamily="18" charset="0"/>
                            <a:ea typeface="Cambria Math" panose="02040503050406030204" pitchFamily="18" charset="0"/>
                          </a:rPr>
                        </m:ctrlPr>
                      </m:dPr>
                      <m:e>
                        <m:m>
                          <m:mPr>
                            <m:mcs>
                              <m:mc>
                                <m:mcPr>
                                  <m:count m:val="1"/>
                                  <m:mcJc m:val="center"/>
                                </m:mcPr>
                              </m:mc>
                            </m:mcs>
                            <m:ctrlPr>
                              <a:rPr lang="en-AU" sz="2400" i="1" smtClean="0">
                                <a:latin typeface="Cambria Math" panose="02040503050406030204" pitchFamily="18" charset="0"/>
                                <a:ea typeface="Cambria Math" panose="02040503050406030204" pitchFamily="18" charset="0"/>
                              </a:rPr>
                            </m:ctrlPr>
                          </m:mPr>
                          <m:mr>
                            <m:e>
                              <m:f>
                                <m:fPr>
                                  <m:ctrlPr>
                                    <a:rPr lang="en-AU" sz="2400" b="0" i="1" smtClean="0">
                                      <a:latin typeface="Cambria Math" panose="02040503050406030204" pitchFamily="18" charset="0"/>
                                      <a:ea typeface="Cambria Math" panose="02040503050406030204" pitchFamily="18" charset="0"/>
                                    </a:rPr>
                                  </m:ctrlPr>
                                </m:fPr>
                                <m:num>
                                  <m:sSup>
                                    <m:sSupPr>
                                      <m:ctrlPr>
                                        <a:rPr lang="en-AU" sz="2400" b="0" i="1" smtClean="0">
                                          <a:latin typeface="Cambria Math" panose="02040503050406030204" pitchFamily="18" charset="0"/>
                                          <a:ea typeface="Cambria Math" panose="02040503050406030204" pitchFamily="18" charset="0"/>
                                        </a:rPr>
                                      </m:ctrlPr>
                                    </m:sSupPr>
                                    <m:e>
                                      <m:r>
                                        <m:rPr>
                                          <m:brk m:alnAt="7"/>
                                        </m:rPr>
                                        <a:rPr lang="en-AU" sz="2400" b="0" i="1" smtClean="0">
                                          <a:latin typeface="Cambria Math" panose="02040503050406030204" pitchFamily="18" charset="0"/>
                                          <a:ea typeface="Cambria Math" panose="02040503050406030204" pitchFamily="18" charset="0"/>
                                        </a:rPr>
                                        <m:t>𝑑</m:t>
                                      </m:r>
                                    </m:e>
                                    <m:sup>
                                      <m:r>
                                        <m:rPr>
                                          <m:brk m:alnAt="7"/>
                                        </m:rPr>
                                        <a:rPr lang="en-AU" sz="2400" b="0" i="1" smtClean="0">
                                          <a:latin typeface="Cambria Math" panose="02040503050406030204" pitchFamily="18" charset="0"/>
                                          <a:ea typeface="Cambria Math" panose="02040503050406030204" pitchFamily="18" charset="0"/>
                                        </a:rPr>
                                        <m:t>2</m:t>
                                      </m:r>
                                    </m:sup>
                                  </m:sSup>
                                  <m:r>
                                    <m:rPr>
                                      <m:brk m:alnAt="7"/>
                                    </m:rPr>
                                    <a:rPr lang="en-AU" sz="2400" b="0" i="1" smtClean="0">
                                      <a:latin typeface="Cambria Math" panose="02040503050406030204" pitchFamily="18" charset="0"/>
                                      <a:ea typeface="Cambria Math" panose="02040503050406030204" pitchFamily="18" charset="0"/>
                                    </a:rPr>
                                    <m:t>𝑥</m:t>
                                  </m:r>
                                </m:num>
                                <m:den>
                                  <m:r>
                                    <m:rPr>
                                      <m:brk m:alnAt="7"/>
                                    </m:rPr>
                                    <a:rPr lang="en-AU" sz="2400" b="0" i="1" smtClean="0">
                                      <a:latin typeface="Cambria Math" panose="02040503050406030204" pitchFamily="18" charset="0"/>
                                      <a:ea typeface="Cambria Math" panose="02040503050406030204" pitchFamily="18" charset="0"/>
                                    </a:rPr>
                                    <m:t>𝑑</m:t>
                                  </m:r>
                                  <m:sSup>
                                    <m:sSupPr>
                                      <m:ctrlPr>
                                        <a:rPr lang="en-AU" sz="2400" b="0" i="1" smtClean="0">
                                          <a:latin typeface="Cambria Math" panose="02040503050406030204" pitchFamily="18" charset="0"/>
                                          <a:ea typeface="Cambria Math" panose="02040503050406030204" pitchFamily="18" charset="0"/>
                                        </a:rPr>
                                      </m:ctrlPr>
                                    </m:sSupPr>
                                    <m:e>
                                      <m:r>
                                        <m:rPr>
                                          <m:brk m:alnAt="7"/>
                                        </m:rPr>
                                        <a:rPr lang="en-AU" sz="2400" b="0" i="1" smtClean="0">
                                          <a:latin typeface="Cambria Math" panose="02040503050406030204" pitchFamily="18" charset="0"/>
                                          <a:ea typeface="Cambria Math" panose="02040503050406030204" pitchFamily="18" charset="0"/>
                                        </a:rPr>
                                        <m:t>𝑡</m:t>
                                      </m:r>
                                    </m:e>
                                    <m:sup>
                                      <m:r>
                                        <m:rPr>
                                          <m:brk m:alnAt="7"/>
                                        </m:rPr>
                                        <a:rPr lang="en-AU" sz="2400" b="0" i="1" smtClean="0">
                                          <a:latin typeface="Cambria Math" panose="02040503050406030204" pitchFamily="18" charset="0"/>
                                          <a:ea typeface="Cambria Math" panose="02040503050406030204" pitchFamily="18" charset="0"/>
                                        </a:rPr>
                                        <m:t>2</m:t>
                                      </m:r>
                                    </m:sup>
                                  </m:sSup>
                                </m:den>
                              </m:f>
                              <m:r>
                                <m:rPr>
                                  <m:brk m:alnAt="7"/>
                                </m:rP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func>
                                <m:funcPr>
                                  <m:ctrlPr>
                                    <a:rPr lang="en-AU" sz="2400" b="0" i="1" smtClean="0">
                                      <a:latin typeface="Cambria Math" panose="02040503050406030204" pitchFamily="18" charset="0"/>
                                      <a:ea typeface="Cambria Math" panose="02040503050406030204" pitchFamily="18" charset="0"/>
                                    </a:rPr>
                                  </m:ctrlPr>
                                </m:funcPr>
                                <m:fName>
                                  <m:r>
                                    <m:rPr>
                                      <m:sty m:val="p"/>
                                      <m:brk m:alnAt="7"/>
                                    </m:rPr>
                                    <a:rPr lang="en-AU" sz="2400" b="0" i="0" smtClean="0">
                                      <a:latin typeface="Cambria Math" panose="02040503050406030204" pitchFamily="18" charset="0"/>
                                      <a:ea typeface="Cambria Math" panose="02040503050406030204" pitchFamily="18" charset="0"/>
                                    </a:rPr>
                                    <m:t>c</m:t>
                                  </m:r>
                                  <m:r>
                                    <m:rPr>
                                      <m:sty m:val="p"/>
                                    </m:rPr>
                                    <a:rPr lang="en-AU" sz="2400" b="0" i="0" smtClean="0">
                                      <a:latin typeface="Cambria Math" panose="02040503050406030204" pitchFamily="18" charset="0"/>
                                      <a:ea typeface="Cambria Math" panose="02040503050406030204" pitchFamily="18" charset="0"/>
                                    </a:rPr>
                                    <m:t>os</m:t>
                                  </m:r>
                                </m:fName>
                                <m:e>
                                  <m:r>
                                    <a:rPr lang="en-AU" sz="2400" b="0" i="1" smtClean="0">
                                      <a:latin typeface="Cambria Math" panose="02040503050406030204" pitchFamily="18" charset="0"/>
                                      <a:ea typeface="Cambria Math" panose="02040503050406030204" pitchFamily="18" charset="0"/>
                                    </a:rPr>
                                    <m:t>𝑡</m:t>
                                  </m:r>
                                </m:e>
                              </m:func>
                            </m:e>
                          </m:mr>
                          <m:mr>
                            <m:e>
                              <m:r>
                                <a:rPr lang="en-AU" sz="2400" b="0" i="1" smtClean="0">
                                  <a:latin typeface="Cambria Math" panose="02040503050406030204" pitchFamily="18" charset="0"/>
                                  <a:ea typeface="Cambria Math" panose="02040503050406030204" pitchFamily="18" charset="0"/>
                                </a:rPr>
                                <m:t>𝑥</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0</m:t>
                                  </m:r>
                                </m:e>
                              </m:d>
                              <m:r>
                                <a:rPr lang="en-AU" sz="2400" b="0" i="1" smtClean="0">
                                  <a:latin typeface="Cambria Math" panose="02040503050406030204" pitchFamily="18" charset="0"/>
                                  <a:ea typeface="Cambria Math" panose="02040503050406030204" pitchFamily="18" charset="0"/>
                                </a:rPr>
                                <m:t>=1</m:t>
                              </m:r>
                            </m:e>
                          </m:mr>
                          <m:mr>
                            <m:e>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𝑥</m:t>
                                  </m:r>
                                </m:e>
                                <m:sup>
                                  <m:r>
                                    <a:rPr lang="en-AU" sz="2400" b="0" i="1" smtClean="0">
                                      <a:latin typeface="Cambria Math" panose="02040503050406030204" pitchFamily="18" charset="0"/>
                                      <a:ea typeface="Cambria Math" panose="02040503050406030204" pitchFamily="18" charset="0"/>
                                    </a:rPr>
                                    <m:t>′</m:t>
                                  </m:r>
                                </m:sup>
                              </m:sSup>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0</m:t>
                                  </m:r>
                                </m:e>
                              </m:d>
                              <m:r>
                                <a:rPr lang="en-AU" sz="2400" b="0" i="1" smtClean="0">
                                  <a:latin typeface="Cambria Math" panose="02040503050406030204" pitchFamily="18" charset="0"/>
                                  <a:ea typeface="Cambria Math" panose="02040503050406030204" pitchFamily="18" charset="0"/>
                                </a:rPr>
                                <m:t>=0</m:t>
                              </m:r>
                            </m:e>
                          </m:mr>
                        </m:m>
                      </m:e>
                    </m:d>
                  </m:oMath>
                </a14:m>
                <a:endParaRPr lang="en-AU" sz="2400" dirty="0">
                  <a:latin typeface="+mj-lt"/>
                  <a:ea typeface="Cambria Math" panose="02040503050406030204" pitchFamily="18" charset="0"/>
                </a:endParaRPr>
              </a:p>
              <a:p>
                <a:r>
                  <a:rPr lang="en-AU" sz="2400" dirty="0">
                    <a:latin typeface="+mj-lt"/>
                    <a:ea typeface="Cambria Math" panose="02040503050406030204" pitchFamily="18" charset="0"/>
                  </a:rPr>
                  <a:t>The characteristic equation is </a:t>
                </a:r>
                <a14:m>
                  <m:oMath xmlns:m="http://schemas.openxmlformats.org/officeDocument/2006/math">
                    <m:sSup>
                      <m:sSupPr>
                        <m:ctrlPr>
                          <a:rPr lang="en-AU" sz="2400" b="0" i="1" smtClean="0">
                            <a:latin typeface="Cambria Math" panose="02040503050406030204" pitchFamily="18" charset="0"/>
                            <a:ea typeface="Cambria Math" panose="02040503050406030204" pitchFamily="18" charset="0"/>
                          </a:rPr>
                        </m:ctrlPr>
                      </m:sSupPr>
                      <m:e>
                        <m:r>
                          <a:rPr lang="en-AU" sz="2400" i="1" smtClean="0">
                            <a:latin typeface="Cambria Math" panose="02040503050406030204" pitchFamily="18" charset="0"/>
                            <a:ea typeface="Cambria Math" panose="02040503050406030204" pitchFamily="18" charset="0"/>
                          </a:rPr>
                          <m:t>𝜆</m:t>
                        </m:r>
                      </m:e>
                      <m:sup>
                        <m:r>
                          <a:rPr lang="en-AU" sz="2400" b="0" i="1" smtClean="0">
                            <a:latin typeface="Cambria Math" panose="02040503050406030204" pitchFamily="18" charset="0"/>
                            <a:ea typeface="Cambria Math" panose="02040503050406030204" pitchFamily="18" charset="0"/>
                          </a:rPr>
                          <m:t>2</m:t>
                        </m:r>
                      </m:sup>
                    </m:sSup>
                    <m:r>
                      <a:rPr lang="en-AU" sz="2400" b="0" i="1" smtClean="0">
                        <a:latin typeface="Cambria Math" panose="02040503050406030204" pitchFamily="18" charset="0"/>
                        <a:ea typeface="Cambria Math" panose="02040503050406030204" pitchFamily="18" charset="0"/>
                      </a:rPr>
                      <m:t>+1=0, </m:t>
                    </m:r>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𝜆</m:t>
                        </m:r>
                      </m:e>
                      <m:sub>
                        <m:r>
                          <a:rPr lang="en-AU" sz="2400" b="0" i="1" smtClean="0">
                            <a:latin typeface="Cambria Math" panose="02040503050406030204" pitchFamily="18" charset="0"/>
                            <a:ea typeface="Cambria Math" panose="02040503050406030204" pitchFamily="18" charset="0"/>
                          </a:rPr>
                          <m:t>1,2</m:t>
                        </m:r>
                      </m:sub>
                    </m:sSub>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𝑗</m:t>
                    </m:r>
                  </m:oMath>
                </a14:m>
                <a:r>
                  <a:rPr lang="en-AU" sz="2400" dirty="0">
                    <a:latin typeface="+mj-lt"/>
                    <a:ea typeface="Cambria Math" panose="02040503050406030204" pitchFamily="18" charset="0"/>
                  </a:rPr>
                  <a:t>, so that the general solution to the homogeneous equation is</a:t>
                </a:r>
              </a:p>
              <a:p>
                <a:pPr/>
                <a14:m>
                  <m:oMathPara xmlns:m="http://schemas.openxmlformats.org/officeDocument/2006/math">
                    <m:oMathParaPr>
                      <m:jc m:val="centerGroup"/>
                    </m:oMathParaPr>
                    <m:oMath xmlns:m="http://schemas.openxmlformats.org/officeDocument/2006/math">
                      <m:sSub>
                        <m:sSubPr>
                          <m:ctrlPr>
                            <a:rPr lang="en-AU" sz="240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𝑥</m:t>
                          </m:r>
                        </m:e>
                        <m:sub>
                          <m:r>
                            <a:rPr lang="en-AU" sz="2400" b="0" i="1" smtClean="0">
                              <a:latin typeface="Cambria Math" panose="02040503050406030204" pitchFamily="18" charset="0"/>
                              <a:ea typeface="Cambria Math" panose="02040503050406030204" pitchFamily="18" charset="0"/>
                            </a:rPr>
                            <m:t>𝐻</m:t>
                          </m:r>
                        </m:sub>
                      </m:sSub>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𝑡</m:t>
                          </m:r>
                        </m:e>
                      </m:d>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𝐴</m:t>
                      </m:r>
                      <m:func>
                        <m:funcPr>
                          <m:ctrlPr>
                            <a:rPr lang="en-AU" sz="2400" b="0" i="1" smtClean="0">
                              <a:latin typeface="Cambria Math" panose="02040503050406030204" pitchFamily="18" charset="0"/>
                              <a:ea typeface="Cambria Math" panose="02040503050406030204" pitchFamily="18" charset="0"/>
                            </a:rPr>
                          </m:ctrlPr>
                        </m:funcPr>
                        <m:fName>
                          <m:r>
                            <m:rPr>
                              <m:sty m:val="p"/>
                            </m:rPr>
                            <a:rPr lang="en-AU" sz="2400" b="0" i="0" smtClean="0">
                              <a:latin typeface="Cambria Math" panose="02040503050406030204" pitchFamily="18" charset="0"/>
                              <a:ea typeface="Cambria Math" panose="02040503050406030204" pitchFamily="18" charset="0"/>
                            </a:rPr>
                            <m:t>cos</m:t>
                          </m:r>
                        </m:fName>
                        <m:e>
                          <m:r>
                            <a:rPr lang="en-AU" sz="2400" b="0" i="1" smtClean="0">
                              <a:latin typeface="Cambria Math" panose="02040503050406030204" pitchFamily="18" charset="0"/>
                              <a:ea typeface="Cambria Math" panose="02040503050406030204" pitchFamily="18" charset="0"/>
                            </a:rPr>
                            <m:t>𝑡</m:t>
                          </m:r>
                        </m:e>
                      </m:func>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𝐵</m:t>
                      </m:r>
                      <m:func>
                        <m:funcPr>
                          <m:ctrlPr>
                            <a:rPr lang="en-AU" sz="2400" b="0" i="1" smtClean="0">
                              <a:latin typeface="Cambria Math" panose="02040503050406030204" pitchFamily="18" charset="0"/>
                              <a:ea typeface="Cambria Math" panose="02040503050406030204" pitchFamily="18" charset="0"/>
                            </a:rPr>
                          </m:ctrlPr>
                        </m:funcPr>
                        <m:fName>
                          <m:r>
                            <m:rPr>
                              <m:sty m:val="p"/>
                            </m:rPr>
                            <a:rPr lang="en-AU" sz="2400" b="0" i="0" smtClean="0">
                              <a:latin typeface="Cambria Math" panose="02040503050406030204" pitchFamily="18" charset="0"/>
                              <a:ea typeface="Cambria Math" panose="02040503050406030204" pitchFamily="18" charset="0"/>
                            </a:rPr>
                            <m:t>sin</m:t>
                          </m:r>
                        </m:fName>
                        <m:e>
                          <m:r>
                            <a:rPr lang="en-AU" sz="2400" b="0" i="1" smtClean="0">
                              <a:latin typeface="Cambria Math" panose="02040503050406030204" pitchFamily="18" charset="0"/>
                              <a:ea typeface="Cambria Math" panose="02040503050406030204" pitchFamily="18" charset="0"/>
                            </a:rPr>
                            <m:t>𝑡</m:t>
                          </m:r>
                        </m:e>
                      </m:func>
                    </m:oMath>
                  </m:oMathPara>
                </a14:m>
                <a:endParaRPr lang="en-AU" sz="2400" dirty="0">
                  <a:latin typeface="+mj-lt"/>
                  <a:ea typeface="Cambria Math" panose="02040503050406030204" pitchFamily="18" charset="0"/>
                </a:endParaRPr>
              </a:p>
            </p:txBody>
          </p:sp>
        </mc:Choice>
        <mc:Fallback xmlns="">
          <p:sp>
            <p:nvSpPr>
              <p:cNvPr id="11" name="TextBox 10">
                <a:extLst>
                  <a:ext uri="{FF2B5EF4-FFF2-40B4-BE49-F238E27FC236}">
                    <a16:creationId xmlns:a16="http://schemas.microsoft.com/office/drawing/2014/main" id="{53936370-974A-4808-97C4-CDFE0A2F9162}"/>
                  </a:ext>
                </a:extLst>
              </p:cNvPr>
              <p:cNvSpPr txBox="1">
                <a:spLocks noRot="1" noChangeAspect="1" noMove="1" noResize="1" noEditPoints="1" noAdjustHandles="1" noChangeArrowheads="1" noChangeShapeType="1" noTextEdit="1"/>
              </p:cNvSpPr>
              <p:nvPr/>
            </p:nvSpPr>
            <p:spPr>
              <a:xfrm>
                <a:off x="259976" y="2140682"/>
                <a:ext cx="7315200" cy="2630015"/>
              </a:xfrm>
              <a:prstGeom prst="rect">
                <a:avLst/>
              </a:prstGeom>
              <a:blipFill>
                <a:blip r:embed="rId4"/>
                <a:stretch>
                  <a:fillRect l="-1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58E8607-0882-4539-9E1C-0FC18A8A1277}"/>
                  </a:ext>
                </a:extLst>
              </p:cNvPr>
              <p:cNvSpPr txBox="1"/>
              <p:nvPr/>
            </p:nvSpPr>
            <p:spPr>
              <a:xfrm>
                <a:off x="259977" y="4710183"/>
                <a:ext cx="11672046" cy="1891800"/>
              </a:xfrm>
              <a:prstGeom prst="rect">
                <a:avLst/>
              </a:prstGeom>
              <a:noFill/>
            </p:spPr>
            <p:txBody>
              <a:bodyPr wrap="square">
                <a:spAutoFit/>
              </a:bodyPr>
              <a:lstStyle/>
              <a:p>
                <a:r>
                  <a:rPr lang="en-AU" sz="2400" dirty="0">
                    <a:latin typeface="+mj-lt"/>
                    <a:ea typeface="Cambria Math" panose="02040503050406030204" pitchFamily="18" charset="0"/>
                  </a:rPr>
                  <a:t>The particular solution has to be found by adjusting parameters for the trial solution</a:t>
                </a:r>
              </a:p>
              <a:p>
                <a:pPr/>
                <a14:m>
                  <m:oMathPara xmlns:m="http://schemas.openxmlformats.org/officeDocument/2006/math">
                    <m:oMathParaPr>
                      <m:jc m:val="centerGroup"/>
                    </m:oMathParaPr>
                    <m:oMath xmlns:m="http://schemas.openxmlformats.org/officeDocument/2006/math">
                      <m:sSub>
                        <m:sSubPr>
                          <m:ctrlPr>
                            <a:rPr lang="en-AU" sz="240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𝑥</m:t>
                          </m:r>
                        </m:e>
                        <m:sub>
                          <m:r>
                            <a:rPr lang="en-AU" sz="2400" b="0" i="1" smtClean="0">
                              <a:latin typeface="Cambria Math" panose="02040503050406030204" pitchFamily="18" charset="0"/>
                              <a:ea typeface="Cambria Math" panose="02040503050406030204" pitchFamily="18" charset="0"/>
                            </a:rPr>
                            <m:t>𝑃</m:t>
                          </m:r>
                        </m:sub>
                      </m:sSub>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𝑡</m:t>
                          </m:r>
                        </m:e>
                      </m:d>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𝑡</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𝐶</m:t>
                      </m:r>
                      <m:func>
                        <m:funcPr>
                          <m:ctrlPr>
                            <a:rPr lang="en-AU" sz="2400" b="0" i="1" smtClean="0">
                              <a:latin typeface="Cambria Math" panose="02040503050406030204" pitchFamily="18" charset="0"/>
                              <a:ea typeface="Cambria Math" panose="02040503050406030204" pitchFamily="18" charset="0"/>
                            </a:rPr>
                          </m:ctrlPr>
                        </m:funcPr>
                        <m:fName>
                          <m:r>
                            <m:rPr>
                              <m:sty m:val="p"/>
                            </m:rPr>
                            <a:rPr lang="en-AU" sz="2400" b="0" i="0" smtClean="0">
                              <a:latin typeface="Cambria Math" panose="02040503050406030204" pitchFamily="18" charset="0"/>
                              <a:ea typeface="Cambria Math" panose="02040503050406030204" pitchFamily="18" charset="0"/>
                            </a:rPr>
                            <m:t>cos</m:t>
                          </m:r>
                        </m:fName>
                        <m:e>
                          <m:r>
                            <a:rPr lang="en-AU" sz="2400" b="0" i="1" smtClean="0">
                              <a:latin typeface="Cambria Math" panose="02040503050406030204" pitchFamily="18" charset="0"/>
                              <a:ea typeface="Cambria Math" panose="02040503050406030204" pitchFamily="18" charset="0"/>
                            </a:rPr>
                            <m:t>𝑡</m:t>
                          </m:r>
                        </m:e>
                      </m:func>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𝐷</m:t>
                      </m:r>
                      <m:func>
                        <m:funcPr>
                          <m:ctrlPr>
                            <a:rPr lang="en-AU" sz="2400" b="0" i="1" smtClean="0">
                              <a:latin typeface="Cambria Math" panose="02040503050406030204" pitchFamily="18" charset="0"/>
                              <a:ea typeface="Cambria Math" panose="02040503050406030204" pitchFamily="18" charset="0"/>
                            </a:rPr>
                          </m:ctrlPr>
                        </m:funcPr>
                        <m:fName>
                          <m:r>
                            <m:rPr>
                              <m:sty m:val="p"/>
                            </m:rPr>
                            <a:rPr lang="en-AU" sz="2400" b="0" i="0" smtClean="0">
                              <a:latin typeface="Cambria Math" panose="02040503050406030204" pitchFamily="18" charset="0"/>
                              <a:ea typeface="Cambria Math" panose="02040503050406030204" pitchFamily="18" charset="0"/>
                            </a:rPr>
                            <m:t>sin</m:t>
                          </m:r>
                        </m:fName>
                        <m:e>
                          <m:r>
                            <a:rPr lang="en-AU" sz="2400" b="0" i="1" smtClean="0">
                              <a:latin typeface="Cambria Math" panose="02040503050406030204" pitchFamily="18" charset="0"/>
                              <a:ea typeface="Cambria Math" panose="02040503050406030204" pitchFamily="18" charset="0"/>
                            </a:rPr>
                            <m:t>𝑡</m:t>
                          </m:r>
                        </m:e>
                      </m:func>
                      <m:r>
                        <a:rPr lang="en-AU" sz="2400" b="0" i="1" smtClean="0">
                          <a:latin typeface="Cambria Math" panose="02040503050406030204" pitchFamily="18" charset="0"/>
                          <a:ea typeface="Cambria Math" panose="02040503050406030204" pitchFamily="18" charset="0"/>
                        </a:rPr>
                        <m:t>)</m:t>
                      </m:r>
                    </m:oMath>
                  </m:oMathPara>
                </a14:m>
                <a:endParaRPr lang="en-AU" sz="1800" dirty="0">
                  <a:latin typeface="+mj-lt"/>
                  <a:ea typeface="Cambria Math" panose="02040503050406030204" pitchFamily="18" charset="0"/>
                </a:endParaRPr>
              </a:p>
              <a:p>
                <a:r>
                  <a:rPr lang="en-AU" sz="2400" dirty="0">
                    <a:latin typeface="+mj-lt"/>
                    <a:ea typeface="Cambria Math" panose="02040503050406030204" pitchFamily="18" charset="0"/>
                  </a:rPr>
                  <a:t>With final solution:</a:t>
                </a: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ea typeface="Cambria Math" panose="02040503050406030204" pitchFamily="18" charset="0"/>
                        </a:rPr>
                        <m:t>𝑥</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𝑡</m:t>
                          </m:r>
                        </m:e>
                      </m:d>
                      <m:r>
                        <a:rPr lang="en-AU" sz="2400" b="0" i="1" smtClean="0">
                          <a:latin typeface="Cambria Math" panose="02040503050406030204" pitchFamily="18" charset="0"/>
                          <a:ea typeface="Cambria Math" panose="02040503050406030204" pitchFamily="18" charset="0"/>
                        </a:rPr>
                        <m:t>=</m:t>
                      </m:r>
                      <m:func>
                        <m:funcPr>
                          <m:ctrlPr>
                            <a:rPr lang="en-AU" sz="2400" b="0" i="1" smtClean="0">
                              <a:latin typeface="Cambria Math" panose="02040503050406030204" pitchFamily="18" charset="0"/>
                              <a:ea typeface="Cambria Math" panose="02040503050406030204" pitchFamily="18" charset="0"/>
                            </a:rPr>
                          </m:ctrlPr>
                        </m:funcPr>
                        <m:fName>
                          <m:r>
                            <m:rPr>
                              <m:sty m:val="p"/>
                            </m:rPr>
                            <a:rPr lang="en-AU" sz="2400" b="0" i="0" smtClean="0">
                              <a:latin typeface="Cambria Math" panose="02040503050406030204" pitchFamily="18" charset="0"/>
                              <a:ea typeface="Cambria Math" panose="02040503050406030204" pitchFamily="18" charset="0"/>
                            </a:rPr>
                            <m:t>cos</m:t>
                          </m:r>
                        </m:fName>
                        <m:e>
                          <m:r>
                            <a:rPr lang="en-AU" sz="2400" b="0" i="1" smtClean="0">
                              <a:latin typeface="Cambria Math" panose="02040503050406030204" pitchFamily="18" charset="0"/>
                              <a:ea typeface="Cambria Math" panose="02040503050406030204" pitchFamily="18" charset="0"/>
                            </a:rPr>
                            <m:t>𝑡</m:t>
                          </m:r>
                        </m:e>
                      </m:func>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1</m:t>
                          </m:r>
                        </m:num>
                        <m:den>
                          <m:r>
                            <a:rPr lang="en-AU" sz="2400" b="0" i="1" smtClean="0">
                              <a:latin typeface="Cambria Math" panose="02040503050406030204" pitchFamily="18" charset="0"/>
                              <a:ea typeface="Cambria Math" panose="02040503050406030204" pitchFamily="18" charset="0"/>
                            </a:rPr>
                            <m:t>2</m:t>
                          </m:r>
                        </m:den>
                      </m:f>
                      <m:r>
                        <a:rPr lang="en-AU" sz="2400" b="0" i="1" smtClean="0">
                          <a:latin typeface="Cambria Math" panose="02040503050406030204" pitchFamily="18" charset="0"/>
                          <a:ea typeface="Cambria Math" panose="02040503050406030204" pitchFamily="18" charset="0"/>
                        </a:rPr>
                        <m:t>𝑡</m:t>
                      </m:r>
                      <m:func>
                        <m:funcPr>
                          <m:ctrlPr>
                            <a:rPr lang="en-AU" sz="2400" b="0" i="1" smtClean="0">
                              <a:latin typeface="Cambria Math" panose="02040503050406030204" pitchFamily="18" charset="0"/>
                              <a:ea typeface="Cambria Math" panose="02040503050406030204" pitchFamily="18" charset="0"/>
                            </a:rPr>
                          </m:ctrlPr>
                        </m:funcPr>
                        <m:fName>
                          <m:r>
                            <m:rPr>
                              <m:sty m:val="p"/>
                            </m:rPr>
                            <a:rPr lang="en-AU" sz="2400" b="0" i="0" smtClean="0">
                              <a:latin typeface="Cambria Math" panose="02040503050406030204" pitchFamily="18" charset="0"/>
                              <a:ea typeface="Cambria Math" panose="02040503050406030204" pitchFamily="18" charset="0"/>
                            </a:rPr>
                            <m:t>sin</m:t>
                          </m:r>
                        </m:fName>
                        <m:e>
                          <m:r>
                            <a:rPr lang="en-AU" sz="2400" b="0" i="1" smtClean="0">
                              <a:latin typeface="Cambria Math" panose="02040503050406030204" pitchFamily="18" charset="0"/>
                              <a:ea typeface="Cambria Math" panose="02040503050406030204" pitchFamily="18" charset="0"/>
                            </a:rPr>
                            <m:t>𝑡</m:t>
                          </m:r>
                        </m:e>
                      </m:func>
                    </m:oMath>
                  </m:oMathPara>
                </a14:m>
                <a:endParaRPr lang="en-AU" sz="2400" dirty="0">
                  <a:latin typeface="+mj-lt"/>
                  <a:ea typeface="Cambria Math" panose="02040503050406030204" pitchFamily="18" charset="0"/>
                </a:endParaRPr>
              </a:p>
            </p:txBody>
          </p:sp>
        </mc:Choice>
        <mc:Fallback xmlns="">
          <p:sp>
            <p:nvSpPr>
              <p:cNvPr id="12" name="TextBox 11">
                <a:extLst>
                  <a:ext uri="{FF2B5EF4-FFF2-40B4-BE49-F238E27FC236}">
                    <a16:creationId xmlns:a16="http://schemas.microsoft.com/office/drawing/2014/main" id="{558E8607-0882-4539-9E1C-0FC18A8A1277}"/>
                  </a:ext>
                </a:extLst>
              </p:cNvPr>
              <p:cNvSpPr txBox="1">
                <a:spLocks noRot="1" noChangeAspect="1" noMove="1" noResize="1" noEditPoints="1" noAdjustHandles="1" noChangeArrowheads="1" noChangeShapeType="1" noTextEdit="1"/>
              </p:cNvSpPr>
              <p:nvPr/>
            </p:nvSpPr>
            <p:spPr>
              <a:xfrm>
                <a:off x="259977" y="4710183"/>
                <a:ext cx="11672046" cy="1891800"/>
              </a:xfrm>
              <a:prstGeom prst="rect">
                <a:avLst/>
              </a:prstGeom>
              <a:blipFill>
                <a:blip r:embed="rId5"/>
                <a:stretch>
                  <a:fillRect l="-836" t="-2581"/>
                </a:stretch>
              </a:blipFill>
            </p:spPr>
            <p:txBody>
              <a:bodyPr/>
              <a:lstStyle/>
              <a:p>
                <a:r>
                  <a:rPr lang="en-GB">
                    <a:noFill/>
                  </a:rPr>
                  <a:t> </a:t>
                </a:r>
              </a:p>
            </p:txBody>
          </p:sp>
        </mc:Fallback>
      </mc:AlternateContent>
    </p:spTree>
    <p:extLst>
      <p:ext uri="{BB962C8B-B14F-4D97-AF65-F5344CB8AC3E}">
        <p14:creationId xmlns:p14="http://schemas.microsoft.com/office/powerpoint/2010/main" val="9840939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6549422" cy="523220"/>
          </a:xfrm>
          <a:prstGeom prst="rect">
            <a:avLst/>
          </a:prstGeom>
          <a:noFill/>
        </p:spPr>
        <p:txBody>
          <a:bodyPr wrap="none" rtlCol="0">
            <a:spAutoFit/>
          </a:bodyPr>
          <a:lstStyle/>
          <a:p>
            <a:r>
              <a:rPr lang="en-AU" sz="2800" b="1" cap="small" dirty="0">
                <a:solidFill>
                  <a:schemeClr val="bg1"/>
                </a:solidFill>
                <a:latin typeface="+mj-lt"/>
              </a:rPr>
              <a:t>6.10 Applications of second order linear ODEs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2460545"/>
              </a:xfrm>
              <a:prstGeom prst="rect">
                <a:avLst/>
              </a:prstGeom>
              <a:noFill/>
            </p:spPr>
            <p:txBody>
              <a:bodyPr wrap="square" rtlCol="0">
                <a:spAutoFit/>
              </a:bodyPr>
              <a:lstStyle/>
              <a:p>
                <a:r>
                  <a:rPr lang="en-AU" sz="2400" dirty="0">
                    <a:latin typeface="+mj-lt"/>
                    <a:ea typeface="Cambria Math" panose="02040503050406030204" pitchFamily="18" charset="0"/>
                  </a:rPr>
                  <a:t>We can see that </a:t>
                </a:r>
                <a14:m>
                  <m:oMath xmlns:m="http://schemas.openxmlformats.org/officeDocument/2006/math">
                    <m:func>
                      <m:funcPr>
                        <m:ctrlPr>
                          <a:rPr lang="en-AU" sz="2400" i="1" smtClean="0">
                            <a:latin typeface="Cambria Math" panose="02040503050406030204" pitchFamily="18" charset="0"/>
                            <a:ea typeface="Cambria Math" panose="02040503050406030204" pitchFamily="18" charset="0"/>
                          </a:rPr>
                        </m:ctrlPr>
                      </m:funcPr>
                      <m:fName>
                        <m:limLow>
                          <m:limLowPr>
                            <m:ctrlPr>
                              <a:rPr lang="en-AU" sz="2400" i="1" smtClean="0">
                                <a:latin typeface="Cambria Math" panose="02040503050406030204" pitchFamily="18" charset="0"/>
                                <a:ea typeface="Cambria Math" panose="02040503050406030204" pitchFamily="18" charset="0"/>
                              </a:rPr>
                            </m:ctrlPr>
                          </m:limLowPr>
                          <m:e>
                            <m:r>
                              <m:rPr>
                                <m:sty m:val="p"/>
                              </m:rPr>
                              <a:rPr lang="en-AU" sz="2400" i="0" smtClean="0">
                                <a:latin typeface="Cambria Math" panose="02040503050406030204" pitchFamily="18" charset="0"/>
                                <a:ea typeface="Cambria Math" panose="02040503050406030204" pitchFamily="18" charset="0"/>
                              </a:rPr>
                              <m:t>lim</m:t>
                            </m:r>
                          </m:e>
                          <m:lim>
                            <m:r>
                              <a:rPr lang="en-AU" sz="2400" b="0" i="1" smtClean="0">
                                <a:latin typeface="Cambria Math" panose="02040503050406030204" pitchFamily="18" charset="0"/>
                                <a:ea typeface="Cambria Math" panose="02040503050406030204" pitchFamily="18" charset="0"/>
                              </a:rPr>
                              <m:t>𝑡</m:t>
                            </m:r>
                            <m:r>
                              <a:rPr lang="en-AU" sz="2400" b="0" i="1" smtClean="0">
                                <a:latin typeface="Cambria Math" panose="02040503050406030204" pitchFamily="18" charset="0"/>
                                <a:ea typeface="Cambria Math" panose="02040503050406030204" pitchFamily="18" charset="0"/>
                              </a:rPr>
                              <m:t>→∞</m:t>
                            </m:r>
                          </m:lim>
                        </m:limLow>
                      </m:fName>
                      <m:e>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1</m:t>
                            </m:r>
                          </m:num>
                          <m:den>
                            <m:r>
                              <a:rPr lang="en-AU" sz="2400" b="0" i="1" smtClean="0">
                                <a:latin typeface="Cambria Math" panose="02040503050406030204" pitchFamily="18" charset="0"/>
                                <a:ea typeface="Cambria Math" panose="02040503050406030204" pitchFamily="18" charset="0"/>
                              </a:rPr>
                              <m:t>2</m:t>
                            </m:r>
                          </m:den>
                        </m:f>
                        <m:r>
                          <a:rPr lang="en-AU" sz="2400" b="0" i="1" smtClean="0">
                            <a:latin typeface="Cambria Math" panose="02040503050406030204" pitchFamily="18" charset="0"/>
                            <a:ea typeface="Cambria Math" panose="02040503050406030204" pitchFamily="18" charset="0"/>
                          </a:rPr>
                          <m:t>𝑡</m:t>
                        </m:r>
                        <m:func>
                          <m:funcPr>
                            <m:ctrlPr>
                              <a:rPr lang="en-AU" sz="2400" b="0" i="1" smtClean="0">
                                <a:latin typeface="Cambria Math" panose="02040503050406030204" pitchFamily="18" charset="0"/>
                                <a:ea typeface="Cambria Math" panose="02040503050406030204" pitchFamily="18" charset="0"/>
                              </a:rPr>
                            </m:ctrlPr>
                          </m:funcPr>
                          <m:fName>
                            <m:r>
                              <m:rPr>
                                <m:sty m:val="p"/>
                              </m:rPr>
                              <a:rPr lang="en-AU" sz="2400" b="0" i="0" smtClean="0">
                                <a:latin typeface="Cambria Math" panose="02040503050406030204" pitchFamily="18" charset="0"/>
                                <a:ea typeface="Cambria Math" panose="02040503050406030204" pitchFamily="18" charset="0"/>
                              </a:rPr>
                              <m:t>sin</m:t>
                            </m:r>
                          </m:fName>
                          <m:e>
                            <m:r>
                              <a:rPr lang="en-AU" sz="2400" b="0" i="1" smtClean="0">
                                <a:latin typeface="Cambria Math" panose="02040503050406030204" pitchFamily="18" charset="0"/>
                                <a:ea typeface="Cambria Math" panose="02040503050406030204" pitchFamily="18" charset="0"/>
                              </a:rPr>
                              <m:t>𝑡</m:t>
                            </m:r>
                          </m:e>
                        </m:func>
                      </m:e>
                    </m:func>
                  </m:oMath>
                </a14:m>
                <a:r>
                  <a:rPr lang="en-AU" sz="2400" dirty="0">
                    <a:latin typeface="+mj-lt"/>
                    <a:ea typeface="Cambria Math" panose="02040503050406030204" pitchFamily="18" charset="0"/>
                  </a:rPr>
                  <a:t> does not exist. This occurs because the external forcing term increases the amplitude of the oscillations at each new cycle. This is what is called resonance. Resonance has caused and still causes major damage to mechanical structures not properly designed. For example, in 1940 the suspension bridge at Tacoma, Washington state was destroyed because the wind was blowing (55 km per hour) at a frequency that corresponded to the natural frequency of the bridge, which eventually collapsed.</a:t>
                </a: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2460545"/>
              </a:xfrm>
              <a:prstGeom prst="rect">
                <a:avLst/>
              </a:prstGeom>
              <a:blipFill>
                <a:blip r:embed="rId2"/>
                <a:stretch>
                  <a:fillRect l="-836" r="-418" b="-4703"/>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52E6B95A-56C2-4580-A2A2-3CEFFFD98397}"/>
              </a:ext>
            </a:extLst>
          </p:cNvPr>
          <p:cNvPicPr>
            <a:picLocks noChangeAspect="1"/>
          </p:cNvPicPr>
          <p:nvPr/>
        </p:nvPicPr>
        <p:blipFill>
          <a:blip r:embed="rId3"/>
          <a:stretch>
            <a:fillRect/>
          </a:stretch>
        </p:blipFill>
        <p:spPr>
          <a:xfrm>
            <a:off x="4066196" y="3429000"/>
            <a:ext cx="4297875" cy="3199947"/>
          </a:xfrm>
          <a:prstGeom prst="rect">
            <a:avLst/>
          </a:prstGeom>
        </p:spPr>
      </p:pic>
    </p:spTree>
    <p:extLst>
      <p:ext uri="{BB962C8B-B14F-4D97-AF65-F5344CB8AC3E}">
        <p14:creationId xmlns:p14="http://schemas.microsoft.com/office/powerpoint/2010/main" val="13006193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6549422" cy="523220"/>
          </a:xfrm>
          <a:prstGeom prst="rect">
            <a:avLst/>
          </a:prstGeom>
          <a:noFill/>
        </p:spPr>
        <p:txBody>
          <a:bodyPr wrap="none" rtlCol="0">
            <a:spAutoFit/>
          </a:bodyPr>
          <a:lstStyle/>
          <a:p>
            <a:r>
              <a:rPr lang="en-AU" sz="2800" b="1" cap="small" dirty="0">
                <a:solidFill>
                  <a:schemeClr val="bg1"/>
                </a:solidFill>
                <a:latin typeface="+mj-lt"/>
              </a:rPr>
              <a:t>6.10 Applications of second order linear ODEs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2308324"/>
              </a:xfrm>
              <a:prstGeom prst="rect">
                <a:avLst/>
              </a:prstGeom>
              <a:noFill/>
            </p:spPr>
            <p:txBody>
              <a:bodyPr wrap="square" rtlCol="0">
                <a:spAutoFit/>
              </a:bodyPr>
              <a:lstStyle/>
              <a:p>
                <a:r>
                  <a:rPr lang="en-AU" sz="2400" b="1" dirty="0">
                    <a:latin typeface="+mj-lt"/>
                    <a:ea typeface="Cambria Math" panose="02040503050406030204" pitchFamily="18" charset="0"/>
                  </a:rPr>
                  <a:t>Forced electrical vibrations and resonance in R-L-C series circuits.</a:t>
                </a:r>
              </a:p>
              <a:p>
                <a:r>
                  <a:rPr lang="en-AU" sz="2400" dirty="0">
                    <a:latin typeface="+mj-lt"/>
                    <a:ea typeface="Cambria Math" panose="02040503050406030204" pitchFamily="18" charset="0"/>
                  </a:rPr>
                  <a:t>There is a fundamental analogy between R-L-C series circuits and forced mechanical vibrations. Consider circuits where:</a:t>
                </a:r>
              </a:p>
              <a:p>
                <a:pPr marL="342900" indent="-342900">
                  <a:buFont typeface="Arial" panose="020B0604020202020204" pitchFamily="34" charset="0"/>
                  <a:buChar char="•"/>
                </a:pPr>
                <a:r>
                  <a:rPr lang="en-AU" sz="2400" dirty="0">
                    <a:latin typeface="+mj-lt"/>
                    <a:ea typeface="Cambria Math" panose="02040503050406030204" pitchFamily="18" charset="0"/>
                  </a:rPr>
                  <a:t>a resistor is present, with resistance </a:t>
                </a:r>
                <a14:m>
                  <m:oMath xmlns:m="http://schemas.openxmlformats.org/officeDocument/2006/math">
                    <m:r>
                      <a:rPr lang="en-AU" sz="2400" b="0" i="1" smtClean="0">
                        <a:latin typeface="Cambria Math" panose="02040503050406030204" pitchFamily="18" charset="0"/>
                        <a:ea typeface="Cambria Math" panose="02040503050406030204" pitchFamily="18" charset="0"/>
                      </a:rPr>
                      <m:t>𝑅</m:t>
                    </m:r>
                  </m:oMath>
                </a14:m>
                <a:r>
                  <a:rPr lang="en-AU" sz="2400" dirty="0">
                    <a:latin typeface="+mj-lt"/>
                    <a:ea typeface="Cambria Math" panose="02040503050406030204" pitchFamily="18" charset="0"/>
                  </a:rPr>
                  <a:t> expressed in ohms (</a:t>
                </a:r>
                <a:r>
                  <a:rPr lang="el-GR" sz="2400" dirty="0">
                    <a:latin typeface="+mj-lt"/>
                    <a:ea typeface="Cambria Math" panose="02040503050406030204" pitchFamily="18" charset="0"/>
                  </a:rPr>
                  <a:t>Ω</a:t>
                </a:r>
                <a:r>
                  <a:rPr lang="en-AU" sz="2400" dirty="0">
                    <a:latin typeface="+mj-lt"/>
                    <a:ea typeface="Cambria Math" panose="02040503050406030204" pitchFamily="18" charset="0"/>
                  </a:rPr>
                  <a:t>).</a:t>
                </a:r>
              </a:p>
              <a:p>
                <a:pPr marL="342900" indent="-342900">
                  <a:buFont typeface="Arial" panose="020B0604020202020204" pitchFamily="34" charset="0"/>
                  <a:buChar char="•"/>
                </a:pPr>
                <a:r>
                  <a:rPr lang="en-AU" sz="2400" dirty="0">
                    <a:latin typeface="+mj-lt"/>
                    <a:ea typeface="Cambria Math" panose="02040503050406030204" pitchFamily="18" charset="0"/>
                  </a:rPr>
                  <a:t>an inductor is present, with inductance </a:t>
                </a:r>
                <a14:m>
                  <m:oMath xmlns:m="http://schemas.openxmlformats.org/officeDocument/2006/math">
                    <m:r>
                      <a:rPr lang="en-AU" sz="2400" b="0" i="1" smtClean="0">
                        <a:latin typeface="Cambria Math" panose="02040503050406030204" pitchFamily="18" charset="0"/>
                        <a:ea typeface="Cambria Math" panose="02040503050406030204" pitchFamily="18" charset="0"/>
                      </a:rPr>
                      <m:t>𝐿</m:t>
                    </m:r>
                  </m:oMath>
                </a14:m>
                <a:r>
                  <a:rPr lang="en-AU" sz="2400" dirty="0">
                    <a:latin typeface="+mj-lt"/>
                    <a:ea typeface="Cambria Math" panose="02040503050406030204" pitchFamily="18" charset="0"/>
                  </a:rPr>
                  <a:t> expressed in henrys (</a:t>
                </a:r>
                <a:r>
                  <a:rPr lang="en-AU" sz="2400" b="1" dirty="0">
                    <a:latin typeface="+mj-lt"/>
                    <a:ea typeface="Cambria Math" panose="02040503050406030204" pitchFamily="18" charset="0"/>
                  </a:rPr>
                  <a:t>H</a:t>
                </a:r>
                <a:r>
                  <a:rPr lang="en-AU" sz="2400" dirty="0">
                    <a:latin typeface="+mj-lt"/>
                    <a:ea typeface="Cambria Math" panose="02040503050406030204" pitchFamily="18" charset="0"/>
                  </a:rPr>
                  <a:t>).</a:t>
                </a:r>
              </a:p>
              <a:p>
                <a:pPr marL="342900" indent="-342900">
                  <a:buFont typeface="Arial" panose="020B0604020202020204" pitchFamily="34" charset="0"/>
                  <a:buChar char="•"/>
                </a:pPr>
                <a:r>
                  <a:rPr lang="en-AU" sz="2400" dirty="0">
                    <a:latin typeface="+mj-lt"/>
                    <a:ea typeface="Cambria Math" panose="02040503050406030204" pitchFamily="18" charset="0"/>
                  </a:rPr>
                  <a:t>a capacitor is present, with capacitance </a:t>
                </a:r>
                <a14:m>
                  <m:oMath xmlns:m="http://schemas.openxmlformats.org/officeDocument/2006/math">
                    <m:r>
                      <a:rPr lang="en-AU" sz="2400" b="0" i="1" smtClean="0">
                        <a:latin typeface="Cambria Math" panose="02040503050406030204" pitchFamily="18" charset="0"/>
                        <a:ea typeface="Cambria Math" panose="02040503050406030204" pitchFamily="18" charset="0"/>
                      </a:rPr>
                      <m:t>𝐶</m:t>
                    </m:r>
                  </m:oMath>
                </a14:m>
                <a:r>
                  <a:rPr lang="en-AU" sz="2400" dirty="0">
                    <a:latin typeface="+mj-lt"/>
                    <a:ea typeface="Cambria Math" panose="02040503050406030204" pitchFamily="18" charset="0"/>
                  </a:rPr>
                  <a:t> expressed in farads (</a:t>
                </a:r>
                <a:r>
                  <a:rPr lang="en-AU" sz="2400" b="1" dirty="0">
                    <a:latin typeface="+mj-lt"/>
                    <a:ea typeface="Cambria Math" panose="02040503050406030204" pitchFamily="18" charset="0"/>
                  </a:rPr>
                  <a:t>F</a:t>
                </a:r>
                <a:r>
                  <a:rPr lang="en-AU" sz="2400" dirty="0">
                    <a:latin typeface="+mj-lt"/>
                    <a:ea typeface="Cambria Math" panose="02040503050406030204" pitchFamily="18" charset="0"/>
                  </a:rPr>
                  <a:t>).</a:t>
                </a: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2308324"/>
              </a:xfrm>
              <a:prstGeom prst="rect">
                <a:avLst/>
              </a:prstGeom>
              <a:blipFill>
                <a:blip r:embed="rId2"/>
                <a:stretch>
                  <a:fillRect l="-836" t="-2111" b="-5013"/>
                </a:stretch>
              </a:blipFill>
            </p:spPr>
            <p:txBody>
              <a:bodyPr/>
              <a:lstStyle/>
              <a:p>
                <a:r>
                  <a:rPr lang="en-GB">
                    <a:noFill/>
                  </a:rPr>
                  <a:t> </a:t>
                </a:r>
              </a:p>
            </p:txBody>
          </p:sp>
        </mc:Fallback>
      </mc:AlternateContent>
      <p:pic>
        <p:nvPicPr>
          <p:cNvPr id="4" name="Picture 3">
            <a:extLst>
              <a:ext uri="{FF2B5EF4-FFF2-40B4-BE49-F238E27FC236}">
                <a16:creationId xmlns:a16="http://schemas.microsoft.com/office/drawing/2014/main" id="{868C5016-1F30-4732-85A6-BD38F1D85CCB}"/>
              </a:ext>
            </a:extLst>
          </p:cNvPr>
          <p:cNvPicPr>
            <a:picLocks noChangeAspect="1"/>
          </p:cNvPicPr>
          <p:nvPr/>
        </p:nvPicPr>
        <p:blipFill>
          <a:blip r:embed="rId3"/>
          <a:stretch>
            <a:fillRect/>
          </a:stretch>
        </p:blipFill>
        <p:spPr>
          <a:xfrm>
            <a:off x="7611035" y="3303561"/>
            <a:ext cx="4120308" cy="2544896"/>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4F1E435-309D-4EA0-B682-D2D11895C2BA}"/>
                  </a:ext>
                </a:extLst>
              </p:cNvPr>
              <p:cNvSpPr txBox="1"/>
              <p:nvPr/>
            </p:nvSpPr>
            <p:spPr>
              <a:xfrm>
                <a:off x="259976" y="3218780"/>
                <a:ext cx="7351059" cy="1938992"/>
              </a:xfrm>
              <a:prstGeom prst="rect">
                <a:avLst/>
              </a:prstGeom>
              <a:noFill/>
            </p:spPr>
            <p:txBody>
              <a:bodyPr wrap="square" rtlCol="0">
                <a:spAutoFit/>
              </a:bodyPr>
              <a:lstStyle/>
              <a:p>
                <a:pPr marL="342900" indent="-342900">
                  <a:buFont typeface="Arial" panose="020B0604020202020204" pitchFamily="34" charset="0"/>
                  <a:buChar char="•"/>
                </a:pPr>
                <a:r>
                  <a:rPr lang="en-AU" sz="2400" dirty="0">
                    <a:latin typeface="+mj-lt"/>
                    <a:ea typeface="Cambria Math" panose="02040503050406030204" pitchFamily="18" charset="0"/>
                  </a:rPr>
                  <a:t>The resistor, inductor and capacitor are connected “in series”, i.e. they are next to each other. </a:t>
                </a:r>
              </a:p>
              <a:p>
                <a:pPr marL="342900" indent="-342900">
                  <a:buFont typeface="Arial" panose="020B0604020202020204" pitchFamily="34" charset="0"/>
                  <a:buChar char="•"/>
                </a:pPr>
                <a:r>
                  <a:rPr lang="en-AU" sz="2400" dirty="0">
                    <a:latin typeface="+mj-lt"/>
                    <a:ea typeface="Cambria Math" panose="02040503050406030204" pitchFamily="18" charset="0"/>
                  </a:rPr>
                  <a:t>as for the previous example of the R-L circuit, a generator (or source) may be present, injecting a voltage </a:t>
                </a:r>
                <a14:m>
                  <m:oMath xmlns:m="http://schemas.openxmlformats.org/officeDocument/2006/math">
                    <m:sSub>
                      <m:sSubPr>
                        <m:ctrlPr>
                          <a:rPr lang="en-AU" sz="240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𝑉</m:t>
                        </m:r>
                      </m:e>
                      <m:sub>
                        <m:r>
                          <a:rPr lang="en-AU" sz="2400" b="0" i="1" smtClean="0">
                            <a:latin typeface="Cambria Math" panose="02040503050406030204" pitchFamily="18" charset="0"/>
                            <a:ea typeface="Cambria Math" panose="02040503050406030204" pitchFamily="18" charset="0"/>
                          </a:rPr>
                          <m:t>𝑆</m:t>
                        </m:r>
                      </m:sub>
                    </m:sSub>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𝑡</m:t>
                    </m:r>
                    <m:r>
                      <a:rPr lang="en-AU" sz="2400" b="0" i="1" smtClean="0">
                        <a:latin typeface="Cambria Math" panose="02040503050406030204" pitchFamily="18" charset="0"/>
                        <a:ea typeface="Cambria Math" panose="02040503050406030204" pitchFamily="18" charset="0"/>
                      </a:rPr>
                      <m:t>)</m:t>
                    </m:r>
                  </m:oMath>
                </a14:m>
                <a:r>
                  <a:rPr lang="en-AU" sz="2400" dirty="0">
                    <a:latin typeface="+mj-lt"/>
                    <a:ea typeface="Cambria Math" panose="02040503050406030204" pitchFamily="18" charset="0"/>
                  </a:rPr>
                  <a:t> in the circuit expressed in volts (</a:t>
                </a:r>
                <a:r>
                  <a:rPr lang="en-AU" sz="2400" b="1" dirty="0">
                    <a:latin typeface="+mj-lt"/>
                    <a:ea typeface="Cambria Math" panose="02040503050406030204" pitchFamily="18" charset="0"/>
                  </a:rPr>
                  <a:t>V</a:t>
                </a:r>
                <a:r>
                  <a:rPr lang="en-AU" sz="2400" dirty="0">
                    <a:latin typeface="+mj-lt"/>
                    <a:ea typeface="Cambria Math" panose="02040503050406030204" pitchFamily="18" charset="0"/>
                  </a:rPr>
                  <a:t>).</a:t>
                </a:r>
              </a:p>
            </p:txBody>
          </p:sp>
        </mc:Choice>
        <mc:Fallback xmlns="">
          <p:sp>
            <p:nvSpPr>
              <p:cNvPr id="11" name="TextBox 10">
                <a:extLst>
                  <a:ext uri="{FF2B5EF4-FFF2-40B4-BE49-F238E27FC236}">
                    <a16:creationId xmlns:a16="http://schemas.microsoft.com/office/drawing/2014/main" id="{04F1E435-309D-4EA0-B682-D2D11895C2BA}"/>
                  </a:ext>
                </a:extLst>
              </p:cNvPr>
              <p:cNvSpPr txBox="1">
                <a:spLocks noRot="1" noChangeAspect="1" noMove="1" noResize="1" noEditPoints="1" noAdjustHandles="1" noChangeArrowheads="1" noChangeShapeType="1" noTextEdit="1"/>
              </p:cNvSpPr>
              <p:nvPr/>
            </p:nvSpPr>
            <p:spPr>
              <a:xfrm>
                <a:off x="259976" y="3218780"/>
                <a:ext cx="7351059" cy="1938992"/>
              </a:xfrm>
              <a:prstGeom prst="rect">
                <a:avLst/>
              </a:prstGeom>
              <a:blipFill>
                <a:blip r:embed="rId4"/>
                <a:stretch>
                  <a:fillRect l="-1161" t="-2516" b="-6289"/>
                </a:stretch>
              </a:blipFill>
            </p:spPr>
            <p:txBody>
              <a:bodyPr/>
              <a:lstStyle/>
              <a:p>
                <a:r>
                  <a:rPr lang="en-GB">
                    <a:noFill/>
                  </a:rPr>
                  <a:t> </a:t>
                </a:r>
              </a:p>
            </p:txBody>
          </p:sp>
        </mc:Fallback>
      </mc:AlternateContent>
    </p:spTree>
    <p:extLst>
      <p:ext uri="{BB962C8B-B14F-4D97-AF65-F5344CB8AC3E}">
        <p14:creationId xmlns:p14="http://schemas.microsoft.com/office/powerpoint/2010/main" val="26350615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6549422" cy="523220"/>
          </a:xfrm>
          <a:prstGeom prst="rect">
            <a:avLst/>
          </a:prstGeom>
          <a:noFill/>
        </p:spPr>
        <p:txBody>
          <a:bodyPr wrap="none" rtlCol="0">
            <a:spAutoFit/>
          </a:bodyPr>
          <a:lstStyle/>
          <a:p>
            <a:r>
              <a:rPr lang="en-AU" sz="2800" b="1" cap="small" dirty="0">
                <a:solidFill>
                  <a:schemeClr val="bg1"/>
                </a:solidFill>
                <a:latin typeface="+mj-lt"/>
              </a:rPr>
              <a:t>6.10 Applications of second order linear ODEs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5124160"/>
              </a:xfrm>
              <a:prstGeom prst="rect">
                <a:avLst/>
              </a:prstGeom>
              <a:noFill/>
            </p:spPr>
            <p:txBody>
              <a:bodyPr wrap="square" rtlCol="0">
                <a:spAutoFit/>
              </a:bodyPr>
              <a:lstStyle/>
              <a:p>
                <a:r>
                  <a:rPr lang="en-AU" sz="2400" dirty="0">
                    <a:latin typeface="+mj-lt"/>
                    <a:ea typeface="Cambria Math" panose="02040503050406030204" pitchFamily="18" charset="0"/>
                  </a:rPr>
                  <a:t>The voltage drops are given respectively by</a:t>
                </a:r>
              </a:p>
              <a:p>
                <a:pPr marL="342900" indent="-342900">
                  <a:buFont typeface="Arial" panose="020B0604020202020204" pitchFamily="34" charset="0"/>
                  <a:buChar char="•"/>
                </a:pPr>
                <a14:m>
                  <m:oMath xmlns:m="http://schemas.openxmlformats.org/officeDocument/2006/math">
                    <m:sSub>
                      <m:sSubPr>
                        <m:ctrlPr>
                          <a:rPr lang="en-GB" sz="2400" i="1">
                            <a:latin typeface="Cambria Math" panose="02040503050406030204" pitchFamily="18" charset="0"/>
                          </a:rPr>
                        </m:ctrlPr>
                      </m:sSubPr>
                      <m:e>
                        <m:r>
                          <a:rPr lang="en-GB" sz="2400" b="0" i="1" smtClean="0">
                            <a:latin typeface="Cambria Math" panose="02040503050406030204" pitchFamily="18" charset="0"/>
                            <a:ea typeface="Cambria Math" panose="02040503050406030204" pitchFamily="18" charset="0"/>
                          </a:rPr>
                          <m:t>∆</m:t>
                        </m:r>
                      </m:e>
                      <m:sub>
                        <m:sSub>
                          <m:sSubPr>
                            <m:ctrlPr>
                              <a:rPr lang="en-GB" sz="2400" i="1">
                                <a:latin typeface="Cambria Math" panose="02040503050406030204" pitchFamily="18" charset="0"/>
                              </a:rPr>
                            </m:ctrlPr>
                          </m:sSubPr>
                          <m:e>
                            <m:r>
                              <a:rPr lang="en-AU" sz="2400" b="0" i="1" smtClean="0">
                                <a:latin typeface="Cambria Math" panose="02040503050406030204" pitchFamily="18" charset="0"/>
                              </a:rPr>
                              <m:t>𝑉</m:t>
                            </m:r>
                          </m:e>
                          <m:sub>
                            <m:r>
                              <a:rPr lang="en-AU" sz="2400" b="0" i="1" smtClean="0">
                                <a:latin typeface="Cambria Math" panose="02040503050406030204" pitchFamily="18" charset="0"/>
                              </a:rPr>
                              <m:t>𝑅</m:t>
                            </m:r>
                          </m:sub>
                        </m:sSub>
                      </m:sub>
                    </m:sSub>
                    <m:r>
                      <a:rPr lang="en-AU" sz="2400" b="0" i="1" smtClean="0">
                        <a:latin typeface="Cambria Math" panose="02040503050406030204" pitchFamily="18" charset="0"/>
                      </a:rPr>
                      <m:t>=</m:t>
                    </m:r>
                    <m:r>
                      <a:rPr lang="en-AU" sz="2400" b="0" i="1" smtClean="0">
                        <a:latin typeface="Cambria Math" panose="02040503050406030204" pitchFamily="18" charset="0"/>
                      </a:rPr>
                      <m:t>𝑅𝑖</m:t>
                    </m:r>
                  </m:oMath>
                </a14:m>
                <a:r>
                  <a:rPr lang="en-GB" sz="2400" dirty="0">
                    <a:latin typeface="+mj-lt"/>
                  </a:rPr>
                  <a:t>, where </a:t>
                </a:r>
                <a14:m>
                  <m:oMath xmlns:m="http://schemas.openxmlformats.org/officeDocument/2006/math">
                    <m:r>
                      <a:rPr lang="en-AU" sz="2400" b="0" i="1" smtClean="0">
                        <a:latin typeface="Cambria Math" panose="02040503050406030204" pitchFamily="18" charset="0"/>
                      </a:rPr>
                      <m:t>𝑖</m:t>
                    </m:r>
                  </m:oMath>
                </a14:m>
                <a:r>
                  <a:rPr lang="en-GB" sz="2400" dirty="0">
                    <a:latin typeface="+mj-lt"/>
                  </a:rPr>
                  <a:t> is the current circulating through the resistor.</a:t>
                </a:r>
              </a:p>
              <a:p>
                <a:pPr marL="342900" indent="-342900">
                  <a:buFont typeface="Arial" panose="020B0604020202020204" pitchFamily="34" charset="0"/>
                  <a:buChar char="•"/>
                </a:pPr>
                <a14:m>
                  <m:oMath xmlns:m="http://schemas.openxmlformats.org/officeDocument/2006/math">
                    <m:sSub>
                      <m:sSubPr>
                        <m:ctrlPr>
                          <a:rPr lang="en-GB" sz="2400" i="1">
                            <a:latin typeface="Cambria Math" panose="02040503050406030204" pitchFamily="18" charset="0"/>
                          </a:rPr>
                        </m:ctrlPr>
                      </m:sSubPr>
                      <m:e>
                        <m:r>
                          <a:rPr lang="en-GB" sz="2400" b="0" i="1" smtClean="0">
                            <a:latin typeface="Cambria Math" panose="02040503050406030204" pitchFamily="18" charset="0"/>
                            <a:ea typeface="Cambria Math" panose="02040503050406030204" pitchFamily="18" charset="0"/>
                          </a:rPr>
                          <m:t>∆</m:t>
                        </m:r>
                      </m:e>
                      <m:sub>
                        <m:sSub>
                          <m:sSubPr>
                            <m:ctrlPr>
                              <a:rPr lang="en-GB" sz="2400" i="1">
                                <a:latin typeface="Cambria Math" panose="02040503050406030204" pitchFamily="18" charset="0"/>
                              </a:rPr>
                            </m:ctrlPr>
                          </m:sSubPr>
                          <m:e>
                            <m:r>
                              <a:rPr lang="en-AU" sz="2400" b="0" i="1" smtClean="0">
                                <a:latin typeface="Cambria Math" panose="02040503050406030204" pitchFamily="18" charset="0"/>
                              </a:rPr>
                              <m:t>𝑉</m:t>
                            </m:r>
                          </m:e>
                          <m:sub>
                            <m:r>
                              <a:rPr lang="en-AU" sz="2400" b="0" i="1" smtClean="0">
                                <a:latin typeface="Cambria Math" panose="02040503050406030204" pitchFamily="18" charset="0"/>
                              </a:rPr>
                              <m:t>𝐿</m:t>
                            </m:r>
                          </m:sub>
                        </m:sSub>
                      </m:sub>
                    </m:sSub>
                    <m:r>
                      <a:rPr lang="en-AU" sz="2400" b="0" i="1" smtClean="0">
                        <a:latin typeface="Cambria Math" panose="02040503050406030204" pitchFamily="18" charset="0"/>
                      </a:rPr>
                      <m:t>=</m:t>
                    </m:r>
                    <m:r>
                      <a:rPr lang="en-AU" sz="2400" b="0" i="1" smtClean="0">
                        <a:latin typeface="Cambria Math" panose="02040503050406030204" pitchFamily="18" charset="0"/>
                      </a:rPr>
                      <m:t>𝐿</m:t>
                    </m:r>
                    <m:f>
                      <m:fPr>
                        <m:ctrlPr>
                          <a:rPr lang="en-AU" sz="2400" i="1">
                            <a:latin typeface="Cambria Math" panose="02040503050406030204" pitchFamily="18" charset="0"/>
                          </a:rPr>
                        </m:ctrlPr>
                      </m:fPr>
                      <m:num>
                        <m:r>
                          <a:rPr lang="en-AU" sz="2400" b="0" i="1" smtClean="0">
                            <a:latin typeface="Cambria Math" panose="02040503050406030204" pitchFamily="18" charset="0"/>
                          </a:rPr>
                          <m:t>𝑑𝑖</m:t>
                        </m:r>
                      </m:num>
                      <m:den>
                        <m:r>
                          <a:rPr lang="en-AU" sz="2400" b="0" i="1" smtClean="0">
                            <a:latin typeface="Cambria Math" panose="02040503050406030204" pitchFamily="18" charset="0"/>
                          </a:rPr>
                          <m:t>𝑑𝑡</m:t>
                        </m:r>
                      </m:den>
                    </m:f>
                  </m:oMath>
                </a14:m>
                <a:r>
                  <a:rPr lang="en-GB" sz="2400" dirty="0">
                    <a:latin typeface="+mj-lt"/>
                  </a:rPr>
                  <a:t>, where </a:t>
                </a:r>
                <a14:m>
                  <m:oMath xmlns:m="http://schemas.openxmlformats.org/officeDocument/2006/math">
                    <m:r>
                      <a:rPr lang="en-AU" sz="2400" b="0" i="1" smtClean="0">
                        <a:latin typeface="Cambria Math" panose="02040503050406030204" pitchFamily="18" charset="0"/>
                      </a:rPr>
                      <m:t>𝑖</m:t>
                    </m:r>
                  </m:oMath>
                </a14:m>
                <a:r>
                  <a:rPr lang="en-GB" sz="2400" dirty="0">
                    <a:latin typeface="+mj-lt"/>
                  </a:rPr>
                  <a:t> is the current circulating through the inductor.</a:t>
                </a:r>
              </a:p>
              <a:p>
                <a:pPr marL="342900" indent="-342900">
                  <a:buFont typeface="Arial" panose="020B0604020202020204" pitchFamily="34" charset="0"/>
                  <a:buChar char="•"/>
                </a:pP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ea typeface="Cambria Math" panose="02040503050406030204" pitchFamily="18" charset="0"/>
                          </a:rPr>
                          <m:t>∆</m:t>
                        </m:r>
                      </m:e>
                      <m:sub>
                        <m:sSub>
                          <m:sSubPr>
                            <m:ctrlPr>
                              <a:rPr lang="en-GB" sz="2400" i="1">
                                <a:latin typeface="Cambria Math" panose="02040503050406030204" pitchFamily="18" charset="0"/>
                              </a:rPr>
                            </m:ctrlPr>
                          </m:sSubPr>
                          <m:e>
                            <m:r>
                              <a:rPr lang="en-AU" sz="2400" b="0" i="1" smtClean="0">
                                <a:latin typeface="Cambria Math" panose="02040503050406030204" pitchFamily="18" charset="0"/>
                              </a:rPr>
                              <m:t>𝑉</m:t>
                            </m:r>
                          </m:e>
                          <m:sub>
                            <m:r>
                              <a:rPr lang="en-AU" sz="2400" b="0" i="1" smtClean="0">
                                <a:latin typeface="Cambria Math" panose="02040503050406030204" pitchFamily="18" charset="0"/>
                              </a:rPr>
                              <m:t>𝐶</m:t>
                            </m:r>
                          </m:sub>
                        </m:sSub>
                      </m:sub>
                    </m:sSub>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𝑄</m:t>
                        </m:r>
                      </m:num>
                      <m:den>
                        <m:r>
                          <a:rPr lang="en-AU" sz="2400" b="0" i="1" smtClean="0">
                            <a:latin typeface="Cambria Math" panose="02040503050406030204" pitchFamily="18" charset="0"/>
                          </a:rPr>
                          <m:t>𝐶</m:t>
                        </m:r>
                      </m:den>
                    </m:f>
                  </m:oMath>
                </a14:m>
                <a:r>
                  <a:rPr lang="en-GB" sz="2400" dirty="0">
                    <a:latin typeface="+mj-lt"/>
                  </a:rPr>
                  <a:t>, where </a:t>
                </a:r>
                <a14:m>
                  <m:oMath xmlns:m="http://schemas.openxmlformats.org/officeDocument/2006/math">
                    <m:r>
                      <a:rPr lang="en-AU" sz="2400" b="0" i="1" smtClean="0">
                        <a:latin typeface="Cambria Math" panose="02040503050406030204" pitchFamily="18" charset="0"/>
                      </a:rPr>
                      <m:t>𝑄</m:t>
                    </m:r>
                  </m:oMath>
                </a14:m>
                <a:r>
                  <a:rPr lang="en-AU" sz="2400" dirty="0">
                    <a:latin typeface="+mj-lt"/>
                    <a:ea typeface="Cambria Math" panose="02040503050406030204" pitchFamily="18" charset="0"/>
                  </a:rPr>
                  <a:t> is the charge accumulated in the capacitor.</a:t>
                </a:r>
              </a:p>
              <a:p>
                <a:endParaRPr lang="en-AU" sz="2400" dirty="0">
                  <a:latin typeface="+mj-lt"/>
                  <a:ea typeface="Cambria Math" panose="02040503050406030204" pitchFamily="18" charset="0"/>
                </a:endParaRPr>
              </a:p>
              <a:p>
                <a:r>
                  <a:rPr lang="en-AU" sz="2400" dirty="0">
                    <a:latin typeface="+mj-lt"/>
                    <a:ea typeface="Cambria Math" panose="02040503050406030204" pitchFamily="18" charset="0"/>
                  </a:rPr>
                  <a:t>Remembering that the electric current is defined as the rate of flow in time of the electric charge, we have the following</a:t>
                </a:r>
              </a:p>
              <a:p>
                <a:pPr algn="ctr"/>
                <a14:m>
                  <m:oMath xmlns:m="http://schemas.openxmlformats.org/officeDocument/2006/math">
                    <m:r>
                      <a:rPr lang="en-AU" sz="2400" b="0" i="1" smtClean="0">
                        <a:latin typeface="Cambria Math" panose="02040503050406030204" pitchFamily="18" charset="0"/>
                        <a:ea typeface="Cambria Math" panose="02040503050406030204" pitchFamily="18" charset="0"/>
                      </a:rPr>
                      <m:t>𝑖</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𝑡</m:t>
                        </m:r>
                      </m:e>
                    </m:d>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𝑑𝑄</m:t>
                        </m:r>
                      </m:num>
                      <m:den>
                        <m:r>
                          <a:rPr lang="en-AU" sz="2400" b="0" i="1" smtClean="0">
                            <a:latin typeface="Cambria Math" panose="02040503050406030204" pitchFamily="18" charset="0"/>
                            <a:ea typeface="Cambria Math" panose="02040503050406030204" pitchFamily="18" charset="0"/>
                          </a:rPr>
                          <m:t>𝑑𝑡</m:t>
                        </m:r>
                      </m:den>
                    </m:f>
                  </m:oMath>
                </a14:m>
                <a:r>
                  <a:rPr lang="en-AU" sz="2400" dirty="0">
                    <a:latin typeface="+mj-lt"/>
                    <a:ea typeface="Cambria Math" panose="02040503050406030204" pitchFamily="18" charset="0"/>
                  </a:rPr>
                  <a:t>   and   </a:t>
                </a:r>
                <a14:m>
                  <m:oMath xmlns:m="http://schemas.openxmlformats.org/officeDocument/2006/math">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𝑑𝑖</m:t>
                        </m:r>
                      </m:num>
                      <m:den>
                        <m:r>
                          <a:rPr lang="en-AU" sz="2400" b="0" i="1" smtClean="0">
                            <a:latin typeface="Cambria Math" panose="02040503050406030204" pitchFamily="18" charset="0"/>
                            <a:ea typeface="Cambria Math" panose="02040503050406030204" pitchFamily="18" charset="0"/>
                          </a:rPr>
                          <m:t>𝑑𝑡</m:t>
                        </m:r>
                      </m:den>
                    </m:f>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𝑑</m:t>
                            </m:r>
                          </m:e>
                          <m:sup>
                            <m:r>
                              <a:rPr lang="en-AU" sz="2400" b="0" i="1" smtClean="0">
                                <a:latin typeface="Cambria Math" panose="02040503050406030204" pitchFamily="18" charset="0"/>
                                <a:ea typeface="Cambria Math" panose="02040503050406030204" pitchFamily="18" charset="0"/>
                              </a:rPr>
                              <m:t>2</m:t>
                            </m:r>
                          </m:sup>
                        </m:sSup>
                        <m:r>
                          <a:rPr lang="en-AU" sz="2400" b="0" i="1" smtClean="0">
                            <a:latin typeface="Cambria Math" panose="02040503050406030204" pitchFamily="18" charset="0"/>
                            <a:ea typeface="Cambria Math" panose="02040503050406030204" pitchFamily="18" charset="0"/>
                          </a:rPr>
                          <m:t>𝑄</m:t>
                        </m:r>
                      </m:num>
                      <m:den>
                        <m:r>
                          <a:rPr lang="en-AU" sz="2400" b="0" i="1" smtClean="0">
                            <a:latin typeface="Cambria Math" panose="02040503050406030204" pitchFamily="18" charset="0"/>
                            <a:ea typeface="Cambria Math" panose="02040503050406030204" pitchFamily="18" charset="0"/>
                          </a:rPr>
                          <m:t>𝑑</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𝑡</m:t>
                            </m:r>
                          </m:e>
                          <m:sup>
                            <m:r>
                              <a:rPr lang="en-AU" sz="2400" b="0" i="1" smtClean="0">
                                <a:latin typeface="Cambria Math" panose="02040503050406030204" pitchFamily="18" charset="0"/>
                                <a:ea typeface="Cambria Math" panose="02040503050406030204" pitchFamily="18" charset="0"/>
                              </a:rPr>
                              <m:t>2</m:t>
                            </m:r>
                          </m:sup>
                        </m:sSup>
                      </m:den>
                    </m:f>
                  </m:oMath>
                </a14:m>
                <a:endParaRPr lang="en-AU" sz="2400" dirty="0">
                  <a:latin typeface="+mj-lt"/>
                  <a:ea typeface="Cambria Math" panose="02040503050406030204" pitchFamily="18" charset="0"/>
                </a:endParaRPr>
              </a:p>
              <a:p>
                <a:endParaRPr lang="en-AU" sz="2400" dirty="0">
                  <a:latin typeface="+mj-lt"/>
                  <a:ea typeface="Cambria Math" panose="02040503050406030204" pitchFamily="18" charset="0"/>
                </a:endParaRPr>
              </a:p>
              <a:p>
                <a:r>
                  <a:rPr lang="en-AU" sz="2400" dirty="0">
                    <a:latin typeface="+mj-lt"/>
                    <a:ea typeface="Cambria Math" panose="02040503050406030204" pitchFamily="18" charset="0"/>
                  </a:rPr>
                  <a:t>The law for the total voltage drop has to account for the capacitance too, hence the voltage provided by the source is equal to </a:t>
                </a:r>
              </a:p>
              <a:p>
                <a:pPr/>
                <a14:m>
                  <m:oMathPara xmlns:m="http://schemas.openxmlformats.org/officeDocument/2006/math">
                    <m:oMathParaPr>
                      <m:jc m:val="centerGroup"/>
                    </m:oMathParaPr>
                    <m:oMath xmlns:m="http://schemas.openxmlformats.org/officeDocument/2006/math">
                      <m:sSub>
                        <m:sSubPr>
                          <m:ctrlPr>
                            <a:rPr lang="en-AU" sz="240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𝑉</m:t>
                          </m:r>
                        </m:e>
                        <m:sub>
                          <m:r>
                            <a:rPr lang="en-AU" sz="2400" b="0" i="1" smtClean="0">
                              <a:latin typeface="Cambria Math" panose="02040503050406030204" pitchFamily="18" charset="0"/>
                              <a:ea typeface="Cambria Math" panose="02040503050406030204" pitchFamily="18" charset="0"/>
                            </a:rPr>
                            <m:t>𝑆</m:t>
                          </m:r>
                        </m:sub>
                      </m:sSub>
                      <m:r>
                        <a:rPr lang="en-AU" sz="2400" b="0" i="1" smtClean="0">
                          <a:latin typeface="Cambria Math" panose="02040503050406030204" pitchFamily="18" charset="0"/>
                          <a:ea typeface="Cambria Math" panose="02040503050406030204" pitchFamily="18" charset="0"/>
                        </a:rPr>
                        <m:t>=</m:t>
                      </m:r>
                      <m:sSub>
                        <m:sSubPr>
                          <m:ctrlPr>
                            <a:rPr lang="en-AU" sz="2400" i="1" smtClean="0">
                              <a:latin typeface="Cambria Math" panose="02040503050406030204" pitchFamily="18" charset="0"/>
                              <a:ea typeface="Cambria Math" panose="02040503050406030204" pitchFamily="18" charset="0"/>
                            </a:rPr>
                          </m:ctrlPr>
                        </m:sSubPr>
                        <m:e>
                          <m:r>
                            <a:rPr lang="en-AU" sz="2400" i="1" smtClean="0">
                              <a:latin typeface="Cambria Math" panose="02040503050406030204" pitchFamily="18" charset="0"/>
                              <a:ea typeface="Cambria Math" panose="02040503050406030204" pitchFamily="18" charset="0"/>
                            </a:rPr>
                            <m:t>∆</m:t>
                          </m:r>
                        </m:e>
                        <m:sub>
                          <m:sSub>
                            <m:sSubPr>
                              <m:ctrlPr>
                                <a:rPr lang="en-AU" sz="240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𝑉</m:t>
                              </m:r>
                            </m:e>
                            <m:sub>
                              <m:r>
                                <a:rPr lang="en-AU" sz="2400" b="0" i="1" smtClean="0">
                                  <a:latin typeface="Cambria Math" panose="02040503050406030204" pitchFamily="18" charset="0"/>
                                  <a:ea typeface="Cambria Math" panose="02040503050406030204" pitchFamily="18" charset="0"/>
                                </a:rPr>
                                <m:t>𝑅</m:t>
                              </m:r>
                            </m:sub>
                          </m:sSub>
                        </m:sub>
                      </m:sSub>
                      <m:r>
                        <a:rPr lang="en-AU" sz="2400" b="0" i="1" smtClean="0">
                          <a:latin typeface="Cambria Math" panose="02040503050406030204" pitchFamily="18" charset="0"/>
                          <a:ea typeface="Cambria Math" panose="02040503050406030204" pitchFamily="18" charset="0"/>
                        </a:rPr>
                        <m:t>+</m:t>
                      </m:r>
                      <m:sSub>
                        <m:sSubPr>
                          <m:ctrlPr>
                            <a:rPr lang="en-AU" sz="2400" i="1" smtClean="0">
                              <a:latin typeface="Cambria Math" panose="02040503050406030204" pitchFamily="18" charset="0"/>
                              <a:ea typeface="Cambria Math" panose="02040503050406030204" pitchFamily="18" charset="0"/>
                            </a:rPr>
                          </m:ctrlPr>
                        </m:sSubPr>
                        <m:e>
                          <m:r>
                            <a:rPr lang="en-AU" sz="2400" i="1" smtClean="0">
                              <a:latin typeface="Cambria Math" panose="02040503050406030204" pitchFamily="18" charset="0"/>
                              <a:ea typeface="Cambria Math" panose="02040503050406030204" pitchFamily="18" charset="0"/>
                            </a:rPr>
                            <m:t>∆</m:t>
                          </m:r>
                        </m:e>
                        <m:sub>
                          <m:sSub>
                            <m:sSubPr>
                              <m:ctrlPr>
                                <a:rPr lang="en-AU" sz="240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𝑉</m:t>
                              </m:r>
                            </m:e>
                            <m:sub>
                              <m:r>
                                <a:rPr lang="en-AU" sz="2400" b="0" i="1" smtClean="0">
                                  <a:latin typeface="Cambria Math" panose="02040503050406030204" pitchFamily="18" charset="0"/>
                                  <a:ea typeface="Cambria Math" panose="02040503050406030204" pitchFamily="18" charset="0"/>
                                </a:rPr>
                                <m:t>𝐿</m:t>
                              </m:r>
                            </m:sub>
                          </m:sSub>
                        </m:sub>
                      </m:sSub>
                      <m:r>
                        <a:rPr lang="en-AU" sz="2400" b="0" i="1" smtClean="0">
                          <a:latin typeface="Cambria Math" panose="02040503050406030204" pitchFamily="18" charset="0"/>
                          <a:ea typeface="Cambria Math" panose="02040503050406030204" pitchFamily="18" charset="0"/>
                        </a:rPr>
                        <m:t>+</m:t>
                      </m:r>
                      <m:sSub>
                        <m:sSubPr>
                          <m:ctrlPr>
                            <a:rPr lang="en-AU" sz="2400" i="1" smtClean="0">
                              <a:latin typeface="Cambria Math" panose="02040503050406030204" pitchFamily="18" charset="0"/>
                              <a:ea typeface="Cambria Math" panose="02040503050406030204" pitchFamily="18" charset="0"/>
                            </a:rPr>
                          </m:ctrlPr>
                        </m:sSubPr>
                        <m:e>
                          <m:r>
                            <a:rPr lang="en-AU" sz="2400" i="1" smtClean="0">
                              <a:latin typeface="Cambria Math" panose="02040503050406030204" pitchFamily="18" charset="0"/>
                              <a:ea typeface="Cambria Math" panose="02040503050406030204" pitchFamily="18" charset="0"/>
                            </a:rPr>
                            <m:t>∆</m:t>
                          </m:r>
                        </m:e>
                        <m:sub>
                          <m:sSub>
                            <m:sSubPr>
                              <m:ctrlPr>
                                <a:rPr lang="en-AU" sz="240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𝑉</m:t>
                              </m:r>
                            </m:e>
                            <m:sub>
                              <m:r>
                                <a:rPr lang="en-AU" sz="2400" b="0" i="1" smtClean="0">
                                  <a:latin typeface="Cambria Math" panose="02040503050406030204" pitchFamily="18" charset="0"/>
                                  <a:ea typeface="Cambria Math" panose="02040503050406030204" pitchFamily="18" charset="0"/>
                                </a:rPr>
                                <m:t>𝐶</m:t>
                              </m:r>
                            </m:sub>
                          </m:sSub>
                        </m:sub>
                      </m:sSub>
                    </m:oMath>
                  </m:oMathPara>
                </a14:m>
                <a:endParaRPr lang="en-AU" sz="2400" dirty="0">
                  <a:latin typeface="+mj-lt"/>
                  <a:ea typeface="Cambria Math" panose="02040503050406030204" pitchFamily="18" charset="0"/>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5124160"/>
              </a:xfrm>
              <a:prstGeom prst="rect">
                <a:avLst/>
              </a:prstGeom>
              <a:blipFill>
                <a:blip r:embed="rId2"/>
                <a:stretch>
                  <a:fillRect l="-836" t="-951"/>
                </a:stretch>
              </a:blipFill>
            </p:spPr>
            <p:txBody>
              <a:bodyPr/>
              <a:lstStyle/>
              <a:p>
                <a:r>
                  <a:rPr lang="en-GB">
                    <a:noFill/>
                  </a:rPr>
                  <a:t> </a:t>
                </a:r>
              </a:p>
            </p:txBody>
          </p:sp>
        </mc:Fallback>
      </mc:AlternateContent>
    </p:spTree>
    <p:extLst>
      <p:ext uri="{BB962C8B-B14F-4D97-AF65-F5344CB8AC3E}">
        <p14:creationId xmlns:p14="http://schemas.microsoft.com/office/powerpoint/2010/main" val="20676404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6549422" cy="523220"/>
          </a:xfrm>
          <a:prstGeom prst="rect">
            <a:avLst/>
          </a:prstGeom>
          <a:noFill/>
        </p:spPr>
        <p:txBody>
          <a:bodyPr wrap="none" rtlCol="0">
            <a:spAutoFit/>
          </a:bodyPr>
          <a:lstStyle/>
          <a:p>
            <a:r>
              <a:rPr lang="en-AU" sz="2800" b="1" cap="small" dirty="0">
                <a:solidFill>
                  <a:schemeClr val="bg1"/>
                </a:solidFill>
                <a:latin typeface="+mj-lt"/>
              </a:rPr>
              <a:t>6.10 Applications of second order linear ODEs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5079789"/>
              </a:xfrm>
              <a:prstGeom prst="rect">
                <a:avLst/>
              </a:prstGeom>
              <a:noFill/>
            </p:spPr>
            <p:txBody>
              <a:bodyPr wrap="square" rtlCol="0">
                <a:spAutoFit/>
              </a:bodyPr>
              <a:lstStyle/>
              <a:p>
                <a:r>
                  <a:rPr lang="en-AU" sz="2400" dirty="0">
                    <a:latin typeface="+mj-lt"/>
                    <a:ea typeface="Cambria Math" panose="02040503050406030204" pitchFamily="18" charset="0"/>
                  </a:rPr>
                  <a:t>Using this result, we can write down a first order ODE as follows: </a:t>
                </a:r>
                <a14:m>
                  <m:oMath xmlns:m="http://schemas.openxmlformats.org/officeDocument/2006/math">
                    <m:sSub>
                      <m:sSubPr>
                        <m:ctrlPr>
                          <a:rPr lang="en-AU" sz="240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𝑉</m:t>
                        </m:r>
                      </m:e>
                      <m:sub>
                        <m:r>
                          <a:rPr lang="en-AU" sz="2400" b="0" i="1" smtClean="0">
                            <a:latin typeface="Cambria Math" panose="02040503050406030204" pitchFamily="18" charset="0"/>
                            <a:ea typeface="Cambria Math" panose="02040503050406030204" pitchFamily="18" charset="0"/>
                          </a:rPr>
                          <m:t>𝑆</m:t>
                        </m:r>
                      </m:sub>
                    </m:sSub>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𝑅𝑖</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𝐿</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𝑑𝑖</m:t>
                        </m:r>
                      </m:num>
                      <m:den>
                        <m:r>
                          <a:rPr lang="en-AU" sz="2400" b="0" i="1" smtClean="0">
                            <a:latin typeface="Cambria Math" panose="02040503050406030204" pitchFamily="18" charset="0"/>
                            <a:ea typeface="Cambria Math" panose="02040503050406030204" pitchFamily="18" charset="0"/>
                          </a:rPr>
                          <m:t>𝑑𝑡</m:t>
                        </m:r>
                      </m:den>
                    </m:f>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𝑄</m:t>
                        </m:r>
                      </m:num>
                      <m:den>
                        <m:r>
                          <a:rPr lang="en-AU" sz="2400" b="0" i="1" smtClean="0">
                            <a:latin typeface="Cambria Math" panose="02040503050406030204" pitchFamily="18" charset="0"/>
                            <a:ea typeface="Cambria Math" panose="02040503050406030204" pitchFamily="18" charset="0"/>
                          </a:rPr>
                          <m:t>𝐶</m:t>
                        </m:r>
                      </m:den>
                    </m:f>
                  </m:oMath>
                </a14:m>
                <a:endParaRPr lang="en-AU" sz="2400" dirty="0">
                  <a:latin typeface="+mj-lt"/>
                  <a:ea typeface="Cambria Math" panose="02040503050406030204" pitchFamily="18" charset="0"/>
                </a:endParaRPr>
              </a:p>
              <a:p>
                <a:r>
                  <a:rPr lang="en-AU" sz="2400" dirty="0">
                    <a:latin typeface="+mj-lt"/>
                    <a:ea typeface="Cambria Math" panose="02040503050406030204" pitchFamily="18" charset="0"/>
                  </a:rPr>
                  <a:t>If we substitute for </a:t>
                </a:r>
                <a14:m>
                  <m:oMath xmlns:m="http://schemas.openxmlformats.org/officeDocument/2006/math">
                    <m:r>
                      <a:rPr lang="en-AU" sz="2400" b="0" i="1" smtClean="0">
                        <a:latin typeface="Cambria Math" panose="02040503050406030204" pitchFamily="18" charset="0"/>
                        <a:ea typeface="Cambria Math" panose="02040503050406030204" pitchFamily="18" charset="0"/>
                      </a:rPr>
                      <m:t>𝑖</m:t>
                    </m:r>
                  </m:oMath>
                </a14:m>
                <a:r>
                  <a:rPr lang="en-AU" sz="2400" dirty="0">
                    <a:latin typeface="+mj-lt"/>
                    <a:ea typeface="Cambria Math" panose="02040503050406030204" pitchFamily="18" charset="0"/>
                  </a:rPr>
                  <a:t> and its first derivative in this expression, we obtain the following second order ODE with constant coefficients:</a:t>
                </a:r>
              </a:p>
              <a:p>
                <a:pPr/>
                <a14:m>
                  <m:oMathPara xmlns:m="http://schemas.openxmlformats.org/officeDocument/2006/math">
                    <m:oMathParaPr>
                      <m:jc m:val="centerGroup"/>
                    </m:oMathParaPr>
                    <m:oMath xmlns:m="http://schemas.openxmlformats.org/officeDocument/2006/math">
                      <m:sSub>
                        <m:sSubPr>
                          <m:ctrlPr>
                            <a:rPr lang="en-AU" sz="240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𝑉</m:t>
                          </m:r>
                        </m:e>
                        <m:sub>
                          <m:r>
                            <a:rPr lang="en-AU" sz="2400" b="0" i="1" smtClean="0">
                              <a:latin typeface="Cambria Math" panose="02040503050406030204" pitchFamily="18" charset="0"/>
                              <a:ea typeface="Cambria Math" panose="02040503050406030204" pitchFamily="18" charset="0"/>
                            </a:rPr>
                            <m:t>𝑆</m:t>
                          </m:r>
                        </m:sub>
                      </m:sSub>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𝑅</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𝑑𝑄</m:t>
                          </m:r>
                        </m:num>
                        <m:den>
                          <m:r>
                            <a:rPr lang="en-AU" sz="2400" b="0" i="1" smtClean="0">
                              <a:latin typeface="Cambria Math" panose="02040503050406030204" pitchFamily="18" charset="0"/>
                              <a:ea typeface="Cambria Math" panose="02040503050406030204" pitchFamily="18" charset="0"/>
                            </a:rPr>
                            <m:t>𝑑𝑡</m:t>
                          </m:r>
                        </m:den>
                      </m:f>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𝐿</m:t>
                      </m:r>
                      <m:f>
                        <m:fPr>
                          <m:ctrlPr>
                            <a:rPr lang="en-AU" sz="2400" b="0" i="1" smtClean="0">
                              <a:latin typeface="Cambria Math" panose="02040503050406030204" pitchFamily="18" charset="0"/>
                              <a:ea typeface="Cambria Math" panose="02040503050406030204" pitchFamily="18" charset="0"/>
                            </a:rPr>
                          </m:ctrlPr>
                        </m:fPr>
                        <m:num>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𝑑</m:t>
                              </m:r>
                            </m:e>
                            <m:sup>
                              <m:r>
                                <a:rPr lang="en-AU" sz="2400" b="0" i="1" smtClean="0">
                                  <a:latin typeface="Cambria Math" panose="02040503050406030204" pitchFamily="18" charset="0"/>
                                  <a:ea typeface="Cambria Math" panose="02040503050406030204" pitchFamily="18" charset="0"/>
                                </a:rPr>
                                <m:t>2</m:t>
                              </m:r>
                            </m:sup>
                          </m:sSup>
                          <m:r>
                            <a:rPr lang="en-AU" sz="2400" b="0" i="1" smtClean="0">
                              <a:latin typeface="Cambria Math" panose="02040503050406030204" pitchFamily="18" charset="0"/>
                              <a:ea typeface="Cambria Math" panose="02040503050406030204" pitchFamily="18" charset="0"/>
                            </a:rPr>
                            <m:t>𝑄</m:t>
                          </m:r>
                        </m:num>
                        <m:den>
                          <m:r>
                            <a:rPr lang="en-AU" sz="2400" b="0" i="1" smtClean="0">
                              <a:latin typeface="Cambria Math" panose="02040503050406030204" pitchFamily="18" charset="0"/>
                              <a:ea typeface="Cambria Math" panose="02040503050406030204" pitchFamily="18" charset="0"/>
                            </a:rPr>
                            <m:t>𝑑</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𝑡</m:t>
                              </m:r>
                            </m:e>
                            <m:sup>
                              <m:r>
                                <a:rPr lang="en-AU" sz="2400" b="0" i="1" smtClean="0">
                                  <a:latin typeface="Cambria Math" panose="02040503050406030204" pitchFamily="18" charset="0"/>
                                  <a:ea typeface="Cambria Math" panose="02040503050406030204" pitchFamily="18" charset="0"/>
                                </a:rPr>
                                <m:t>2</m:t>
                              </m:r>
                            </m:sup>
                          </m:sSup>
                        </m:den>
                      </m:f>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𝑄</m:t>
                          </m:r>
                        </m:num>
                        <m:den>
                          <m:r>
                            <a:rPr lang="en-AU" sz="2400" b="0" i="1" smtClean="0">
                              <a:latin typeface="Cambria Math" panose="02040503050406030204" pitchFamily="18" charset="0"/>
                              <a:ea typeface="Cambria Math" panose="02040503050406030204" pitchFamily="18" charset="0"/>
                            </a:rPr>
                            <m:t>𝐶</m:t>
                          </m:r>
                        </m:den>
                      </m:f>
                    </m:oMath>
                  </m:oMathPara>
                </a14:m>
                <a:endParaRPr lang="en-AU" sz="2400" dirty="0">
                  <a:latin typeface="+mj-lt"/>
                  <a:ea typeface="Cambria Math" panose="02040503050406030204" pitchFamily="18" charset="0"/>
                </a:endParaRPr>
              </a:p>
              <a:p>
                <a:r>
                  <a:rPr lang="en-AU" sz="2400" dirty="0">
                    <a:latin typeface="+mj-lt"/>
                    <a:ea typeface="Cambria Math" panose="02040503050406030204" pitchFamily="18" charset="0"/>
                  </a:rPr>
                  <a:t>which we can rewrite as:</a:t>
                </a: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ea typeface="Cambria Math" panose="02040503050406030204" pitchFamily="18" charset="0"/>
                        </a:rPr>
                        <m:t>𝐿</m:t>
                      </m:r>
                      <m:f>
                        <m:fPr>
                          <m:ctrlPr>
                            <a:rPr lang="en-AU" sz="2400" b="0" i="1" smtClean="0">
                              <a:latin typeface="Cambria Math" panose="02040503050406030204" pitchFamily="18" charset="0"/>
                              <a:ea typeface="Cambria Math" panose="02040503050406030204" pitchFamily="18" charset="0"/>
                            </a:rPr>
                          </m:ctrlPr>
                        </m:fPr>
                        <m:num>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𝑑</m:t>
                              </m:r>
                            </m:e>
                            <m:sup>
                              <m:r>
                                <a:rPr lang="en-AU" sz="2400" b="0" i="1" smtClean="0">
                                  <a:latin typeface="Cambria Math" panose="02040503050406030204" pitchFamily="18" charset="0"/>
                                  <a:ea typeface="Cambria Math" panose="02040503050406030204" pitchFamily="18" charset="0"/>
                                </a:rPr>
                                <m:t>2</m:t>
                              </m:r>
                            </m:sup>
                          </m:sSup>
                          <m:r>
                            <a:rPr lang="en-AU" sz="2400" b="0" i="1" smtClean="0">
                              <a:latin typeface="Cambria Math" panose="02040503050406030204" pitchFamily="18" charset="0"/>
                              <a:ea typeface="Cambria Math" panose="02040503050406030204" pitchFamily="18" charset="0"/>
                            </a:rPr>
                            <m:t>𝑄</m:t>
                          </m:r>
                        </m:num>
                        <m:den>
                          <m:r>
                            <a:rPr lang="en-AU" sz="2400" b="0" i="1" smtClean="0">
                              <a:latin typeface="Cambria Math" panose="02040503050406030204" pitchFamily="18" charset="0"/>
                              <a:ea typeface="Cambria Math" panose="02040503050406030204" pitchFamily="18" charset="0"/>
                            </a:rPr>
                            <m:t>𝑑</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𝑡</m:t>
                              </m:r>
                            </m:e>
                            <m:sup>
                              <m:r>
                                <a:rPr lang="en-AU" sz="2400" b="0" i="1" smtClean="0">
                                  <a:latin typeface="Cambria Math" panose="02040503050406030204" pitchFamily="18" charset="0"/>
                                  <a:ea typeface="Cambria Math" panose="02040503050406030204" pitchFamily="18" charset="0"/>
                                </a:rPr>
                                <m:t>2</m:t>
                              </m:r>
                            </m:sup>
                          </m:sSup>
                        </m:den>
                      </m:f>
                      <m:r>
                        <a:rPr lang="en-AU" sz="2400" b="0" i="1" smtClean="0">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𝑅</m:t>
                      </m:r>
                      <m:f>
                        <m:fPr>
                          <m:ctrlPr>
                            <a:rPr lang="en-AU" sz="2400" i="1">
                              <a:latin typeface="Cambria Math" panose="02040503050406030204" pitchFamily="18" charset="0"/>
                              <a:ea typeface="Cambria Math" panose="02040503050406030204" pitchFamily="18" charset="0"/>
                            </a:rPr>
                          </m:ctrlPr>
                        </m:fPr>
                        <m:num>
                          <m:r>
                            <a:rPr lang="en-AU" sz="2400" i="1">
                              <a:latin typeface="Cambria Math" panose="02040503050406030204" pitchFamily="18" charset="0"/>
                              <a:ea typeface="Cambria Math" panose="02040503050406030204" pitchFamily="18" charset="0"/>
                            </a:rPr>
                            <m:t>𝑑𝑄</m:t>
                          </m:r>
                        </m:num>
                        <m:den>
                          <m:r>
                            <a:rPr lang="en-AU" sz="2400" i="1">
                              <a:latin typeface="Cambria Math" panose="02040503050406030204" pitchFamily="18" charset="0"/>
                              <a:ea typeface="Cambria Math" panose="02040503050406030204" pitchFamily="18" charset="0"/>
                            </a:rPr>
                            <m:t>𝑑𝑡</m:t>
                          </m:r>
                        </m:den>
                      </m:f>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𝑄</m:t>
                          </m:r>
                        </m:num>
                        <m:den>
                          <m:r>
                            <a:rPr lang="en-AU" sz="2400" b="0" i="1" smtClean="0">
                              <a:latin typeface="Cambria Math" panose="02040503050406030204" pitchFamily="18" charset="0"/>
                              <a:ea typeface="Cambria Math" panose="02040503050406030204" pitchFamily="18" charset="0"/>
                            </a:rPr>
                            <m:t>𝐶</m:t>
                          </m:r>
                        </m:den>
                      </m:f>
                      <m:r>
                        <a:rPr lang="en-AU" sz="2400" b="0" i="1" smtClean="0">
                          <a:latin typeface="Cambria Math" panose="02040503050406030204" pitchFamily="18" charset="0"/>
                          <a:ea typeface="Cambria Math" panose="02040503050406030204" pitchFamily="18" charset="0"/>
                        </a:rPr>
                        <m:t>=</m:t>
                      </m:r>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𝑉</m:t>
                          </m:r>
                        </m:e>
                        <m:sub>
                          <m:r>
                            <a:rPr lang="en-AU" sz="2400" b="0" i="1" smtClean="0">
                              <a:latin typeface="Cambria Math" panose="02040503050406030204" pitchFamily="18" charset="0"/>
                              <a:ea typeface="Cambria Math" panose="02040503050406030204" pitchFamily="18" charset="0"/>
                            </a:rPr>
                            <m:t>𝑆</m:t>
                          </m:r>
                        </m:sub>
                      </m:sSub>
                    </m:oMath>
                  </m:oMathPara>
                </a14:m>
                <a:endParaRPr lang="en-AU" sz="2400" dirty="0">
                  <a:latin typeface="+mj-lt"/>
                  <a:ea typeface="Cambria Math" panose="02040503050406030204" pitchFamily="18" charset="0"/>
                </a:endParaRPr>
              </a:p>
              <a:p>
                <a:r>
                  <a:rPr lang="en-AU" sz="2400" dirty="0">
                    <a:latin typeface="+mj-lt"/>
                    <a:ea typeface="Cambria Math" panose="02040503050406030204" pitchFamily="18" charset="0"/>
                  </a:rPr>
                  <a:t>The similarity to the previous equation for forced vibrations is clear, if we take </a:t>
                </a:r>
                <a14:m>
                  <m:oMath xmlns:m="http://schemas.openxmlformats.org/officeDocument/2006/math">
                    <m:r>
                      <a:rPr lang="en-AU" sz="2400" b="0" i="1" smtClean="0">
                        <a:latin typeface="Cambria Math" panose="02040503050406030204" pitchFamily="18" charset="0"/>
                        <a:ea typeface="Cambria Math" panose="02040503050406030204" pitchFamily="18" charset="0"/>
                      </a:rPr>
                      <m:t>𝑅</m:t>
                    </m:r>
                    <m:r>
                      <a:rPr lang="en-AU" sz="2400" b="0" i="1" smtClean="0">
                        <a:latin typeface="Cambria Math" panose="02040503050406030204" pitchFamily="18" charset="0"/>
                        <a:ea typeface="Cambria Math" panose="02040503050406030204" pitchFamily="18" charset="0"/>
                      </a:rPr>
                      <m:t>=0</m:t>
                    </m:r>
                  </m:oMath>
                </a14:m>
                <a:r>
                  <a:rPr lang="en-AU" sz="2400" dirty="0">
                    <a:latin typeface="+mj-lt"/>
                    <a:ea typeface="Cambria Math" panose="02040503050406030204" pitchFamily="18" charset="0"/>
                  </a:rPr>
                  <a:t> and the natural frequency of the circuit as </a:t>
                </a:r>
                <a14:m>
                  <m:oMath xmlns:m="http://schemas.openxmlformats.org/officeDocument/2006/math">
                    <m:rad>
                      <m:radPr>
                        <m:degHide m:val="on"/>
                        <m:ctrlPr>
                          <a:rPr lang="en-AU" sz="2400" i="1" smtClean="0">
                            <a:latin typeface="Cambria Math" panose="02040503050406030204" pitchFamily="18" charset="0"/>
                            <a:ea typeface="Cambria Math" panose="02040503050406030204" pitchFamily="18" charset="0"/>
                          </a:rPr>
                        </m:ctrlPr>
                      </m:radPr>
                      <m:deg/>
                      <m:e>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1</m:t>
                            </m:r>
                          </m:num>
                          <m:den>
                            <m:r>
                              <a:rPr lang="en-AU" sz="2400" b="0" i="1" smtClean="0">
                                <a:latin typeface="Cambria Math" panose="02040503050406030204" pitchFamily="18" charset="0"/>
                                <a:ea typeface="Cambria Math" panose="02040503050406030204" pitchFamily="18" charset="0"/>
                              </a:rPr>
                              <m:t>𝐿𝐶</m:t>
                            </m:r>
                          </m:den>
                        </m:f>
                      </m:e>
                    </m:rad>
                  </m:oMath>
                </a14:m>
                <a:r>
                  <a:rPr lang="en-AU" sz="2400" dirty="0">
                    <a:latin typeface="+mj-lt"/>
                    <a:ea typeface="Cambria Math" panose="02040503050406030204" pitchFamily="18" charset="0"/>
                  </a:rPr>
                  <a:t> . The phenomenon of resonance can be used to amplify a signal, with the good intent of improving the reception, as when “tuning” an analogue radio varies the capacitance that controls the resonant frequency of the circuit.</a:t>
                </a: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5079789"/>
              </a:xfrm>
              <a:prstGeom prst="rect">
                <a:avLst/>
              </a:prstGeom>
              <a:blipFill>
                <a:blip r:embed="rId2"/>
                <a:stretch>
                  <a:fillRect l="-836" b="-1679"/>
                </a:stretch>
              </a:blipFill>
            </p:spPr>
            <p:txBody>
              <a:bodyPr/>
              <a:lstStyle/>
              <a:p>
                <a:r>
                  <a:rPr lang="en-GB">
                    <a:noFill/>
                  </a:rPr>
                  <a:t> </a:t>
                </a:r>
              </a:p>
            </p:txBody>
          </p:sp>
        </mc:Fallback>
      </mc:AlternateContent>
      <p:sp>
        <p:nvSpPr>
          <p:cNvPr id="3" name="Rectangle 2">
            <a:extLst>
              <a:ext uri="{FF2B5EF4-FFF2-40B4-BE49-F238E27FC236}">
                <a16:creationId xmlns:a16="http://schemas.microsoft.com/office/drawing/2014/main" id="{8119EC2F-B9E6-4809-84C3-16FA5FE525D4}"/>
              </a:ext>
            </a:extLst>
          </p:cNvPr>
          <p:cNvSpPr/>
          <p:nvPr/>
        </p:nvSpPr>
        <p:spPr>
          <a:xfrm>
            <a:off x="11842379" y="6391836"/>
            <a:ext cx="98612" cy="107576"/>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349499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6001579" cy="523220"/>
          </a:xfrm>
          <a:prstGeom prst="rect">
            <a:avLst/>
          </a:prstGeom>
          <a:noFill/>
        </p:spPr>
        <p:txBody>
          <a:bodyPr wrap="none" rtlCol="0">
            <a:spAutoFit/>
          </a:bodyPr>
          <a:lstStyle/>
          <a:p>
            <a:r>
              <a:rPr lang="en-AU" sz="2800" b="1" cap="small" dirty="0">
                <a:solidFill>
                  <a:schemeClr val="bg1"/>
                </a:solidFill>
                <a:latin typeface="+mj-lt"/>
              </a:rPr>
              <a:t>7.1 Surfaces as functions of two variables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1546950"/>
                <a:ext cx="11672047" cy="4524315"/>
              </a:xfrm>
              <a:prstGeom prst="rect">
                <a:avLst/>
              </a:prstGeom>
              <a:noFill/>
            </p:spPr>
            <p:txBody>
              <a:bodyPr wrap="square" rtlCol="0">
                <a:spAutoFit/>
              </a:bodyPr>
              <a:lstStyle/>
              <a:p>
                <a:r>
                  <a:rPr lang="en-AU" sz="2400" dirty="0">
                    <a:latin typeface="+mj-lt"/>
                    <a:ea typeface="Cambria Math" panose="02040503050406030204" pitchFamily="18" charset="0"/>
                  </a:rPr>
                  <a:t>Definition (Function of two variables). Let </a:t>
                </a:r>
                <a14:m>
                  <m:oMath xmlns:m="http://schemas.openxmlformats.org/officeDocument/2006/math">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𝑦</m:t>
                    </m:r>
                    <m:r>
                      <a:rPr lang="en-AU" sz="2400" b="0" i="1" smtClean="0">
                        <a:latin typeface="Cambria Math" panose="02040503050406030204" pitchFamily="18" charset="0"/>
                        <a:ea typeface="Cambria Math" panose="02040503050406030204" pitchFamily="18" charset="0"/>
                      </a:rPr>
                      <m:t>)</m:t>
                    </m:r>
                  </m:oMath>
                </a14:m>
                <a:r>
                  <a:rPr lang="en-AU" sz="2400" dirty="0">
                    <a:latin typeface="+mj-lt"/>
                    <a:ea typeface="Cambria Math" panose="02040503050406030204" pitchFamily="18" charset="0"/>
                  </a:rPr>
                  <a:t> be a pair of real numbers belonging to </a:t>
                </a:r>
                <a14:m>
                  <m:oMath xmlns:m="http://schemas.openxmlformats.org/officeDocument/2006/math">
                    <m:r>
                      <a:rPr lang="en-AU" sz="2400" b="0" i="1" smtClean="0">
                        <a:latin typeface="Cambria Math" panose="02040503050406030204" pitchFamily="18" charset="0"/>
                        <a:ea typeface="Cambria Math" panose="02040503050406030204" pitchFamily="18" charset="0"/>
                      </a:rPr>
                      <m:t>𝑋</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AU" sz="2400" dirty="0">
                    <a:latin typeface="+mj-lt"/>
                    <a:ea typeface="Cambria Math" panose="02040503050406030204" pitchFamily="18" charset="0"/>
                  </a:rPr>
                  <a:t> and </a:t>
                </a:r>
                <a14:m>
                  <m:oMath xmlns:m="http://schemas.openxmlformats.org/officeDocument/2006/math">
                    <m:r>
                      <a:rPr lang="en-AU" sz="2400" b="0" i="1" smtClean="0">
                        <a:latin typeface="Cambria Math" panose="02040503050406030204" pitchFamily="18" charset="0"/>
                        <a:ea typeface="Cambria Math" panose="02040503050406030204" pitchFamily="18" charset="0"/>
                      </a:rPr>
                      <m:t>𝑌</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ℝ</m:t>
                    </m:r>
                  </m:oMath>
                </a14:m>
                <a:r>
                  <a:rPr lang="en-AU" sz="2400" dirty="0">
                    <a:latin typeface="+mj-lt"/>
                    <a:ea typeface="Cambria Math" panose="02040503050406030204" pitchFamily="18" charset="0"/>
                  </a:rPr>
                  <a:t>, both subsets of the real line </a:t>
                </a:r>
                <a14:m>
                  <m:oMath xmlns:m="http://schemas.openxmlformats.org/officeDocument/2006/math">
                    <m:r>
                      <a:rPr lang="en-AU" sz="2400" i="1">
                        <a:latin typeface="Cambria Math" panose="02040503050406030204" pitchFamily="18" charset="0"/>
                        <a:ea typeface="Cambria Math" panose="02040503050406030204" pitchFamily="18" charset="0"/>
                      </a:rPr>
                      <m:t>ℝ</m:t>
                    </m:r>
                  </m:oMath>
                </a14:m>
                <a:r>
                  <a:rPr lang="en-AU" sz="2400" dirty="0">
                    <a:latin typeface="+mj-lt"/>
                    <a:ea typeface="Cambria Math" panose="02040503050406030204" pitchFamily="18" charset="0"/>
                  </a:rPr>
                  <a:t>. Let </a:t>
                </a:r>
                <a14:m>
                  <m:oMath xmlns:m="http://schemas.openxmlformats.org/officeDocument/2006/math">
                    <m:r>
                      <a:rPr lang="en-AU" sz="2400" b="0" i="1" smtClean="0">
                        <a:latin typeface="Cambria Math" panose="02040503050406030204" pitchFamily="18" charset="0"/>
                        <a:ea typeface="Cambria Math" panose="02040503050406030204" pitchFamily="18" charset="0"/>
                      </a:rPr>
                      <m:t>𝑍</m:t>
                    </m:r>
                  </m:oMath>
                </a14:m>
                <a:r>
                  <a:rPr lang="en-AU" sz="2400" dirty="0">
                    <a:latin typeface="+mj-lt"/>
                    <a:ea typeface="Cambria Math" panose="02040503050406030204" pitchFamily="18" charset="0"/>
                  </a:rPr>
                  <a:t> be a third set, with similar properties, i.e. </a:t>
                </a:r>
                <a14:m>
                  <m:oMath xmlns:m="http://schemas.openxmlformats.org/officeDocument/2006/math">
                    <m:r>
                      <a:rPr lang="en-AU" sz="2400" b="0" i="1" smtClean="0">
                        <a:latin typeface="Cambria Math" panose="02040503050406030204" pitchFamily="18" charset="0"/>
                        <a:ea typeface="Cambria Math" panose="02040503050406030204" pitchFamily="18" charset="0"/>
                      </a:rPr>
                      <m:t>𝑍</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ℝ</m:t>
                    </m:r>
                  </m:oMath>
                </a14:m>
                <a:r>
                  <a:rPr lang="en-AU" sz="2400" dirty="0">
                    <a:latin typeface="+mj-lt"/>
                    <a:ea typeface="Cambria Math" panose="02040503050406030204" pitchFamily="18" charset="0"/>
                  </a:rPr>
                  <a:t>.</a:t>
                </a:r>
              </a:p>
              <a:p>
                <a:r>
                  <a:rPr lang="en-AU" sz="2400" dirty="0">
                    <a:latin typeface="+mj-lt"/>
                    <a:ea typeface="Cambria Math" panose="02040503050406030204" pitchFamily="18" charset="0"/>
                  </a:rPr>
                  <a:t>A real-valued function </a:t>
                </a:r>
                <a14:m>
                  <m:oMath xmlns:m="http://schemas.openxmlformats.org/officeDocument/2006/math">
                    <m:r>
                      <a:rPr lang="en-AU" sz="2400" b="0" i="1" smtClean="0">
                        <a:latin typeface="Cambria Math" panose="02040503050406030204" pitchFamily="18" charset="0"/>
                        <a:ea typeface="Cambria Math" panose="02040503050406030204" pitchFamily="18" charset="0"/>
                      </a:rPr>
                      <m:t>𝑓</m:t>
                    </m:r>
                  </m:oMath>
                </a14:m>
                <a:r>
                  <a:rPr lang="en-AU" sz="2400" dirty="0">
                    <a:latin typeface="+mj-lt"/>
                    <a:ea typeface="Cambria Math" panose="02040503050406030204" pitchFamily="18" charset="0"/>
                  </a:rPr>
                  <a:t> of two variables is a certain “relation” (equivalently called a “law” or “mapping”) between the set of inputs </a:t>
                </a:r>
                <a14:m>
                  <m:oMath xmlns:m="http://schemas.openxmlformats.org/officeDocument/2006/math">
                    <m:r>
                      <a:rPr lang="en-AU" sz="2400" b="0" i="1" smtClean="0">
                        <a:latin typeface="Cambria Math" panose="02040503050406030204" pitchFamily="18" charset="0"/>
                        <a:ea typeface="Cambria Math" panose="02040503050406030204" pitchFamily="18" charset="0"/>
                      </a:rPr>
                      <m:t>𝑋</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𝑌</m:t>
                    </m:r>
                  </m:oMath>
                </a14:m>
                <a:r>
                  <a:rPr lang="en-AU" sz="2400" dirty="0">
                    <a:latin typeface="+mj-lt"/>
                    <a:ea typeface="Cambria Math" panose="02040503050406030204" pitchFamily="18" charset="0"/>
                  </a:rPr>
                  <a:t> and the set of outputs </a:t>
                </a:r>
                <a14:m>
                  <m:oMath xmlns:m="http://schemas.openxmlformats.org/officeDocument/2006/math">
                    <m:r>
                      <a:rPr lang="en-AU" sz="2400" i="1">
                        <a:latin typeface="Cambria Math" panose="02040503050406030204" pitchFamily="18" charset="0"/>
                        <a:ea typeface="Cambria Math" panose="02040503050406030204" pitchFamily="18" charset="0"/>
                      </a:rPr>
                      <m:t>𝑍</m:t>
                    </m:r>
                  </m:oMath>
                </a14:m>
                <a:r>
                  <a:rPr lang="en-AU" sz="2400" dirty="0">
                    <a:latin typeface="+mj-lt"/>
                    <a:ea typeface="Cambria Math" panose="02040503050406030204" pitchFamily="18" charset="0"/>
                  </a:rPr>
                  <a:t> such that to any pair of elements from the input set there corresponds exactly one element from the output set. Formally, this mapping can be written as </a:t>
                </a:r>
                <a14:m>
                  <m:oMath xmlns:m="http://schemas.openxmlformats.org/officeDocument/2006/math">
                    <m:r>
                      <a:rPr lang="en-AU" sz="2400" b="0" i="1" smtClean="0">
                        <a:latin typeface="Cambria Math" panose="02040503050406030204" pitchFamily="18" charset="0"/>
                        <a:ea typeface="Cambria Math" panose="02040503050406030204" pitchFamily="18" charset="0"/>
                      </a:rPr>
                      <m:t>𝑓</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𝑋</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𝑌</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𝑍</m:t>
                    </m:r>
                  </m:oMath>
                </a14:m>
                <a:r>
                  <a:rPr lang="en-AU" sz="2400" dirty="0">
                    <a:latin typeface="+mj-lt"/>
                    <a:ea typeface="Cambria Math" panose="02040503050406030204" pitchFamily="18" charset="0"/>
                  </a:rPr>
                  <a:t>.</a:t>
                </a:r>
              </a:p>
              <a:p>
                <a:endParaRPr lang="en-AU" sz="2400" dirty="0">
                  <a:latin typeface="+mj-lt"/>
                  <a:ea typeface="Cambria Math" panose="02040503050406030204" pitchFamily="18" charset="0"/>
                </a:endParaRPr>
              </a:p>
              <a:p>
                <a:r>
                  <a:rPr lang="en-AU" sz="2400" dirty="0">
                    <a:latin typeface="+mj-lt"/>
                    <a:ea typeface="Cambria Math" panose="02040503050406030204" pitchFamily="18" charset="0"/>
                  </a:rPr>
                  <a:t>Definition (Domain and Range). Given a function </a:t>
                </a:r>
                <a14:m>
                  <m:oMath xmlns:m="http://schemas.openxmlformats.org/officeDocument/2006/math">
                    <m:r>
                      <a:rPr lang="en-AU" sz="2400" b="0" i="1" smtClean="0">
                        <a:latin typeface="Cambria Math" panose="02040503050406030204" pitchFamily="18" charset="0"/>
                        <a:ea typeface="Cambria Math" panose="02040503050406030204" pitchFamily="18" charset="0"/>
                      </a:rPr>
                      <m:t>𝑓</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𝑋</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𝑌</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𝑍</m:t>
                    </m:r>
                  </m:oMath>
                </a14:m>
                <a:r>
                  <a:rPr lang="en-AU" sz="2400" dirty="0">
                    <a:latin typeface="+mj-lt"/>
                    <a:ea typeface="Cambria Math" panose="02040503050406030204" pitchFamily="18" charset="0"/>
                  </a:rPr>
                  <a:t>, the input set </a:t>
                </a:r>
                <a14:m>
                  <m:oMath xmlns:m="http://schemas.openxmlformats.org/officeDocument/2006/math">
                    <m:r>
                      <a:rPr lang="en-AU" sz="2400" i="1">
                        <a:latin typeface="Cambria Math" panose="02040503050406030204" pitchFamily="18" charset="0"/>
                        <a:ea typeface="Cambria Math" panose="02040503050406030204" pitchFamily="18" charset="0"/>
                      </a:rPr>
                      <m:t>𝑋</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𝑌</m:t>
                    </m:r>
                  </m:oMath>
                </a14:m>
                <a:r>
                  <a:rPr lang="en-AU" sz="2400" dirty="0">
                    <a:latin typeface="+mj-lt"/>
                    <a:ea typeface="Cambria Math" panose="02040503050406030204" pitchFamily="18" charset="0"/>
                  </a:rPr>
                  <a:t> is called the Domain of the function, indicated by </a:t>
                </a:r>
                <a14:m>
                  <m:oMath xmlns:m="http://schemas.openxmlformats.org/officeDocument/2006/math">
                    <m:r>
                      <m:rPr>
                        <m:sty m:val="p"/>
                      </m:rPr>
                      <a:rPr lang="en-AU" sz="2400" b="0" i="0" smtClean="0">
                        <a:latin typeface="Cambria Math" panose="02040503050406030204" pitchFamily="18" charset="0"/>
                        <a:ea typeface="Cambria Math" panose="02040503050406030204" pitchFamily="18" charset="0"/>
                      </a:rPr>
                      <m:t>dom</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𝑓</m:t>
                        </m:r>
                      </m:e>
                    </m:d>
                    <m:r>
                      <a:rPr lang="en-AU" sz="2400" b="0" i="1" smtClean="0">
                        <a:latin typeface="Cambria Math" panose="02040503050406030204" pitchFamily="18" charset="0"/>
                        <a:ea typeface="Cambria Math" panose="02040503050406030204" pitchFamily="18" charset="0"/>
                      </a:rPr>
                      <m:t>.</m:t>
                    </m:r>
                  </m:oMath>
                </a14:m>
                <a:r>
                  <a:rPr lang="en-AU" sz="2400" dirty="0">
                    <a:latin typeface="+mj-lt"/>
                    <a:ea typeface="Cambria Math" panose="02040503050406030204" pitchFamily="18" charset="0"/>
                  </a:rPr>
                  <a:t> The output set </a:t>
                </a:r>
                <a14:m>
                  <m:oMath xmlns:m="http://schemas.openxmlformats.org/officeDocument/2006/math">
                    <m:r>
                      <a:rPr lang="en-AU" sz="2400" i="1">
                        <a:latin typeface="Cambria Math" panose="02040503050406030204" pitchFamily="18" charset="0"/>
                        <a:ea typeface="Cambria Math" panose="02040503050406030204" pitchFamily="18" charset="0"/>
                      </a:rPr>
                      <m:t>𝑍</m:t>
                    </m:r>
                    <m:r>
                      <a:rPr lang="en-AU" sz="2400" i="1">
                        <a:latin typeface="Cambria Math" panose="02040503050406030204" pitchFamily="18" charset="0"/>
                        <a:ea typeface="Cambria Math" panose="02040503050406030204" pitchFamily="18" charset="0"/>
                      </a:rPr>
                      <m:t> </m:t>
                    </m:r>
                  </m:oMath>
                </a14:m>
                <a:r>
                  <a:rPr lang="en-AU" sz="2400" dirty="0">
                    <a:latin typeface="+mj-lt"/>
                    <a:ea typeface="Cambria Math" panose="02040503050406030204" pitchFamily="18" charset="0"/>
                  </a:rPr>
                  <a:t>is called the Range of the function, indicated by </a:t>
                </a:r>
                <a14:m>
                  <m:oMath xmlns:m="http://schemas.openxmlformats.org/officeDocument/2006/math">
                    <m:r>
                      <m:rPr>
                        <m:sty m:val="p"/>
                      </m:rPr>
                      <a:rPr lang="en-AU" sz="2400" b="0" i="0" smtClean="0">
                        <a:latin typeface="Cambria Math" panose="02040503050406030204" pitchFamily="18" charset="0"/>
                        <a:ea typeface="Cambria Math" panose="02040503050406030204" pitchFamily="18" charset="0"/>
                      </a:rPr>
                      <m:t>ran</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𝑓</m:t>
                    </m:r>
                    <m:r>
                      <a:rPr lang="en-AU" sz="2400" b="0" i="1" smtClean="0">
                        <a:latin typeface="Cambria Math" panose="02040503050406030204" pitchFamily="18" charset="0"/>
                        <a:ea typeface="Cambria Math" panose="02040503050406030204" pitchFamily="18" charset="0"/>
                      </a:rPr>
                      <m:t>)</m:t>
                    </m:r>
                  </m:oMath>
                </a14:m>
                <a:r>
                  <a:rPr lang="en-AU" sz="2400" dirty="0">
                    <a:latin typeface="+mj-lt"/>
                    <a:ea typeface="Cambria Math" panose="02040503050406030204" pitchFamily="18" charset="0"/>
                  </a:rPr>
                  <a:t>. The pair </a:t>
                </a:r>
                <a14:m>
                  <m:oMath xmlns:m="http://schemas.openxmlformats.org/officeDocument/2006/math">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𝑥</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𝑦</m:t>
                    </m:r>
                    <m:r>
                      <a:rPr lang="en-AU" sz="2400" b="0" i="1">
                        <a:latin typeface="Cambria Math" panose="02040503050406030204" pitchFamily="18" charset="0"/>
                        <a:ea typeface="Cambria Math" panose="02040503050406030204" pitchFamily="18" charset="0"/>
                      </a:rPr>
                      <m:t>)</m:t>
                    </m:r>
                  </m:oMath>
                </a14:m>
                <a:r>
                  <a:rPr lang="en-AU" sz="2400" dirty="0">
                    <a:latin typeface="+mj-lt"/>
                    <a:ea typeface="Cambria Math" panose="02040503050406030204" pitchFamily="18" charset="0"/>
                  </a:rPr>
                  <a:t> is the argument of the function and </a:t>
                </a:r>
                <a14:m>
                  <m:oMath xmlns:m="http://schemas.openxmlformats.org/officeDocument/2006/math">
                    <m:r>
                      <a:rPr lang="en-AU" sz="2400" b="0" i="1" smtClean="0">
                        <a:latin typeface="Cambria Math" panose="02040503050406030204" pitchFamily="18" charset="0"/>
                        <a:ea typeface="Cambria Math" panose="02040503050406030204" pitchFamily="18" charset="0"/>
                      </a:rPr>
                      <m:t>𝑧</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𝑓</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𝑦</m:t>
                    </m:r>
                    <m:r>
                      <a:rPr lang="en-AU" sz="2400" b="0" i="1" smtClean="0">
                        <a:latin typeface="Cambria Math" panose="02040503050406030204" pitchFamily="18" charset="0"/>
                        <a:ea typeface="Cambria Math" panose="02040503050406030204" pitchFamily="18" charset="0"/>
                      </a:rPr>
                      <m:t>)</m:t>
                    </m:r>
                  </m:oMath>
                </a14:m>
                <a:r>
                  <a:rPr lang="en-AU" sz="2400" dirty="0">
                    <a:latin typeface="+mj-lt"/>
                    <a:ea typeface="Cambria Math" panose="02040503050406030204" pitchFamily="18" charset="0"/>
                  </a:rPr>
                  <a:t> is the value of the function.</a:t>
                </a: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1546950"/>
                <a:ext cx="11672047" cy="4524315"/>
              </a:xfrm>
              <a:prstGeom prst="rect">
                <a:avLst/>
              </a:prstGeom>
              <a:blipFill>
                <a:blip r:embed="rId2"/>
                <a:stretch>
                  <a:fillRect l="-836" t="-1078" r="-366" b="-2156"/>
                </a:stretch>
              </a:blipFill>
            </p:spPr>
            <p:txBody>
              <a:bodyPr/>
              <a:lstStyle/>
              <a:p>
                <a:r>
                  <a:rPr lang="en-GB">
                    <a:noFill/>
                  </a:rPr>
                  <a:t> </a:t>
                </a:r>
              </a:p>
            </p:txBody>
          </p:sp>
        </mc:Fallback>
      </mc:AlternateContent>
      <p:sp>
        <p:nvSpPr>
          <p:cNvPr id="3" name="TextBox 2">
            <a:extLst>
              <a:ext uri="{FF2B5EF4-FFF2-40B4-BE49-F238E27FC236}">
                <a16:creationId xmlns:a16="http://schemas.microsoft.com/office/drawing/2014/main" id="{AB81795E-681A-4A38-8B01-90D4BC582390}"/>
              </a:ext>
            </a:extLst>
          </p:cNvPr>
          <p:cNvSpPr txBox="1"/>
          <p:nvPr/>
        </p:nvSpPr>
        <p:spPr>
          <a:xfrm>
            <a:off x="188493" y="949717"/>
            <a:ext cx="1308614" cy="400110"/>
          </a:xfrm>
          <a:prstGeom prst="rect">
            <a:avLst/>
          </a:prstGeom>
          <a:noFill/>
          <a:ln>
            <a:solidFill>
              <a:schemeClr val="accent2">
                <a:lumMod val="50000"/>
              </a:schemeClr>
            </a:solidFill>
          </a:ln>
        </p:spPr>
        <p:txBody>
          <a:bodyPr wrap="square" rtlCol="0">
            <a:spAutoFit/>
          </a:bodyPr>
          <a:lstStyle/>
          <a:p>
            <a:r>
              <a:rPr lang="en-AU" sz="2000" b="1" dirty="0">
                <a:latin typeface="+mj-lt"/>
              </a:rPr>
              <a:t>MODULE 7</a:t>
            </a:r>
            <a:endParaRPr lang="en-GB" sz="2000" b="1" dirty="0">
              <a:latin typeface="+mj-lt"/>
            </a:endParaRPr>
          </a:p>
        </p:txBody>
      </p:sp>
    </p:spTree>
    <p:extLst>
      <p:ext uri="{BB962C8B-B14F-4D97-AF65-F5344CB8AC3E}">
        <p14:creationId xmlns:p14="http://schemas.microsoft.com/office/powerpoint/2010/main" val="10949630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6001579" cy="523220"/>
          </a:xfrm>
          <a:prstGeom prst="rect">
            <a:avLst/>
          </a:prstGeom>
          <a:noFill/>
        </p:spPr>
        <p:txBody>
          <a:bodyPr wrap="none" rtlCol="0">
            <a:spAutoFit/>
          </a:bodyPr>
          <a:lstStyle/>
          <a:p>
            <a:r>
              <a:rPr lang="en-AU" sz="2800" b="1" cap="small" dirty="0">
                <a:solidFill>
                  <a:schemeClr val="bg1"/>
                </a:solidFill>
                <a:latin typeface="+mj-lt"/>
              </a:rPr>
              <a:t>7.1 Surfaces as functions of two variables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31799" y="878035"/>
                <a:ext cx="11672047" cy="1200329"/>
              </a:xfrm>
              <a:prstGeom prst="rect">
                <a:avLst/>
              </a:prstGeom>
              <a:noFill/>
            </p:spPr>
            <p:txBody>
              <a:bodyPr wrap="square" rtlCol="0">
                <a:spAutoFit/>
              </a:bodyPr>
              <a:lstStyle/>
              <a:p>
                <a:r>
                  <a:rPr lang="en-AU" sz="2400" dirty="0">
                    <a:latin typeface="+mj-lt"/>
                    <a:ea typeface="Cambria Math" panose="02040503050406030204" pitchFamily="18" charset="0"/>
                  </a:rPr>
                  <a:t>Definition (Graph). Given a function </a:t>
                </a:r>
                <a14:m>
                  <m:oMath xmlns:m="http://schemas.openxmlformats.org/officeDocument/2006/math">
                    <m:r>
                      <a:rPr lang="en-AU" sz="2400" b="0" i="1" smtClean="0">
                        <a:latin typeface="Cambria Math" panose="02040503050406030204" pitchFamily="18" charset="0"/>
                        <a:ea typeface="Cambria Math" panose="02040503050406030204" pitchFamily="18" charset="0"/>
                      </a:rPr>
                      <m:t>𝑓</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𝑋</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𝑌</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𝑍</m:t>
                    </m:r>
                  </m:oMath>
                </a14:m>
                <a:r>
                  <a:rPr lang="en-AU" sz="2400" dirty="0">
                    <a:latin typeface="+mj-lt"/>
                    <a:ea typeface="Cambria Math" panose="02040503050406030204" pitchFamily="18" charset="0"/>
                  </a:rPr>
                  <a:t>, its graph is the set of all triplets </a:t>
                </a:r>
                <a14:m>
                  <m:oMath xmlns:m="http://schemas.openxmlformats.org/officeDocument/2006/math">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𝑦</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𝑓</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𝑦</m:t>
                        </m:r>
                      </m:e>
                    </m:d>
                    <m:r>
                      <a:rPr lang="en-AU" sz="2400" b="0" i="1" smtClean="0">
                        <a:latin typeface="Cambria Math" panose="02040503050406030204" pitchFamily="18" charset="0"/>
                        <a:ea typeface="Cambria Math" panose="02040503050406030204" pitchFamily="18" charset="0"/>
                      </a:rPr>
                      <m:t>)</m:t>
                    </m:r>
                  </m:oMath>
                </a14:m>
                <a:r>
                  <a:rPr lang="en-AU" sz="2400" dirty="0">
                    <a:latin typeface="+mj-lt"/>
                    <a:ea typeface="Cambria Math" panose="02040503050406030204" pitchFamily="18" charset="0"/>
                  </a:rPr>
                  <a:t> generated as the pair </a:t>
                </a:r>
                <a14:m>
                  <m:oMath xmlns:m="http://schemas.openxmlformats.org/officeDocument/2006/math">
                    <m:r>
                      <a:rPr lang="en-AU" sz="2400" b="0" i="0" smtClean="0">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𝑥</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𝑦</m:t>
                    </m:r>
                    <m:r>
                      <a:rPr lang="en-AU" sz="2400" b="0" i="1" smtClean="0">
                        <a:latin typeface="Cambria Math" panose="02040503050406030204" pitchFamily="18" charset="0"/>
                        <a:ea typeface="Cambria Math" panose="02040503050406030204" pitchFamily="18" charset="0"/>
                      </a:rPr>
                      <m:t>)</m:t>
                    </m:r>
                  </m:oMath>
                </a14:m>
                <a:r>
                  <a:rPr lang="en-AU" sz="2400" dirty="0">
                    <a:latin typeface="+mj-lt"/>
                    <a:ea typeface="Cambria Math" panose="02040503050406030204" pitchFamily="18" charset="0"/>
                  </a:rPr>
                  <a:t> varies within </a:t>
                </a:r>
                <a14:m>
                  <m:oMath xmlns:m="http://schemas.openxmlformats.org/officeDocument/2006/math">
                    <m:r>
                      <m:rPr>
                        <m:sty m:val="p"/>
                      </m:rPr>
                      <a:rPr lang="en-AU" sz="2400" b="0" i="0" smtClean="0">
                        <a:latin typeface="Cambria Math" panose="02040503050406030204" pitchFamily="18" charset="0"/>
                        <a:ea typeface="Cambria Math" panose="02040503050406030204" pitchFamily="18" charset="0"/>
                      </a:rPr>
                      <m:t>dom</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𝑓</m:t>
                    </m:r>
                    <m:r>
                      <a:rPr lang="en-AU" sz="2400" b="0" i="1" smtClean="0">
                        <a:latin typeface="Cambria Math" panose="02040503050406030204" pitchFamily="18" charset="0"/>
                        <a:ea typeface="Cambria Math" panose="02040503050406030204" pitchFamily="18" charset="0"/>
                      </a:rPr>
                      <m:t>)</m:t>
                    </m:r>
                  </m:oMath>
                </a14:m>
                <a:r>
                  <a:rPr lang="en-AU" sz="2400" dirty="0">
                    <a:latin typeface="+mj-lt"/>
                    <a:ea typeface="Cambria Math" panose="02040503050406030204" pitchFamily="18" charset="0"/>
                  </a:rPr>
                  <a:t>. The graph is indicated as</a:t>
                </a:r>
              </a:p>
              <a:p>
                <a:pPr/>
                <a14:m>
                  <m:oMathPara xmlns:m="http://schemas.openxmlformats.org/officeDocument/2006/math">
                    <m:oMathParaPr>
                      <m:jc m:val="centerGroup"/>
                    </m:oMathParaPr>
                    <m:oMath xmlns:m="http://schemas.openxmlformats.org/officeDocument/2006/math">
                      <m:r>
                        <m:rPr>
                          <m:sty m:val="p"/>
                        </m:rPr>
                        <a:rPr lang="en-AU" sz="2400" b="0" i="0" smtClean="0">
                          <a:latin typeface="Cambria Math" panose="02040503050406030204" pitchFamily="18" charset="0"/>
                          <a:ea typeface="Cambria Math" panose="02040503050406030204" pitchFamily="18" charset="0"/>
                        </a:rPr>
                        <m:t>graph</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𝑓</m:t>
                          </m:r>
                        </m:e>
                      </m:d>
                      <m:r>
                        <a:rPr lang="en-AU" sz="2400" b="0" i="1" smtClean="0">
                          <a:latin typeface="Cambria Math" panose="02040503050406030204" pitchFamily="18" charset="0"/>
                          <a:ea typeface="Cambria Math" panose="02040503050406030204" pitchFamily="18" charset="0"/>
                        </a:rPr>
                        <m:t>=</m:t>
                      </m:r>
                      <m:d>
                        <m:dPr>
                          <m:begChr m:val="{"/>
                          <m:endChr m:val="}"/>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𝑦</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𝑧</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ℝ</m:t>
                              </m:r>
                            </m:e>
                            <m:sup>
                              <m:r>
                                <a:rPr lang="en-AU" sz="2400" b="0" i="1" smtClean="0">
                                  <a:latin typeface="Cambria Math" panose="02040503050406030204" pitchFamily="18" charset="0"/>
                                  <a:ea typeface="Cambria Math" panose="02040503050406030204" pitchFamily="18" charset="0"/>
                                </a:rPr>
                                <m:t>3</m:t>
                              </m:r>
                            </m:sup>
                          </m:sSup>
                          <m:r>
                            <a:rPr lang="en-AU" sz="2400" b="0" i="1" smtClean="0">
                              <a:latin typeface="Cambria Math" panose="02040503050406030204" pitchFamily="18" charset="0"/>
                              <a:ea typeface="Cambria Math" panose="02040503050406030204" pitchFamily="18" charset="0"/>
                            </a:rPr>
                            <m:t>|</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𝑦</m:t>
                              </m:r>
                            </m:e>
                          </m:d>
                          <m:r>
                            <a:rPr lang="en-AU" sz="2400" b="0" i="1" smtClean="0">
                              <a:latin typeface="Cambria Math" panose="02040503050406030204" pitchFamily="18" charset="0"/>
                              <a:ea typeface="Cambria Math" panose="02040503050406030204" pitchFamily="18" charset="0"/>
                            </a:rPr>
                            <m:t>∈</m:t>
                          </m:r>
                          <m:r>
                            <m:rPr>
                              <m:sty m:val="p"/>
                            </m:rPr>
                            <a:rPr lang="en-AU" sz="2400" b="0" i="0" smtClean="0">
                              <a:latin typeface="Cambria Math" panose="02040503050406030204" pitchFamily="18" charset="0"/>
                              <a:ea typeface="Cambria Math" panose="02040503050406030204" pitchFamily="18" charset="0"/>
                            </a:rPr>
                            <m:t>dom</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𝑓</m:t>
                              </m:r>
                            </m:e>
                          </m:d>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𝑧</m:t>
                          </m:r>
                          <m:r>
                            <a:rPr lang="en-AU" sz="2400" b="0" i="1" smtClean="0">
                              <a:latin typeface="Cambria Math" panose="02040503050406030204" pitchFamily="18" charset="0"/>
                              <a:ea typeface="Cambria Math" panose="02040503050406030204" pitchFamily="18" charset="0"/>
                            </a:rPr>
                            <m:t>∈</m:t>
                          </m:r>
                          <m:r>
                            <m:rPr>
                              <m:sty m:val="p"/>
                            </m:rPr>
                            <a:rPr lang="en-AU" sz="2400" b="0" i="0" smtClean="0">
                              <a:latin typeface="Cambria Math" panose="02040503050406030204" pitchFamily="18" charset="0"/>
                              <a:ea typeface="Cambria Math" panose="02040503050406030204" pitchFamily="18" charset="0"/>
                            </a:rPr>
                            <m:t>ran</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𝑓</m:t>
                          </m:r>
                          <m:r>
                            <a:rPr lang="en-AU" sz="2400" b="0" i="1" smtClean="0">
                              <a:latin typeface="Cambria Math" panose="02040503050406030204" pitchFamily="18" charset="0"/>
                              <a:ea typeface="Cambria Math" panose="02040503050406030204" pitchFamily="18" charset="0"/>
                            </a:rPr>
                            <m:t>)</m:t>
                          </m:r>
                        </m:e>
                      </m:d>
                    </m:oMath>
                  </m:oMathPara>
                </a14:m>
                <a:endParaRPr lang="en-AU" sz="2400" dirty="0">
                  <a:latin typeface="+mj-lt"/>
                  <a:ea typeface="Cambria Math" panose="02040503050406030204" pitchFamily="18" charset="0"/>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31799" y="878035"/>
                <a:ext cx="11672047" cy="1200329"/>
              </a:xfrm>
              <a:prstGeom prst="rect">
                <a:avLst/>
              </a:prstGeom>
              <a:blipFill>
                <a:blip r:embed="rId2"/>
                <a:stretch>
                  <a:fillRect l="-783" t="-4061" b="-6091"/>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B4A71D09-D920-47D5-994C-CD2372BE8AAA}"/>
              </a:ext>
            </a:extLst>
          </p:cNvPr>
          <p:cNvPicPr>
            <a:picLocks noChangeAspect="1"/>
          </p:cNvPicPr>
          <p:nvPr/>
        </p:nvPicPr>
        <p:blipFill>
          <a:blip r:embed="rId3"/>
          <a:stretch>
            <a:fillRect/>
          </a:stretch>
        </p:blipFill>
        <p:spPr>
          <a:xfrm>
            <a:off x="3963600" y="2399483"/>
            <a:ext cx="4208443" cy="3580482"/>
          </a:xfrm>
          <a:prstGeom prst="rect">
            <a:avLst/>
          </a:prstGeom>
        </p:spPr>
      </p:pic>
    </p:spTree>
    <p:extLst>
      <p:ext uri="{BB962C8B-B14F-4D97-AF65-F5344CB8AC3E}">
        <p14:creationId xmlns:p14="http://schemas.microsoft.com/office/powerpoint/2010/main" val="29495859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6001579" cy="523220"/>
          </a:xfrm>
          <a:prstGeom prst="rect">
            <a:avLst/>
          </a:prstGeom>
          <a:noFill/>
        </p:spPr>
        <p:txBody>
          <a:bodyPr wrap="none" rtlCol="0">
            <a:spAutoFit/>
          </a:bodyPr>
          <a:lstStyle/>
          <a:p>
            <a:r>
              <a:rPr lang="en-AU" sz="2800" b="1" cap="small" dirty="0">
                <a:solidFill>
                  <a:schemeClr val="bg1"/>
                </a:solidFill>
                <a:latin typeface="+mj-lt"/>
              </a:rPr>
              <a:t>7.1 Surfaces as functions of two variables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31799" y="847274"/>
                <a:ext cx="11672047" cy="2840265"/>
              </a:xfrm>
              <a:prstGeom prst="rect">
                <a:avLst/>
              </a:prstGeom>
              <a:noFill/>
            </p:spPr>
            <p:txBody>
              <a:bodyPr wrap="square" rtlCol="0">
                <a:spAutoFit/>
              </a:bodyPr>
              <a:lstStyle/>
              <a:p>
                <a:r>
                  <a:rPr lang="en-AU" sz="2400" dirty="0">
                    <a:latin typeface="+mj-lt"/>
                    <a:ea typeface="Cambria Math" panose="02040503050406030204" pitchFamily="18" charset="0"/>
                  </a:rPr>
                  <a:t>Definition (Equation of a plane). A plane is described by an equation of the type:</a:t>
                </a: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ea typeface="Cambria Math" panose="02040503050406030204" pitchFamily="18" charset="0"/>
                        </a:rPr>
                        <m:t>𝑎𝑥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𝑐𝑧</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𝑑</m:t>
                      </m:r>
                    </m:oMath>
                  </m:oMathPara>
                </a14:m>
                <a:endParaRPr lang="en-AU" sz="2400" dirty="0">
                  <a:latin typeface="+mj-lt"/>
                  <a:ea typeface="Cambria Math" panose="02040503050406030204" pitchFamily="18" charset="0"/>
                </a:endParaRPr>
              </a:p>
              <a:p>
                <a:r>
                  <a:rPr lang="en-AU" sz="2400" dirty="0">
                    <a:latin typeface="+mj-lt"/>
                    <a:ea typeface="Cambria Math" panose="02040503050406030204" pitchFamily="18" charset="0"/>
                  </a:rPr>
                  <a:t>where </a:t>
                </a:r>
                <a14:m>
                  <m:oMath xmlns:m="http://schemas.openxmlformats.org/officeDocument/2006/math">
                    <m:r>
                      <a:rPr lang="en-AU" sz="2400" b="0" i="1" smtClean="0">
                        <a:latin typeface="Cambria Math" panose="02040503050406030204" pitchFamily="18" charset="0"/>
                        <a:ea typeface="Cambria Math" panose="02040503050406030204" pitchFamily="18" charset="0"/>
                      </a:rPr>
                      <m:t>𝑎</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𝑐</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𝑑</m:t>
                    </m:r>
                    <m:r>
                      <a:rPr lang="en-AU" sz="2400" b="0" i="1" smtClean="0">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ℝ</m:t>
                    </m:r>
                  </m:oMath>
                </a14:m>
                <a:r>
                  <a:rPr lang="en-AU" sz="2400" dirty="0">
                    <a:latin typeface="+mj-lt"/>
                    <a:ea typeface="Cambria Math" panose="02040503050406030204" pitchFamily="18" charset="0"/>
                  </a:rPr>
                  <a:t> are real constants and </a:t>
                </a:r>
                <a14:m>
                  <m:oMath xmlns:m="http://schemas.openxmlformats.org/officeDocument/2006/math">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𝑦</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𝑧</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ℝ</m:t>
                    </m:r>
                  </m:oMath>
                </a14:m>
                <a:r>
                  <a:rPr lang="en-AU" sz="2400" dirty="0">
                    <a:ea typeface="Cambria Math" panose="02040503050406030204" pitchFamily="18" charset="0"/>
                  </a:rPr>
                  <a:t> </a:t>
                </a:r>
                <a:r>
                  <a:rPr lang="en-AU" sz="2400" dirty="0">
                    <a:latin typeface="+mj-lt"/>
                    <a:ea typeface="Cambria Math" panose="02040503050406030204" pitchFamily="18" charset="0"/>
                  </a:rPr>
                  <a:t>are variables.</a:t>
                </a:r>
              </a:p>
              <a:p>
                <a:r>
                  <a:rPr lang="en-AU" sz="2400" dirty="0">
                    <a:latin typeface="+mj-lt"/>
                    <a:ea typeface="Cambria Math" panose="02040503050406030204" pitchFamily="18" charset="0"/>
                  </a:rPr>
                  <a:t>If </a:t>
                </a:r>
                <a14:m>
                  <m:oMath xmlns:m="http://schemas.openxmlformats.org/officeDocument/2006/math">
                    <m:r>
                      <a:rPr lang="en-AU" sz="2400" b="0" i="1" smtClean="0">
                        <a:latin typeface="Cambria Math" panose="02040503050406030204" pitchFamily="18" charset="0"/>
                        <a:ea typeface="Cambria Math" panose="02040503050406030204" pitchFamily="18" charset="0"/>
                      </a:rPr>
                      <m:t>𝑐</m:t>
                    </m:r>
                    <m:r>
                      <a:rPr lang="en-AU" sz="2400" b="0" i="1" smtClean="0">
                        <a:latin typeface="Cambria Math" panose="02040503050406030204" pitchFamily="18" charset="0"/>
                        <a:ea typeface="Cambria Math" panose="02040503050406030204" pitchFamily="18" charset="0"/>
                      </a:rPr>
                      <m:t>≠0</m:t>
                    </m:r>
                  </m:oMath>
                </a14:m>
                <a:r>
                  <a:rPr lang="en-AU" sz="2400" dirty="0">
                    <a:latin typeface="+mj-lt"/>
                    <a:ea typeface="Cambria Math" panose="02040503050406030204" pitchFamily="18" charset="0"/>
                  </a:rPr>
                  <a:t>, we can say that a plane is the graph of a function </a:t>
                </a:r>
                <a14:m>
                  <m:oMath xmlns:m="http://schemas.openxmlformats.org/officeDocument/2006/math">
                    <m:r>
                      <a:rPr lang="en-AU" sz="2400" i="1">
                        <a:latin typeface="Cambria Math" panose="02040503050406030204" pitchFamily="18" charset="0"/>
                        <a:ea typeface="Cambria Math" panose="02040503050406030204" pitchFamily="18" charset="0"/>
                      </a:rPr>
                      <m:t>𝑓</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𝑋</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𝑌</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ℝ</m:t>
                    </m:r>
                  </m:oMath>
                </a14:m>
                <a:r>
                  <a:rPr lang="en-AU" sz="2400" dirty="0">
                    <a:latin typeface="+mj-lt"/>
                    <a:ea typeface="Cambria Math" panose="02040503050406030204" pitchFamily="18" charset="0"/>
                  </a:rPr>
                  <a:t> of the type:</a:t>
                </a: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ea typeface="Cambria Math" panose="02040503050406030204" pitchFamily="18" charset="0"/>
                        </a:rPr>
                        <m:t>𝑧</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𝑓</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𝑦</m:t>
                          </m:r>
                        </m:e>
                      </m:d>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𝐴𝑥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𝐵𝑦</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𝐶</m:t>
                      </m:r>
                    </m:oMath>
                  </m:oMathPara>
                </a14:m>
                <a:endParaRPr lang="en-AU" sz="2400" dirty="0">
                  <a:latin typeface="+mj-lt"/>
                  <a:ea typeface="Cambria Math" panose="02040503050406030204" pitchFamily="18" charset="0"/>
                </a:endParaRPr>
              </a:p>
              <a:p>
                <a:r>
                  <a:rPr lang="en-AU" sz="2400" dirty="0">
                    <a:latin typeface="+mj-lt"/>
                    <a:ea typeface="Cambria Math" panose="02040503050406030204" pitchFamily="18" charset="0"/>
                  </a:rPr>
                  <a:t>where </a:t>
                </a:r>
                <a14:m>
                  <m:oMath xmlns:m="http://schemas.openxmlformats.org/officeDocument/2006/math">
                    <m:r>
                      <a:rPr lang="en-AU" sz="2400" b="0" i="1" smtClean="0">
                        <a:latin typeface="Cambria Math" panose="02040503050406030204" pitchFamily="18" charset="0"/>
                        <a:ea typeface="Cambria Math" panose="02040503050406030204" pitchFamily="18" charset="0"/>
                      </a:rPr>
                      <m:t>𝐴</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𝐵</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𝐶</m:t>
                    </m:r>
                    <m:r>
                      <a:rPr lang="en-AU" sz="2400" b="0" i="1" smtClean="0">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ℝ</m:t>
                    </m:r>
                  </m:oMath>
                </a14:m>
                <a:r>
                  <a:rPr lang="en-AU" sz="2400" dirty="0">
                    <a:latin typeface="+mj-lt"/>
                    <a:ea typeface="Cambria Math" panose="02040503050406030204" pitchFamily="18" charset="0"/>
                  </a:rPr>
                  <a:t> are real constants, and </a:t>
                </a:r>
                <a14:m>
                  <m:oMath xmlns:m="http://schemas.openxmlformats.org/officeDocument/2006/math">
                    <m:r>
                      <a:rPr lang="en-AU" sz="2400" b="0" i="1" smtClean="0">
                        <a:latin typeface="Cambria Math" panose="02040503050406030204" pitchFamily="18" charset="0"/>
                        <a:ea typeface="Cambria Math" panose="02040503050406030204" pitchFamily="18" charset="0"/>
                      </a:rPr>
                      <m:t>𝐴</m:t>
                    </m:r>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𝑎</m:t>
                        </m:r>
                      </m:num>
                      <m:den>
                        <m:r>
                          <a:rPr lang="en-AU" sz="2400" b="0" i="1" smtClean="0">
                            <a:latin typeface="Cambria Math" panose="02040503050406030204" pitchFamily="18" charset="0"/>
                            <a:ea typeface="Cambria Math" panose="02040503050406030204" pitchFamily="18" charset="0"/>
                          </a:rPr>
                          <m:t>𝑐</m:t>
                        </m:r>
                      </m:den>
                    </m:f>
                    <m:r>
                      <a:rPr lang="en-AU" sz="2400" b="0" i="1" smtClean="0">
                        <a:latin typeface="Cambria Math" panose="02040503050406030204" pitchFamily="18" charset="0"/>
                        <a:ea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𝐵</m:t>
                    </m:r>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𝑏</m:t>
                        </m:r>
                      </m:num>
                      <m:den>
                        <m:r>
                          <a:rPr lang="en-AU" sz="2400" b="0" i="1" smtClean="0">
                            <a:latin typeface="Cambria Math" panose="02040503050406030204" pitchFamily="18" charset="0"/>
                            <a:ea typeface="Cambria Math" panose="02040503050406030204" pitchFamily="18" charset="0"/>
                          </a:rPr>
                          <m:t>𝑐</m:t>
                        </m:r>
                      </m:den>
                    </m:f>
                    <m:r>
                      <a:rPr lang="en-AU" sz="2400" b="0" i="1" smtClean="0">
                        <a:latin typeface="Cambria Math" panose="02040503050406030204" pitchFamily="18" charset="0"/>
                        <a:ea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𝐶</m:t>
                    </m:r>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𝑑</m:t>
                        </m:r>
                      </m:num>
                      <m:den>
                        <m:r>
                          <a:rPr lang="en-AU" sz="2400" b="0" i="1" smtClean="0">
                            <a:latin typeface="Cambria Math" panose="02040503050406030204" pitchFamily="18" charset="0"/>
                            <a:ea typeface="Cambria Math" panose="02040503050406030204" pitchFamily="18" charset="0"/>
                          </a:rPr>
                          <m:t>𝑐</m:t>
                        </m:r>
                      </m:den>
                    </m:f>
                  </m:oMath>
                </a14:m>
                <a:r>
                  <a:rPr lang="en-AU" sz="2400" dirty="0">
                    <a:latin typeface="+mj-lt"/>
                    <a:ea typeface="Cambria Math" panose="02040503050406030204" pitchFamily="18" charset="0"/>
                  </a:rPr>
                  <a:t>.</a:t>
                </a:r>
              </a:p>
              <a:p>
                <a:r>
                  <a:rPr lang="en-AU" sz="2400" dirty="0">
                    <a:latin typeface="+mj-lt"/>
                    <a:ea typeface="Cambria Math" panose="02040503050406030204" pitchFamily="18" charset="0"/>
                  </a:rPr>
                  <a:t>Example. Sketch the plane with equation </a:t>
                </a:r>
                <a14:m>
                  <m:oMath xmlns:m="http://schemas.openxmlformats.org/officeDocument/2006/math">
                    <m:r>
                      <a:rPr lang="en-AU" sz="2400" b="0" i="1" smtClean="0">
                        <a:latin typeface="Cambria Math" panose="02040503050406030204" pitchFamily="18" charset="0"/>
                        <a:ea typeface="Cambria Math" panose="02040503050406030204" pitchFamily="18" charset="0"/>
                      </a:rPr>
                      <m:t>3</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+6</m:t>
                    </m:r>
                    <m:r>
                      <a:rPr lang="en-AU" sz="2400" b="0" i="1" smtClean="0">
                        <a:latin typeface="Cambria Math" panose="02040503050406030204" pitchFamily="18" charset="0"/>
                        <a:ea typeface="Cambria Math" panose="02040503050406030204" pitchFamily="18" charset="0"/>
                      </a:rPr>
                      <m:t>𝑦</m:t>
                    </m:r>
                    <m:r>
                      <a:rPr lang="en-AU" sz="2400" b="0" i="1" smtClean="0">
                        <a:latin typeface="Cambria Math" panose="02040503050406030204" pitchFamily="18" charset="0"/>
                        <a:ea typeface="Cambria Math" panose="02040503050406030204" pitchFamily="18" charset="0"/>
                      </a:rPr>
                      <m:t>+8</m:t>
                    </m:r>
                    <m:r>
                      <a:rPr lang="en-AU" sz="2400" b="0" i="1" smtClean="0">
                        <a:latin typeface="Cambria Math" panose="02040503050406030204" pitchFamily="18" charset="0"/>
                        <a:ea typeface="Cambria Math" panose="02040503050406030204" pitchFamily="18" charset="0"/>
                      </a:rPr>
                      <m:t>𝑧</m:t>
                    </m:r>
                    <m:r>
                      <a:rPr lang="en-AU" sz="2400" b="0" i="1" smtClean="0">
                        <a:latin typeface="Cambria Math" panose="02040503050406030204" pitchFamily="18" charset="0"/>
                        <a:ea typeface="Cambria Math" panose="02040503050406030204" pitchFamily="18" charset="0"/>
                      </a:rPr>
                      <m:t>=24</m:t>
                    </m:r>
                  </m:oMath>
                </a14:m>
                <a:endParaRPr lang="en-AU" sz="2400" dirty="0">
                  <a:latin typeface="+mj-lt"/>
                  <a:ea typeface="Cambria Math" panose="02040503050406030204" pitchFamily="18" charset="0"/>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31799" y="847274"/>
                <a:ext cx="11672047" cy="2840265"/>
              </a:xfrm>
              <a:prstGeom prst="rect">
                <a:avLst/>
              </a:prstGeom>
              <a:blipFill>
                <a:blip r:embed="rId2"/>
                <a:stretch>
                  <a:fillRect l="-783" t="-1717" b="-3863"/>
                </a:stretch>
              </a:blipFill>
            </p:spPr>
            <p:txBody>
              <a:bodyPr/>
              <a:lstStyle/>
              <a:p>
                <a:r>
                  <a:rPr lang="en-GB">
                    <a:noFill/>
                  </a:rPr>
                  <a:t> </a:t>
                </a:r>
              </a:p>
            </p:txBody>
          </p:sp>
        </mc:Fallback>
      </mc:AlternateContent>
    </p:spTree>
    <p:extLst>
      <p:ext uri="{BB962C8B-B14F-4D97-AF65-F5344CB8AC3E}">
        <p14:creationId xmlns:p14="http://schemas.microsoft.com/office/powerpoint/2010/main" val="29039795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7472943" cy="523220"/>
          </a:xfrm>
          <a:prstGeom prst="rect">
            <a:avLst/>
          </a:prstGeom>
          <a:noFill/>
        </p:spPr>
        <p:txBody>
          <a:bodyPr wrap="none" rtlCol="0">
            <a:spAutoFit/>
          </a:bodyPr>
          <a:lstStyle/>
          <a:p>
            <a:r>
              <a:rPr lang="en-AU" sz="2800" b="1" cap="small" dirty="0">
                <a:solidFill>
                  <a:schemeClr val="bg1"/>
                </a:solidFill>
                <a:latin typeface="+mj-lt"/>
              </a:rPr>
              <a:t>7.2 The method of cross-sections and simple surfaces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31799" y="847274"/>
                <a:ext cx="11672047" cy="4893647"/>
              </a:xfrm>
              <a:prstGeom prst="rect">
                <a:avLst/>
              </a:prstGeom>
              <a:noFill/>
            </p:spPr>
            <p:txBody>
              <a:bodyPr wrap="square" rtlCol="0">
                <a:spAutoFit/>
              </a:bodyPr>
              <a:lstStyle/>
              <a:p>
                <a:r>
                  <a:rPr lang="en-AU" sz="2400" dirty="0">
                    <a:latin typeface="+mj-lt"/>
                    <a:ea typeface="Cambria Math" panose="02040503050406030204" pitchFamily="18" charset="0"/>
                  </a:rPr>
                  <a:t>A cross-section is, in general, the intersection of a surface with a given plane. When the function </a:t>
                </a:r>
                <a14:m>
                  <m:oMath xmlns:m="http://schemas.openxmlformats.org/officeDocument/2006/math">
                    <m:r>
                      <a:rPr lang="en-AU" sz="2400" b="0" i="1" smtClean="0">
                        <a:latin typeface="Cambria Math" panose="02040503050406030204" pitchFamily="18" charset="0"/>
                        <a:ea typeface="Cambria Math" panose="02040503050406030204" pitchFamily="18" charset="0"/>
                      </a:rPr>
                      <m:t>𝑧</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𝑓</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𝑦</m:t>
                    </m:r>
                    <m:r>
                      <a:rPr lang="en-AU" sz="2400" b="0" i="1" smtClean="0">
                        <a:latin typeface="Cambria Math" panose="02040503050406030204" pitchFamily="18" charset="0"/>
                        <a:ea typeface="Cambria Math" panose="02040503050406030204" pitchFamily="18" charset="0"/>
                      </a:rPr>
                      <m:t>)</m:t>
                    </m:r>
                  </m:oMath>
                </a14:m>
                <a:r>
                  <a:rPr lang="en-AU" sz="2400" dirty="0">
                    <a:latin typeface="+mj-lt"/>
                    <a:ea typeface="Cambria Math" panose="02040503050406030204" pitchFamily="18" charset="0"/>
                  </a:rPr>
                  <a:t> is sufficiently simple, it is possible to understand the salient characteristics of the surface representing its graph by using cross-sections. The idea is that if we provide a sufficiently varied sample of “cuts” of a given surface, we can then reconstruct the entire surface in three dimensions. Cross-sections are sometimes called “level sets” or “level curves” of a surface.</a:t>
                </a:r>
              </a:p>
              <a:p>
                <a:r>
                  <a:rPr lang="en-AU" sz="2400" dirty="0">
                    <a:latin typeface="+mj-lt"/>
                    <a:ea typeface="Cambria Math" panose="02040503050406030204" pitchFamily="18" charset="0"/>
                  </a:rPr>
                  <a:t>Steps:</a:t>
                </a:r>
              </a:p>
              <a:p>
                <a:pPr marL="457200" indent="-457200">
                  <a:buAutoNum type="arabicPeriod"/>
                </a:pPr>
                <a:r>
                  <a:rPr lang="en-AU" sz="2400" dirty="0">
                    <a:latin typeface="+mj-lt"/>
                    <a:ea typeface="Cambria Math" panose="02040503050406030204" pitchFamily="18" charset="0"/>
                  </a:rPr>
                  <a:t>Start with a sketch of the simplest cross-sections, i.e. those involving the planes parallel to the axes: </a:t>
                </a:r>
                <a14:m>
                  <m:oMath xmlns:m="http://schemas.openxmlformats.org/officeDocument/2006/math">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=0</m:t>
                    </m:r>
                  </m:oMath>
                </a14:m>
                <a:r>
                  <a:rPr lang="en-AU" sz="2400" dirty="0">
                    <a:latin typeface="+mj-lt"/>
                    <a:ea typeface="Cambria Math" panose="02040503050406030204" pitchFamily="18" charset="0"/>
                  </a:rPr>
                  <a:t> (first vertical cross-section), </a:t>
                </a:r>
                <a14:m>
                  <m:oMath xmlns:m="http://schemas.openxmlformats.org/officeDocument/2006/math">
                    <m:r>
                      <a:rPr lang="en-AU" sz="2400" b="0" i="1" smtClean="0">
                        <a:latin typeface="Cambria Math" panose="02040503050406030204" pitchFamily="18" charset="0"/>
                        <a:ea typeface="Cambria Math" panose="02040503050406030204" pitchFamily="18" charset="0"/>
                      </a:rPr>
                      <m:t>𝑦</m:t>
                    </m:r>
                    <m:r>
                      <a:rPr lang="en-AU" sz="2400" b="0" i="1" smtClean="0">
                        <a:latin typeface="Cambria Math" panose="02040503050406030204" pitchFamily="18" charset="0"/>
                        <a:ea typeface="Cambria Math" panose="02040503050406030204" pitchFamily="18" charset="0"/>
                      </a:rPr>
                      <m:t>=0</m:t>
                    </m:r>
                  </m:oMath>
                </a14:m>
                <a:r>
                  <a:rPr lang="en-AU" sz="2400" dirty="0">
                    <a:latin typeface="+mj-lt"/>
                    <a:ea typeface="Cambria Math" panose="02040503050406030204" pitchFamily="18" charset="0"/>
                  </a:rPr>
                  <a:t> (second vertical cross-section) and </a:t>
                </a:r>
                <a14:m>
                  <m:oMath xmlns:m="http://schemas.openxmlformats.org/officeDocument/2006/math">
                    <m:r>
                      <a:rPr lang="en-AU" sz="2400" b="0" i="1" smtClean="0">
                        <a:latin typeface="Cambria Math" panose="02040503050406030204" pitchFamily="18" charset="0"/>
                        <a:ea typeface="Cambria Math" panose="02040503050406030204" pitchFamily="18" charset="0"/>
                      </a:rPr>
                      <m:t>𝑧</m:t>
                    </m:r>
                    <m:r>
                      <a:rPr lang="en-AU" sz="2400" b="0" i="1" smtClean="0">
                        <a:latin typeface="Cambria Math" panose="02040503050406030204" pitchFamily="18" charset="0"/>
                        <a:ea typeface="Cambria Math" panose="02040503050406030204" pitchFamily="18" charset="0"/>
                      </a:rPr>
                      <m:t>=0</m:t>
                    </m:r>
                  </m:oMath>
                </a14:m>
                <a:r>
                  <a:rPr lang="en-AU" sz="2400" dirty="0">
                    <a:latin typeface="+mj-lt"/>
                    <a:ea typeface="Cambria Math" panose="02040503050406030204" pitchFamily="18" charset="0"/>
                  </a:rPr>
                  <a:t> (horizontal cross-section).</a:t>
                </a:r>
              </a:p>
              <a:p>
                <a:pPr marL="457200" indent="-457200">
                  <a:buAutoNum type="arabicPeriod"/>
                </a:pPr>
                <a:r>
                  <a:rPr lang="en-AU" sz="2400" dirty="0">
                    <a:latin typeface="+mj-lt"/>
                    <a:ea typeface="Cambria Math" panose="02040503050406030204" pitchFamily="18" charset="0"/>
                  </a:rPr>
                  <a:t>Sketch some horizontal cross-sections, for small values of </a:t>
                </a:r>
                <a14:m>
                  <m:oMath xmlns:m="http://schemas.openxmlformats.org/officeDocument/2006/math">
                    <m:r>
                      <a:rPr lang="en-AU" sz="2400" b="0" i="1" smtClean="0">
                        <a:latin typeface="Cambria Math" panose="02040503050406030204" pitchFamily="18" charset="0"/>
                        <a:ea typeface="Cambria Math" panose="02040503050406030204" pitchFamily="18" charset="0"/>
                      </a:rPr>
                      <m:t>𝑧</m:t>
                    </m:r>
                  </m:oMath>
                </a14:m>
                <a:r>
                  <a:rPr lang="en-AU" sz="2400" dirty="0">
                    <a:latin typeface="+mj-lt"/>
                    <a:ea typeface="Cambria Math" panose="02040503050406030204" pitchFamily="18" charset="0"/>
                  </a:rPr>
                  <a:t>.</a:t>
                </a:r>
              </a:p>
              <a:p>
                <a:pPr marL="457200" indent="-457200">
                  <a:buAutoNum type="arabicPeriod"/>
                </a:pPr>
                <a:r>
                  <a:rPr lang="en-AU" sz="2400" dirty="0">
                    <a:latin typeface="+mj-lt"/>
                    <a:ea typeface="Cambria Math" panose="02040503050406030204" pitchFamily="18" charset="0"/>
                  </a:rPr>
                  <a:t>Sketch some vertical cross-sections, for simple values of </a:t>
                </a:r>
                <a14:m>
                  <m:oMath xmlns:m="http://schemas.openxmlformats.org/officeDocument/2006/math">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𝑦</m:t>
                    </m:r>
                  </m:oMath>
                </a14:m>
                <a:r>
                  <a:rPr lang="en-AU" sz="2400" dirty="0">
                    <a:latin typeface="+mj-lt"/>
                    <a:ea typeface="Cambria Math" panose="02040503050406030204" pitchFamily="18" charset="0"/>
                  </a:rPr>
                  <a:t>.</a:t>
                </a:r>
              </a:p>
              <a:p>
                <a:pPr marL="457200" indent="-457200">
                  <a:buAutoNum type="arabicPeriod"/>
                </a:pPr>
                <a:r>
                  <a:rPr lang="en-AU" sz="2400" dirty="0">
                    <a:latin typeface="+mj-lt"/>
                    <a:ea typeface="Cambria Math" panose="02040503050406030204" pitchFamily="18" charset="0"/>
                  </a:rPr>
                  <a:t>Put all the 2D cross-sections together to produce a 3D graph.</a:t>
                </a: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31799" y="847274"/>
                <a:ext cx="11672047" cy="4893647"/>
              </a:xfrm>
              <a:prstGeom prst="rect">
                <a:avLst/>
              </a:prstGeom>
              <a:blipFill>
                <a:blip r:embed="rId2"/>
                <a:stretch>
                  <a:fillRect l="-836" t="-996" r="-679" b="-1868"/>
                </a:stretch>
              </a:blipFill>
            </p:spPr>
            <p:txBody>
              <a:bodyPr/>
              <a:lstStyle/>
              <a:p>
                <a:r>
                  <a:rPr lang="en-GB">
                    <a:noFill/>
                  </a:rPr>
                  <a:t> </a:t>
                </a:r>
              </a:p>
            </p:txBody>
          </p:sp>
        </mc:Fallback>
      </mc:AlternateContent>
    </p:spTree>
    <p:extLst>
      <p:ext uri="{BB962C8B-B14F-4D97-AF65-F5344CB8AC3E}">
        <p14:creationId xmlns:p14="http://schemas.microsoft.com/office/powerpoint/2010/main" val="14663613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7472943" cy="523220"/>
          </a:xfrm>
          <a:prstGeom prst="rect">
            <a:avLst/>
          </a:prstGeom>
          <a:noFill/>
        </p:spPr>
        <p:txBody>
          <a:bodyPr wrap="none" rtlCol="0">
            <a:spAutoFit/>
          </a:bodyPr>
          <a:lstStyle/>
          <a:p>
            <a:r>
              <a:rPr lang="en-AU" sz="2800" b="1" cap="small" dirty="0">
                <a:solidFill>
                  <a:schemeClr val="bg1"/>
                </a:solidFill>
                <a:latin typeface="+mj-lt"/>
              </a:rPr>
              <a:t>7.2 The method of cross-sections and simple surfaces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31799" y="847274"/>
                <a:ext cx="11672047" cy="461665"/>
              </a:xfrm>
              <a:prstGeom prst="rect">
                <a:avLst/>
              </a:prstGeom>
              <a:noFill/>
            </p:spPr>
            <p:txBody>
              <a:bodyPr wrap="square" rtlCol="0">
                <a:spAutoFit/>
              </a:bodyPr>
              <a:lstStyle/>
              <a:p>
                <a:r>
                  <a:rPr lang="en-AU" sz="2400" dirty="0">
                    <a:latin typeface="+mj-lt"/>
                    <a:ea typeface="Cambria Math" panose="02040503050406030204" pitchFamily="18" charset="0"/>
                  </a:rPr>
                  <a:t>Example. Sketch the surface defined by </a:t>
                </a:r>
                <a14:m>
                  <m:oMath xmlns:m="http://schemas.openxmlformats.org/officeDocument/2006/math">
                    <m:r>
                      <a:rPr lang="en-AU" sz="2400" b="0" i="1" smtClean="0">
                        <a:latin typeface="Cambria Math" panose="02040503050406030204" pitchFamily="18" charset="0"/>
                        <a:ea typeface="Cambria Math" panose="02040503050406030204" pitchFamily="18" charset="0"/>
                      </a:rPr>
                      <m:t>𝑧</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𝑥</m:t>
                        </m:r>
                      </m:e>
                      <m:sup>
                        <m:r>
                          <a:rPr lang="en-AU" sz="2400" b="0" i="1" smtClean="0">
                            <a:latin typeface="Cambria Math" panose="02040503050406030204" pitchFamily="18" charset="0"/>
                            <a:ea typeface="Cambria Math" panose="02040503050406030204" pitchFamily="18" charset="0"/>
                          </a:rPr>
                          <m:t>2</m:t>
                        </m:r>
                      </m:sup>
                    </m:sSup>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𝑦</m:t>
                        </m:r>
                      </m:e>
                      <m:sup>
                        <m:r>
                          <a:rPr lang="en-AU" sz="2400" b="0" i="1" smtClean="0">
                            <a:latin typeface="Cambria Math" panose="02040503050406030204" pitchFamily="18" charset="0"/>
                            <a:ea typeface="Cambria Math" panose="02040503050406030204" pitchFamily="18" charset="0"/>
                          </a:rPr>
                          <m:t>2</m:t>
                        </m:r>
                      </m:sup>
                    </m:sSup>
                  </m:oMath>
                </a14:m>
                <a:endParaRPr lang="en-AU" sz="2400" dirty="0">
                  <a:latin typeface="+mj-lt"/>
                  <a:ea typeface="Cambria Math" panose="02040503050406030204" pitchFamily="18" charset="0"/>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31799" y="847274"/>
                <a:ext cx="11672047" cy="461665"/>
              </a:xfrm>
              <a:prstGeom prst="rect">
                <a:avLst/>
              </a:prstGeom>
              <a:blipFill>
                <a:blip r:embed="rId2"/>
                <a:stretch>
                  <a:fillRect l="-783" t="-10526" b="-28947"/>
                </a:stretch>
              </a:blipFill>
            </p:spPr>
            <p:txBody>
              <a:bodyPr/>
              <a:lstStyle/>
              <a:p>
                <a:r>
                  <a:rPr lang="en-GB">
                    <a:noFill/>
                  </a:rPr>
                  <a:t> </a:t>
                </a:r>
              </a:p>
            </p:txBody>
          </p:sp>
        </mc:Fallback>
      </mc:AlternateContent>
    </p:spTree>
    <p:extLst>
      <p:ext uri="{BB962C8B-B14F-4D97-AF65-F5344CB8AC3E}">
        <p14:creationId xmlns:p14="http://schemas.microsoft.com/office/powerpoint/2010/main" val="22001857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7472943" cy="523220"/>
          </a:xfrm>
          <a:prstGeom prst="rect">
            <a:avLst/>
          </a:prstGeom>
          <a:noFill/>
        </p:spPr>
        <p:txBody>
          <a:bodyPr wrap="none" rtlCol="0">
            <a:spAutoFit/>
          </a:bodyPr>
          <a:lstStyle/>
          <a:p>
            <a:r>
              <a:rPr lang="en-AU" sz="2800" b="1" cap="small" dirty="0">
                <a:solidFill>
                  <a:schemeClr val="bg1"/>
                </a:solidFill>
                <a:latin typeface="+mj-lt"/>
              </a:rPr>
              <a:t>7.2 The method of cross-sections and simple surfaces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31799" y="847274"/>
                <a:ext cx="11672047" cy="461665"/>
              </a:xfrm>
              <a:prstGeom prst="rect">
                <a:avLst/>
              </a:prstGeom>
              <a:noFill/>
            </p:spPr>
            <p:txBody>
              <a:bodyPr wrap="square" rtlCol="0">
                <a:spAutoFit/>
              </a:bodyPr>
              <a:lstStyle/>
              <a:p>
                <a:r>
                  <a:rPr lang="en-AU" sz="2400" dirty="0">
                    <a:latin typeface="+mj-lt"/>
                    <a:ea typeface="Cambria Math" panose="02040503050406030204" pitchFamily="18" charset="0"/>
                  </a:rPr>
                  <a:t>Example. Sketch the surface defined by </a:t>
                </a:r>
                <a14:m>
                  <m:oMath xmlns:m="http://schemas.openxmlformats.org/officeDocument/2006/math">
                    <m:r>
                      <a:rPr lang="en-AU" sz="2400" b="0" i="1" smtClean="0">
                        <a:latin typeface="Cambria Math" panose="02040503050406030204" pitchFamily="18" charset="0"/>
                        <a:ea typeface="Cambria Math" panose="02040503050406030204" pitchFamily="18" charset="0"/>
                      </a:rPr>
                      <m:t>𝑧</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𝑥</m:t>
                        </m:r>
                      </m:e>
                      <m:sup>
                        <m:r>
                          <a:rPr lang="en-AU" sz="2400" b="0" i="1" smtClean="0">
                            <a:latin typeface="Cambria Math" panose="02040503050406030204" pitchFamily="18" charset="0"/>
                            <a:ea typeface="Cambria Math" panose="02040503050406030204" pitchFamily="18" charset="0"/>
                          </a:rPr>
                          <m:t>2</m:t>
                        </m:r>
                      </m:sup>
                    </m:sSup>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6</m:t>
                        </m:r>
                        <m:r>
                          <a:rPr lang="en-AU" sz="2400" b="0" i="1" smtClean="0">
                            <a:latin typeface="Cambria Math" panose="02040503050406030204" pitchFamily="18" charset="0"/>
                            <a:ea typeface="Cambria Math" panose="02040503050406030204" pitchFamily="18" charset="0"/>
                          </a:rPr>
                          <m:t>𝑦</m:t>
                        </m:r>
                      </m:e>
                      <m:sup>
                        <m:r>
                          <a:rPr lang="en-AU" sz="2400" b="0" i="1" smtClean="0">
                            <a:latin typeface="Cambria Math" panose="02040503050406030204" pitchFamily="18" charset="0"/>
                            <a:ea typeface="Cambria Math" panose="02040503050406030204" pitchFamily="18" charset="0"/>
                          </a:rPr>
                          <m:t>2</m:t>
                        </m:r>
                      </m:sup>
                    </m:sSup>
                  </m:oMath>
                </a14:m>
                <a:endParaRPr lang="en-AU" sz="2400" dirty="0">
                  <a:latin typeface="+mj-lt"/>
                  <a:ea typeface="Cambria Math" panose="02040503050406030204" pitchFamily="18" charset="0"/>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31799" y="847274"/>
                <a:ext cx="11672047" cy="461665"/>
              </a:xfrm>
              <a:prstGeom prst="rect">
                <a:avLst/>
              </a:prstGeom>
              <a:blipFill>
                <a:blip r:embed="rId2"/>
                <a:stretch>
                  <a:fillRect l="-783" t="-10526" b="-28947"/>
                </a:stretch>
              </a:blipFill>
            </p:spPr>
            <p:txBody>
              <a:bodyPr/>
              <a:lstStyle/>
              <a:p>
                <a:r>
                  <a:rPr lang="en-GB">
                    <a:noFill/>
                  </a:rPr>
                  <a:t> </a:t>
                </a:r>
              </a:p>
            </p:txBody>
          </p:sp>
        </mc:Fallback>
      </mc:AlternateContent>
    </p:spTree>
    <p:extLst>
      <p:ext uri="{BB962C8B-B14F-4D97-AF65-F5344CB8AC3E}">
        <p14:creationId xmlns:p14="http://schemas.microsoft.com/office/powerpoint/2010/main" val="35709514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7472943" cy="523220"/>
          </a:xfrm>
          <a:prstGeom prst="rect">
            <a:avLst/>
          </a:prstGeom>
          <a:noFill/>
        </p:spPr>
        <p:txBody>
          <a:bodyPr wrap="none" rtlCol="0">
            <a:spAutoFit/>
          </a:bodyPr>
          <a:lstStyle/>
          <a:p>
            <a:r>
              <a:rPr lang="en-AU" sz="2800" b="1" cap="small" dirty="0">
                <a:solidFill>
                  <a:schemeClr val="bg1"/>
                </a:solidFill>
                <a:latin typeface="+mj-lt"/>
              </a:rPr>
              <a:t>7.2 The method of cross-sections and simple surfaces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31799" y="847274"/>
                <a:ext cx="11672047" cy="539571"/>
              </a:xfrm>
              <a:prstGeom prst="rect">
                <a:avLst/>
              </a:prstGeom>
              <a:noFill/>
            </p:spPr>
            <p:txBody>
              <a:bodyPr wrap="square" rtlCol="0">
                <a:spAutoFit/>
              </a:bodyPr>
              <a:lstStyle/>
              <a:p>
                <a:r>
                  <a:rPr lang="en-AU" sz="2400" dirty="0">
                    <a:latin typeface="+mj-lt"/>
                    <a:ea typeface="Cambria Math" panose="02040503050406030204" pitchFamily="18" charset="0"/>
                  </a:rPr>
                  <a:t>Example. Sketch the surface defined by </a:t>
                </a:r>
                <a14:m>
                  <m:oMath xmlns:m="http://schemas.openxmlformats.org/officeDocument/2006/math">
                    <m:r>
                      <a:rPr lang="en-AU" sz="2400" b="0" i="1" smtClean="0">
                        <a:latin typeface="Cambria Math" panose="02040503050406030204" pitchFamily="18" charset="0"/>
                        <a:ea typeface="Cambria Math" panose="02040503050406030204" pitchFamily="18" charset="0"/>
                      </a:rPr>
                      <m:t>𝑧</m:t>
                    </m:r>
                    <m:r>
                      <a:rPr lang="en-AU" sz="2400" b="0" i="1" smtClean="0">
                        <a:latin typeface="Cambria Math" panose="02040503050406030204" pitchFamily="18" charset="0"/>
                        <a:ea typeface="Cambria Math" panose="02040503050406030204" pitchFamily="18" charset="0"/>
                      </a:rPr>
                      <m:t>=</m:t>
                    </m:r>
                    <m:rad>
                      <m:radPr>
                        <m:degHide m:val="on"/>
                        <m:ctrlPr>
                          <a:rPr lang="en-AU" sz="2400" b="0" i="1" smtClean="0">
                            <a:latin typeface="Cambria Math" panose="02040503050406030204" pitchFamily="18" charset="0"/>
                            <a:ea typeface="Cambria Math" panose="02040503050406030204" pitchFamily="18" charset="0"/>
                          </a:rPr>
                        </m:ctrlPr>
                      </m:radPr>
                      <m:deg/>
                      <m:e>
                        <m:r>
                          <a:rPr lang="en-AU" sz="2400" b="0" i="1" smtClean="0">
                            <a:latin typeface="Cambria Math" panose="02040503050406030204" pitchFamily="18" charset="0"/>
                            <a:ea typeface="Cambria Math" panose="02040503050406030204" pitchFamily="18" charset="0"/>
                          </a:rPr>
                          <m:t>25</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𝑥</m:t>
                            </m:r>
                          </m:e>
                          <m:sup>
                            <m:r>
                              <a:rPr lang="en-AU" sz="2400" b="0" i="1" smtClean="0">
                                <a:latin typeface="Cambria Math" panose="02040503050406030204" pitchFamily="18" charset="0"/>
                                <a:ea typeface="Cambria Math" panose="02040503050406030204" pitchFamily="18" charset="0"/>
                              </a:rPr>
                              <m:t>2</m:t>
                            </m:r>
                          </m:sup>
                        </m:sSup>
                        <m:r>
                          <a:rPr lang="en-AU" sz="2400" b="0" i="1" smtClean="0">
                            <a:latin typeface="Cambria Math" panose="02040503050406030204" pitchFamily="18" charset="0"/>
                            <a:ea typeface="Cambria Math" panose="02040503050406030204" pitchFamily="18" charset="0"/>
                          </a:rPr>
                          <m:t>+16</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𝑦</m:t>
                            </m:r>
                          </m:e>
                          <m:sup>
                            <m:r>
                              <a:rPr lang="en-AU" sz="2400" b="0" i="1" smtClean="0">
                                <a:latin typeface="Cambria Math" panose="02040503050406030204" pitchFamily="18" charset="0"/>
                                <a:ea typeface="Cambria Math" panose="02040503050406030204" pitchFamily="18" charset="0"/>
                              </a:rPr>
                              <m:t>2</m:t>
                            </m:r>
                          </m:sup>
                        </m:sSup>
                      </m:e>
                    </m:rad>
                  </m:oMath>
                </a14:m>
                <a:endParaRPr lang="en-AU" sz="2400" dirty="0">
                  <a:latin typeface="+mj-lt"/>
                  <a:ea typeface="Cambria Math" panose="02040503050406030204" pitchFamily="18" charset="0"/>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31799" y="847274"/>
                <a:ext cx="11672047" cy="539571"/>
              </a:xfrm>
              <a:prstGeom prst="rect">
                <a:avLst/>
              </a:prstGeom>
              <a:blipFill>
                <a:blip r:embed="rId2"/>
                <a:stretch>
                  <a:fillRect l="-783" b="-23596"/>
                </a:stretch>
              </a:blipFill>
            </p:spPr>
            <p:txBody>
              <a:bodyPr/>
              <a:lstStyle/>
              <a:p>
                <a:r>
                  <a:rPr lang="en-GB">
                    <a:noFill/>
                  </a:rPr>
                  <a:t> </a:t>
                </a:r>
              </a:p>
            </p:txBody>
          </p:sp>
        </mc:Fallback>
      </mc:AlternateContent>
      <p:sp>
        <p:nvSpPr>
          <p:cNvPr id="3" name="Rectangle 2">
            <a:extLst>
              <a:ext uri="{FF2B5EF4-FFF2-40B4-BE49-F238E27FC236}">
                <a16:creationId xmlns:a16="http://schemas.microsoft.com/office/drawing/2014/main" id="{074F66C2-F8D3-4746-9953-C20075761C13}"/>
              </a:ext>
            </a:extLst>
          </p:cNvPr>
          <p:cNvSpPr/>
          <p:nvPr/>
        </p:nvSpPr>
        <p:spPr>
          <a:xfrm>
            <a:off x="11842379" y="6391836"/>
            <a:ext cx="98612" cy="107576"/>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946558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7472943" cy="523220"/>
          </a:xfrm>
          <a:prstGeom prst="rect">
            <a:avLst/>
          </a:prstGeom>
          <a:noFill/>
        </p:spPr>
        <p:txBody>
          <a:bodyPr wrap="none" rtlCol="0">
            <a:spAutoFit/>
          </a:bodyPr>
          <a:lstStyle/>
          <a:p>
            <a:r>
              <a:rPr lang="en-AU" sz="2800" b="1" cap="small" dirty="0">
                <a:solidFill>
                  <a:schemeClr val="bg1"/>
                </a:solidFill>
                <a:latin typeface="+mj-lt"/>
              </a:rPr>
              <a:t>7.2 The method of cross-sections and simple surfaces</a:t>
            </a:r>
            <a:endParaRPr lang="en-GB" sz="2800" b="1" cap="small" dirty="0">
              <a:solidFill>
                <a:schemeClr val="bg1"/>
              </a:solidFill>
              <a:latin typeface="+mj-lt"/>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B13DDBE8-D68C-4484-95E4-482B97F835B2}"/>
                  </a:ext>
                </a:extLst>
              </p:cNvPr>
              <p:cNvSpPr txBox="1"/>
              <p:nvPr/>
            </p:nvSpPr>
            <p:spPr>
              <a:xfrm>
                <a:off x="231799" y="847274"/>
                <a:ext cx="11672047" cy="46166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ea typeface="Cambria Math" panose="02040503050406030204" pitchFamily="18" charset="0"/>
                        </a:rPr>
                        <m:t>𝑧</m:t>
                      </m:r>
                      <m:r>
                        <a:rPr lang="en-AU" sz="2400" b="0" i="1" smtClean="0">
                          <a:latin typeface="Cambria Math" panose="02040503050406030204" pitchFamily="18" charset="0"/>
                          <a:ea typeface="Cambria Math" panose="02040503050406030204" pitchFamily="18" charset="0"/>
                        </a:rPr>
                        <m:t>=</m:t>
                      </m:r>
                      <m:func>
                        <m:funcPr>
                          <m:ctrlPr>
                            <a:rPr lang="en-AU" sz="2400" b="0" i="1" smtClean="0">
                              <a:latin typeface="Cambria Math" panose="02040503050406030204" pitchFamily="18" charset="0"/>
                              <a:ea typeface="Cambria Math" panose="02040503050406030204" pitchFamily="18" charset="0"/>
                            </a:rPr>
                          </m:ctrlPr>
                        </m:funcPr>
                        <m:fName>
                          <m:r>
                            <m:rPr>
                              <m:sty m:val="p"/>
                            </m:rPr>
                            <a:rPr lang="en-AU" sz="2400" b="0" i="0" smtClean="0">
                              <a:latin typeface="Cambria Math" panose="02040503050406030204" pitchFamily="18" charset="0"/>
                              <a:ea typeface="Cambria Math" panose="02040503050406030204" pitchFamily="18" charset="0"/>
                            </a:rPr>
                            <m:t>sin</m:t>
                          </m:r>
                        </m:fName>
                        <m:e>
                          <m:r>
                            <a:rPr lang="en-AU" sz="2400" b="0" i="1" smtClean="0">
                              <a:latin typeface="Cambria Math" panose="02040503050406030204" pitchFamily="18" charset="0"/>
                              <a:ea typeface="Cambria Math" panose="02040503050406030204" pitchFamily="18" charset="0"/>
                            </a:rPr>
                            <m:t>𝑥</m:t>
                          </m:r>
                        </m:e>
                      </m:func>
                      <m:r>
                        <a:rPr lang="en-AU" sz="2400" b="0" i="1" smtClean="0">
                          <a:latin typeface="Cambria Math" panose="02040503050406030204" pitchFamily="18" charset="0"/>
                          <a:ea typeface="Cambria Math" panose="02040503050406030204" pitchFamily="18" charset="0"/>
                        </a:rPr>
                        <m:t>+</m:t>
                      </m:r>
                      <m:func>
                        <m:funcPr>
                          <m:ctrlPr>
                            <a:rPr lang="en-AU" sz="2400" b="0" i="1" smtClean="0">
                              <a:latin typeface="Cambria Math" panose="02040503050406030204" pitchFamily="18" charset="0"/>
                              <a:ea typeface="Cambria Math" panose="02040503050406030204" pitchFamily="18" charset="0"/>
                            </a:rPr>
                          </m:ctrlPr>
                        </m:funcPr>
                        <m:fName>
                          <m:r>
                            <m:rPr>
                              <m:sty m:val="p"/>
                            </m:rPr>
                            <a:rPr lang="en-AU" sz="2400" b="0" i="0" smtClean="0">
                              <a:latin typeface="Cambria Math" panose="02040503050406030204" pitchFamily="18" charset="0"/>
                              <a:ea typeface="Cambria Math" panose="02040503050406030204" pitchFamily="18" charset="0"/>
                            </a:rPr>
                            <m:t>sin</m:t>
                          </m:r>
                        </m:fName>
                        <m:e>
                          <m:r>
                            <a:rPr lang="en-AU" sz="2400" b="0" i="1" smtClean="0">
                              <a:latin typeface="Cambria Math" panose="02040503050406030204" pitchFamily="18" charset="0"/>
                              <a:ea typeface="Cambria Math" panose="02040503050406030204" pitchFamily="18" charset="0"/>
                            </a:rPr>
                            <m:t>𝑦</m:t>
                          </m:r>
                        </m:e>
                      </m:func>
                    </m:oMath>
                  </m:oMathPara>
                </a14:m>
                <a:endParaRPr lang="en-AU" sz="2400" dirty="0">
                  <a:latin typeface="+mj-lt"/>
                  <a:ea typeface="Cambria Math" panose="02040503050406030204" pitchFamily="18" charset="0"/>
                </a:endParaRPr>
              </a:p>
            </p:txBody>
          </p:sp>
        </mc:Choice>
        <mc:Fallback>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31799" y="847274"/>
                <a:ext cx="11672047" cy="461665"/>
              </a:xfrm>
              <a:prstGeom prst="rect">
                <a:avLst/>
              </a:prstGeom>
              <a:blipFill>
                <a:blip r:embed="rId2"/>
                <a:stretch>
                  <a:fillRect b="-9211"/>
                </a:stretch>
              </a:blipFill>
            </p:spPr>
            <p:txBody>
              <a:bodyPr/>
              <a:lstStyle/>
              <a:p>
                <a:r>
                  <a:rPr lang="en-AU">
                    <a:noFill/>
                  </a:rPr>
                  <a:t> </a:t>
                </a:r>
              </a:p>
            </p:txBody>
          </p:sp>
        </mc:Fallback>
      </mc:AlternateContent>
      <p:sp>
        <p:nvSpPr>
          <p:cNvPr id="3" name="Rectangle 2">
            <a:extLst>
              <a:ext uri="{FF2B5EF4-FFF2-40B4-BE49-F238E27FC236}">
                <a16:creationId xmlns:a16="http://schemas.microsoft.com/office/drawing/2014/main" id="{074F66C2-F8D3-4746-9953-C20075761C13}"/>
              </a:ext>
            </a:extLst>
          </p:cNvPr>
          <p:cNvSpPr/>
          <p:nvPr/>
        </p:nvSpPr>
        <p:spPr>
          <a:xfrm>
            <a:off x="11842379" y="6391836"/>
            <a:ext cx="98612" cy="107576"/>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descr="A train station with many trains&#10;&#10;Description automatically generated">
            <a:extLst>
              <a:ext uri="{FF2B5EF4-FFF2-40B4-BE49-F238E27FC236}">
                <a16:creationId xmlns:a16="http://schemas.microsoft.com/office/drawing/2014/main" id="{BB3570AA-21D2-71EE-2C03-D39B267C135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05720" y="1436640"/>
            <a:ext cx="6436659" cy="4827494"/>
          </a:xfrm>
          <a:prstGeom prst="rect">
            <a:avLst/>
          </a:prstGeom>
        </p:spPr>
      </p:pic>
      <p:pic>
        <p:nvPicPr>
          <p:cNvPr id="1026" name="Picture 2">
            <a:extLst>
              <a:ext uri="{FF2B5EF4-FFF2-40B4-BE49-F238E27FC236}">
                <a16:creationId xmlns:a16="http://schemas.microsoft.com/office/drawing/2014/main" id="{C1B588D9-5CE3-0212-6F42-1316F0699F8B}"/>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6245" y="2317580"/>
            <a:ext cx="5464813" cy="3240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47118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7FE63619-80A3-4A89-960D-0F91C6BB0AAA}"/>
              </a:ext>
            </a:extLst>
          </p:cNvPr>
          <p:cNvGrpSpPr/>
          <p:nvPr/>
        </p:nvGrpSpPr>
        <p:grpSpPr>
          <a:xfrm>
            <a:off x="0" y="361"/>
            <a:ext cx="12192000" cy="825314"/>
            <a:chOff x="0" y="213019"/>
            <a:chExt cx="12192000" cy="825314"/>
          </a:xfrm>
          <a:solidFill>
            <a:schemeClr val="accent2">
              <a:lumMod val="50000"/>
            </a:schemeClr>
          </a:solidFill>
        </p:grpSpPr>
        <p:sp>
          <p:nvSpPr>
            <p:cNvPr id="4" name="Rectangle 3">
              <a:extLst>
                <a:ext uri="{FF2B5EF4-FFF2-40B4-BE49-F238E27FC236}">
                  <a16:creationId xmlns:a16="http://schemas.microsoft.com/office/drawing/2014/main" id="{0F605405-8240-4BCC-AF89-B810229A04DC}"/>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F9556E24-176E-4E21-ACB9-FCE58612884D}"/>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B20AD420-227D-44EE-A46A-95E968DB5793}"/>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7" name="TextBox 6">
            <a:extLst>
              <a:ext uri="{FF2B5EF4-FFF2-40B4-BE49-F238E27FC236}">
                <a16:creationId xmlns:a16="http://schemas.microsoft.com/office/drawing/2014/main" id="{3833D331-C78A-418D-9AFF-6E3587061322}"/>
              </a:ext>
            </a:extLst>
          </p:cNvPr>
          <p:cNvSpPr txBox="1"/>
          <p:nvPr/>
        </p:nvSpPr>
        <p:spPr>
          <a:xfrm>
            <a:off x="66245" y="124632"/>
            <a:ext cx="2220673" cy="523220"/>
          </a:xfrm>
          <a:prstGeom prst="rect">
            <a:avLst/>
          </a:prstGeom>
          <a:noFill/>
        </p:spPr>
        <p:txBody>
          <a:bodyPr wrap="none" rtlCol="0">
            <a:spAutoFit/>
          </a:bodyPr>
          <a:lstStyle/>
          <a:p>
            <a:r>
              <a:rPr lang="en-AU" sz="2800" b="1" cap="small" dirty="0">
                <a:solidFill>
                  <a:schemeClr val="bg1"/>
                </a:solidFill>
                <a:latin typeface="+mj-lt"/>
              </a:rPr>
              <a:t>End of Lecture</a:t>
            </a:r>
            <a:endParaRPr lang="en-GB" sz="2800" b="1" cap="small" dirty="0">
              <a:solidFill>
                <a:schemeClr val="bg1"/>
              </a:solidFill>
              <a:latin typeface="+mj-lt"/>
            </a:endParaRPr>
          </a:p>
        </p:txBody>
      </p:sp>
    </p:spTree>
    <p:extLst>
      <p:ext uri="{BB962C8B-B14F-4D97-AF65-F5344CB8AC3E}">
        <p14:creationId xmlns:p14="http://schemas.microsoft.com/office/powerpoint/2010/main" val="36772078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10136</TotalTime>
  <Words>3037</Words>
  <Application>Microsoft Office PowerPoint</Application>
  <PresentationFormat>Widescreen</PresentationFormat>
  <Paragraphs>181</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Calibri Light</vt:lpstr>
      <vt:lpstr>Cambria Math</vt:lpstr>
      <vt:lpstr>Times New Roman</vt:lpstr>
      <vt:lpstr>Office Theme</vt:lpstr>
      <vt:lpstr>Calculus and applications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PRELIMINARY MATHEMATICS</dc:title>
  <dc:creator>David</dc:creator>
  <cp:lastModifiedBy>Paul Hernandez Martinez</cp:lastModifiedBy>
  <cp:revision>584</cp:revision>
  <dcterms:created xsi:type="dcterms:W3CDTF">2018-11-23T00:41:45Z</dcterms:created>
  <dcterms:modified xsi:type="dcterms:W3CDTF">2023-10-06T05:09:56Z</dcterms:modified>
</cp:coreProperties>
</file>