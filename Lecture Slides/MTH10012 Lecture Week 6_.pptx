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40"/>
  </p:notesMasterIdLst>
  <p:handoutMasterIdLst>
    <p:handoutMasterId r:id="rId41"/>
  </p:handoutMasterIdLst>
  <p:sldIdLst>
    <p:sldId id="256" r:id="rId2"/>
    <p:sldId id="261" r:id="rId3"/>
    <p:sldId id="346" r:id="rId4"/>
    <p:sldId id="348" r:id="rId5"/>
    <p:sldId id="365" r:id="rId6"/>
    <p:sldId id="366" r:id="rId7"/>
    <p:sldId id="367" r:id="rId8"/>
    <p:sldId id="368" r:id="rId9"/>
    <p:sldId id="369" r:id="rId10"/>
    <p:sldId id="370" r:id="rId11"/>
    <p:sldId id="371" r:id="rId12"/>
    <p:sldId id="372" r:id="rId13"/>
    <p:sldId id="373" r:id="rId14"/>
    <p:sldId id="374" r:id="rId15"/>
    <p:sldId id="375" r:id="rId16"/>
    <p:sldId id="376" r:id="rId17"/>
    <p:sldId id="377" r:id="rId18"/>
    <p:sldId id="378" r:id="rId19"/>
    <p:sldId id="379" r:id="rId20"/>
    <p:sldId id="380" r:id="rId21"/>
    <p:sldId id="381" r:id="rId22"/>
    <p:sldId id="382" r:id="rId23"/>
    <p:sldId id="383" r:id="rId24"/>
    <p:sldId id="384" r:id="rId25"/>
    <p:sldId id="385" r:id="rId26"/>
    <p:sldId id="386" r:id="rId27"/>
    <p:sldId id="387" r:id="rId28"/>
    <p:sldId id="388" r:id="rId29"/>
    <p:sldId id="389" r:id="rId30"/>
    <p:sldId id="390" r:id="rId31"/>
    <p:sldId id="391" r:id="rId32"/>
    <p:sldId id="392" r:id="rId33"/>
    <p:sldId id="393" r:id="rId34"/>
    <p:sldId id="394" r:id="rId35"/>
    <p:sldId id="395" r:id="rId36"/>
    <p:sldId id="396" r:id="rId37"/>
    <p:sldId id="397" r:id="rId38"/>
    <p:sldId id="337" r:id="rId39"/>
  </p:sldIdLst>
  <p:sldSz cx="12192000" cy="6858000"/>
  <p:notesSz cx="6805613" cy="99393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6C0000"/>
    <a:srgbClr val="E050C5"/>
    <a:srgbClr val="FFF2CC"/>
    <a:srgbClr val="FFEBB3"/>
    <a:srgbClr val="75F8FF"/>
    <a:srgbClr val="A1FFE2"/>
    <a:srgbClr val="9AFFBF"/>
    <a:srgbClr val="00FF99"/>
    <a:srgbClr val="FFCC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001" autoAdjust="0"/>
    <p:restoredTop sz="96625" autoAdjust="0"/>
  </p:normalViewPr>
  <p:slideViewPr>
    <p:cSldViewPr snapToGrid="0">
      <p:cViewPr varScale="1">
        <p:scale>
          <a:sx n="88" d="100"/>
          <a:sy n="88" d="100"/>
        </p:scale>
        <p:origin x="148" y="7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B7C00F1-1718-4925-A43A-175331727A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46C4DA-E8E9-439A-AFBB-71B1FA85B9C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CF5198-13BD-4E71-A56E-DADFEA4013F7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877F23-B46D-4600-856F-446828C726E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DDB845-9091-44C1-BB5A-012CFA80FFB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445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B43135-408F-4918-93DC-4C4FABB8B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705199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9-06T08:24:38.3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22030 9270 940 0</inkml:trace>
  <inkml:trace contextRef="#ctx0" brushRef="#br0" timeOffset="49.25">22030 9270 940 0,'-15'-10'0'0,"9"-6"0"0,6 8-22 0,0 12-230 16,0 22-84-16,0 4 66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D9DCAD-DE8F-4CDD-984A-DA4AA5EA435B}" type="datetimeFigureOut">
              <a:rPr lang="en-AU" smtClean="0"/>
              <a:t>7/04/2025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C00294-AEF9-4034-8E81-4D594CB10C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199127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6BE2F-261A-488B-B93C-7BE08E26FB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1D02DE-1CFE-4515-9E33-21EBC28825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A0201-588B-4FDC-B1A7-99525CBEE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8AB16-CEA3-471F-8DD6-F4EB36AF83AE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79FBC-E34E-463B-9581-0DBAF2C9A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8FE7A-01BB-4021-8D2B-4591558BF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0E577-446B-4DBC-A698-2A6B8DE6A948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F5D431-79F7-473F-8B6E-B3955076CD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72" y="6140610"/>
            <a:ext cx="1122769" cy="5742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85D6FCD-D711-415C-BDDE-8F6DDE0408BE}"/>
              </a:ext>
            </a:extLst>
          </p:cNvPr>
          <p:cNvSpPr txBox="1"/>
          <p:nvPr userDrawn="1"/>
        </p:nvSpPr>
        <p:spPr>
          <a:xfrm>
            <a:off x="11443527" y="6227700"/>
            <a:ext cx="4860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B0E72E4E-4CBE-4D12-B6A9-8CB223CF8265}" type="slidenum">
              <a:rPr lang="en-AU" sz="2000" b="1" smtClean="0"/>
              <a:t>‹#›</a:t>
            </a:fld>
            <a:endParaRPr lang="en-AU" sz="2000" b="1" dirty="0"/>
          </a:p>
        </p:txBody>
      </p:sp>
    </p:spTree>
    <p:extLst>
      <p:ext uri="{BB962C8B-B14F-4D97-AF65-F5344CB8AC3E}">
        <p14:creationId xmlns:p14="http://schemas.microsoft.com/office/powerpoint/2010/main" val="3496589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2A2F9-7D55-40B9-B9F6-47CEB7F23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4E6F6-872B-4351-82CE-F6BDED678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37C49-E28A-4BC7-B01F-46B910829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BB18F-8376-4052-A4AC-9CEE87CB9347}" type="datetime1">
              <a:rPr lang="en-AU" smtClean="0"/>
              <a:t>7/04/2025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BD53B-FA02-45C3-B746-4698E5C7A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585B1-EDCF-4B2C-AB51-34E6296E0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3675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ACFC9-D1E8-4E90-A313-CE13BA34D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2CAFC9-3AAB-464E-BF70-473E57067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92BC8-6CF3-4155-A3AC-94AADADA0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EFC66-FB02-44EA-BC04-6F096A7B7769}" type="datetime1">
              <a:rPr lang="en-AU" smtClean="0"/>
              <a:t>7/04/2025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31418-83C4-4996-B0E2-AABE17A11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6ECE1-87D5-4300-BACC-4A4EB516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7961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A7873-C1A0-4FC9-9508-391EDD084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A00C2-E18A-49F2-813D-D096870601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FCC943-1A72-4568-B75B-790E77A35A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6426C6-D368-434D-A76E-A08FE05B2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66C89-1765-4641-A2C2-0C255FF54FD1}" type="datetime1">
              <a:rPr lang="en-AU" smtClean="0"/>
              <a:t>7/04/2025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F1A0D2-A40A-49C1-8234-B7D2E5975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5590CF-5EB7-4621-AF70-49745B7E8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9012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5EC4E-7129-4DFE-A8BF-D2F4C51EB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A868A7-B0A8-48B8-9C40-76D73A53E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E52730-3A93-4774-B024-FF41D7ADBB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1560C-643D-4E43-9F3C-1BAB21E151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AC2905-B67E-4FAA-969B-8323B9811F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91CAE1-7796-4C1F-9BED-1A8C90ABA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73857-A5A5-474E-9E58-C4E578787857}" type="datetime1">
              <a:rPr lang="en-AU" smtClean="0"/>
              <a:t>7/04/2025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D73460-6DE1-4496-9257-1CF265A78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9E5745-5DC0-47E7-86B4-926C3EEB6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0983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30E46-5C93-447B-AA2A-FABDBC833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5D545D-C4CE-4C13-933E-BB80F082B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A7F37-9D1F-41EA-AAC5-1B6F73404883}" type="datetime1">
              <a:rPr lang="en-AU" smtClean="0"/>
              <a:t>7/04/2025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55F992-DE21-4FF8-9EC3-24F7AAB45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A18A99-A541-4FC4-8B0F-E2C0D8ED3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8956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39AF43-84E3-4B89-A20D-5AD12A924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0FDF9-A986-4905-9508-247B7F4B200D}" type="datetime1">
              <a:rPr lang="en-AU" smtClean="0"/>
              <a:t>7/04/2025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552FC8-6766-4AF6-AE1B-3E3E40DE1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98A401-3F10-4AB5-B56C-A44167EC9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0136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50E79-7D0A-4913-9B9D-D14A14012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2F2BE-34D1-4394-A79C-56929CB7F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486DDC-E9A4-494D-8DA3-DF6FF0CB21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DC4CB1-DD02-4E14-8070-D529601AE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57C78-DADF-4969-B242-4855E9F4C4D5}" type="datetime1">
              <a:rPr lang="en-AU" smtClean="0"/>
              <a:t>7/04/2025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98DCFE-E8EA-4807-BCD4-B175C0E2A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4BDD04-DF59-476B-A2E1-B91A947D9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2135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8D7C8-9040-4BEA-BDE3-ABA1A1C27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8E7C11-8D21-434A-A6FD-3E8617092C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6ED949-D4DE-4581-87B3-C03FD4FD11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6D51E2-1921-40F3-AC40-E142F785D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0D74D-1239-4392-A26B-B7E440CEC8CB}" type="datetime1">
              <a:rPr lang="en-AU" smtClean="0"/>
              <a:t>7/04/2025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614FAF-0386-4409-8BFE-A413765B3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1F7AEF-E743-4036-9326-1065E4811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2800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E7700-60C9-4E9C-9852-C7B6C38A0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8E9C5B-FA98-43FE-90F2-7DDE18ED86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FD572-AD9E-4D3B-8F7B-2BB536B5F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578B-E5FA-490D-8208-9FBD9A867E75}" type="datetime1">
              <a:rPr lang="en-AU" smtClean="0"/>
              <a:t>7/04/2025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1E37F-1B21-4246-BA36-73956FFE9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EDB52-5DFE-4447-91E2-9787D84DB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4401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F0283C-E2F0-4A6F-9AD9-82CA902DEF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BE5EE6-7D9F-42B2-94B0-02A3E84F5E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C19CB-43F8-4CC0-903E-C23803089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54018-37EC-481E-B7F2-FDEEBA0F84AF}" type="datetime1">
              <a:rPr lang="en-AU" smtClean="0"/>
              <a:t>7/04/2025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45F0E-7361-4676-B432-1D05B70C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4F4EB-1112-445C-96AB-93D5D8433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2494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72DA63-5604-4C8B-A185-3346EDDFF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25E662-E32E-4BF0-B3BA-15B99830E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18C86-7471-4189-957D-1CEA3FBEE7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143812-AA3E-4766-916C-F1E5A438B57F}" type="datetime1">
              <a:rPr lang="en-AU" smtClean="0"/>
              <a:t>7/04/2025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3008F-2F27-46E4-A82E-92541B128E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6096A-7E11-4FA7-B795-CF89E7D09C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8834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geogebra.org/m/p7qqucf9#:~:text=Author%3A%20Simona%20Riva,represents%20the%20independent%20variable%20increment.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image" Target="../media/image12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text on a whiteboard&#10;&#10;Description automatically generated">
            <a:extLst>
              <a:ext uri="{FF2B5EF4-FFF2-40B4-BE49-F238E27FC236}">
                <a16:creationId xmlns:a16="http://schemas.microsoft.com/office/drawing/2014/main" id="{9CBF2271-6786-48D8-8625-48074A2F58E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59166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50029B91-E5FE-43A6-9535-58B2F4EBB5EE}"/>
              </a:ext>
            </a:extLst>
          </p:cNvPr>
          <p:cNvSpPr txBox="1">
            <a:spLocks/>
          </p:cNvSpPr>
          <p:nvPr/>
        </p:nvSpPr>
        <p:spPr>
          <a:xfrm>
            <a:off x="0" y="-2"/>
            <a:ext cx="12192000" cy="4591665"/>
          </a:xfrm>
          <a:prstGeom prst="rect">
            <a:avLst/>
          </a:prstGeom>
          <a:solidFill>
            <a:schemeClr val="accent4">
              <a:lumMod val="60000"/>
              <a:lumOff val="40000"/>
              <a:alpha val="4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AU" sz="4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1292225" y="4850229"/>
            <a:ext cx="9607550" cy="147574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4000" dirty="0">
                <a:latin typeface="+mj-lt"/>
              </a:rPr>
              <a:t>Week 6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9935" y="2486361"/>
            <a:ext cx="11012129" cy="1518035"/>
          </a:xfrm>
        </p:spPr>
        <p:txBody>
          <a:bodyPr>
            <a:noAutofit/>
          </a:bodyPr>
          <a:lstStyle/>
          <a:p>
            <a:r>
              <a:rPr lang="en-AU" sz="5400" b="1" dirty="0"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Calculus and applications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923654"/>
            <a:ext cx="9144000" cy="562707"/>
          </a:xfrm>
        </p:spPr>
        <p:txBody>
          <a:bodyPr>
            <a:noAutofit/>
          </a:bodyPr>
          <a:lstStyle/>
          <a:p>
            <a:r>
              <a:rPr lang="en-AU" sz="3200" dirty="0">
                <a:latin typeface="+mj-lt"/>
              </a:rPr>
              <a:t>MTH10012</a:t>
            </a:r>
          </a:p>
        </p:txBody>
      </p: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DCCAF879-A57E-4938-88B5-1CA526E0E8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2439" y="701528"/>
            <a:ext cx="1927122" cy="963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091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19914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Introduction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EC57D0-AC67-44EF-AAC1-EB45706D89C7}"/>
              </a:ext>
            </a:extLst>
          </p:cNvPr>
          <p:cNvSpPr txBox="1"/>
          <p:nvPr/>
        </p:nvSpPr>
        <p:spPr>
          <a:xfrm>
            <a:off x="1232187" y="1552872"/>
            <a:ext cx="103681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latin typeface="+mj-lt"/>
              </a:rPr>
              <a:t>(Sequences) Sandwich theorem and relationship with continuous functions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400" b="1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latin typeface="+mj-lt"/>
              </a:rPr>
              <a:t>Derivative definition, standard derivatives and rule of differentiation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1EC46B-21B4-4C87-946C-3EAD91A29AA1}"/>
              </a:ext>
            </a:extLst>
          </p:cNvPr>
          <p:cNvSpPr txBox="1"/>
          <p:nvPr/>
        </p:nvSpPr>
        <p:spPr>
          <a:xfrm>
            <a:off x="307593" y="1036182"/>
            <a:ext cx="888385" cy="400110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AU" sz="2000" b="1" cap="small" dirty="0">
                <a:latin typeface="+mj-lt"/>
              </a:rPr>
              <a:t>Week 5</a:t>
            </a:r>
            <a:endParaRPr lang="en-GB" sz="2000" b="1" cap="small" dirty="0"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AF658E-4D46-438A-89D3-59C69A018DE7}"/>
              </a:ext>
            </a:extLst>
          </p:cNvPr>
          <p:cNvSpPr txBox="1"/>
          <p:nvPr/>
        </p:nvSpPr>
        <p:spPr>
          <a:xfrm>
            <a:off x="244840" y="2729005"/>
            <a:ext cx="888385" cy="400110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AU" sz="2000" b="1" cap="small" dirty="0">
                <a:latin typeface="+mj-lt"/>
              </a:rPr>
              <a:t>Week 6</a:t>
            </a:r>
            <a:endParaRPr lang="en-GB" sz="2000" b="1" cap="small" dirty="0"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8798BC-1968-4592-A84D-9889D441C7B0}"/>
              </a:ext>
            </a:extLst>
          </p:cNvPr>
          <p:cNvSpPr txBox="1"/>
          <p:nvPr/>
        </p:nvSpPr>
        <p:spPr>
          <a:xfrm>
            <a:off x="1133225" y="3890428"/>
            <a:ext cx="1009775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latin typeface="+mj-lt"/>
              </a:rPr>
              <a:t>The derivative of the inverse function, including trigonometric and hyperbolic functions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latin typeface="+mj-lt"/>
              </a:rPr>
              <a:t>Implicit functions and their differentiation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latin typeface="+mj-lt"/>
              </a:rPr>
              <a:t>Higher order derivatives, stationary points and optimisation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 err="1">
                <a:latin typeface="+mj-lt"/>
              </a:rPr>
              <a:t>L’Hopital</a:t>
            </a:r>
            <a:r>
              <a:rPr lang="en-AU" sz="2400" b="1" dirty="0">
                <a:latin typeface="+mj-lt"/>
              </a:rPr>
              <a:t> rule for indefinite forms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D60D396-44DB-4720-AA20-0FECBBC96907}"/>
              </a:ext>
            </a:extLst>
          </p:cNvPr>
          <p:cNvCxnSpPr>
            <a:stCxn id="13" idx="3"/>
          </p:cNvCxnSpPr>
          <p:nvPr/>
        </p:nvCxnSpPr>
        <p:spPr>
          <a:xfrm>
            <a:off x="1133225" y="2929060"/>
            <a:ext cx="1040435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D933F3-BDCD-41B7-8B70-5B047253E6FA}"/>
              </a:ext>
            </a:extLst>
          </p:cNvPr>
          <p:cNvCxnSpPr>
            <a:cxnSpLocks/>
          </p:cNvCxnSpPr>
          <p:nvPr/>
        </p:nvCxnSpPr>
        <p:spPr>
          <a:xfrm flipV="1">
            <a:off x="1195978" y="1211598"/>
            <a:ext cx="10404351" cy="235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8815BF5-1815-494B-8C1F-8AB3E9CBAD1F}"/>
              </a:ext>
            </a:extLst>
          </p:cNvPr>
          <p:cNvSpPr txBox="1"/>
          <p:nvPr/>
        </p:nvSpPr>
        <p:spPr>
          <a:xfrm>
            <a:off x="462727" y="3406940"/>
            <a:ext cx="1072972" cy="338554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sz="1600" b="1" dirty="0">
                <a:latin typeface="+mj-lt"/>
              </a:rPr>
              <a:t>MODULE 4</a:t>
            </a:r>
            <a:endParaRPr lang="en-GB" sz="16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7059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9593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Recap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35201E7-7A32-4038-B819-3D5BBB75277E}"/>
                  </a:ext>
                </a:extLst>
              </p:cNvPr>
              <p:cNvSpPr txBox="1"/>
              <p:nvPr/>
            </p:nvSpPr>
            <p:spPr>
              <a:xfrm>
                <a:off x="260735" y="1081256"/>
                <a:ext cx="8618864" cy="1936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000" b="1" dirty="0">
                    <a:latin typeface="+mj-lt"/>
                  </a:rPr>
                  <a:t>Derivative</a:t>
                </a:r>
                <a:r>
                  <a:rPr lang="en-AU" sz="2000" dirty="0">
                    <a:latin typeface="+mj-lt"/>
                  </a:rPr>
                  <a:t>. Given a function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AU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AU" sz="2000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AU" sz="2000" dirty="0">
                    <a:latin typeface="+mj-lt"/>
                  </a:rPr>
                  <a:t> the following limit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AU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AU" sz="20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AU" sz="20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AU" sz="20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AU" sz="2000" b="0" i="1" smtClean="0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AU" sz="20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0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AU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AU" sz="20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AU" sz="20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en-AU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AU" sz="20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AU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AU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AU" sz="2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AU" sz="20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AU" sz="20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AU" sz="2000" dirty="0">
                    <a:latin typeface="+mj-lt"/>
                  </a:rPr>
                  <a:t>is called the (first) derivative of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AU" sz="2000" dirty="0">
                    <a:latin typeface="+mj-lt"/>
                  </a:rPr>
                  <a:t> at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AU" sz="2000" dirty="0">
                    <a:latin typeface="+mj-lt"/>
                  </a:rPr>
                  <a:t>. </a:t>
                </a:r>
              </a:p>
              <a:p>
                <a:pPr algn="ctr">
                  <a:spcAft>
                    <a:spcPts val="1200"/>
                  </a:spcAft>
                </a:pPr>
                <a:r>
                  <a:rPr lang="en-GB" sz="1100" dirty="0">
                    <a:hlinkClick r:id="rId2"/>
                  </a:rPr>
                  <a:t>https://www.geogebra.org/m/p7qqucf9#:~:text=Author%3A%20Simona%20Riva,represents%20the%20independent%20variable%20increment.</a:t>
                </a:r>
                <a:endParaRPr lang="en-GB" sz="2000" dirty="0">
                  <a:latin typeface="+mj-lt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35201E7-7A32-4038-B819-3D5BBB7527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735" y="1081256"/>
                <a:ext cx="8618864" cy="1936107"/>
              </a:xfrm>
              <a:prstGeom prst="rect">
                <a:avLst/>
              </a:prstGeom>
              <a:blipFill>
                <a:blip r:embed="rId3"/>
                <a:stretch>
                  <a:fillRect l="-778" t="-1572" b="-9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E1C56673-F0B0-4A88-B9DC-148E571F270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177012" y="1482215"/>
            <a:ext cx="2344865" cy="4422485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7541152-06CA-4D02-B305-75E5E3191067}"/>
                  </a:ext>
                </a:extLst>
              </p:cNvPr>
              <p:cNvSpPr txBox="1"/>
              <p:nvPr/>
            </p:nvSpPr>
            <p:spPr>
              <a:xfrm>
                <a:off x="260735" y="3224286"/>
                <a:ext cx="8838441" cy="2680414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>
                  <a:spcAft>
                    <a:spcPts val="2400"/>
                  </a:spcAft>
                </a:pPr>
                <a:r>
                  <a:rPr lang="en-AU" sz="2000" dirty="0">
                    <a:latin typeface="+mj-lt"/>
                  </a:rPr>
                  <a:t>1. Linearity of differentiation: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AU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000" b="0" i="1" smtClean="0">
                                <a:latin typeface="Cambria Math" panose="02040503050406030204" pitchFamily="18" charset="0"/>
                              </a:rPr>
                              <m:t>𝑏𝑓</m:t>
                            </m:r>
                            <m:d>
                              <m:dPr>
                                <m:ctrlPr>
                                  <a:rPr lang="en-AU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AU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AU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AU" sz="2000" b="0" i="1" smtClean="0">
                                <a:latin typeface="Cambria Math" panose="02040503050406030204" pitchFamily="18" charset="0"/>
                              </a:rPr>
                              <m:t>𝑐𝑔</m:t>
                            </m:r>
                            <m:d>
                              <m:dPr>
                                <m:ctrlPr>
                                  <a:rPr lang="en-AU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AU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𝑏</m:t>
                    </m:r>
                    <m:sSup>
                      <m:sSup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𝑐𝑔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000" dirty="0">
                  <a:latin typeface="+mj-lt"/>
                </a:endParaRPr>
              </a:p>
              <a:p>
                <a:pPr>
                  <a:spcAft>
                    <a:spcPts val="2400"/>
                  </a:spcAft>
                </a:pPr>
                <a:r>
                  <a:rPr lang="en-AU" sz="2000" dirty="0">
                    <a:latin typeface="+mj-lt"/>
                  </a:rPr>
                  <a:t>2. Derivative of a product (product rule):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AU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0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AU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AU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AU" sz="20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AU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AU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p>
                      <m:sSup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AU" sz="2000" b="0" dirty="0">
                  <a:latin typeface="+mj-lt"/>
                </a:endParaRPr>
              </a:p>
              <a:p>
                <a:pPr>
                  <a:spcAft>
                    <a:spcPts val="2400"/>
                  </a:spcAft>
                </a:pPr>
                <a:r>
                  <a:rPr lang="en-AU" sz="2000" dirty="0">
                    <a:latin typeface="+mj-lt"/>
                  </a:rPr>
                  <a:t>3. Derivative of a ratio (quotient rule):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AU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AU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AU" sz="20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A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AU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AU" sz="2000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d>
                                  <m:dPr>
                                    <m:ctrlPr>
                                      <a:rPr lang="en-A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AU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e>
                      <m:sup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0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AU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AU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AU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′(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sSupPr>
                            <m:ctrlPr>
                              <a:rPr lang="en-AU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AU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AU" sz="2000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d>
                                  <m:dPr>
                                    <m:ctrlPr>
                                      <a:rPr lang="en-AU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AU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AU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GB" sz="2000" dirty="0"/>
              </a:p>
              <a:p>
                <a:pPr>
                  <a:spcAft>
                    <a:spcPts val="2400"/>
                  </a:spcAft>
                </a:pPr>
                <a:r>
                  <a:rPr lang="en-AU" sz="2000" dirty="0">
                    <a:latin typeface="+mj-lt"/>
                  </a:rPr>
                  <a:t>4. Derivative of a composition (chain rule):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AU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7541152-06CA-4D02-B305-75E5E31910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735" y="3224286"/>
                <a:ext cx="8838441" cy="2680414"/>
              </a:xfrm>
              <a:prstGeom prst="rect">
                <a:avLst/>
              </a:prstGeom>
              <a:blipFill>
                <a:blip r:embed="rId5"/>
                <a:stretch>
                  <a:fillRect l="-689" b="-29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8087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58246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4.4 The derivative of the inverse function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/>
              <p:nvPr/>
            </p:nvSpPr>
            <p:spPr>
              <a:xfrm>
                <a:off x="240535" y="953300"/>
                <a:ext cx="11710929" cy="30777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AU" sz="2400" b="0" dirty="0"/>
                  <a:t>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GB" sz="2400" dirty="0">
                  <a:latin typeface="+mj-lt"/>
                </a:endParaRPr>
              </a:p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en-GB" sz="2400" dirty="0">
                  <a:latin typeface="+mj-lt"/>
                </a:endParaRPr>
              </a:p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en-GB" sz="2400" dirty="0">
                  <a:latin typeface="+mj-lt"/>
                </a:endParaRPr>
              </a:p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en-GB" sz="2400" dirty="0">
                  <a:latin typeface="+mj-lt"/>
                </a:endParaRPr>
              </a:p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en-GB" sz="2400" dirty="0">
                  <a:latin typeface="+mj-lt"/>
                </a:endParaRPr>
              </a:p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953300"/>
                <a:ext cx="11710929" cy="3077766"/>
              </a:xfrm>
              <a:prstGeom prst="rect">
                <a:avLst/>
              </a:prstGeom>
              <a:blipFill>
                <a:blip r:embed="rId2"/>
                <a:stretch>
                  <a:fillRect l="-676" t="-990" b="-27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2320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58246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4.4 The derivative of the inverse function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/>
              <p:nvPr/>
            </p:nvSpPr>
            <p:spPr>
              <a:xfrm>
                <a:off x="240535" y="953300"/>
                <a:ext cx="11710929" cy="52591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Theorem (Derivative of the inverse function). Given a function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GB" sz="2400" dirty="0">
                    <a:latin typeface="+mj-lt"/>
                  </a:rPr>
                  <a:t> and a value in its domain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sz="2400" dirty="0">
                    <a:latin typeface="+mj-lt"/>
                  </a:rPr>
                  <a:t>, if the following occurs:</a:t>
                </a:r>
              </a:p>
              <a:p>
                <a:pPr>
                  <a:spcAft>
                    <a:spcPts val="1200"/>
                  </a:spcAft>
                </a:pPr>
                <a:r>
                  <a:rPr lang="en-GB" sz="2400" dirty="0">
                    <a:latin typeface="+mj-lt"/>
                  </a:rPr>
                  <a:t>1.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 is continuous and invertible in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sz="2400" dirty="0">
                    <a:latin typeface="+mj-lt"/>
                  </a:rPr>
                  <a:t>,</a:t>
                </a:r>
              </a:p>
              <a:p>
                <a:pPr>
                  <a:spcAft>
                    <a:spcPts val="1200"/>
                  </a:spcAft>
                </a:pPr>
                <a:r>
                  <a:rPr lang="en-GB" sz="2400" dirty="0">
                    <a:latin typeface="+mj-lt"/>
                  </a:rPr>
                  <a:t>2. the inverse of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2400" dirty="0">
                    <a:latin typeface="+mj-lt"/>
                  </a:rPr>
                  <a:t>, is continuous in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GB" sz="2400" dirty="0">
                    <a:latin typeface="+mj-lt"/>
                  </a:rPr>
                  <a:t>,</a:t>
                </a:r>
              </a:p>
              <a:p>
                <a:pPr>
                  <a:spcAft>
                    <a:spcPts val="1200"/>
                  </a:spcAft>
                </a:pPr>
                <a:r>
                  <a:rPr lang="en-GB" sz="2400" dirty="0">
                    <a:latin typeface="+mj-lt"/>
                  </a:rPr>
                  <a:t>3.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2400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)≠0</m:t>
                    </m:r>
                  </m:oMath>
                </a14:m>
                <a:endParaRPr lang="en-GB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GB" sz="2400" dirty="0">
                    <a:latin typeface="+mj-lt"/>
                  </a:rPr>
                  <a:t>then the inverse is differentiable at the value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 and we have 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AU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A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A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AU" sz="24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p>
                                          <m:r>
                                            <a:rPr lang="en-AU" sz="24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A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AU" sz="24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p>
                                      <m:r>
                                        <a:rPr lang="en-AU" sz="2400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A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AU" sz="24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en-GB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GB" sz="2400" dirty="0">
                    <a:latin typeface="+mj-lt"/>
                  </a:rPr>
                  <a:t>Note. Once the conditions for the existence and differentiability of the inverse function are established, the theorem says that the derivative of the inverse at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2400" dirty="0">
                    <a:latin typeface="+mj-lt"/>
                  </a:rPr>
                  <a:t> is the reciprocal of the derivative of original function in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2400" dirty="0">
                    <a:latin typeface="+mj-lt"/>
                  </a:rPr>
                  <a:t>, with the condition that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953300"/>
                <a:ext cx="11710929" cy="5259132"/>
              </a:xfrm>
              <a:prstGeom prst="rect">
                <a:avLst/>
              </a:prstGeom>
              <a:blipFill>
                <a:blip r:embed="rId2"/>
                <a:stretch>
                  <a:fillRect l="-780" t="-927" b="-17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1414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58246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4.4 The derivative of the inverse function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/>
              <p:nvPr/>
            </p:nvSpPr>
            <p:spPr>
              <a:xfrm>
                <a:off x="240535" y="953300"/>
                <a:ext cx="11601841" cy="46398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Note. Remember the concept of differentiability is local, but we can extend it to any value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sz="2400" dirty="0">
                    <a:latin typeface="+mj-lt"/>
                  </a:rPr>
                  <a:t> so that we can consider functions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 that satisfy the condition of the theorem </a:t>
                </a:r>
                <a:r>
                  <a:rPr lang="en-GB" sz="2400" i="1" u="sng" dirty="0">
                    <a:latin typeface="+mj-lt"/>
                  </a:rPr>
                  <a:t>everywhere</a:t>
                </a:r>
                <a:r>
                  <a:rPr lang="en-GB" sz="2400" dirty="0">
                    <a:latin typeface="+mj-lt"/>
                  </a:rPr>
                  <a:t> in their domain.</a:t>
                </a:r>
              </a:p>
              <a:p>
                <a:pPr>
                  <a:spcAft>
                    <a:spcPts val="1200"/>
                  </a:spcAft>
                </a:pPr>
                <a:r>
                  <a:rPr lang="en-GB" sz="2400" dirty="0">
                    <a:latin typeface="+mj-lt"/>
                  </a:rPr>
                  <a:t>Note. Using the alternative notation with differentials, we have that: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f>
                            <m:f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𝑑𝑦</m:t>
                              </m:r>
                            </m:num>
                            <m:den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GB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GB" sz="2400" dirty="0">
                    <a:latin typeface="+mj-lt"/>
                  </a:rPr>
                  <a:t>But we need to specify where the derivatives are evaluated: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AU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AU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𝑑𝑦</m:t>
                                  </m:r>
                                </m:num>
                                <m:den>
                                  <m:r>
                                    <a:rPr lang="en-AU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</m:t>
                      </m:r>
                      <m:r>
                        <m:rPr>
                          <m:sty m:val="p"/>
                        </m:rPr>
                        <a:rPr lang="en-AU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and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sSub>
                        <m:sSubPr>
                          <m:ctrlP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AU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𝑑𝑥</m:t>
                                  </m:r>
                                </m:num>
                                <m:den>
                                  <m:r>
                                    <a:rPr lang="en-AU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𝑑𝑦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953300"/>
                <a:ext cx="11601841" cy="4639860"/>
              </a:xfrm>
              <a:prstGeom prst="rect">
                <a:avLst/>
              </a:prstGeom>
              <a:blipFill>
                <a:blip r:embed="rId2"/>
                <a:stretch>
                  <a:fillRect l="-788" t="-10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962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58246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4.4 The derivative of the inverse function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/>
              <p:nvPr/>
            </p:nvSpPr>
            <p:spPr>
              <a:xfrm>
                <a:off x="240535" y="953300"/>
                <a:ext cx="11710929" cy="30818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Find the derivative of the inverse function of the following:</a:t>
                </a:r>
              </a:p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1.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A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endParaRPr lang="en-GB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endParaRPr lang="en-GB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endParaRPr lang="en-GB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endParaRPr lang="en-GB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GB" sz="2400" dirty="0">
                    <a:latin typeface="+mj-lt"/>
                  </a:rPr>
                  <a:t>2.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AU" sz="24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953300"/>
                <a:ext cx="11710929" cy="3081869"/>
              </a:xfrm>
              <a:prstGeom prst="rect">
                <a:avLst/>
              </a:prstGeom>
              <a:blipFill>
                <a:blip r:embed="rId2"/>
                <a:stretch>
                  <a:fillRect l="-780" t="-1581" b="-3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3979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58246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4.4 The derivative of the inverse function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/>
              <p:nvPr/>
            </p:nvSpPr>
            <p:spPr>
              <a:xfrm>
                <a:off x="240535" y="1556783"/>
                <a:ext cx="11710929" cy="6242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Find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sz="2400" dirty="0">
                    <a:latin typeface="+mj-lt"/>
                  </a:rPr>
                  <a:t> given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AU" sz="2400" b="0" i="0" smtClean="0">
                            <a:latin typeface="Cambria Math" panose="02040503050406030204" pitchFamily="18" charset="0"/>
                          </a:rPr>
                          <m:t>arcsin</m:t>
                        </m:r>
                      </m:fName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1556783"/>
                <a:ext cx="11710929" cy="624273"/>
              </a:xfrm>
              <a:prstGeom prst="rect">
                <a:avLst/>
              </a:prstGeom>
              <a:blipFill>
                <a:blip r:embed="rId2"/>
                <a:stretch>
                  <a:fillRect l="-780" b="-87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FDBF8DD2-AE94-4669-ADCD-D8EED26CD8A3}"/>
              </a:ext>
            </a:extLst>
          </p:cNvPr>
          <p:cNvSpPr txBox="1"/>
          <p:nvPr/>
        </p:nvSpPr>
        <p:spPr>
          <a:xfrm>
            <a:off x="240535" y="991174"/>
            <a:ext cx="6572642" cy="400110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sz="2000" b="1" cap="small" dirty="0">
                <a:latin typeface="+mj-lt"/>
              </a:rPr>
              <a:t>Derivatives of the inverse trigonometric and hyperbolic functions</a:t>
            </a:r>
            <a:endParaRPr lang="en-GB" sz="2000" b="1" cap="small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56953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58246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4.4 The derivative of the inverse function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/>
              <p:nvPr/>
            </p:nvSpPr>
            <p:spPr>
              <a:xfrm>
                <a:off x="240535" y="947183"/>
                <a:ext cx="11710929" cy="6242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Find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sz="2400" dirty="0">
                    <a:latin typeface="+mj-lt"/>
                  </a:rPr>
                  <a:t> given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AU" sz="2400" b="0" i="0" smtClean="0">
                            <a:latin typeface="Cambria Math" panose="02040503050406030204" pitchFamily="18" charset="0"/>
                          </a:rPr>
                          <m:t>arcsinh</m:t>
                        </m:r>
                      </m:fName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947183"/>
                <a:ext cx="11710929" cy="624273"/>
              </a:xfrm>
              <a:prstGeom prst="rect">
                <a:avLst/>
              </a:prstGeom>
              <a:blipFill>
                <a:blip r:embed="rId2"/>
                <a:stretch>
                  <a:fillRect l="-780" b="-87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9543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58246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4.4 The derivative of the inverse function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85597E-7235-44B2-927C-87BAFA271873}"/>
              </a:ext>
            </a:extLst>
          </p:cNvPr>
          <p:cNvSpPr txBox="1"/>
          <p:nvPr/>
        </p:nvSpPr>
        <p:spPr>
          <a:xfrm>
            <a:off x="1362933" y="1039079"/>
            <a:ext cx="89103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AU" sz="2400" dirty="0">
                <a:latin typeface="+mj-lt"/>
              </a:rPr>
              <a:t>Derivatives of standard inverse trigonometric and hyperbolic functions (radians are assumed).</a:t>
            </a:r>
            <a:endParaRPr lang="en-GB" sz="2400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7A59C8-3C99-46E1-8C63-CEF303C1DEC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585450" y="2428605"/>
            <a:ext cx="4465287" cy="3837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911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65708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4.5 Implicit functions and their differentiation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/>
              <p:nvPr/>
            </p:nvSpPr>
            <p:spPr>
              <a:xfrm>
                <a:off x="240535" y="953300"/>
                <a:ext cx="11710929" cy="52943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Historically, implicit functions appeared in the study of “correspondences” of the type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−2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AU" sz="2400" dirty="0">
                    <a:latin typeface="+mj-lt"/>
                  </a:rPr>
                  <a:t>, related to trajectories of mechanical devices, like bodies of different shapes being pulled on a surface with friction or wheels rolling on flat or curved surfaces. The concept of modern derivative originated from the problem of trying to find the tangent line to a specific point on such curves.</a:t>
                </a:r>
              </a:p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One of the characteristics of implicit functions, as opposed to explicit functions, is that it may not be possible to solve for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AU" sz="2400" dirty="0">
                    <a:latin typeface="+mj-lt"/>
                  </a:rPr>
                  <a:t> and find a unique expression of the type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2400" dirty="0">
                    <a:latin typeface="+mj-lt"/>
                  </a:rPr>
                  <a:t>, or, when it is possible, such a closed expression is likely to be extremely complicated.</a:t>
                </a:r>
              </a:p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Definition (implicit function). An implicit function is an expression in two variables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2400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AU" sz="2400" dirty="0">
                    <a:latin typeface="+mj-lt"/>
                  </a:rPr>
                  <a:t> satisfying the relation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where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AU" sz="2400" dirty="0">
                    <a:latin typeface="+mj-lt"/>
                  </a:rPr>
                  <a:t> is a function or combination of functions of any type.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953300"/>
                <a:ext cx="11710929" cy="5294398"/>
              </a:xfrm>
              <a:prstGeom prst="rect">
                <a:avLst/>
              </a:prstGeom>
              <a:blipFill>
                <a:blip r:embed="rId2"/>
                <a:stretch>
                  <a:fillRect l="-780" t="-921" r="-728" b="-16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427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65708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4.5 Implicit functions and their differentiation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/>
              <p:nvPr/>
            </p:nvSpPr>
            <p:spPr>
              <a:xfrm>
                <a:off x="1765992" y="1028697"/>
                <a:ext cx="2699889" cy="984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2400" dirty="0">
                  <a:latin typeface="+mj-lt"/>
                </a:endParaRPr>
              </a:p>
              <a:p>
                <a:pPr algn="ctr"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Folium of Descartes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5992" y="1028697"/>
                <a:ext cx="2699889" cy="984885"/>
              </a:xfrm>
              <a:prstGeom prst="rect">
                <a:avLst/>
              </a:prstGeom>
              <a:blipFill>
                <a:blip r:embed="rId2"/>
                <a:stretch>
                  <a:fillRect l="-2709" r="-226" b="-136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5844217-2403-40BE-810A-3A49B82218A4}"/>
                  </a:ext>
                </a:extLst>
              </p:cNvPr>
              <p:cNvSpPr txBox="1"/>
              <p:nvPr/>
            </p:nvSpPr>
            <p:spPr>
              <a:xfrm>
                <a:off x="6975905" y="1028697"/>
                <a:ext cx="4286642" cy="984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−10</m:t>
                      </m:r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2400" b="0" dirty="0">
                  <a:latin typeface="+mj-lt"/>
                </a:endParaRPr>
              </a:p>
              <a:p>
                <a:pPr algn="ctr"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Cassini oval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5844217-2403-40BE-810A-3A49B8221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5905" y="1028697"/>
                <a:ext cx="4286642" cy="984885"/>
              </a:xfrm>
              <a:prstGeom prst="rect">
                <a:avLst/>
              </a:prstGeom>
              <a:blipFill>
                <a:blip r:embed="rId3"/>
                <a:stretch>
                  <a:fillRect b="-136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1A005EDA-3182-4989-A7F7-8F94BA4284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535" y="2216605"/>
            <a:ext cx="5750805" cy="35364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DAE577A-BFF6-4416-B1F2-284C68F229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5858" y="2210849"/>
            <a:ext cx="5706737" cy="3514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308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65708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4.5 Implicit functions and their differentiation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/>
              <p:nvPr/>
            </p:nvSpPr>
            <p:spPr>
              <a:xfrm>
                <a:off x="1003263" y="918629"/>
                <a:ext cx="4225346" cy="1309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−2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2400" dirty="0">
                  <a:latin typeface="+mj-lt"/>
                </a:endParaRPr>
              </a:p>
              <a:p>
                <a:pPr algn="ctr"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Cissoid of </a:t>
                </a:r>
                <a:r>
                  <a:rPr lang="en-AU" sz="2400" dirty="0" err="1">
                    <a:latin typeface="+mj-lt"/>
                  </a:rPr>
                  <a:t>Diocles</a:t>
                </a:r>
                <a:endParaRPr lang="en-AU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263" y="918629"/>
                <a:ext cx="4225346" cy="1309397"/>
              </a:xfrm>
              <a:prstGeom prst="rect">
                <a:avLst/>
              </a:prstGeom>
              <a:blipFill>
                <a:blip r:embed="rId2"/>
                <a:stretch>
                  <a:fillRect b="-102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5844217-2403-40BE-810A-3A49B82218A4}"/>
                  </a:ext>
                </a:extLst>
              </p:cNvPr>
              <p:cNvSpPr txBox="1"/>
              <p:nvPr/>
            </p:nvSpPr>
            <p:spPr>
              <a:xfrm>
                <a:off x="6943761" y="1080886"/>
                <a:ext cx="4286642" cy="984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=0 </m:t>
                      </m:r>
                    </m:oMath>
                  </m:oMathPara>
                </a14:m>
                <a:endParaRPr lang="en-AU" sz="2400" b="0" dirty="0">
                  <a:latin typeface="+mj-lt"/>
                </a:endParaRPr>
              </a:p>
              <a:p>
                <a:pPr algn="ctr"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Conchoid of de </a:t>
                </a:r>
                <a:r>
                  <a:rPr lang="en-AU" sz="2400" dirty="0" err="1">
                    <a:latin typeface="+mj-lt"/>
                  </a:rPr>
                  <a:t>Sluze</a:t>
                </a:r>
                <a:endParaRPr lang="en-AU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5844217-2403-40BE-810A-3A49B8221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761" y="1080886"/>
                <a:ext cx="4286642" cy="984885"/>
              </a:xfrm>
              <a:prstGeom prst="rect">
                <a:avLst/>
              </a:prstGeom>
              <a:blipFill>
                <a:blip r:embed="rId3"/>
                <a:stretch>
                  <a:fillRect b="-129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360FBAC-040C-40EF-996F-0BC4883B96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568" y="2320982"/>
            <a:ext cx="5706737" cy="36355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2024558-0D43-4576-B3D5-DF65D4E9D8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2697" y="2320982"/>
            <a:ext cx="5728771" cy="363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9557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65708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4.5 Implicit functions and their differentiation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/>
              <p:nvPr/>
            </p:nvSpPr>
            <p:spPr>
              <a:xfrm>
                <a:off x="240535" y="953300"/>
                <a:ext cx="11710929" cy="46429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To find the derivative of implicit functions we differentiate both sides with respect to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2400" dirty="0">
                    <a:latin typeface="+mj-lt"/>
                  </a:rPr>
                  <a:t>, noting that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AU" sz="2400" dirty="0">
                    <a:latin typeface="+mj-lt"/>
                  </a:rPr>
                  <a:t>, i.e.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400" dirty="0">
                    <a:latin typeface="+mj-lt"/>
                  </a:rPr>
                  <a:t>is a function of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2400" dirty="0">
                    <a:latin typeface="+mj-lt"/>
                  </a:rPr>
                  <a:t>. This means that whenever we encounter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AU" sz="2400" dirty="0">
                    <a:latin typeface="+mj-lt"/>
                  </a:rPr>
                  <a:t>, we need </a:t>
                </a:r>
                <a:r>
                  <a:rPr lang="en-AU" sz="2400">
                    <a:latin typeface="+mj-lt"/>
                  </a:rPr>
                  <a:t>to use </a:t>
                </a:r>
                <a:r>
                  <a:rPr lang="en-AU" sz="2400" dirty="0">
                    <a:latin typeface="+mj-lt"/>
                  </a:rPr>
                  <a:t>the chain rule. For example: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</m:oMath>
                  </m:oMathPara>
                </a14:m>
                <a:endParaRPr lang="en-AU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endParaRPr lang="en-AU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And when necessary, the standard rules of differentiation have to be applied. For example: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∙2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</m:oMath>
                  </m:oMathPara>
                </a14:m>
                <a:endParaRPr lang="en-AU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Then, solve the expression found for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AU" sz="2400" dirty="0">
                    <a:latin typeface="+mj-lt"/>
                  </a:rPr>
                  <a:t> and obtain an expression in terms of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2400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AU" sz="2400" dirty="0">
                    <a:latin typeface="+mj-lt"/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953300"/>
                <a:ext cx="11710929" cy="4642938"/>
              </a:xfrm>
              <a:prstGeom prst="rect">
                <a:avLst/>
              </a:prstGeom>
              <a:blipFill>
                <a:blip r:embed="rId2"/>
                <a:stretch>
                  <a:fillRect l="-780" t="-1050" r="-989" b="-39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7187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65708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4.5 Implicit functions and their differentiation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/>
              <p:nvPr/>
            </p:nvSpPr>
            <p:spPr>
              <a:xfrm>
                <a:off x="240535" y="935371"/>
                <a:ext cx="11710929" cy="21843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Consider the Folium of Descartes: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AU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1. Verify that the point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2400" dirty="0">
                    <a:latin typeface="+mj-lt"/>
                  </a:rPr>
                  <a:t> is on the curve.</a:t>
                </a:r>
              </a:p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2. Find the equation of the tangent line to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AU" sz="2400" dirty="0">
                    <a:latin typeface="+mj-lt"/>
                  </a:rPr>
                  <a:t>.</a:t>
                </a:r>
              </a:p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3. Find the equation of the line perpendicular to the tangent at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AU" sz="2400" dirty="0">
                    <a:latin typeface="+mj-lt"/>
                  </a:rPr>
                  <a:t>.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935371"/>
                <a:ext cx="11710929" cy="2184316"/>
              </a:xfrm>
              <a:prstGeom prst="rect">
                <a:avLst/>
              </a:prstGeom>
              <a:blipFill>
                <a:blip r:embed="rId2"/>
                <a:stretch>
                  <a:fillRect l="-780" t="-2228" b="-52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39168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65708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4.5 Implicit functions and their differentiation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/>
              <p:nvPr/>
            </p:nvSpPr>
            <p:spPr>
              <a:xfrm>
                <a:off x="240535" y="935371"/>
                <a:ext cx="11710929" cy="6242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Find the derivative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AU" sz="2400" dirty="0">
                    <a:latin typeface="+mj-lt"/>
                  </a:rPr>
                  <a:t> given the relation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AU" sz="2400" b="0" i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935371"/>
                <a:ext cx="11710929" cy="624273"/>
              </a:xfrm>
              <a:prstGeom prst="rect">
                <a:avLst/>
              </a:prstGeom>
              <a:blipFill>
                <a:blip r:embed="rId2"/>
                <a:stretch>
                  <a:fillRect l="-780" b="-87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67902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88306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4.6 Higher order derivatives, stationary points and optimisation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/>
              <p:nvPr/>
            </p:nvSpPr>
            <p:spPr>
              <a:xfrm>
                <a:off x="240535" y="935371"/>
                <a:ext cx="11710929" cy="53185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The process of differentiation can be iterated to produce higher order derivatives. This means differentiating a function twice produces a second derivative, differentiating three times produces a third derivative and so on. We denote higher order derivatives as follows: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′′′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′′′′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m:oMathPara>
                </a14:m>
                <a:endParaRPr lang="en-AU" sz="2400" b="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d>
                            <m:d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d>
                            <m:d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𝑖𝑖</m:t>
                              </m:r>
                            </m:e>
                          </m:d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d>
                            <m:d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𝑖𝑖𝑖</m:t>
                              </m:r>
                            </m:e>
                          </m:d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𝑖𝑣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m:oMathPara>
                </a14:m>
                <a:endParaRPr lang="en-AU" sz="2400" b="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Or using Leibniz notation: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den>
                          </m:f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AU" sz="2400" i="1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Therefore, 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m:oMathPara>
                </a14:m>
                <a:endParaRPr lang="en-AU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935371"/>
                <a:ext cx="11710929" cy="5318507"/>
              </a:xfrm>
              <a:prstGeom prst="rect">
                <a:avLst/>
              </a:prstGeom>
              <a:blipFill>
                <a:blip r:embed="rId2"/>
                <a:stretch>
                  <a:fillRect l="-780" t="-916" r="-1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ACE06F3-3215-4D37-82FE-A72C136F089F}"/>
                  </a:ext>
                </a:extLst>
              </p14:cNvPr>
              <p14:cNvContentPartPr/>
              <p14:nvPr/>
            </p14:nvContentPartPr>
            <p14:xfrm>
              <a:off x="7923240" y="3324960"/>
              <a:ext cx="7920" cy="21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ACE06F3-3215-4D37-82FE-A72C136F089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13880" y="3315600"/>
                <a:ext cx="26640" cy="4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161733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88306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4.6 Higher order derivatives, stationary points and optimisation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/>
              <p:nvPr/>
            </p:nvSpPr>
            <p:spPr>
              <a:xfrm>
                <a:off x="240535" y="935371"/>
                <a:ext cx="117109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Given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AU" sz="24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−3</m:t>
                    </m:r>
                    <m:func>
                      <m:func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AU" sz="24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AU" sz="2400" dirty="0">
                    <a:latin typeface="+mj-lt"/>
                  </a:rPr>
                  <a:t>, calculate the first three derivatives.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935371"/>
                <a:ext cx="11710929" cy="461665"/>
              </a:xfrm>
              <a:prstGeom prst="rect">
                <a:avLst/>
              </a:prstGeom>
              <a:blipFill>
                <a:blip r:embed="rId2"/>
                <a:stretch>
                  <a:fillRect l="-780" t="-10526" b="-28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7737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88306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4.6 Higher order derivatives, stationary points and optimisation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/>
              <p:nvPr/>
            </p:nvSpPr>
            <p:spPr>
              <a:xfrm>
                <a:off x="240536" y="935371"/>
                <a:ext cx="5640312" cy="44627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Definition (Relative maximum). Given a function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AU" sz="2400" dirty="0">
                    <a:latin typeface="+mj-lt"/>
                  </a:rPr>
                  <a:t>, a value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AU" sz="2400" dirty="0">
                    <a:latin typeface="+mj-lt"/>
                  </a:rPr>
                  <a:t> is said to be a relative maximum if, for every value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2400" dirty="0">
                    <a:latin typeface="+mj-lt"/>
                  </a:rPr>
                  <a:t> in an interval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AU" sz="2400" dirty="0">
                    <a:latin typeface="+mj-lt"/>
                  </a:rPr>
                  <a:t> containing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AU" sz="2400" dirty="0">
                    <a:latin typeface="+mj-lt"/>
                  </a:rPr>
                  <a:t> as an interval point (i.e. not on the edge of the interval), we have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AU" sz="2400" dirty="0">
                    <a:latin typeface="+mj-lt"/>
                  </a:rPr>
                  <a:t>.</a:t>
                </a:r>
              </a:p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Similarly for a relative minimum with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AU" sz="2400" dirty="0">
                    <a:latin typeface="+mj-lt"/>
                  </a:rPr>
                  <a:t>.</a:t>
                </a:r>
              </a:p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The definition sometimes specifies that the interval is an open one, ensuring that </a:t>
                </a:r>
                <a14:m>
                  <m:oMath xmlns:m="http://schemas.openxmlformats.org/officeDocument/2006/math">
                    <m:r>
                      <a:rPr lang="en-AU" sz="240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AU" sz="2400" dirty="0">
                    <a:latin typeface="+mj-lt"/>
                  </a:rPr>
                  <a:t> is not on the edge.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6" y="935371"/>
                <a:ext cx="5640312" cy="4462760"/>
              </a:xfrm>
              <a:prstGeom prst="rect">
                <a:avLst/>
              </a:prstGeom>
              <a:blipFill>
                <a:blip r:embed="rId2"/>
                <a:stretch>
                  <a:fillRect l="-1620" t="-1091" r="-2808" b="-20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close up of a map&#10;&#10;Description automatically generated">
            <a:extLst>
              <a:ext uri="{FF2B5EF4-FFF2-40B4-BE49-F238E27FC236}">
                <a16:creationId xmlns:a16="http://schemas.microsoft.com/office/drawing/2014/main" id="{21AEE269-A1F8-4936-A50E-10BA027CBB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7524" y="1031836"/>
            <a:ext cx="5449644" cy="544964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73867A8-6689-48A4-B20A-699C6A309B9B}"/>
              </a:ext>
            </a:extLst>
          </p:cNvPr>
          <p:cNvCxnSpPr/>
          <p:nvPr/>
        </p:nvCxnSpPr>
        <p:spPr>
          <a:xfrm>
            <a:off x="7216589" y="2528047"/>
            <a:ext cx="0" cy="909918"/>
          </a:xfrm>
          <a:prstGeom prst="line">
            <a:avLst/>
          </a:prstGeom>
          <a:ln w="190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E39E55C-C822-433B-96E0-55075592B8A7}"/>
              </a:ext>
            </a:extLst>
          </p:cNvPr>
          <p:cNvCxnSpPr/>
          <p:nvPr/>
        </p:nvCxnSpPr>
        <p:spPr>
          <a:xfrm>
            <a:off x="7897908" y="2540577"/>
            <a:ext cx="0" cy="909918"/>
          </a:xfrm>
          <a:prstGeom prst="line">
            <a:avLst/>
          </a:prstGeom>
          <a:ln w="190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A511525-341D-4F3B-BC66-1211A856F84E}"/>
                  </a:ext>
                </a:extLst>
              </p:cNvPr>
              <p:cNvSpPr txBox="1"/>
              <p:nvPr/>
            </p:nvSpPr>
            <p:spPr>
              <a:xfrm>
                <a:off x="6765296" y="2242083"/>
                <a:ext cx="58644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AU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AU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AU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A511525-341D-4F3B-BC66-1211A856F8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296" y="2242083"/>
                <a:ext cx="586443" cy="276999"/>
              </a:xfrm>
              <a:prstGeom prst="rect">
                <a:avLst/>
              </a:prstGeom>
              <a:blipFill>
                <a:blip r:embed="rId4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1DA8A66-AD15-46E0-AE4F-8BD6F7964081}"/>
                  </a:ext>
                </a:extLst>
              </p:cNvPr>
              <p:cNvSpPr txBox="1"/>
              <p:nvPr/>
            </p:nvSpPr>
            <p:spPr>
              <a:xfrm>
                <a:off x="7811997" y="2250180"/>
                <a:ext cx="58644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AU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AU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AU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1DA8A66-AD15-46E0-AE4F-8BD6F7964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1997" y="2250180"/>
                <a:ext cx="586443" cy="276999"/>
              </a:xfrm>
              <a:prstGeom prst="rect">
                <a:avLst/>
              </a:prstGeom>
              <a:blipFill>
                <a:blip r:embed="rId5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A470EFA-CE67-4989-B524-51CD118F0323}"/>
                  </a:ext>
                </a:extLst>
              </p:cNvPr>
              <p:cNvSpPr txBox="1"/>
              <p:nvPr/>
            </p:nvSpPr>
            <p:spPr>
              <a:xfrm>
                <a:off x="7351739" y="1884731"/>
                <a:ext cx="52636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AU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A470EFA-CE67-4989-B524-51CD118F03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1739" y="1884731"/>
                <a:ext cx="526362" cy="276999"/>
              </a:xfrm>
              <a:prstGeom prst="rect">
                <a:avLst/>
              </a:prstGeom>
              <a:blipFill>
                <a:blip r:embed="rId6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E2E7A9BE-17E0-4D52-BF3C-E611311DC176}"/>
              </a:ext>
            </a:extLst>
          </p:cNvPr>
          <p:cNvSpPr txBox="1"/>
          <p:nvPr/>
        </p:nvSpPr>
        <p:spPr>
          <a:xfrm>
            <a:off x="6970356" y="3265829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[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8840EB-35F8-4C9A-B530-A0D50C17BC3A}"/>
              </a:ext>
            </a:extLst>
          </p:cNvPr>
          <p:cNvSpPr txBox="1"/>
          <p:nvPr/>
        </p:nvSpPr>
        <p:spPr>
          <a:xfrm>
            <a:off x="7965888" y="3244334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]</a:t>
            </a:r>
            <a:endParaRPr lang="en-GB" dirty="0">
              <a:solidFill>
                <a:srgbClr val="FF0000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99E1CD3-6D73-4381-B7DC-812B1FA816D6}"/>
              </a:ext>
            </a:extLst>
          </p:cNvPr>
          <p:cNvCxnSpPr>
            <a:cxnSpLocks/>
          </p:cNvCxnSpPr>
          <p:nvPr/>
        </p:nvCxnSpPr>
        <p:spPr>
          <a:xfrm>
            <a:off x="9861178" y="3459460"/>
            <a:ext cx="0" cy="1255976"/>
          </a:xfrm>
          <a:prstGeom prst="line">
            <a:avLst/>
          </a:prstGeom>
          <a:ln w="190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F4A7A15-277F-4FFF-9719-2B1C02A284A8}"/>
              </a:ext>
            </a:extLst>
          </p:cNvPr>
          <p:cNvCxnSpPr>
            <a:cxnSpLocks/>
          </p:cNvCxnSpPr>
          <p:nvPr/>
        </p:nvCxnSpPr>
        <p:spPr>
          <a:xfrm>
            <a:off x="7539323" y="2256833"/>
            <a:ext cx="0" cy="1193662"/>
          </a:xfrm>
          <a:prstGeom prst="line">
            <a:avLst/>
          </a:prstGeom>
          <a:ln w="190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3934186-CCA8-4CAC-A870-4D84DE846328}"/>
                  </a:ext>
                </a:extLst>
              </p:cNvPr>
              <p:cNvSpPr txBox="1"/>
              <p:nvPr/>
            </p:nvSpPr>
            <p:spPr>
              <a:xfrm>
                <a:off x="7409700" y="3423120"/>
                <a:ext cx="25519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GB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3934186-CCA8-4CAC-A870-4D84DE846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9700" y="3423120"/>
                <a:ext cx="255198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C1BE20D-7C38-4E9E-9C36-29E99226B720}"/>
                  </a:ext>
                </a:extLst>
              </p:cNvPr>
              <p:cNvSpPr txBox="1"/>
              <p:nvPr/>
            </p:nvSpPr>
            <p:spPr>
              <a:xfrm>
                <a:off x="7055547" y="3396567"/>
                <a:ext cx="33781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AU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C1BE20D-7C38-4E9E-9C36-29E99226B7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5547" y="3396567"/>
                <a:ext cx="337810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AE83C4D-DAE9-48BC-8F48-3A36BA329F2E}"/>
                  </a:ext>
                </a:extLst>
              </p:cNvPr>
              <p:cNvSpPr txBox="1"/>
              <p:nvPr/>
            </p:nvSpPr>
            <p:spPr>
              <a:xfrm>
                <a:off x="7726908" y="3389050"/>
                <a:ext cx="33781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AU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AE83C4D-DAE9-48BC-8F48-3A36BA329F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6908" y="3389050"/>
                <a:ext cx="337810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1D7190F-11E8-460A-8E73-641153DFC632}"/>
              </a:ext>
            </a:extLst>
          </p:cNvPr>
          <p:cNvCxnSpPr>
            <a:cxnSpLocks/>
          </p:cNvCxnSpPr>
          <p:nvPr/>
        </p:nvCxnSpPr>
        <p:spPr>
          <a:xfrm>
            <a:off x="9045389" y="3450495"/>
            <a:ext cx="0" cy="1393607"/>
          </a:xfrm>
          <a:prstGeom prst="line">
            <a:avLst/>
          </a:prstGeom>
          <a:ln w="190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7F59C72-CDFC-4383-9738-24E0E99FB718}"/>
              </a:ext>
            </a:extLst>
          </p:cNvPr>
          <p:cNvCxnSpPr/>
          <p:nvPr/>
        </p:nvCxnSpPr>
        <p:spPr>
          <a:xfrm>
            <a:off x="8050308" y="2692977"/>
            <a:ext cx="0" cy="909918"/>
          </a:xfrm>
          <a:prstGeom prst="line">
            <a:avLst/>
          </a:prstGeom>
          <a:ln w="190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C0F8023-8552-4C0C-B997-8438FF3D072A}"/>
                  </a:ext>
                </a:extLst>
              </p:cNvPr>
              <p:cNvSpPr txBox="1"/>
              <p:nvPr/>
            </p:nvSpPr>
            <p:spPr>
              <a:xfrm>
                <a:off x="8603710" y="4844102"/>
                <a:ext cx="59003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AU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AU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AU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AU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C0F8023-8552-4C0C-B997-8438FF3D07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3710" y="4844102"/>
                <a:ext cx="590033" cy="276999"/>
              </a:xfrm>
              <a:prstGeom prst="rect">
                <a:avLst/>
              </a:prstGeom>
              <a:blipFill>
                <a:blip r:embed="rId10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4A07DEC-55E5-441A-9098-E2D31B8BDB40}"/>
                  </a:ext>
                </a:extLst>
              </p:cNvPr>
              <p:cNvSpPr txBox="1"/>
              <p:nvPr/>
            </p:nvSpPr>
            <p:spPr>
              <a:xfrm>
                <a:off x="9784232" y="4705603"/>
                <a:ext cx="59003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AU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AU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AU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AU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4A07DEC-55E5-441A-9098-E2D31B8BDB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4232" y="4705603"/>
                <a:ext cx="590033" cy="276999"/>
              </a:xfrm>
              <a:prstGeom prst="rect">
                <a:avLst/>
              </a:prstGeom>
              <a:blipFill>
                <a:blip r:embed="rId11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C441B4B-9E3A-4AC6-A925-9F4873AA0D1C}"/>
                  </a:ext>
                </a:extLst>
              </p:cNvPr>
              <p:cNvSpPr txBox="1"/>
              <p:nvPr/>
            </p:nvSpPr>
            <p:spPr>
              <a:xfrm>
                <a:off x="9163368" y="5259631"/>
                <a:ext cx="52636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AU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AU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C441B4B-9E3A-4AC6-A925-9F4873AA0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3368" y="5259631"/>
                <a:ext cx="526362" cy="276999"/>
              </a:xfrm>
              <a:prstGeom prst="rect">
                <a:avLst/>
              </a:prstGeom>
              <a:blipFill>
                <a:blip r:embed="rId12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D7F7A153-24E4-4766-8666-F9A2557C2DB5}"/>
              </a:ext>
            </a:extLst>
          </p:cNvPr>
          <p:cNvSpPr txBox="1"/>
          <p:nvPr/>
        </p:nvSpPr>
        <p:spPr>
          <a:xfrm>
            <a:off x="8833246" y="3238454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[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ED6913F-8A71-41FA-9AC4-D9F75615C944}"/>
              </a:ext>
            </a:extLst>
          </p:cNvPr>
          <p:cNvSpPr txBox="1"/>
          <p:nvPr/>
        </p:nvSpPr>
        <p:spPr>
          <a:xfrm>
            <a:off x="9938125" y="3253299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]</a:t>
            </a:r>
            <a:endParaRPr lang="en-GB" dirty="0">
              <a:solidFill>
                <a:srgbClr val="FF0000"/>
              </a:solidFill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2CF1D4E-2B6F-49C8-960A-C019FA678850}"/>
              </a:ext>
            </a:extLst>
          </p:cNvPr>
          <p:cNvCxnSpPr>
            <a:cxnSpLocks/>
          </p:cNvCxnSpPr>
          <p:nvPr/>
        </p:nvCxnSpPr>
        <p:spPr>
          <a:xfrm>
            <a:off x="9466735" y="3429000"/>
            <a:ext cx="0" cy="1787542"/>
          </a:xfrm>
          <a:prstGeom prst="line">
            <a:avLst/>
          </a:prstGeom>
          <a:ln w="190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98DF1B9-C7D6-4DDD-A0F8-91823328E29D}"/>
                  </a:ext>
                </a:extLst>
              </p:cNvPr>
              <p:cNvSpPr txBox="1"/>
              <p:nvPr/>
            </p:nvSpPr>
            <p:spPr>
              <a:xfrm>
                <a:off x="9326140" y="3187420"/>
                <a:ext cx="25519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GB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98DF1B9-C7D6-4DDD-A0F8-91823328E2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6140" y="3187420"/>
                <a:ext cx="255198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1BEBFE7-17DE-4B9E-B1F2-AF03819F4858}"/>
                  </a:ext>
                </a:extLst>
              </p:cNvPr>
              <p:cNvSpPr txBox="1"/>
              <p:nvPr/>
            </p:nvSpPr>
            <p:spPr>
              <a:xfrm>
                <a:off x="8911024" y="3176808"/>
                <a:ext cx="33781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AU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1BEBFE7-17DE-4B9E-B1F2-AF03819F4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1024" y="3176808"/>
                <a:ext cx="337810" cy="3077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4007745-E750-4DF2-8D80-58C014D2C9A3}"/>
                  </a:ext>
                </a:extLst>
              </p:cNvPr>
              <p:cNvSpPr txBox="1"/>
              <p:nvPr/>
            </p:nvSpPr>
            <p:spPr>
              <a:xfrm>
                <a:off x="9700788" y="3166751"/>
                <a:ext cx="33781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AU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4007745-E750-4DF2-8D80-58C014D2C9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0788" y="3166751"/>
                <a:ext cx="337810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12239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88306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4.6 Higher order derivatives, stationary points and optimisation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/>
              <p:nvPr/>
            </p:nvSpPr>
            <p:spPr>
              <a:xfrm>
                <a:off x="240535" y="1228397"/>
                <a:ext cx="11710929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Definition (Stationary point). Given a function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AU" sz="2400" dirty="0">
                    <a:latin typeface="+mj-lt"/>
                  </a:rPr>
                  <a:t> differentiable in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AU" sz="2400" dirty="0">
                    <a:latin typeface="+mj-lt"/>
                  </a:rPr>
                  <a:t>, a point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2400" dirty="0">
                    <a:latin typeface="+mj-lt"/>
                  </a:rPr>
                  <a:t> with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AU" sz="2400" dirty="0">
                    <a:latin typeface="+mj-lt"/>
                  </a:rPr>
                  <a:t> is said to be a stationary point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AU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Theorem (Maxima, minima and stationary points). Consider a function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AU" sz="2400" dirty="0">
                    <a:latin typeface="+mj-lt"/>
                  </a:rPr>
                  <a:t> where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AU" sz="2400" dirty="0">
                    <a:latin typeface="+mj-lt"/>
                  </a:rPr>
                  <a:t>. If a value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AU" sz="2400" dirty="0">
                    <a:latin typeface="+mj-lt"/>
                  </a:rPr>
                  <a:t> is a relative maximum (or minimum) and is internal to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AU" sz="2400" dirty="0">
                    <a:latin typeface="+mj-lt"/>
                  </a:rPr>
                  <a:t>, then it is a stationary point.</a:t>
                </a:r>
              </a:p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Note. The point must be internal to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AU" sz="2400" dirty="0">
                    <a:latin typeface="+mj-lt"/>
                  </a:rPr>
                  <a:t> i.e. it must not belong to the edge of the interval.</a:t>
                </a:r>
              </a:p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Note. It is intuitive to understand that when a point is max/min, the tangent line is horizontal and the gradient is zero, i.e.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AU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Note. It is possible to have absolute (i.e. global) maxima or minima which are not stationary, though only at the edge of a finite domain.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1228397"/>
                <a:ext cx="11710929" cy="4401205"/>
              </a:xfrm>
              <a:prstGeom prst="rect">
                <a:avLst/>
              </a:prstGeom>
              <a:blipFill>
                <a:blip r:embed="rId2"/>
                <a:stretch>
                  <a:fillRect l="-780" t="-1110" b="-23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27890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88306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4.6 Higher order derivatives, stationary points and optimisation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/>
              <p:nvPr/>
            </p:nvSpPr>
            <p:spPr>
              <a:xfrm>
                <a:off x="240535" y="935371"/>
                <a:ext cx="11710929" cy="10375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Consider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−12</m:t>
                    </m:r>
                  </m:oMath>
                </a14:m>
                <a:r>
                  <a:rPr lang="en-AU" sz="2400" dirty="0">
                    <a:latin typeface="+mj-lt"/>
                  </a:rPr>
                  <a:t> and the interval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=[−4,6]</m:t>
                    </m:r>
                  </m:oMath>
                </a14:m>
                <a:r>
                  <a:rPr lang="en-AU" sz="2400" dirty="0">
                    <a:latin typeface="+mj-lt"/>
                  </a:rPr>
                  <a:t>. Find all the stationary points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2400" dirty="0">
                    <a:latin typeface="+mj-lt"/>
                  </a:rPr>
                  <a:t> in this interval. Find the values of the function at the edges of the interval.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935371"/>
                <a:ext cx="11710929" cy="1037592"/>
              </a:xfrm>
              <a:prstGeom prst="rect">
                <a:avLst/>
              </a:prstGeom>
              <a:blipFill>
                <a:blip r:embed="rId2"/>
                <a:stretch>
                  <a:fillRect l="-780" b="-122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8916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88306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4.6 Higher order derivatives, stationary points and optimisation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/>
              <p:nvPr/>
            </p:nvSpPr>
            <p:spPr>
              <a:xfrm>
                <a:off x="240535" y="935371"/>
                <a:ext cx="11710929" cy="26688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Theorem (sign of the first derivative in an interval). Consider the function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AU" sz="2400" dirty="0">
                    <a:latin typeface="+mj-lt"/>
                  </a:rPr>
                  <a:t>  where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AU" sz="2400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AU" sz="2400" dirty="0">
                    <a:latin typeface="+mj-lt"/>
                  </a:rPr>
                  <a:t> is differentiable in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AU" sz="2400" dirty="0">
                    <a:latin typeface="+mj-lt"/>
                  </a:rPr>
                  <a:t>. The function is increasing in the interval if and only if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)≥0</m:t>
                    </m:r>
                  </m:oMath>
                </a14:m>
                <a:r>
                  <a:rPr lang="en-AU" sz="2400" dirty="0">
                    <a:latin typeface="+mj-lt"/>
                  </a:rPr>
                  <a:t>, for every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sz="2400" b="0" i="0" smtClean="0">
                        <a:latin typeface="Cambria Math" panose="02040503050406030204" pitchFamily="18" charset="0"/>
                      </a:rPr>
                      <m:t>in</m:t>
                    </m:r>
                    <m:r>
                      <a:rPr lang="en-AU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AU" sz="2400" dirty="0">
                    <a:latin typeface="+mj-lt"/>
                  </a:rPr>
                  <a:t>. On the other hand, the function is decreasing if and only if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)≤0</m:t>
                    </m:r>
                  </m:oMath>
                </a14:m>
                <a:r>
                  <a:rPr lang="en-AU" sz="2400" dirty="0"/>
                  <a:t>, </a:t>
                </a:r>
                <a:r>
                  <a:rPr lang="en-AU" sz="2400" dirty="0">
                    <a:latin typeface="+mj-lt"/>
                  </a:rPr>
                  <a:t>for every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sz="2400">
                        <a:latin typeface="Cambria Math" panose="02040503050406030204" pitchFamily="18" charset="0"/>
                      </a:rPr>
                      <m:t>in</m:t>
                    </m:r>
                    <m:r>
                      <a:rPr lang="en-AU" sz="24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AU" sz="2400" dirty="0">
                    <a:latin typeface="+mj-lt"/>
                  </a:rPr>
                  <a:t>.</a:t>
                </a:r>
              </a:p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Consider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−12</m:t>
                    </m:r>
                  </m:oMath>
                </a14:m>
                <a:r>
                  <a:rPr lang="en-AU" sz="2400" dirty="0">
                    <a:latin typeface="+mj-lt"/>
                  </a:rPr>
                  <a:t> and the interval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=[−4,6]</m:t>
                    </m:r>
                  </m:oMath>
                </a14:m>
                <a:r>
                  <a:rPr lang="en-AU" sz="2400" dirty="0">
                    <a:latin typeface="+mj-lt"/>
                  </a:rPr>
                  <a:t>. Find whether the stationary points found before are min/max.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935371"/>
                <a:ext cx="11710929" cy="2668808"/>
              </a:xfrm>
              <a:prstGeom prst="rect">
                <a:avLst/>
              </a:prstGeom>
              <a:blipFill>
                <a:blip r:embed="rId2"/>
                <a:stretch>
                  <a:fillRect l="-780" t="-1826" r="-1301" b="-41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12821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88306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4.6 Higher order derivatives, stationary points and optimisation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/>
              <p:nvPr/>
            </p:nvSpPr>
            <p:spPr>
              <a:xfrm>
                <a:off x="240535" y="1556783"/>
                <a:ext cx="11710929" cy="19268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Theorem (Sign of second derivative).</a:t>
                </a:r>
                <a:r>
                  <a:rPr lang="en-AU" sz="2400" b="0" dirty="0"/>
                  <a:t> </a:t>
                </a:r>
                <a:r>
                  <a:rPr lang="en-AU" sz="2400" b="0" dirty="0">
                    <a:latin typeface="+mj-lt"/>
                  </a:rPr>
                  <a:t>Consider a function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AU" sz="2400" dirty="0">
                    <a:latin typeface="+mj-lt"/>
                  </a:rPr>
                  <a:t> where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AU" sz="2400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2400" dirty="0">
                    <a:latin typeface="+mj-lt"/>
                  </a:rPr>
                  <a:t> is a stationary point.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AU" sz="2400" dirty="0">
                    <a:latin typeface="+mj-lt"/>
                  </a:rPr>
                  <a:t>, then it is a relative minimum. Vice versa,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AU" sz="2400" dirty="0">
                    <a:latin typeface="+mj-lt"/>
                  </a:rPr>
                  <a:t> then it is a relative maximum.</a:t>
                </a:r>
              </a:p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Find the maxima and minima (if they exist) of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+6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−3</m:t>
                    </m:r>
                  </m:oMath>
                </a14:m>
                <a:r>
                  <a:rPr lang="en-GB" sz="2400" dirty="0">
                    <a:latin typeface="+mj-lt"/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1556783"/>
                <a:ext cx="11710929" cy="1926810"/>
              </a:xfrm>
              <a:prstGeom prst="rect">
                <a:avLst/>
              </a:prstGeom>
              <a:blipFill>
                <a:blip r:embed="rId2"/>
                <a:stretch>
                  <a:fillRect l="-780" t="-2532" b="-25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FDBF8DD2-AE94-4669-ADCD-D8EED26CD8A3}"/>
              </a:ext>
            </a:extLst>
          </p:cNvPr>
          <p:cNvSpPr txBox="1"/>
          <p:nvPr/>
        </p:nvSpPr>
        <p:spPr>
          <a:xfrm>
            <a:off x="240535" y="991174"/>
            <a:ext cx="6572642" cy="400110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sz="2000" b="1" cap="small" dirty="0">
                <a:latin typeface="+mj-lt"/>
              </a:rPr>
              <a:t>Second derivative: convexity, concavity and points of inflection</a:t>
            </a:r>
            <a:endParaRPr lang="en-GB" sz="2000" b="1" cap="small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60671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88306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4.6 Higher order derivatives, stationary points and optimisation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/>
              <p:nvPr/>
            </p:nvSpPr>
            <p:spPr>
              <a:xfrm>
                <a:off x="240535" y="847274"/>
                <a:ext cx="117109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Find the maxima and minima (if they exist) of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unc>
                      <m:func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AU" sz="24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sz="2400" dirty="0">
                    <a:latin typeface="+mj-lt"/>
                  </a:rPr>
                  <a:t> in the interval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=(0,1]</m:t>
                    </m:r>
                  </m:oMath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847274"/>
                <a:ext cx="11710929" cy="461665"/>
              </a:xfrm>
              <a:prstGeom prst="rect">
                <a:avLst/>
              </a:prstGeom>
              <a:blipFill>
                <a:blip r:embed="rId2"/>
                <a:stretch>
                  <a:fillRect l="-780" t="-10526" b="-28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18075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88306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4.6 Higher order derivatives, stationary points and optimisation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/>
              <p:nvPr/>
            </p:nvSpPr>
            <p:spPr>
              <a:xfrm>
                <a:off x="240535" y="847274"/>
                <a:ext cx="11710929" cy="2092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Definition (Convexity). A function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["/>
                        <m:endChr m:val="]"/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GB" sz="2400" dirty="0">
                    <a:latin typeface="+mj-lt"/>
                  </a:rPr>
                  <a:t> is said to be convex in the interval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GB" sz="2400" dirty="0">
                    <a:latin typeface="+mj-lt"/>
                  </a:rPr>
                  <a:t> if, given any two points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400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2400" dirty="0">
                    <a:latin typeface="+mj-lt"/>
                  </a:rPr>
                  <a:t>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GB" sz="2400" dirty="0">
                    <a:latin typeface="+mj-lt"/>
                  </a:rPr>
                  <a:t>, the graph of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 between the two points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 lies always </a:t>
                </a:r>
                <a:r>
                  <a:rPr lang="en-GB" sz="2400" u="sng" dirty="0">
                    <a:latin typeface="+mj-lt"/>
                  </a:rPr>
                  <a:t>below</a:t>
                </a:r>
                <a:r>
                  <a:rPr lang="en-GB" sz="2400" dirty="0">
                    <a:latin typeface="+mj-lt"/>
                  </a:rPr>
                  <a:t> the segment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r>
                  <a:rPr lang="en-GB" sz="2400" dirty="0">
                    <a:latin typeface="+mj-lt"/>
                  </a:rPr>
                  <a:t>.</a:t>
                </a:r>
              </a:p>
              <a:p>
                <a:pPr>
                  <a:spcAft>
                    <a:spcPts val="1200"/>
                  </a:spcAft>
                </a:pPr>
                <a:r>
                  <a:rPr lang="en-GB" sz="2400" dirty="0">
                    <a:latin typeface="+mj-lt"/>
                  </a:rPr>
                  <a:t>A concave function has the opposite property, i.e. the graph of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  always lies </a:t>
                </a:r>
                <a:r>
                  <a:rPr lang="en-GB" sz="2400" u="sng" dirty="0">
                    <a:latin typeface="+mj-lt"/>
                  </a:rPr>
                  <a:t>above</a:t>
                </a:r>
                <a:r>
                  <a:rPr lang="en-GB" sz="2400" dirty="0">
                    <a:latin typeface="+mj-lt"/>
                  </a:rPr>
                  <a:t> the segment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r>
                  <a:rPr lang="en-GB" sz="2400" dirty="0">
                    <a:latin typeface="+mj-lt"/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847274"/>
                <a:ext cx="11710929" cy="2092881"/>
              </a:xfrm>
              <a:prstGeom prst="rect">
                <a:avLst/>
              </a:prstGeom>
              <a:blipFill>
                <a:blip r:embed="rId2"/>
                <a:stretch>
                  <a:fillRect l="-780" t="-2332" b="-58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Convexity and concavity in a textbook figure of the fundamental solution of  the heat equation $u_t - u_{xx} = 0$ - Mathematics Stack Exchange">
            <a:extLst>
              <a:ext uri="{FF2B5EF4-FFF2-40B4-BE49-F238E27FC236}">
                <a16:creationId xmlns:a16="http://schemas.microsoft.com/office/drawing/2014/main" id="{C599D6AB-1FCE-4320-950C-0C69D7591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3090" y="2940155"/>
            <a:ext cx="6817098" cy="3266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44519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88306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4.6 Higher order derivatives, stationary points and optimisation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/>
              <p:nvPr/>
            </p:nvSpPr>
            <p:spPr>
              <a:xfrm>
                <a:off x="240535" y="847274"/>
                <a:ext cx="11710929" cy="2092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Theorem (Convexity, concavity and the sign of the second derivative). Consider a function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["/>
                        <m:endChr m:val="]"/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GB" sz="2400" dirty="0">
                    <a:latin typeface="+mj-lt"/>
                  </a:rPr>
                  <a:t>, which is twice differentiable. If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 is such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GB" sz="2400" dirty="0">
                    <a:latin typeface="+mj-lt"/>
                  </a:rPr>
                  <a:t> for all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l-G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ϵ</m:t>
                    </m:r>
                    <m:d>
                      <m:dPr>
                        <m:begChr m:val="["/>
                        <m:endChr m:val="]"/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AU" sz="2400" dirty="0">
                    <a:latin typeface="+mj-lt"/>
                  </a:rPr>
                  <a:t> then the function is convex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AU" sz="24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GB" sz="2400" dirty="0">
                    <a:latin typeface="+mj-lt"/>
                  </a:rPr>
                  <a:t> Conversely, if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 is such that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sz="2400" dirty="0"/>
                  <a:t> </a:t>
                </a:r>
                <a:r>
                  <a:rPr lang="en-GB" sz="2400" dirty="0">
                    <a:latin typeface="+mj-lt"/>
                  </a:rPr>
                  <a:t>for all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l-G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ϵ</m:t>
                    </m:r>
                    <m:d>
                      <m:dPr>
                        <m:begChr m:val="["/>
                        <m:endChr m:val="]"/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AU" sz="2400" dirty="0">
                    <a:latin typeface="+mj-lt"/>
                  </a:rPr>
                  <a:t> then the function is concave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AU" sz="240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GB" sz="2400" dirty="0">
                    <a:latin typeface="+mj-lt"/>
                  </a:rPr>
                  <a:t> </a:t>
                </a:r>
              </a:p>
              <a:p>
                <a:pPr>
                  <a:spcAft>
                    <a:spcPts val="1200"/>
                  </a:spcAft>
                </a:pPr>
                <a:r>
                  <a:rPr lang="en-GB" sz="2400" dirty="0">
                    <a:latin typeface="+mj-lt"/>
                  </a:rPr>
                  <a:t>Find the intervals where the function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sz="2400" dirty="0">
                    <a:latin typeface="+mj-lt"/>
                  </a:rPr>
                  <a:t> is convex or concave.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847274"/>
                <a:ext cx="11710929" cy="2092881"/>
              </a:xfrm>
              <a:prstGeom prst="rect">
                <a:avLst/>
              </a:prstGeom>
              <a:blipFill>
                <a:blip r:embed="rId2"/>
                <a:stretch>
                  <a:fillRect l="-780" t="-2332" r="-989" b="-58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1196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88306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4.6 Higher order derivatives, stationary points and optimisation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/>
              <p:nvPr/>
            </p:nvSpPr>
            <p:spPr>
              <a:xfrm>
                <a:off x="240535" y="1161039"/>
                <a:ext cx="11710929" cy="35086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Theorem (Second derivative is zero). Consider a function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GB" sz="2400" dirty="0">
                    <a:latin typeface="+mj-lt"/>
                  </a:rPr>
                  <a:t>, which is twice differentiable. If, for a value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sz="2400" dirty="0">
                    <a:latin typeface="+mj-lt"/>
                  </a:rPr>
                  <a:t> we have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2400" dirty="0">
                    <a:latin typeface="+mj-lt"/>
                  </a:rPr>
                  <a:t> three possibilities can occur:</a:t>
                </a:r>
              </a:p>
              <a:p>
                <a:pPr>
                  <a:spcAft>
                    <a:spcPts val="1200"/>
                  </a:spcAft>
                </a:pPr>
                <a:r>
                  <a:rPr lang="en-GB" sz="2400" dirty="0">
                    <a:latin typeface="+mj-lt"/>
                  </a:rPr>
                  <a:t>1.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2400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′′(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 changes sign at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2400" dirty="0">
                    <a:latin typeface="+mj-lt"/>
                  </a:rPr>
                  <a:t>, then the graph of the function has a stationary point of inflection at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2400" dirty="0">
                    <a:latin typeface="+mj-lt"/>
                  </a:rPr>
                  <a:t>.</a:t>
                </a:r>
              </a:p>
              <a:p>
                <a:pPr>
                  <a:spcAft>
                    <a:spcPts val="1200"/>
                  </a:spcAft>
                </a:pPr>
                <a:r>
                  <a:rPr lang="en-GB" sz="2400" dirty="0">
                    <a:latin typeface="+mj-lt"/>
                  </a:rPr>
                  <a:t>2.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sz="2400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′′(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 changes sign at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2400" dirty="0">
                    <a:latin typeface="+mj-lt"/>
                  </a:rPr>
                  <a:t>, then the graph of the function has a ordinary point of inflection at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GB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GB" sz="2400" dirty="0">
                    <a:latin typeface="+mj-lt"/>
                  </a:rPr>
                  <a:t>3. If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′′(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 does not change sign at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2400" dirty="0">
                    <a:latin typeface="+mj-lt"/>
                  </a:rPr>
                  <a:t>, then </a:t>
                </a:r>
                <a:r>
                  <a:rPr lang="en-AU" sz="2400" dirty="0">
                    <a:latin typeface="+mj-lt"/>
                  </a:rPr>
                  <a:t>further study is required and we cannot immediately conclude that there is a point of inflection at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2400" dirty="0">
                    <a:latin typeface="+mj-lt"/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1161039"/>
                <a:ext cx="11710929" cy="3508653"/>
              </a:xfrm>
              <a:prstGeom prst="rect">
                <a:avLst/>
              </a:prstGeom>
              <a:blipFill>
                <a:blip r:embed="rId2"/>
                <a:stretch>
                  <a:fillRect l="-780" t="-1389" b="-29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69340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88306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4.6 Higher order derivatives, stationary points and optimisation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/>
              <p:nvPr/>
            </p:nvSpPr>
            <p:spPr>
              <a:xfrm>
                <a:off x="240535" y="972781"/>
                <a:ext cx="1171092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Determine the nature of the stationary points of the graph of the curve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−9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+24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sz="2400" dirty="0">
                    <a:latin typeface="+mj-lt"/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972781"/>
                <a:ext cx="11710929" cy="830997"/>
              </a:xfrm>
              <a:prstGeom prst="rect">
                <a:avLst/>
              </a:prstGeom>
              <a:blipFill>
                <a:blip r:embed="rId2"/>
                <a:stretch>
                  <a:fillRect l="-780" t="-5882" b="-161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36564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88306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4.6 Higher order derivatives, stationary points and optimisation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/>
              <p:nvPr/>
            </p:nvSpPr>
            <p:spPr>
              <a:xfrm>
                <a:off x="240535" y="972781"/>
                <a:ext cx="117109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What is the nature of the stationary point (0,0) of the function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−2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GB" sz="2400" dirty="0">
                    <a:latin typeface="+mj-lt"/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972781"/>
                <a:ext cx="11710929" cy="461665"/>
              </a:xfrm>
              <a:prstGeom prst="rect">
                <a:avLst/>
              </a:prstGeom>
              <a:blipFill>
                <a:blip r:embed="rId2"/>
                <a:stretch>
                  <a:fillRect l="-780" t="-10667" b="-30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95545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88306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4.6 Higher order derivatives, stationary points and optimisation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/>
              <p:nvPr/>
            </p:nvSpPr>
            <p:spPr>
              <a:xfrm>
                <a:off x="240535" y="972781"/>
                <a:ext cx="117109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Is the point (0,0) a point of inflection in the function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GB" sz="2400" dirty="0">
                    <a:latin typeface="+mj-lt"/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972781"/>
                <a:ext cx="11710929" cy="461665"/>
              </a:xfrm>
              <a:prstGeom prst="rect">
                <a:avLst/>
              </a:prstGeom>
              <a:blipFill>
                <a:blip r:embed="rId2"/>
                <a:stretch>
                  <a:fillRect l="-780" t="-10667" b="-30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85408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42420B-320B-4AC2-B607-EDEF1BB01BAE}"/>
                  </a:ext>
                </a:extLst>
              </p:cNvPr>
              <p:cNvSpPr txBox="1"/>
              <p:nvPr/>
            </p:nvSpPr>
            <p:spPr>
              <a:xfrm>
                <a:off x="66245" y="23220"/>
                <a:ext cx="8241295" cy="737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sz="2800" b="1" cap="small" dirty="0">
                    <a:solidFill>
                      <a:schemeClr val="bg1"/>
                    </a:solidFill>
                    <a:latin typeface="+mj-lt"/>
                  </a:rPr>
                  <a:t>4.7 </a:t>
                </a:r>
                <a:r>
                  <a:rPr lang="en-AU" sz="2800" b="1" cap="small" dirty="0" err="1">
                    <a:solidFill>
                      <a:schemeClr val="bg1"/>
                    </a:solidFill>
                    <a:latin typeface="+mj-lt"/>
                  </a:rPr>
                  <a:t>L’Hopital’s</a:t>
                </a:r>
                <a:r>
                  <a:rPr lang="en-AU" sz="2800" b="1" cap="small" dirty="0">
                    <a:solidFill>
                      <a:schemeClr val="bg1"/>
                    </a:solidFill>
                    <a:latin typeface="+mj-lt"/>
                  </a:rPr>
                  <a:t> rule for indefinite forms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sz="2800" b="1" i="1" cap="small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AU" sz="2800" b="1" i="1" cap="small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sz="2800" b="1" i="1" cap="small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num>
                          <m:den>
                            <m:r>
                              <a:rPr lang="en-AU" sz="2800" b="1" i="1" cap="small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den>
                        </m:f>
                      </m:e>
                    </m:d>
                    <m:r>
                      <a:rPr lang="en-AU" sz="2800" b="1" i="1" cap="small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AU" sz="2800" b="1" i="1" cap="small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AU" sz="2800" b="1" i="1" cap="small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sz="2800" b="1" i="1" cap="small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num>
                          <m:den>
                            <m:r>
                              <a:rPr lang="en-AU" sz="2800" b="1" i="1" cap="small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den>
                        </m:f>
                      </m:e>
                    </m:d>
                    <m:r>
                      <a:rPr lang="en-AU" sz="2800" b="1" i="1" cap="small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,(</m:t>
                    </m:r>
                    <m:r>
                      <a:rPr lang="en-AU" sz="2800" b="1" i="1" cap="small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∞∙</m:t>
                    </m:r>
                    <m:r>
                      <a:rPr lang="en-AU" sz="2800" b="1" i="1" cap="small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AU" sz="2800" b="1" i="1" cap="small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800" b="1" cap="small" dirty="0">
                  <a:solidFill>
                    <a:schemeClr val="bg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42420B-320B-4AC2-B607-EDEF1BB01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45" y="23220"/>
                <a:ext cx="8241295" cy="737189"/>
              </a:xfrm>
              <a:prstGeom prst="rect">
                <a:avLst/>
              </a:prstGeom>
              <a:blipFill>
                <a:blip r:embed="rId2"/>
                <a:stretch>
                  <a:fillRect l="-1553" b="-90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/>
              <p:nvPr/>
            </p:nvSpPr>
            <p:spPr>
              <a:xfrm>
                <a:off x="240535" y="972781"/>
                <a:ext cx="11710929" cy="51543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Theorem (L’H</a:t>
                </a:r>
                <a:r>
                  <a:rPr lang="en-GB" sz="2400" dirty="0" err="1">
                    <a:latin typeface="+mj-lt"/>
                  </a:rPr>
                  <a:t>ôpital’s</a:t>
                </a:r>
                <a:r>
                  <a:rPr lang="en-GB" sz="2400" dirty="0">
                    <a:latin typeface="+mj-lt"/>
                  </a:rPr>
                  <a:t> rule 1). Consider two functions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2400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, continuous and differentiable in an interval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GB" sz="2400" dirty="0">
                    <a:latin typeface="+mj-lt"/>
                  </a:rPr>
                  <a:t> with the possible exception of a value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sz="2400" dirty="0">
                    <a:latin typeface="+mj-lt"/>
                  </a:rPr>
                  <a:t>. If the three following conditions occur:</a:t>
                </a:r>
              </a:p>
              <a:p>
                <a:pPr>
                  <a:spcAft>
                    <a:spcPts val="1200"/>
                  </a:spcAft>
                </a:pPr>
                <a:r>
                  <a:rPr lang="en-GB" sz="2400" dirty="0">
                    <a:latin typeface="+mj-lt"/>
                  </a:rPr>
                  <a:t>1.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2400" dirty="0">
                    <a:latin typeface="+mj-lt"/>
                  </a:rPr>
                  <a:t>, i.e. both functions are zero at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endParaRPr lang="en-GB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GB" sz="2400" dirty="0">
                    <a:latin typeface="+mj-lt"/>
                  </a:rPr>
                  <a:t>2.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)≠0</m:t>
                    </m:r>
                  </m:oMath>
                </a14:m>
                <a:r>
                  <a:rPr lang="en-GB" sz="2400" dirty="0">
                    <a:latin typeface="+mj-lt"/>
                  </a:rPr>
                  <a:t>, for every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400" dirty="0">
                    <a:latin typeface="+mj-lt"/>
                  </a:rPr>
                  <a:t> close to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2400" dirty="0">
                    <a:latin typeface="+mj-lt"/>
                  </a:rPr>
                  <a:t> but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endParaRPr lang="en-GB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GB" sz="2400" dirty="0">
                    <a:latin typeface="+mj-lt"/>
                  </a:rPr>
                  <a:t>3. the limit of the ratio of the derivatives exists, i.e.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num>
                          <m:den>
                            <m:sSup>
                              <m:sSup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p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den>
                        </m:f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func>
                  </m:oMath>
                </a14:m>
                <a:endParaRPr lang="en-GB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GB" sz="2400" dirty="0">
                    <a:latin typeface="+mj-lt"/>
                  </a:rPr>
                  <a:t>     with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GB" sz="2400" dirty="0">
                    <a:latin typeface="+mj-lt"/>
                  </a:rPr>
                  <a:t> (i.e.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GB" sz="2400" dirty="0">
                    <a:latin typeface="+mj-lt"/>
                  </a:rPr>
                  <a:t> is finite),</a:t>
                </a:r>
              </a:p>
              <a:p>
                <a:pPr>
                  <a:spcAft>
                    <a:spcPts val="1200"/>
                  </a:spcAft>
                </a:pPr>
                <a:r>
                  <a:rPr lang="en-GB" sz="2400" dirty="0">
                    <a:latin typeface="+mj-lt"/>
                  </a:rPr>
                  <a:t>then the limit of the ratio of functions exists and is equal to the ratio of the derivatives, i.e.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24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func>
                    </m:oMath>
                  </m:oMathPara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972781"/>
                <a:ext cx="11710929" cy="5154360"/>
              </a:xfrm>
              <a:prstGeom prst="rect">
                <a:avLst/>
              </a:prstGeom>
              <a:blipFill>
                <a:blip r:embed="rId3"/>
                <a:stretch>
                  <a:fillRect l="-780" t="-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18787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42420B-320B-4AC2-B607-EDEF1BB01BAE}"/>
                  </a:ext>
                </a:extLst>
              </p:cNvPr>
              <p:cNvSpPr txBox="1"/>
              <p:nvPr/>
            </p:nvSpPr>
            <p:spPr>
              <a:xfrm>
                <a:off x="75209" y="31967"/>
                <a:ext cx="8241295" cy="737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sz="2800" b="1" cap="small" dirty="0">
                    <a:solidFill>
                      <a:schemeClr val="bg1"/>
                    </a:solidFill>
                    <a:latin typeface="+mj-lt"/>
                  </a:rPr>
                  <a:t>4.7 </a:t>
                </a:r>
                <a:r>
                  <a:rPr lang="en-AU" sz="2800" b="1" cap="small" dirty="0" err="1">
                    <a:solidFill>
                      <a:schemeClr val="bg1"/>
                    </a:solidFill>
                    <a:latin typeface="+mj-lt"/>
                  </a:rPr>
                  <a:t>L’Hopital’s</a:t>
                </a:r>
                <a:r>
                  <a:rPr lang="en-AU" sz="2800" b="1" cap="small" dirty="0">
                    <a:solidFill>
                      <a:schemeClr val="bg1"/>
                    </a:solidFill>
                    <a:latin typeface="+mj-lt"/>
                  </a:rPr>
                  <a:t> rule for indefinite forms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sz="2800" b="1" i="1" cap="small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AU" sz="2800" b="1" i="1" cap="small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sz="2800" b="1" i="1" cap="small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num>
                          <m:den>
                            <m:r>
                              <a:rPr lang="en-AU" sz="2800" b="1" i="1" cap="small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den>
                        </m:f>
                      </m:e>
                    </m:d>
                    <m:r>
                      <a:rPr lang="en-AU" sz="2800" b="1" i="1" cap="small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AU" sz="2800" b="1" i="1" cap="small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AU" sz="2800" b="1" i="1" cap="small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sz="2800" b="1" i="1" cap="small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num>
                          <m:den>
                            <m:r>
                              <a:rPr lang="en-AU" sz="2800" b="1" i="1" cap="small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den>
                        </m:f>
                      </m:e>
                    </m:d>
                    <m:r>
                      <a:rPr lang="en-AU" sz="2800" b="1" i="1" cap="small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,(</m:t>
                    </m:r>
                    <m:r>
                      <a:rPr lang="en-AU" sz="2800" b="1" i="1" cap="small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∞∙</m:t>
                    </m:r>
                    <m:r>
                      <a:rPr lang="en-AU" sz="2800" b="1" i="1" cap="small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AU" sz="2800" b="1" i="1" cap="small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800" b="1" cap="small" dirty="0">
                  <a:solidFill>
                    <a:schemeClr val="bg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42420B-320B-4AC2-B607-EDEF1BB01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09" y="31967"/>
                <a:ext cx="8241295" cy="737189"/>
              </a:xfrm>
              <a:prstGeom prst="rect">
                <a:avLst/>
              </a:prstGeom>
              <a:blipFill>
                <a:blip r:embed="rId2"/>
                <a:stretch>
                  <a:fillRect l="-1479" b="-90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/>
              <p:nvPr/>
            </p:nvSpPr>
            <p:spPr>
              <a:xfrm>
                <a:off x="240535" y="972781"/>
                <a:ext cx="11710929" cy="43545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Note. This rule allows us to compute limits of the type</a:t>
                </a:r>
                <a:endParaRPr lang="en-GB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24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GB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if the conditions (1)-(3) are met, then the limit is obtained by deriving both numerator and denominator independently and calculating</a:t>
                </a:r>
                <a:endParaRPr lang="en-GB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24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  <m:d>
                                <m:d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  <m:d>
                                <m:d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</m:e>
                      </m:func>
                    </m:oMath>
                  </m:oMathPara>
                </a14:m>
                <a:endParaRPr lang="en-GB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GB" sz="2400" dirty="0">
                    <a:latin typeface="+mj-lt"/>
                  </a:rPr>
                  <a:t>If the limit of derivatives still provides and indeterminate form of the type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num>
                          <m:den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</m:oMath>
                </a14:m>
                <a:r>
                  <a:rPr lang="en-GB" sz="2400" dirty="0">
                    <a:latin typeface="+mj-lt"/>
                  </a:rPr>
                  <a:t> we can iterate the process to second, third, fourth, etc. derivative, until we resolve the indefinite form.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972781"/>
                <a:ext cx="11710929" cy="4354525"/>
              </a:xfrm>
              <a:prstGeom prst="rect">
                <a:avLst/>
              </a:prstGeom>
              <a:blipFill>
                <a:blip r:embed="rId3"/>
                <a:stretch>
                  <a:fillRect l="-780" t="-1120" b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11014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42420B-320B-4AC2-B607-EDEF1BB01BAE}"/>
                  </a:ext>
                </a:extLst>
              </p:cNvPr>
              <p:cNvSpPr txBox="1"/>
              <p:nvPr/>
            </p:nvSpPr>
            <p:spPr>
              <a:xfrm>
                <a:off x="66245" y="31967"/>
                <a:ext cx="8241295" cy="737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sz="2800" b="1" cap="small" dirty="0">
                    <a:solidFill>
                      <a:schemeClr val="bg1"/>
                    </a:solidFill>
                    <a:latin typeface="+mj-lt"/>
                  </a:rPr>
                  <a:t>4.7 </a:t>
                </a:r>
                <a:r>
                  <a:rPr lang="en-AU" sz="2800" b="1" cap="small" dirty="0" err="1">
                    <a:solidFill>
                      <a:schemeClr val="bg1"/>
                    </a:solidFill>
                    <a:latin typeface="+mj-lt"/>
                  </a:rPr>
                  <a:t>L’Hopital’s</a:t>
                </a:r>
                <a:r>
                  <a:rPr lang="en-AU" sz="2800" b="1" cap="small" dirty="0">
                    <a:solidFill>
                      <a:schemeClr val="bg1"/>
                    </a:solidFill>
                    <a:latin typeface="+mj-lt"/>
                  </a:rPr>
                  <a:t> rule for indefinite forms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sz="2800" b="1" i="1" cap="small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AU" sz="2800" b="1" i="1" cap="small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sz="2800" b="1" i="1" cap="small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num>
                          <m:den>
                            <m:r>
                              <a:rPr lang="en-AU" sz="2800" b="1" i="1" cap="small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den>
                        </m:f>
                      </m:e>
                    </m:d>
                    <m:r>
                      <a:rPr lang="en-AU" sz="2800" b="1" i="1" cap="small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AU" sz="2800" b="1" i="1" cap="small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AU" sz="2800" b="1" i="1" cap="small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sz="2800" b="1" i="1" cap="small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num>
                          <m:den>
                            <m:r>
                              <a:rPr lang="en-AU" sz="2800" b="1" i="1" cap="small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den>
                        </m:f>
                      </m:e>
                    </m:d>
                    <m:r>
                      <a:rPr lang="en-AU" sz="2800" b="1" i="1" cap="small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,(</m:t>
                    </m:r>
                    <m:r>
                      <a:rPr lang="en-AU" sz="2800" b="1" i="1" cap="small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∞∙</m:t>
                    </m:r>
                    <m:r>
                      <a:rPr lang="en-AU" sz="2800" b="1" i="1" cap="small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AU" sz="2800" b="1" i="1" cap="small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800" b="1" cap="small" dirty="0">
                  <a:solidFill>
                    <a:schemeClr val="bg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42420B-320B-4AC2-B607-EDEF1BB01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45" y="31967"/>
                <a:ext cx="8241295" cy="737189"/>
              </a:xfrm>
              <a:prstGeom prst="rect">
                <a:avLst/>
              </a:prstGeom>
              <a:blipFill>
                <a:blip r:embed="rId2"/>
                <a:stretch>
                  <a:fillRect l="-1553" b="-90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/>
              <p:nvPr/>
            </p:nvSpPr>
            <p:spPr>
              <a:xfrm>
                <a:off x="240535" y="972781"/>
                <a:ext cx="11710929" cy="35543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Evaluate the following</a:t>
                </a:r>
                <a:endParaRPr lang="en-GB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GB" sz="2400" dirty="0">
                    <a:latin typeface="+mj-lt"/>
                  </a:rPr>
                  <a:t>1.</a:t>
                </a:r>
                <a:r>
                  <a:rPr lang="en-GB" sz="24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→2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−3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−8</m:t>
                            </m:r>
                          </m:den>
                        </m:f>
                      </m:e>
                    </m:func>
                  </m:oMath>
                </a14:m>
                <a:endParaRPr lang="en-GB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endParaRPr lang="en-GB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endParaRPr lang="en-GB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endParaRPr lang="en-GB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GB" sz="2400" dirty="0">
                    <a:latin typeface="+mj-lt"/>
                  </a:rPr>
                  <a:t>2.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AU" sz="2400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num>
                          <m:den>
                            <m:func>
                              <m:func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AU" sz="2400" b="0" i="0" smtClean="0"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(1+</m:t>
                                </m:r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func>
                          </m:den>
                        </m:f>
                      </m:e>
                    </m:func>
                  </m:oMath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972781"/>
                <a:ext cx="11710929" cy="3554306"/>
              </a:xfrm>
              <a:prstGeom prst="rect">
                <a:avLst/>
              </a:prstGeom>
              <a:blipFill>
                <a:blip r:embed="rId3"/>
                <a:stretch>
                  <a:fillRect l="-780" t="-13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61640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42420B-320B-4AC2-B607-EDEF1BB01BAE}"/>
                  </a:ext>
                </a:extLst>
              </p:cNvPr>
              <p:cNvSpPr txBox="1"/>
              <p:nvPr/>
            </p:nvSpPr>
            <p:spPr>
              <a:xfrm>
                <a:off x="66245" y="31967"/>
                <a:ext cx="8241295" cy="737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sz="2800" b="1" cap="small" dirty="0">
                    <a:solidFill>
                      <a:schemeClr val="bg1"/>
                    </a:solidFill>
                    <a:latin typeface="+mj-lt"/>
                  </a:rPr>
                  <a:t>4.7 </a:t>
                </a:r>
                <a:r>
                  <a:rPr lang="en-AU" sz="2800" b="1" cap="small" dirty="0" err="1">
                    <a:solidFill>
                      <a:schemeClr val="bg1"/>
                    </a:solidFill>
                    <a:latin typeface="+mj-lt"/>
                  </a:rPr>
                  <a:t>L’Hopital’s</a:t>
                </a:r>
                <a:r>
                  <a:rPr lang="en-AU" sz="2800" b="1" cap="small" dirty="0">
                    <a:solidFill>
                      <a:schemeClr val="bg1"/>
                    </a:solidFill>
                    <a:latin typeface="+mj-lt"/>
                  </a:rPr>
                  <a:t> rule for indefinite forms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sz="2800" b="1" i="1" cap="small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AU" sz="2800" b="1" i="1" cap="small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sz="2800" b="1" i="1" cap="small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num>
                          <m:den>
                            <m:r>
                              <a:rPr lang="en-AU" sz="2800" b="1" i="1" cap="small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den>
                        </m:f>
                      </m:e>
                    </m:d>
                    <m:r>
                      <a:rPr lang="en-AU" sz="2800" b="1" i="1" cap="small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AU" sz="2800" b="1" i="1" cap="small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AU" sz="2800" b="1" i="1" cap="small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sz="2800" b="1" i="1" cap="small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num>
                          <m:den>
                            <m:r>
                              <a:rPr lang="en-AU" sz="2800" b="1" i="1" cap="small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den>
                        </m:f>
                      </m:e>
                    </m:d>
                    <m:r>
                      <a:rPr lang="en-AU" sz="2800" b="1" i="1" cap="small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,(</m:t>
                    </m:r>
                    <m:r>
                      <a:rPr lang="en-AU" sz="2800" b="1" i="1" cap="small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∞∙</m:t>
                    </m:r>
                    <m:r>
                      <a:rPr lang="en-AU" sz="2800" b="1" i="1" cap="small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AU" sz="2800" b="1" i="1" cap="small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800" b="1" cap="small" dirty="0">
                  <a:solidFill>
                    <a:schemeClr val="bg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42420B-320B-4AC2-B607-EDEF1BB01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45" y="31967"/>
                <a:ext cx="8241295" cy="737189"/>
              </a:xfrm>
              <a:prstGeom prst="rect">
                <a:avLst/>
              </a:prstGeom>
              <a:blipFill>
                <a:blip r:embed="rId2"/>
                <a:stretch>
                  <a:fillRect l="-1553" b="-90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/>
              <p:nvPr/>
            </p:nvSpPr>
            <p:spPr>
              <a:xfrm>
                <a:off x="240535" y="972781"/>
                <a:ext cx="11710929" cy="4756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Using L’H</a:t>
                </a:r>
                <a:r>
                  <a:rPr lang="en-GB" sz="2400" dirty="0" err="1">
                    <a:latin typeface="+mj-lt"/>
                  </a:rPr>
                  <a:t>ôpital’s</a:t>
                </a:r>
                <a:r>
                  <a:rPr lang="en-GB" sz="2400" dirty="0">
                    <a:latin typeface="+mj-lt"/>
                  </a:rPr>
                  <a:t> rule 1, verify that the following standard limits are correctly rediscovered.</a:t>
                </a:r>
              </a:p>
              <a:p>
                <a:pPr marL="342900" indent="-342900">
                  <a:spcAft>
                    <a:spcPts val="2400"/>
                  </a:spcAft>
                  <a:buFont typeface="Arial" panose="020B0604020202020204" pitchFamily="34" charset="0"/>
                  <a:buChar char="•"/>
                </a:pPr>
                <a:r>
                  <a:rPr lang="en-GB" sz="2400" dirty="0">
                    <a:latin typeface="+mj-lt"/>
                  </a:rPr>
                  <a:t>SL.1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AU" sz="2400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num>
                          <m:den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func>
                    <m:r>
                      <a:rPr lang="en-AU" sz="2400" b="0" i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GB" sz="2400" dirty="0">
                  <a:latin typeface="+mj-lt"/>
                </a:endParaRPr>
              </a:p>
              <a:p>
                <a:pPr marL="342900" indent="-342900">
                  <a:spcAft>
                    <a:spcPts val="2400"/>
                  </a:spcAft>
                  <a:buFont typeface="Arial" panose="020B0604020202020204" pitchFamily="34" charset="0"/>
                  <a:buChar char="•"/>
                </a:pPr>
                <a:r>
                  <a:rPr lang="en-GB" sz="2400" dirty="0">
                    <a:latin typeface="+mj-lt"/>
                  </a:rPr>
                  <a:t>SL.2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unc>
                              <m:func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AU" sz="2400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num>
                          <m:den>
                            <m:sSup>
                              <m:sSup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func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GB" sz="2400" dirty="0">
                  <a:latin typeface="+mj-lt"/>
                </a:endParaRPr>
              </a:p>
              <a:p>
                <a:pPr marL="342900" indent="-342900">
                  <a:spcAft>
                    <a:spcPts val="2400"/>
                  </a:spcAft>
                  <a:buFont typeface="Arial" panose="020B0604020202020204" pitchFamily="34" charset="0"/>
                  <a:buChar char="•"/>
                </a:pPr>
                <a:r>
                  <a:rPr lang="en-GB" sz="2400" dirty="0">
                    <a:latin typeface="+mj-lt"/>
                  </a:rPr>
                  <a:t>SL.3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func>
                  </m:oMath>
                </a14:m>
                <a:endParaRPr lang="en-AU" sz="2400" b="0" dirty="0">
                  <a:latin typeface="+mj-lt"/>
                </a:endParaRPr>
              </a:p>
              <a:p>
                <a:pPr marL="342900" indent="-342900">
                  <a:spcAft>
                    <a:spcPts val="2400"/>
                  </a:spcAft>
                  <a:buFont typeface="Arial" panose="020B0604020202020204" pitchFamily="34" charset="0"/>
                  <a:buChar char="•"/>
                </a:pPr>
                <a:r>
                  <a:rPr lang="en-GB" sz="2400" dirty="0">
                    <a:latin typeface="+mj-lt"/>
                  </a:rPr>
                  <a:t>SL.4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func>
                  </m:oMath>
                </a14:m>
                <a:endParaRPr lang="en-AU" sz="2400" b="0" dirty="0">
                  <a:latin typeface="+mj-lt"/>
                </a:endParaRPr>
              </a:p>
              <a:p>
                <a:pPr marL="342900" indent="-342900">
                  <a:spcAft>
                    <a:spcPts val="2400"/>
                  </a:spcAft>
                  <a:buFont typeface="Arial" panose="020B0604020202020204" pitchFamily="34" charset="0"/>
                  <a:buChar char="•"/>
                </a:pPr>
                <a:r>
                  <a:rPr lang="en-GB" sz="2400" dirty="0">
                    <a:latin typeface="+mj-lt"/>
                  </a:rPr>
                  <a:t>SL.5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AU" sz="2400" b="0" i="0" smtClean="0"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(1+</m:t>
                                </m:r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func>
                          </m:num>
                          <m:den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func>
                  </m:oMath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972781"/>
                <a:ext cx="11710929" cy="4756687"/>
              </a:xfrm>
              <a:prstGeom prst="rect">
                <a:avLst/>
              </a:prstGeom>
              <a:blipFill>
                <a:blip r:embed="rId3"/>
                <a:stretch>
                  <a:fillRect l="-780" t="-10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195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42420B-320B-4AC2-B607-EDEF1BB01BAE}"/>
                  </a:ext>
                </a:extLst>
              </p:cNvPr>
              <p:cNvSpPr txBox="1"/>
              <p:nvPr/>
            </p:nvSpPr>
            <p:spPr>
              <a:xfrm>
                <a:off x="66245" y="23220"/>
                <a:ext cx="8241295" cy="737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sz="2800" b="1" cap="small" dirty="0">
                    <a:solidFill>
                      <a:schemeClr val="bg1"/>
                    </a:solidFill>
                    <a:latin typeface="+mj-lt"/>
                  </a:rPr>
                  <a:t>4.7 </a:t>
                </a:r>
                <a:r>
                  <a:rPr lang="en-AU" sz="2800" b="1" cap="small" dirty="0" err="1">
                    <a:solidFill>
                      <a:schemeClr val="bg1"/>
                    </a:solidFill>
                    <a:latin typeface="+mj-lt"/>
                  </a:rPr>
                  <a:t>L’Hopital’s</a:t>
                </a:r>
                <a:r>
                  <a:rPr lang="en-AU" sz="2800" b="1" cap="small" dirty="0">
                    <a:solidFill>
                      <a:schemeClr val="bg1"/>
                    </a:solidFill>
                    <a:latin typeface="+mj-lt"/>
                  </a:rPr>
                  <a:t> rule for indefinite forms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sz="2800" b="1" i="1" cap="small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AU" sz="2800" b="1" i="1" cap="small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sz="2800" b="1" i="1" cap="small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num>
                          <m:den>
                            <m:r>
                              <a:rPr lang="en-AU" sz="2800" b="1" i="1" cap="small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den>
                        </m:f>
                      </m:e>
                    </m:d>
                    <m:r>
                      <a:rPr lang="en-AU" sz="2800" b="1" i="1" cap="small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AU" sz="2800" b="1" i="1" cap="small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AU" sz="2800" b="1" i="1" cap="small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sz="2800" b="1" i="1" cap="small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num>
                          <m:den>
                            <m:r>
                              <a:rPr lang="en-AU" sz="2800" b="1" i="1" cap="small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den>
                        </m:f>
                      </m:e>
                    </m:d>
                    <m:r>
                      <a:rPr lang="en-AU" sz="2800" b="1" i="1" cap="small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,(</m:t>
                    </m:r>
                    <m:r>
                      <a:rPr lang="en-AU" sz="2800" b="1" i="1" cap="small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∞∙</m:t>
                    </m:r>
                    <m:r>
                      <a:rPr lang="en-AU" sz="2800" b="1" i="1" cap="small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AU" sz="2800" b="1" i="1" cap="small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800" b="1" cap="small" dirty="0">
                  <a:solidFill>
                    <a:schemeClr val="bg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42420B-320B-4AC2-B607-EDEF1BB01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45" y="23220"/>
                <a:ext cx="8241295" cy="737189"/>
              </a:xfrm>
              <a:prstGeom prst="rect">
                <a:avLst/>
              </a:prstGeom>
              <a:blipFill>
                <a:blip r:embed="rId2"/>
                <a:stretch>
                  <a:fillRect l="-1553" b="-90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/>
              <p:nvPr/>
            </p:nvSpPr>
            <p:spPr>
              <a:xfrm>
                <a:off x="240535" y="972781"/>
                <a:ext cx="11710929" cy="56351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Theorem (L’H</a:t>
                </a:r>
                <a:r>
                  <a:rPr lang="en-GB" sz="2400" dirty="0" err="1">
                    <a:latin typeface="+mj-lt"/>
                  </a:rPr>
                  <a:t>ôpital’s</a:t>
                </a:r>
                <a:r>
                  <a:rPr lang="en-GB" sz="2400" dirty="0">
                    <a:latin typeface="+mj-lt"/>
                  </a:rPr>
                  <a:t> rule 2). Consider two functions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2400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, continuous and differentiable in an interval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GB" sz="2400" dirty="0">
                    <a:latin typeface="+mj-lt"/>
                  </a:rPr>
                  <a:t> with the possible exception of a value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sz="2400" dirty="0">
                    <a:latin typeface="+mj-lt"/>
                  </a:rPr>
                  <a:t>. If the three following conditions occur:</a:t>
                </a:r>
              </a:p>
              <a:p>
                <a:pPr>
                  <a:spcAft>
                    <a:spcPts val="1200"/>
                  </a:spcAft>
                </a:pPr>
                <a:r>
                  <a:rPr lang="en-GB" sz="2400" dirty="0">
                    <a:latin typeface="+mj-lt"/>
                  </a:rPr>
                  <a:t>1. both functions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2400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 tend to infinity for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2400" dirty="0">
                    <a:latin typeface="+mj-lt"/>
                  </a:rPr>
                  <a:t>, i.e.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GB" sz="2400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 sz="24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endParaRPr lang="en-GB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GB" sz="2400" dirty="0">
                    <a:latin typeface="+mj-lt"/>
                  </a:rPr>
                  <a:t>2.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)≠0</m:t>
                    </m:r>
                  </m:oMath>
                </a14:m>
                <a:r>
                  <a:rPr lang="en-GB" sz="2400" dirty="0">
                    <a:latin typeface="+mj-lt"/>
                  </a:rPr>
                  <a:t>, for every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400" dirty="0">
                    <a:latin typeface="+mj-lt"/>
                  </a:rPr>
                  <a:t> close but not equal to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2400" dirty="0">
                    <a:latin typeface="+mj-lt"/>
                  </a:rPr>
                  <a:t> </a:t>
                </a:r>
              </a:p>
              <a:p>
                <a:pPr>
                  <a:spcAft>
                    <a:spcPts val="1200"/>
                  </a:spcAft>
                </a:pPr>
                <a:r>
                  <a:rPr lang="en-GB" sz="2400" dirty="0">
                    <a:latin typeface="+mj-lt"/>
                  </a:rPr>
                  <a:t>3. the limit of the ratio of the derivatives exists, i.e.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num>
                          <m:den>
                            <m:sSup>
                              <m:sSup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p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den>
                        </m:f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func>
                  </m:oMath>
                </a14:m>
                <a:endParaRPr lang="en-GB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GB" sz="2400" dirty="0">
                    <a:latin typeface="+mj-lt"/>
                  </a:rPr>
                  <a:t>     with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GB" sz="2400" dirty="0">
                    <a:latin typeface="+mj-lt"/>
                  </a:rPr>
                  <a:t> (i.e.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GB" sz="2400" dirty="0">
                    <a:latin typeface="+mj-lt"/>
                  </a:rPr>
                  <a:t> is finite),</a:t>
                </a:r>
              </a:p>
              <a:p>
                <a:pPr>
                  <a:spcAft>
                    <a:spcPts val="1200"/>
                  </a:spcAft>
                </a:pPr>
                <a:r>
                  <a:rPr lang="en-GB" sz="2400" dirty="0">
                    <a:latin typeface="+mj-lt"/>
                  </a:rPr>
                  <a:t>then, the limit of the ratio of functions exists and is equal to the ratio of the derivatives, i.e.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24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func>
                    </m:oMath>
                  </m:oMathPara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972781"/>
                <a:ext cx="11710929" cy="5635132"/>
              </a:xfrm>
              <a:prstGeom prst="rect">
                <a:avLst/>
              </a:prstGeom>
              <a:blipFill>
                <a:blip r:embed="rId3"/>
                <a:stretch>
                  <a:fillRect l="-780" t="-8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56212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42420B-320B-4AC2-B607-EDEF1BB01BAE}"/>
                  </a:ext>
                </a:extLst>
              </p:cNvPr>
              <p:cNvSpPr txBox="1"/>
              <p:nvPr/>
            </p:nvSpPr>
            <p:spPr>
              <a:xfrm>
                <a:off x="75209" y="31967"/>
                <a:ext cx="8241295" cy="737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sz="2800" b="1" cap="small" dirty="0">
                    <a:solidFill>
                      <a:schemeClr val="bg1"/>
                    </a:solidFill>
                    <a:latin typeface="+mj-lt"/>
                  </a:rPr>
                  <a:t>4.7 </a:t>
                </a:r>
                <a:r>
                  <a:rPr lang="en-AU" sz="2800" b="1" cap="small" dirty="0" err="1">
                    <a:solidFill>
                      <a:schemeClr val="bg1"/>
                    </a:solidFill>
                    <a:latin typeface="+mj-lt"/>
                  </a:rPr>
                  <a:t>L’Hopital’s</a:t>
                </a:r>
                <a:r>
                  <a:rPr lang="en-AU" sz="2800" b="1" cap="small" dirty="0">
                    <a:solidFill>
                      <a:schemeClr val="bg1"/>
                    </a:solidFill>
                    <a:latin typeface="+mj-lt"/>
                  </a:rPr>
                  <a:t> rule for indefinite forms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sz="2800" b="1" i="1" cap="small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AU" sz="2800" b="1" i="1" cap="small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sz="2800" b="1" i="1" cap="small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num>
                          <m:den>
                            <m:r>
                              <a:rPr lang="en-AU" sz="2800" b="1" i="1" cap="small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den>
                        </m:f>
                      </m:e>
                    </m:d>
                    <m:r>
                      <a:rPr lang="en-AU" sz="2800" b="1" i="1" cap="small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AU" sz="2800" b="1" i="1" cap="small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AU" sz="2800" b="1" i="1" cap="small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sz="2800" b="1" i="1" cap="small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num>
                          <m:den>
                            <m:r>
                              <a:rPr lang="en-AU" sz="2800" b="1" i="1" cap="small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den>
                        </m:f>
                      </m:e>
                    </m:d>
                    <m:r>
                      <a:rPr lang="en-AU" sz="2800" b="1" i="1" cap="small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,(</m:t>
                    </m:r>
                    <m:r>
                      <a:rPr lang="en-AU" sz="2800" b="1" i="1" cap="small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∞∙</m:t>
                    </m:r>
                    <m:r>
                      <a:rPr lang="en-AU" sz="2800" b="1" i="1" cap="small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AU" sz="2800" b="1" i="1" cap="small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800" b="1" cap="small" dirty="0">
                  <a:solidFill>
                    <a:schemeClr val="bg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42420B-320B-4AC2-B607-EDEF1BB01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09" y="31967"/>
                <a:ext cx="8241295" cy="737189"/>
              </a:xfrm>
              <a:prstGeom prst="rect">
                <a:avLst/>
              </a:prstGeom>
              <a:blipFill>
                <a:blip r:embed="rId2"/>
                <a:stretch>
                  <a:fillRect l="-1479" b="-90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/>
              <p:nvPr/>
            </p:nvSpPr>
            <p:spPr>
              <a:xfrm>
                <a:off x="240535" y="972781"/>
                <a:ext cx="11710929" cy="49250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Note. This rule applies also to the cases where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→−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GB" sz="2400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400" i="1">
                        <a:latin typeface="Cambria Math" panose="02040503050406030204" pitchFamily="18" charset="0"/>
                      </a:rPr>
                      <m:t>→−</m:t>
                    </m:r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GB" sz="2400" dirty="0">
                    <a:latin typeface="+mj-lt"/>
                  </a:rPr>
                  <a:t>.</a:t>
                </a:r>
              </a:p>
              <a:p>
                <a:pPr>
                  <a:spcAft>
                    <a:spcPts val="1200"/>
                  </a:spcAft>
                </a:pPr>
                <a:r>
                  <a:rPr lang="en-GB" sz="2400" dirty="0">
                    <a:latin typeface="+mj-lt"/>
                  </a:rPr>
                  <a:t>Note. Both rules 1 and 2 apply also to the cases where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GB" sz="2400" dirty="0">
                    <a:latin typeface="+mj-lt"/>
                  </a:rPr>
                  <a:t> or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→−∞</m:t>
                    </m:r>
                  </m:oMath>
                </a14:m>
                <a:r>
                  <a:rPr lang="en-GB" sz="2400" dirty="0">
                    <a:latin typeface="+mj-lt"/>
                  </a:rPr>
                  <a:t>, i.e. limits at infinity, as long as the indefinite forms are of the type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AU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num>
                          <m:den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</m:oMath>
                </a14:m>
                <a:r>
                  <a:rPr lang="en-GB" sz="2400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AU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num>
                          <m:den>
                            <m:r>
                              <a:rPr lang="en-AU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den>
                        </m:f>
                      </m:e>
                    </m:d>
                  </m:oMath>
                </a14:m>
                <a:r>
                  <a:rPr lang="en-GB" sz="2400" dirty="0">
                    <a:latin typeface="+mj-lt"/>
                  </a:rPr>
                  <a:t>.</a:t>
                </a:r>
              </a:p>
              <a:p>
                <a:pPr>
                  <a:spcAft>
                    <a:spcPts val="1200"/>
                  </a:spcAft>
                </a:pPr>
                <a:r>
                  <a:rPr lang="en-GB" sz="2400" dirty="0">
                    <a:latin typeface="+mj-lt"/>
                  </a:rPr>
                  <a:t>Using rule 2, determine the following limits</a:t>
                </a:r>
              </a:p>
              <a:p>
                <a:pPr>
                  <a:spcAft>
                    <a:spcPts val="3600"/>
                  </a:spcAft>
                </a:pPr>
                <a:r>
                  <a:rPr lang="en-GB" sz="2400" dirty="0">
                    <a:latin typeface="+mj-lt"/>
                  </a:rPr>
                  <a:t>1.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func>
                  </m:oMath>
                </a14:m>
                <a:endParaRPr lang="en-GB" sz="2400" dirty="0">
                  <a:latin typeface="+mj-lt"/>
                </a:endParaRPr>
              </a:p>
              <a:p>
                <a:pPr>
                  <a:spcAft>
                    <a:spcPts val="3600"/>
                  </a:spcAft>
                </a:pPr>
                <a:r>
                  <a:rPr lang="en-GB" sz="2400" dirty="0">
                    <a:latin typeface="+mj-lt"/>
                  </a:rPr>
                  <a:t>2.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AU" sz="2400" b="0" i="0" smtClean="0"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num>
                          <m:den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func>
                  </m:oMath>
                </a14:m>
                <a:endParaRPr lang="en-GB" sz="2400" dirty="0">
                  <a:latin typeface="+mj-lt"/>
                </a:endParaRPr>
              </a:p>
              <a:p>
                <a:pPr>
                  <a:spcAft>
                    <a:spcPts val="3600"/>
                  </a:spcAft>
                </a:pPr>
                <a:r>
                  <a:rPr lang="en-GB" sz="2400" dirty="0">
                    <a:latin typeface="+mj-lt"/>
                  </a:rPr>
                  <a:t>3.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AU" sz="2400" b="0" i="0" smtClean="0"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(1+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rad>
                              </m:e>
                            </m:func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den>
                        </m:f>
                      </m:e>
                    </m:func>
                  </m:oMath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972781"/>
                <a:ext cx="11710929" cy="4925003"/>
              </a:xfrm>
              <a:prstGeom prst="rect">
                <a:avLst/>
              </a:prstGeom>
              <a:blipFill>
                <a:blip r:embed="rId3"/>
                <a:stretch>
                  <a:fillRect l="-780" t="-9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46584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42420B-320B-4AC2-B607-EDEF1BB01BAE}"/>
                  </a:ext>
                </a:extLst>
              </p:cNvPr>
              <p:cNvSpPr txBox="1"/>
              <p:nvPr/>
            </p:nvSpPr>
            <p:spPr>
              <a:xfrm>
                <a:off x="66245" y="23220"/>
                <a:ext cx="8241295" cy="737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sz="2800" b="1" cap="small" dirty="0">
                    <a:solidFill>
                      <a:schemeClr val="bg1"/>
                    </a:solidFill>
                    <a:latin typeface="+mj-lt"/>
                  </a:rPr>
                  <a:t>4.7 </a:t>
                </a:r>
                <a:r>
                  <a:rPr lang="en-AU" sz="2800" b="1" cap="small" dirty="0" err="1">
                    <a:solidFill>
                      <a:schemeClr val="bg1"/>
                    </a:solidFill>
                    <a:latin typeface="+mj-lt"/>
                  </a:rPr>
                  <a:t>L’Hopital’s</a:t>
                </a:r>
                <a:r>
                  <a:rPr lang="en-AU" sz="2800" b="1" cap="small" dirty="0">
                    <a:solidFill>
                      <a:schemeClr val="bg1"/>
                    </a:solidFill>
                    <a:latin typeface="+mj-lt"/>
                  </a:rPr>
                  <a:t> rule for indefinite forms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sz="2800" b="1" i="1" cap="small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AU" sz="2800" b="1" i="1" cap="small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sz="2800" b="1" i="1" cap="small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num>
                          <m:den>
                            <m:r>
                              <a:rPr lang="en-AU" sz="2800" b="1" i="1" cap="small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den>
                        </m:f>
                      </m:e>
                    </m:d>
                    <m:r>
                      <a:rPr lang="en-AU" sz="2800" b="1" i="1" cap="small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AU" sz="2800" b="1" i="1" cap="small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AU" sz="2800" b="1" i="1" cap="small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sz="2800" b="1" i="1" cap="small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num>
                          <m:den>
                            <m:r>
                              <a:rPr lang="en-AU" sz="2800" b="1" i="1" cap="small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den>
                        </m:f>
                      </m:e>
                    </m:d>
                    <m:r>
                      <a:rPr lang="en-AU" sz="2800" b="1" i="1" cap="small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,(</m:t>
                    </m:r>
                    <m:r>
                      <a:rPr lang="en-AU" sz="2800" b="1" i="1" cap="small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∞∙</m:t>
                    </m:r>
                    <m:r>
                      <a:rPr lang="en-AU" sz="2800" b="1" i="1" cap="small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AU" sz="2800" b="1" i="1" cap="small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800" b="1" cap="small" dirty="0">
                  <a:solidFill>
                    <a:schemeClr val="bg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42420B-320B-4AC2-B607-EDEF1BB01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45" y="23220"/>
                <a:ext cx="8241295" cy="737189"/>
              </a:xfrm>
              <a:prstGeom prst="rect">
                <a:avLst/>
              </a:prstGeom>
              <a:blipFill>
                <a:blip r:embed="rId2"/>
                <a:stretch>
                  <a:fillRect l="-1553" b="-90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/>
              <p:nvPr/>
            </p:nvSpPr>
            <p:spPr>
              <a:xfrm>
                <a:off x="240535" y="972781"/>
                <a:ext cx="11710929" cy="52019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It is possible to re-express the indefinite form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(0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∙∞)</m:t>
                    </m:r>
                  </m:oMath>
                </a14:m>
                <a:r>
                  <a:rPr lang="en-GB" sz="2400" dirty="0">
                    <a:latin typeface="+mj-lt"/>
                  </a:rPr>
                  <a:t> so that it morphs into one of the two indefinite forms for </a:t>
                </a:r>
                <a:r>
                  <a:rPr lang="en-AU" sz="2400" dirty="0">
                    <a:latin typeface="+mj-lt"/>
                  </a:rPr>
                  <a:t>L’H</a:t>
                </a:r>
                <a:r>
                  <a:rPr lang="en-GB" sz="2400" dirty="0" err="1">
                    <a:latin typeface="+mj-lt"/>
                  </a:rPr>
                  <a:t>ôpital’s</a:t>
                </a:r>
                <a:r>
                  <a:rPr lang="en-GB" sz="2400" dirty="0">
                    <a:latin typeface="+mj-lt"/>
                  </a:rPr>
                  <a:t> rules.</a:t>
                </a:r>
              </a:p>
              <a:p>
                <a:pPr>
                  <a:spcAft>
                    <a:spcPts val="1200"/>
                  </a:spcAft>
                </a:pPr>
                <a:r>
                  <a:rPr lang="en-GB" sz="2400" dirty="0">
                    <a:latin typeface="+mj-lt"/>
                  </a:rPr>
                  <a:t>Determine the following limits</a:t>
                </a:r>
              </a:p>
              <a:p>
                <a:pPr>
                  <a:spcAft>
                    <a:spcPts val="3600"/>
                  </a:spcAft>
                </a:pPr>
                <a:r>
                  <a:rPr lang="en-GB" sz="2400" dirty="0">
                    <a:latin typeface="+mj-lt"/>
                  </a:rPr>
                  <a:t>1.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func>
                          <m:func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AU" sz="2400" b="0" i="0" smtClean="0">
                                <a:latin typeface="Cambria Math" panose="02040503050406030204" pitchFamily="18" charset="0"/>
                              </a:rPr>
                              <m:t>arctan</m:t>
                            </m:r>
                          </m:fName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AU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GB" sz="2400" dirty="0">
                  <a:latin typeface="+mj-lt"/>
                </a:endParaRPr>
              </a:p>
              <a:p>
                <a:pPr>
                  <a:spcAft>
                    <a:spcPts val="3600"/>
                  </a:spcAft>
                </a:pPr>
                <a:endParaRPr lang="en-GB" sz="2400" dirty="0">
                  <a:latin typeface="+mj-lt"/>
                </a:endParaRPr>
              </a:p>
              <a:p>
                <a:pPr>
                  <a:spcAft>
                    <a:spcPts val="3600"/>
                  </a:spcAft>
                </a:pPr>
                <a:r>
                  <a:rPr lang="en-GB" sz="2400" dirty="0">
                    <a:latin typeface="+mj-lt"/>
                  </a:rPr>
                  <a:t>2.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func>
                      <m:funcPr>
                        <m:ctrlP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AU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endParaRPr lang="en-GB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endParaRPr lang="en-GB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85597E-7235-44B2-927C-87BAFA271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972781"/>
                <a:ext cx="11710929" cy="5201937"/>
              </a:xfrm>
              <a:prstGeom prst="rect">
                <a:avLst/>
              </a:prstGeom>
              <a:blipFill>
                <a:blip r:embed="rId3"/>
                <a:stretch>
                  <a:fillRect l="-780" t="-9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85319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FE63619-80A3-4A89-960D-0F91C6BB0AAA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F605405-8240-4BCC-AF89-B810229A04DC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9556E24-176E-4E21-ACB9-FCE58612884D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20AD420-227D-44EE-A46A-95E968DB5793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833D331-C78A-418D-9AFF-6E3587061322}"/>
              </a:ext>
            </a:extLst>
          </p:cNvPr>
          <p:cNvSpPr txBox="1"/>
          <p:nvPr/>
        </p:nvSpPr>
        <p:spPr>
          <a:xfrm>
            <a:off x="66245" y="124632"/>
            <a:ext cx="22206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End of Lecture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77207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8340</TotalTime>
  <Words>2799</Words>
  <Application>Microsoft Office PowerPoint</Application>
  <PresentationFormat>Widescreen</PresentationFormat>
  <Paragraphs>202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Calibri</vt:lpstr>
      <vt:lpstr>Calibri Light</vt:lpstr>
      <vt:lpstr>Cambria Math</vt:lpstr>
      <vt:lpstr>Times New Roman</vt:lpstr>
      <vt:lpstr>Office Theme</vt:lpstr>
      <vt:lpstr>Calculus and applications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PRELIMINARY MATHEMATICS</dc:title>
  <dc:creator>David</dc:creator>
  <cp:lastModifiedBy>David Richards</cp:lastModifiedBy>
  <cp:revision>425</cp:revision>
  <dcterms:created xsi:type="dcterms:W3CDTF">2018-11-23T00:41:45Z</dcterms:created>
  <dcterms:modified xsi:type="dcterms:W3CDTF">2025-04-08T01:38:07Z</dcterms:modified>
</cp:coreProperties>
</file>