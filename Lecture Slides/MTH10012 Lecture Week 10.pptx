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2"/>
  </p:notesMasterIdLst>
  <p:handoutMasterIdLst>
    <p:handoutMasterId r:id="rId33"/>
  </p:handoutMasterIdLst>
  <p:sldIdLst>
    <p:sldId id="256" r:id="rId2"/>
    <p:sldId id="261" r:id="rId3"/>
    <p:sldId id="387" r:id="rId4"/>
    <p:sldId id="388" r:id="rId5"/>
    <p:sldId id="389" r:id="rId6"/>
    <p:sldId id="390" r:id="rId7"/>
    <p:sldId id="391" r:id="rId8"/>
    <p:sldId id="392" r:id="rId9"/>
    <p:sldId id="393" r:id="rId10"/>
    <p:sldId id="394" r:id="rId11"/>
    <p:sldId id="395" r:id="rId12"/>
    <p:sldId id="396" r:id="rId13"/>
    <p:sldId id="397" r:id="rId14"/>
    <p:sldId id="398" r:id="rId15"/>
    <p:sldId id="399" r:id="rId16"/>
    <p:sldId id="400" r:id="rId17"/>
    <p:sldId id="401" r:id="rId18"/>
    <p:sldId id="402" r:id="rId19"/>
    <p:sldId id="403" r:id="rId20"/>
    <p:sldId id="404" r:id="rId21"/>
    <p:sldId id="405" r:id="rId22"/>
    <p:sldId id="406" r:id="rId23"/>
    <p:sldId id="407" r:id="rId24"/>
    <p:sldId id="408" r:id="rId25"/>
    <p:sldId id="409" r:id="rId26"/>
    <p:sldId id="410" r:id="rId27"/>
    <p:sldId id="411" r:id="rId28"/>
    <p:sldId id="412" r:id="rId29"/>
    <p:sldId id="413" r:id="rId30"/>
    <p:sldId id="337" r:id="rId31"/>
  </p:sldIdLst>
  <p:sldSz cx="12192000" cy="6858000"/>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6C0000"/>
    <a:srgbClr val="E050C5"/>
    <a:srgbClr val="FFF2CC"/>
    <a:srgbClr val="FFEBB3"/>
    <a:srgbClr val="75F8FF"/>
    <a:srgbClr val="A1FFE2"/>
    <a:srgbClr val="9AFFBF"/>
    <a:srgbClr val="00FF99"/>
    <a:srgbClr val="FFCC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56" autoAdjust="0"/>
    <p:restoredTop sz="96625" autoAdjust="0"/>
  </p:normalViewPr>
  <p:slideViewPr>
    <p:cSldViewPr snapToGrid="0">
      <p:cViewPr varScale="1">
        <p:scale>
          <a:sx n="107" d="100"/>
          <a:sy n="107" d="100"/>
        </p:scale>
        <p:origin x="120" y="29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7C00F1-1718-4925-A43A-175331727A83}"/>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246C4DA-E8E9-439A-AFBB-71B1FA85B9C5}"/>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95CF5198-13BD-4E71-A56E-DADFEA4013F7}" type="datetimeFigureOut">
              <a:rPr lang="en-US" smtClean="0"/>
              <a:t>10/7/2024</a:t>
            </a:fld>
            <a:endParaRPr lang="en-US"/>
          </a:p>
        </p:txBody>
      </p:sp>
      <p:sp>
        <p:nvSpPr>
          <p:cNvPr id="4" name="Footer Placeholder 3">
            <a:extLst>
              <a:ext uri="{FF2B5EF4-FFF2-40B4-BE49-F238E27FC236}">
                <a16:creationId xmlns:a16="http://schemas.microsoft.com/office/drawing/2014/main" id="{16877F23-B46D-4600-856F-446828C726E1}"/>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5DDB845-9091-44C1-BB5A-012CFA80FFB2}"/>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BBB43135-408F-4918-93DC-4C4FABB8BA38}" type="slidenum">
              <a:rPr lang="en-US" smtClean="0"/>
              <a:t>‹#›</a:t>
            </a:fld>
            <a:endParaRPr lang="en-US"/>
          </a:p>
        </p:txBody>
      </p:sp>
    </p:spTree>
    <p:extLst>
      <p:ext uri="{BB962C8B-B14F-4D97-AF65-F5344CB8AC3E}">
        <p14:creationId xmlns:p14="http://schemas.microsoft.com/office/powerpoint/2010/main" val="3495705199"/>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A0D9DCAD-DE8F-4CDD-984A-DA4AA5EA435B}" type="datetimeFigureOut">
              <a:rPr lang="en-AU" smtClean="0"/>
              <a:t>7/10/2024</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C1C00294-AEF9-4034-8E81-4D594CB10C91}" type="slidenum">
              <a:rPr lang="en-AU" smtClean="0"/>
              <a:t>‹#›</a:t>
            </a:fld>
            <a:endParaRPr lang="en-AU"/>
          </a:p>
        </p:txBody>
      </p:sp>
    </p:spTree>
    <p:extLst>
      <p:ext uri="{BB962C8B-B14F-4D97-AF65-F5344CB8AC3E}">
        <p14:creationId xmlns:p14="http://schemas.microsoft.com/office/powerpoint/2010/main" val="181199127"/>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6BE2F-261A-488B-B93C-7BE08E26FB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1D02DE-1CFE-4515-9E33-21EBC28825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BA0201-588B-4FDC-B1A7-99525CBEE325}"/>
              </a:ext>
            </a:extLst>
          </p:cNvPr>
          <p:cNvSpPr>
            <a:spLocks noGrp="1"/>
          </p:cNvSpPr>
          <p:nvPr>
            <p:ph type="dt" sz="half" idx="10"/>
          </p:nvPr>
        </p:nvSpPr>
        <p:spPr/>
        <p:txBody>
          <a:bodyPr/>
          <a:lstStyle/>
          <a:p>
            <a:fld id="{6FF8AB16-CEA3-471F-8DD6-F4EB36AF83AE}" type="datetimeFigureOut">
              <a:rPr lang="en-US" smtClean="0"/>
              <a:t>10/7/2024</a:t>
            </a:fld>
            <a:endParaRPr lang="en-US"/>
          </a:p>
        </p:txBody>
      </p:sp>
      <p:sp>
        <p:nvSpPr>
          <p:cNvPr id="5" name="Footer Placeholder 4">
            <a:extLst>
              <a:ext uri="{FF2B5EF4-FFF2-40B4-BE49-F238E27FC236}">
                <a16:creationId xmlns:a16="http://schemas.microsoft.com/office/drawing/2014/main" id="{FD479FBC-E34E-463B-9581-0DBAF2C9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E8FE7A-01BB-4021-8D2B-4591558BF158}"/>
              </a:ext>
            </a:extLst>
          </p:cNvPr>
          <p:cNvSpPr>
            <a:spLocks noGrp="1"/>
          </p:cNvSpPr>
          <p:nvPr>
            <p:ph type="sldNum" sz="quarter" idx="12"/>
          </p:nvPr>
        </p:nvSpPr>
        <p:spPr/>
        <p:txBody>
          <a:bodyPr/>
          <a:lstStyle/>
          <a:p>
            <a:fld id="{7420E577-446B-4DBC-A698-2A6B8DE6A948}" type="slidenum">
              <a:rPr lang="en-US" smtClean="0"/>
              <a:t>‹#›</a:t>
            </a:fld>
            <a:endParaRPr lang="en-US"/>
          </a:p>
        </p:txBody>
      </p:sp>
      <p:pic>
        <p:nvPicPr>
          <p:cNvPr id="7" name="Picture 6">
            <a:extLst>
              <a:ext uri="{FF2B5EF4-FFF2-40B4-BE49-F238E27FC236}">
                <a16:creationId xmlns:a16="http://schemas.microsoft.com/office/drawing/2014/main" id="{F9F5D431-79F7-473F-8B6E-B3955076CD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9072" y="6140610"/>
            <a:ext cx="1122769" cy="574290"/>
          </a:xfrm>
          <a:prstGeom prst="rect">
            <a:avLst/>
          </a:prstGeom>
        </p:spPr>
      </p:pic>
      <p:sp>
        <p:nvSpPr>
          <p:cNvPr id="8" name="TextBox 7">
            <a:extLst>
              <a:ext uri="{FF2B5EF4-FFF2-40B4-BE49-F238E27FC236}">
                <a16:creationId xmlns:a16="http://schemas.microsoft.com/office/drawing/2014/main" id="{C85D6FCD-D711-415C-BDDE-8F6DDE0408BE}"/>
              </a:ext>
            </a:extLst>
          </p:cNvPr>
          <p:cNvSpPr txBox="1"/>
          <p:nvPr userDrawn="1"/>
        </p:nvSpPr>
        <p:spPr>
          <a:xfrm>
            <a:off x="11443527" y="6227700"/>
            <a:ext cx="486030" cy="400110"/>
          </a:xfrm>
          <a:prstGeom prst="rect">
            <a:avLst/>
          </a:prstGeom>
          <a:noFill/>
        </p:spPr>
        <p:txBody>
          <a:bodyPr wrap="none" rtlCol="0">
            <a:spAutoFit/>
          </a:bodyPr>
          <a:lstStyle/>
          <a:p>
            <a:fld id="{B0E72E4E-4CBE-4D12-B6A9-8CB223CF8265}" type="slidenum">
              <a:rPr lang="en-AU" sz="2000" b="1" smtClean="0"/>
              <a:t>‹#›</a:t>
            </a:fld>
            <a:endParaRPr lang="en-AU" sz="2000" b="1" dirty="0"/>
          </a:p>
        </p:txBody>
      </p:sp>
    </p:spTree>
    <p:extLst>
      <p:ext uri="{BB962C8B-B14F-4D97-AF65-F5344CB8AC3E}">
        <p14:creationId xmlns:p14="http://schemas.microsoft.com/office/powerpoint/2010/main" val="349658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A2F9-7D55-40B9-B9F6-47CEB7F23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C4E6F6-872B-4351-82CE-F6BDED6785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E37C49-E28A-4BC7-B01F-46B9108294B4}"/>
              </a:ext>
            </a:extLst>
          </p:cNvPr>
          <p:cNvSpPr>
            <a:spLocks noGrp="1"/>
          </p:cNvSpPr>
          <p:nvPr>
            <p:ph type="dt" sz="half" idx="10"/>
          </p:nvPr>
        </p:nvSpPr>
        <p:spPr/>
        <p:txBody>
          <a:bodyPr/>
          <a:lstStyle/>
          <a:p>
            <a:fld id="{A2BBB18F-8376-4052-A4AC-9CEE87CB9347}" type="datetime1">
              <a:rPr lang="en-AU" smtClean="0"/>
              <a:t>7/10/2024</a:t>
            </a:fld>
            <a:endParaRPr lang="en-AU"/>
          </a:p>
        </p:txBody>
      </p:sp>
      <p:sp>
        <p:nvSpPr>
          <p:cNvPr id="5" name="Footer Placeholder 4">
            <a:extLst>
              <a:ext uri="{FF2B5EF4-FFF2-40B4-BE49-F238E27FC236}">
                <a16:creationId xmlns:a16="http://schemas.microsoft.com/office/drawing/2014/main" id="{CF8BD53B-FA02-45C3-B746-4698E5C7A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F9585B1-EDCF-4B2C-AB51-34E6296E0D3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53675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CFC9-D1E8-4E90-A313-CE13BA34D5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2CAFC9-3AAB-464E-BF70-473E57067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2992BC8-6CF3-4155-A3AC-94AADADA0556}"/>
              </a:ext>
            </a:extLst>
          </p:cNvPr>
          <p:cNvSpPr>
            <a:spLocks noGrp="1"/>
          </p:cNvSpPr>
          <p:nvPr>
            <p:ph type="dt" sz="half" idx="10"/>
          </p:nvPr>
        </p:nvSpPr>
        <p:spPr/>
        <p:txBody>
          <a:bodyPr/>
          <a:lstStyle/>
          <a:p>
            <a:fld id="{EEBEFC66-FB02-44EA-BC04-6F096A7B7769}" type="datetime1">
              <a:rPr lang="en-AU" smtClean="0"/>
              <a:t>7/10/2024</a:t>
            </a:fld>
            <a:endParaRPr lang="en-AU"/>
          </a:p>
        </p:txBody>
      </p:sp>
      <p:sp>
        <p:nvSpPr>
          <p:cNvPr id="5" name="Footer Placeholder 4">
            <a:extLst>
              <a:ext uri="{FF2B5EF4-FFF2-40B4-BE49-F238E27FC236}">
                <a16:creationId xmlns:a16="http://schemas.microsoft.com/office/drawing/2014/main" id="{F1D31418-83C4-4996-B0E2-AABE17A110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6ECE1-87D5-4300-BACC-4A4EB5169CB0}"/>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32796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A7873-C1A0-4FC9-9508-391EDD084E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0A00C2-E18A-49F2-813D-D096870601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FCC943-1A72-4568-B75B-790E77A35AE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6426C6-D368-434D-A76E-A08FE05B252C}"/>
              </a:ext>
            </a:extLst>
          </p:cNvPr>
          <p:cNvSpPr>
            <a:spLocks noGrp="1"/>
          </p:cNvSpPr>
          <p:nvPr>
            <p:ph type="dt" sz="half" idx="10"/>
          </p:nvPr>
        </p:nvSpPr>
        <p:spPr/>
        <p:txBody>
          <a:bodyPr/>
          <a:lstStyle/>
          <a:p>
            <a:fld id="{BE266C89-1765-4641-A2C2-0C255FF54FD1}" type="datetime1">
              <a:rPr lang="en-AU" smtClean="0"/>
              <a:t>7/10/2024</a:t>
            </a:fld>
            <a:endParaRPr lang="en-AU"/>
          </a:p>
        </p:txBody>
      </p:sp>
      <p:sp>
        <p:nvSpPr>
          <p:cNvPr id="6" name="Footer Placeholder 5">
            <a:extLst>
              <a:ext uri="{FF2B5EF4-FFF2-40B4-BE49-F238E27FC236}">
                <a16:creationId xmlns:a16="http://schemas.microsoft.com/office/drawing/2014/main" id="{A5F1A0D2-A40A-49C1-8234-B7D2E59752D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D5590CF-5EB7-4621-AF70-49745B7E8CB1}"/>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44901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5EC4E-7129-4DFE-A8BF-D2F4C51EB3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A868A7-B0A8-48B8-9C40-76D73A53EE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55E52730-3A93-4774-B024-FF41D7ADBB4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51560C-643D-4E43-9F3C-1BAB21E151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AC2905-B67E-4FAA-969B-8323B9811F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1CAE1-7796-4C1F-9BED-1A8C90ABA79C}"/>
              </a:ext>
            </a:extLst>
          </p:cNvPr>
          <p:cNvSpPr>
            <a:spLocks noGrp="1"/>
          </p:cNvSpPr>
          <p:nvPr>
            <p:ph type="dt" sz="half" idx="10"/>
          </p:nvPr>
        </p:nvSpPr>
        <p:spPr/>
        <p:txBody>
          <a:bodyPr/>
          <a:lstStyle/>
          <a:p>
            <a:fld id="{4A873857-A5A5-474E-9E58-C4E578787857}" type="datetime1">
              <a:rPr lang="en-AU" smtClean="0"/>
              <a:t>7/10/2024</a:t>
            </a:fld>
            <a:endParaRPr lang="en-AU"/>
          </a:p>
        </p:txBody>
      </p:sp>
      <p:sp>
        <p:nvSpPr>
          <p:cNvPr id="8" name="Footer Placeholder 7">
            <a:extLst>
              <a:ext uri="{FF2B5EF4-FFF2-40B4-BE49-F238E27FC236}">
                <a16:creationId xmlns:a16="http://schemas.microsoft.com/office/drawing/2014/main" id="{D0D73460-6DE1-4496-9257-1CF265A781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59E5745-5DC0-47E7-86B4-926C3EEB61DA}"/>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51098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0E46-5C93-447B-AA2A-FABDBC8333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D545D-C4CE-4C13-933E-BB80F082B875}"/>
              </a:ext>
            </a:extLst>
          </p:cNvPr>
          <p:cNvSpPr>
            <a:spLocks noGrp="1"/>
          </p:cNvSpPr>
          <p:nvPr>
            <p:ph type="dt" sz="half" idx="10"/>
          </p:nvPr>
        </p:nvSpPr>
        <p:spPr/>
        <p:txBody>
          <a:bodyPr/>
          <a:lstStyle/>
          <a:p>
            <a:fld id="{4C4A7F37-9D1F-41EA-AAC5-1B6F73404883}" type="datetime1">
              <a:rPr lang="en-AU" smtClean="0"/>
              <a:t>7/10/2024</a:t>
            </a:fld>
            <a:endParaRPr lang="en-AU"/>
          </a:p>
        </p:txBody>
      </p:sp>
      <p:sp>
        <p:nvSpPr>
          <p:cNvPr id="4" name="Footer Placeholder 3">
            <a:extLst>
              <a:ext uri="{FF2B5EF4-FFF2-40B4-BE49-F238E27FC236}">
                <a16:creationId xmlns:a16="http://schemas.microsoft.com/office/drawing/2014/main" id="{F055F992-DE21-4FF8-9EC3-24F7AAB4599B}"/>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5FA18A99-A541-4FC4-8B0F-E2C0D8ED3C39}"/>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608956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9AF43-84E3-4B89-A20D-5AD12A924EFB}"/>
              </a:ext>
            </a:extLst>
          </p:cNvPr>
          <p:cNvSpPr>
            <a:spLocks noGrp="1"/>
          </p:cNvSpPr>
          <p:nvPr>
            <p:ph type="dt" sz="half" idx="10"/>
          </p:nvPr>
        </p:nvSpPr>
        <p:spPr/>
        <p:txBody>
          <a:bodyPr/>
          <a:lstStyle/>
          <a:p>
            <a:fld id="{4520FDF9-A986-4905-9508-247B7F4B200D}" type="datetime1">
              <a:rPr lang="en-AU" smtClean="0"/>
              <a:t>7/10/2024</a:t>
            </a:fld>
            <a:endParaRPr lang="en-AU"/>
          </a:p>
        </p:txBody>
      </p:sp>
      <p:sp>
        <p:nvSpPr>
          <p:cNvPr id="3" name="Footer Placeholder 2">
            <a:extLst>
              <a:ext uri="{FF2B5EF4-FFF2-40B4-BE49-F238E27FC236}">
                <a16:creationId xmlns:a16="http://schemas.microsoft.com/office/drawing/2014/main" id="{BC552FC8-6766-4AF6-AE1B-3E3E40DE160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198A401-3F10-4AB5-B56C-A44167EC985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23013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E79-7D0A-4913-9B9D-D14A14012B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02F2BE-34D1-4394-A79C-56929CB7F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486DDC-E9A4-494D-8DA3-DF6FF0CB2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1DC4CB1-DD02-4E14-8070-D529601AE306}"/>
              </a:ext>
            </a:extLst>
          </p:cNvPr>
          <p:cNvSpPr>
            <a:spLocks noGrp="1"/>
          </p:cNvSpPr>
          <p:nvPr>
            <p:ph type="dt" sz="half" idx="10"/>
          </p:nvPr>
        </p:nvSpPr>
        <p:spPr/>
        <p:txBody>
          <a:bodyPr/>
          <a:lstStyle/>
          <a:p>
            <a:fld id="{F0A57C78-DADF-4969-B242-4855E9F4C4D5}" type="datetime1">
              <a:rPr lang="en-AU" smtClean="0"/>
              <a:t>7/10/2024</a:t>
            </a:fld>
            <a:endParaRPr lang="en-AU"/>
          </a:p>
        </p:txBody>
      </p:sp>
      <p:sp>
        <p:nvSpPr>
          <p:cNvPr id="6" name="Footer Placeholder 5">
            <a:extLst>
              <a:ext uri="{FF2B5EF4-FFF2-40B4-BE49-F238E27FC236}">
                <a16:creationId xmlns:a16="http://schemas.microsoft.com/office/drawing/2014/main" id="{9998DCFE-E8EA-4807-BCD4-B175C0E2A25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24BDD04-DF59-476B-A2E1-B91A947D91FE}"/>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1782135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8D7C8-9040-4BEA-BDE3-ABA1A1C27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8E7C11-8D21-434A-A6FD-3E8617092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D949-D4DE-4581-87B3-C03FD4FD11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6D51E2-1921-40F3-AC40-E142F785D206}"/>
              </a:ext>
            </a:extLst>
          </p:cNvPr>
          <p:cNvSpPr>
            <a:spLocks noGrp="1"/>
          </p:cNvSpPr>
          <p:nvPr>
            <p:ph type="dt" sz="half" idx="10"/>
          </p:nvPr>
        </p:nvSpPr>
        <p:spPr/>
        <p:txBody>
          <a:bodyPr/>
          <a:lstStyle/>
          <a:p>
            <a:fld id="{6E70D74D-1239-4392-A26B-B7E440CEC8CB}" type="datetime1">
              <a:rPr lang="en-AU" smtClean="0"/>
              <a:t>7/10/2024</a:t>
            </a:fld>
            <a:endParaRPr lang="en-AU"/>
          </a:p>
        </p:txBody>
      </p:sp>
      <p:sp>
        <p:nvSpPr>
          <p:cNvPr id="6" name="Footer Placeholder 5">
            <a:extLst>
              <a:ext uri="{FF2B5EF4-FFF2-40B4-BE49-F238E27FC236}">
                <a16:creationId xmlns:a16="http://schemas.microsoft.com/office/drawing/2014/main" id="{2D614FAF-0386-4409-8BFE-A413765B3E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31F7AEF-E743-4036-9326-1065E4811205}"/>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232800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7700-60C9-4E9C-9852-C7B6C38A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8E9C5B-FA98-43FE-90F2-7DDE18ED865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5FD572-AD9E-4D3B-8F7B-2BB536B5FD27}"/>
              </a:ext>
            </a:extLst>
          </p:cNvPr>
          <p:cNvSpPr>
            <a:spLocks noGrp="1"/>
          </p:cNvSpPr>
          <p:nvPr>
            <p:ph type="dt" sz="half" idx="10"/>
          </p:nvPr>
        </p:nvSpPr>
        <p:spPr/>
        <p:txBody>
          <a:bodyPr/>
          <a:lstStyle/>
          <a:p>
            <a:fld id="{2391578B-E5FA-490D-8208-9FBD9A867E75}" type="datetime1">
              <a:rPr lang="en-AU" smtClean="0"/>
              <a:t>7/10/2024</a:t>
            </a:fld>
            <a:endParaRPr lang="en-AU"/>
          </a:p>
        </p:txBody>
      </p:sp>
      <p:sp>
        <p:nvSpPr>
          <p:cNvPr id="5" name="Footer Placeholder 4">
            <a:extLst>
              <a:ext uri="{FF2B5EF4-FFF2-40B4-BE49-F238E27FC236}">
                <a16:creationId xmlns:a16="http://schemas.microsoft.com/office/drawing/2014/main" id="{7EA1E37F-1B21-4246-BA36-73956FFE9F7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FCEDB52-5DFE-4447-91E2-9787D84DBB86}"/>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2754401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283C-E2F0-4A6F-9AD9-82CA902DEF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BE5EE6-7D9F-42B2-94B0-02A3E84F5E0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C19CB-43F8-4CC0-903E-C23803089474}"/>
              </a:ext>
            </a:extLst>
          </p:cNvPr>
          <p:cNvSpPr>
            <a:spLocks noGrp="1"/>
          </p:cNvSpPr>
          <p:nvPr>
            <p:ph type="dt" sz="half" idx="10"/>
          </p:nvPr>
        </p:nvSpPr>
        <p:spPr/>
        <p:txBody>
          <a:bodyPr/>
          <a:lstStyle/>
          <a:p>
            <a:fld id="{24F54018-37EC-481E-B7F2-FDEEBA0F84AF}" type="datetime1">
              <a:rPr lang="en-AU" smtClean="0"/>
              <a:t>7/10/2024</a:t>
            </a:fld>
            <a:endParaRPr lang="en-AU"/>
          </a:p>
        </p:txBody>
      </p:sp>
      <p:sp>
        <p:nvSpPr>
          <p:cNvPr id="5" name="Footer Placeholder 4">
            <a:extLst>
              <a:ext uri="{FF2B5EF4-FFF2-40B4-BE49-F238E27FC236}">
                <a16:creationId xmlns:a16="http://schemas.microsoft.com/office/drawing/2014/main" id="{D9F45F0E-7361-4676-B432-1D05B70CFB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84F4EB-1112-445C-96AB-93D5D84332BF}"/>
              </a:ext>
            </a:extLst>
          </p:cNvPr>
          <p:cNvSpPr>
            <a:spLocks noGrp="1"/>
          </p:cNvSpPr>
          <p:nvPr>
            <p:ph type="sldNum" sz="quarter" idx="12"/>
          </p:nvPr>
        </p:nvSpPr>
        <p:spPr/>
        <p:txBody>
          <a:bodyPr/>
          <a:lstStyle/>
          <a:p>
            <a:fld id="{529F08E9-1735-422C-B5C5-130668B15985}" type="slidenum">
              <a:rPr lang="en-AU" smtClean="0"/>
              <a:t>‹#›</a:t>
            </a:fld>
            <a:endParaRPr lang="en-AU"/>
          </a:p>
        </p:txBody>
      </p:sp>
    </p:spTree>
    <p:extLst>
      <p:ext uri="{BB962C8B-B14F-4D97-AF65-F5344CB8AC3E}">
        <p14:creationId xmlns:p14="http://schemas.microsoft.com/office/powerpoint/2010/main" val="31924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72DA63-5604-4C8B-A185-3346EDDFF4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25E662-E32E-4BF0-B3BA-15B99830EC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018C86-7471-4189-957D-1CEA3FBEE7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143812-AA3E-4766-916C-F1E5A438B57F}" type="datetime1">
              <a:rPr lang="en-AU" smtClean="0"/>
              <a:t>7/10/2024</a:t>
            </a:fld>
            <a:endParaRPr lang="en-AU"/>
          </a:p>
        </p:txBody>
      </p:sp>
      <p:sp>
        <p:nvSpPr>
          <p:cNvPr id="5" name="Footer Placeholder 4">
            <a:extLst>
              <a:ext uri="{FF2B5EF4-FFF2-40B4-BE49-F238E27FC236}">
                <a16:creationId xmlns:a16="http://schemas.microsoft.com/office/drawing/2014/main" id="{09B3008F-2F27-46E4-A82E-92541B128E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676096A-7E11-4FA7-B795-CF89E7D09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9F08E9-1735-422C-B5C5-130668B15985}" type="slidenum">
              <a:rPr lang="en-AU" smtClean="0"/>
              <a:t>‹#›</a:t>
            </a:fld>
            <a:endParaRPr lang="en-AU"/>
          </a:p>
        </p:txBody>
      </p:sp>
    </p:spTree>
    <p:extLst>
      <p:ext uri="{BB962C8B-B14F-4D97-AF65-F5344CB8AC3E}">
        <p14:creationId xmlns:p14="http://schemas.microsoft.com/office/powerpoint/2010/main" val="12188343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5.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7" descr="A close up of text on a whiteboard&#10;&#10;Description automatically generated">
            <a:extLst>
              <a:ext uri="{FF2B5EF4-FFF2-40B4-BE49-F238E27FC236}">
                <a16:creationId xmlns:a16="http://schemas.microsoft.com/office/drawing/2014/main" id="{9CBF2271-6786-48D8-8625-48074A2F58E8}"/>
              </a:ext>
            </a:extLst>
          </p:cNvPr>
          <p:cNvPicPr>
            <a:picLocks noChangeAspect="1"/>
          </p:cNvPicPr>
          <p:nvPr/>
        </p:nvPicPr>
        <p:blipFill>
          <a:blip r:embed="rId2">
            <a:duotone>
              <a:prstClr val="black"/>
              <a:srgbClr val="D9C3A5">
                <a:tint val="50000"/>
                <a:satMod val="180000"/>
              </a:srgbClr>
            </a:duotone>
            <a:alphaModFix amt="35000"/>
            <a:extLst>
              <a:ext uri="{28A0092B-C50C-407E-A947-70E740481C1C}">
                <a14:useLocalDpi xmlns:a14="http://schemas.microsoft.com/office/drawing/2010/main" val="0"/>
              </a:ext>
            </a:extLst>
          </a:blip>
          <a:stretch>
            <a:fillRect/>
          </a:stretch>
        </p:blipFill>
        <p:spPr>
          <a:xfrm>
            <a:off x="0" y="0"/>
            <a:ext cx="12192000" cy="4591665"/>
          </a:xfrm>
          <a:prstGeom prst="rect">
            <a:avLst/>
          </a:prstGeom>
        </p:spPr>
      </p:pic>
      <p:sp>
        <p:nvSpPr>
          <p:cNvPr id="5" name="Title 1">
            <a:extLst>
              <a:ext uri="{FF2B5EF4-FFF2-40B4-BE49-F238E27FC236}">
                <a16:creationId xmlns:a16="http://schemas.microsoft.com/office/drawing/2014/main" id="{50029B91-E5FE-43A6-9535-58B2F4EBB5EE}"/>
              </a:ext>
            </a:extLst>
          </p:cNvPr>
          <p:cNvSpPr txBox="1">
            <a:spLocks/>
          </p:cNvSpPr>
          <p:nvPr/>
        </p:nvSpPr>
        <p:spPr>
          <a:xfrm>
            <a:off x="0" y="-2"/>
            <a:ext cx="12192000" cy="4591665"/>
          </a:xfrm>
          <a:prstGeom prst="rect">
            <a:avLst/>
          </a:prstGeom>
          <a:solidFill>
            <a:schemeClr val="accent4">
              <a:lumMod val="60000"/>
              <a:lumOff val="40000"/>
              <a:alpha val="40000"/>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AU" sz="4400" b="1" dirty="0">
              <a:solidFill>
                <a:schemeClr val="accent4">
                  <a:lumMod val="75000"/>
                </a:schemeClr>
              </a:solidFill>
            </a:endParaRPr>
          </a:p>
        </p:txBody>
      </p:sp>
      <p:sp>
        <p:nvSpPr>
          <p:cNvPr id="6" name="Subtitle 2"/>
          <p:cNvSpPr txBox="1">
            <a:spLocks/>
          </p:cNvSpPr>
          <p:nvPr/>
        </p:nvSpPr>
        <p:spPr>
          <a:xfrm>
            <a:off x="1292225" y="4850229"/>
            <a:ext cx="9607550" cy="1475746"/>
          </a:xfrm>
          <a:prstGeom prst="rect">
            <a:avLst/>
          </a:prstGeom>
          <a:ln>
            <a:noFill/>
          </a:ln>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latin typeface="+mj-lt"/>
              </a:rPr>
              <a:t>Week 10</a:t>
            </a:r>
          </a:p>
        </p:txBody>
      </p:sp>
      <p:sp>
        <p:nvSpPr>
          <p:cNvPr id="2" name="Title 1"/>
          <p:cNvSpPr>
            <a:spLocks noGrp="1"/>
          </p:cNvSpPr>
          <p:nvPr>
            <p:ph type="ctrTitle"/>
          </p:nvPr>
        </p:nvSpPr>
        <p:spPr>
          <a:xfrm>
            <a:off x="589935" y="2486361"/>
            <a:ext cx="11012129" cy="1518035"/>
          </a:xfrm>
        </p:spPr>
        <p:txBody>
          <a:bodyPr>
            <a:noAutofit/>
          </a:bodyPr>
          <a:lstStyle/>
          <a:p>
            <a:r>
              <a:rPr lang="en-AU" sz="5400" b="1" dirty="0">
                <a:solidFill>
                  <a:schemeClr val="accent4">
                    <a:lumMod val="75000"/>
                  </a:schemeClr>
                </a:solidFill>
                <a:effectLst>
                  <a:outerShdw blurRad="50800" dist="38100" dir="2700000" algn="tl" rotWithShape="0">
                    <a:prstClr val="black"/>
                  </a:outerShdw>
                </a:effectLst>
                <a:latin typeface="Times New Roman" panose="02020603050405020304" pitchFamily="18" charset="0"/>
                <a:cs typeface="Times New Roman" panose="02020603050405020304" pitchFamily="18" charset="0"/>
              </a:rPr>
              <a:t>Calculus and applications</a:t>
            </a:r>
          </a:p>
        </p:txBody>
      </p:sp>
      <p:sp>
        <p:nvSpPr>
          <p:cNvPr id="3" name="Subtitle 2"/>
          <p:cNvSpPr>
            <a:spLocks noGrp="1"/>
          </p:cNvSpPr>
          <p:nvPr>
            <p:ph type="subTitle" idx="1"/>
          </p:nvPr>
        </p:nvSpPr>
        <p:spPr>
          <a:xfrm>
            <a:off x="1524000" y="1923654"/>
            <a:ext cx="9144000" cy="562707"/>
          </a:xfrm>
        </p:spPr>
        <p:txBody>
          <a:bodyPr>
            <a:noAutofit/>
          </a:bodyPr>
          <a:lstStyle/>
          <a:p>
            <a:r>
              <a:rPr lang="en-AU" sz="3200" dirty="0">
                <a:latin typeface="+mj-lt"/>
              </a:rPr>
              <a:t>MTH10012</a:t>
            </a:r>
          </a:p>
        </p:txBody>
      </p:sp>
      <p:pic>
        <p:nvPicPr>
          <p:cNvPr id="7" name="Picture 6" descr="A close up of a logo&#10;&#10;Description automatically generated">
            <a:extLst>
              <a:ext uri="{FF2B5EF4-FFF2-40B4-BE49-F238E27FC236}">
                <a16:creationId xmlns:a16="http://schemas.microsoft.com/office/drawing/2014/main" id="{DCCAF879-A57E-4938-88B5-1CA526E0E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2439" y="701528"/>
            <a:ext cx="1927122" cy="963561"/>
          </a:xfrm>
          <a:prstGeom prst="rect">
            <a:avLst/>
          </a:prstGeom>
        </p:spPr>
      </p:pic>
    </p:spTree>
    <p:extLst>
      <p:ext uri="{BB962C8B-B14F-4D97-AF65-F5344CB8AC3E}">
        <p14:creationId xmlns:p14="http://schemas.microsoft.com/office/powerpoint/2010/main" val="3477091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1991443" cy="523220"/>
          </a:xfrm>
          <a:prstGeom prst="rect">
            <a:avLst/>
          </a:prstGeom>
          <a:noFill/>
        </p:spPr>
        <p:txBody>
          <a:bodyPr wrap="none" rtlCol="0">
            <a:spAutoFit/>
          </a:bodyPr>
          <a:lstStyle/>
          <a:p>
            <a:r>
              <a:rPr lang="en-AU" sz="2800" b="1" cap="small" dirty="0">
                <a:solidFill>
                  <a:schemeClr val="bg1"/>
                </a:solidFill>
                <a:latin typeface="+mj-lt"/>
              </a:rPr>
              <a:t>Introduction</a:t>
            </a:r>
            <a:endParaRPr lang="en-GB" sz="2800" b="1" cap="small" dirty="0">
              <a:solidFill>
                <a:schemeClr val="bg1"/>
              </a:solidFill>
              <a:latin typeface="+mj-lt"/>
            </a:endParaRPr>
          </a:p>
        </p:txBody>
      </p:sp>
      <p:sp>
        <p:nvSpPr>
          <p:cNvPr id="11" name="TextBox 10">
            <a:extLst>
              <a:ext uri="{FF2B5EF4-FFF2-40B4-BE49-F238E27FC236}">
                <a16:creationId xmlns:a16="http://schemas.microsoft.com/office/drawing/2014/main" id="{A61EC46B-21B4-4C87-946C-3EAD91A29AA1}"/>
              </a:ext>
            </a:extLst>
          </p:cNvPr>
          <p:cNvSpPr txBox="1"/>
          <p:nvPr/>
        </p:nvSpPr>
        <p:spPr>
          <a:xfrm>
            <a:off x="307593" y="1036182"/>
            <a:ext cx="88838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9</a:t>
            </a:r>
            <a:endParaRPr lang="en-GB" sz="2000" b="1" cap="small" dirty="0">
              <a:latin typeface="+mj-lt"/>
            </a:endParaRPr>
          </a:p>
        </p:txBody>
      </p:sp>
      <p:sp>
        <p:nvSpPr>
          <p:cNvPr id="13" name="TextBox 12">
            <a:extLst>
              <a:ext uri="{FF2B5EF4-FFF2-40B4-BE49-F238E27FC236}">
                <a16:creationId xmlns:a16="http://schemas.microsoft.com/office/drawing/2014/main" id="{EDAF658E-4D46-438A-89D3-59C69A018DE7}"/>
              </a:ext>
            </a:extLst>
          </p:cNvPr>
          <p:cNvSpPr txBox="1"/>
          <p:nvPr/>
        </p:nvSpPr>
        <p:spPr>
          <a:xfrm>
            <a:off x="307593" y="3130514"/>
            <a:ext cx="1016625" cy="400110"/>
          </a:xfrm>
          <a:prstGeom prst="rect">
            <a:avLst/>
          </a:prstGeom>
          <a:noFill/>
          <a:ln>
            <a:solidFill>
              <a:schemeClr val="accent2">
                <a:lumMod val="50000"/>
              </a:schemeClr>
            </a:solidFill>
          </a:ln>
        </p:spPr>
        <p:txBody>
          <a:bodyPr wrap="none" rtlCol="0">
            <a:spAutoFit/>
          </a:bodyPr>
          <a:lstStyle/>
          <a:p>
            <a:r>
              <a:rPr lang="en-AU" sz="2000" b="1" cap="small" dirty="0">
                <a:latin typeface="+mj-lt"/>
              </a:rPr>
              <a:t>Week 10</a:t>
            </a:r>
            <a:endParaRPr lang="en-GB" sz="2000" b="1" cap="small" dirty="0">
              <a:latin typeface="+mj-lt"/>
            </a:endParaRPr>
          </a:p>
        </p:txBody>
      </p:sp>
      <p:cxnSp>
        <p:nvCxnSpPr>
          <p:cNvPr id="3" name="Straight Connector 2">
            <a:extLst>
              <a:ext uri="{FF2B5EF4-FFF2-40B4-BE49-F238E27FC236}">
                <a16:creationId xmlns:a16="http://schemas.microsoft.com/office/drawing/2014/main" id="{CD60D396-44DB-4720-AA20-0FECBBC96907}"/>
              </a:ext>
            </a:extLst>
          </p:cNvPr>
          <p:cNvCxnSpPr>
            <a:stCxn id="13" idx="3"/>
          </p:cNvCxnSpPr>
          <p:nvPr/>
        </p:nvCxnSpPr>
        <p:spPr>
          <a:xfrm>
            <a:off x="1324218" y="3330569"/>
            <a:ext cx="10276111"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5D933F3-BDCD-41B7-8B70-5B047253E6FA}"/>
              </a:ext>
            </a:extLst>
          </p:cNvPr>
          <p:cNvCxnSpPr>
            <a:cxnSpLocks/>
          </p:cNvCxnSpPr>
          <p:nvPr/>
        </p:nvCxnSpPr>
        <p:spPr>
          <a:xfrm flipV="1">
            <a:off x="1195978" y="1211598"/>
            <a:ext cx="10404351" cy="23549"/>
          </a:xfrm>
          <a:prstGeom prst="line">
            <a:avLst/>
          </a:prstGeom>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C75F0327-FC2D-4943-8211-A27F72BBEB38}"/>
              </a:ext>
            </a:extLst>
          </p:cNvPr>
          <p:cNvSpPr txBox="1"/>
          <p:nvPr/>
        </p:nvSpPr>
        <p:spPr>
          <a:xfrm>
            <a:off x="215299" y="2325090"/>
            <a:ext cx="1072972" cy="338554"/>
          </a:xfrm>
          <a:prstGeom prst="rect">
            <a:avLst/>
          </a:prstGeom>
          <a:noFill/>
          <a:ln>
            <a:solidFill>
              <a:schemeClr val="accent2">
                <a:lumMod val="50000"/>
              </a:schemeClr>
            </a:solidFill>
          </a:ln>
        </p:spPr>
        <p:txBody>
          <a:bodyPr wrap="square" rtlCol="0">
            <a:spAutoFit/>
          </a:bodyPr>
          <a:lstStyle/>
          <a:p>
            <a:r>
              <a:rPr lang="en-AU" sz="1600" b="1" dirty="0">
                <a:latin typeface="+mj-lt"/>
              </a:rPr>
              <a:t>MODULE 6</a:t>
            </a:r>
            <a:endParaRPr lang="en-GB" sz="1600" b="1" dirty="0">
              <a:latin typeface="+mj-lt"/>
            </a:endParaRPr>
          </a:p>
        </p:txBody>
      </p:sp>
      <p:sp>
        <p:nvSpPr>
          <p:cNvPr id="18" name="TextBox 17">
            <a:extLst>
              <a:ext uri="{FF2B5EF4-FFF2-40B4-BE49-F238E27FC236}">
                <a16:creationId xmlns:a16="http://schemas.microsoft.com/office/drawing/2014/main" id="{83F34354-4086-4731-BD25-91F233A36B56}"/>
              </a:ext>
            </a:extLst>
          </p:cNvPr>
          <p:cNvSpPr txBox="1"/>
          <p:nvPr/>
        </p:nvSpPr>
        <p:spPr>
          <a:xfrm>
            <a:off x="1354226" y="1560563"/>
            <a:ext cx="10216093" cy="1569660"/>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Definite integration; areas between two curves and arc lengths</a:t>
            </a:r>
          </a:p>
          <a:p>
            <a:pPr marL="342900" indent="-342900">
              <a:buFont typeface="Arial" panose="020B0604020202020204" pitchFamily="34" charset="0"/>
              <a:buChar char="•"/>
            </a:pPr>
            <a:endParaRPr lang="en-AU" sz="2400" b="1" dirty="0">
              <a:latin typeface="+mj-lt"/>
            </a:endParaRPr>
          </a:p>
          <a:p>
            <a:pPr marL="342900" indent="-342900">
              <a:buFont typeface="Arial" panose="020B0604020202020204" pitchFamily="34" charset="0"/>
              <a:buChar char="•"/>
            </a:pPr>
            <a:r>
              <a:rPr lang="en-AU" sz="2400" b="1" dirty="0">
                <a:latin typeface="+mj-lt"/>
              </a:rPr>
              <a:t>Differential equations: definition, classification, solutions</a:t>
            </a:r>
          </a:p>
          <a:p>
            <a:pPr marL="342900" indent="-342900">
              <a:buFont typeface="Arial" panose="020B0604020202020204" pitchFamily="34" charset="0"/>
              <a:buChar char="•"/>
            </a:pPr>
            <a:r>
              <a:rPr lang="en-AU" sz="2400" b="1" dirty="0">
                <a:latin typeface="+mj-lt"/>
              </a:rPr>
              <a:t>Elementary and separable first order ODEs and initial value problems</a:t>
            </a:r>
          </a:p>
        </p:txBody>
      </p:sp>
      <p:sp>
        <p:nvSpPr>
          <p:cNvPr id="15" name="TextBox 14">
            <a:extLst>
              <a:ext uri="{FF2B5EF4-FFF2-40B4-BE49-F238E27FC236}">
                <a16:creationId xmlns:a16="http://schemas.microsoft.com/office/drawing/2014/main" id="{129E731F-9800-49E3-9304-B64154685349}"/>
              </a:ext>
            </a:extLst>
          </p:cNvPr>
          <p:cNvSpPr txBox="1"/>
          <p:nvPr/>
        </p:nvSpPr>
        <p:spPr>
          <a:xfrm>
            <a:off x="1324218" y="3740041"/>
            <a:ext cx="10216093" cy="1569660"/>
          </a:xfrm>
          <a:prstGeom prst="rect">
            <a:avLst/>
          </a:prstGeom>
          <a:noFill/>
        </p:spPr>
        <p:txBody>
          <a:bodyPr wrap="square" rtlCol="0">
            <a:spAutoFit/>
          </a:bodyPr>
          <a:lstStyle/>
          <a:p>
            <a:pPr marL="342900" indent="-342900">
              <a:buFont typeface="Arial" panose="020B0604020202020204" pitchFamily="34" charset="0"/>
              <a:buChar char="•"/>
            </a:pPr>
            <a:r>
              <a:rPr lang="en-AU" sz="2400" b="1" dirty="0">
                <a:latin typeface="+mj-lt"/>
              </a:rPr>
              <a:t>First order linear DE: integrating factors</a:t>
            </a:r>
          </a:p>
          <a:p>
            <a:pPr marL="342900" indent="-342900">
              <a:buFont typeface="Arial" panose="020B0604020202020204" pitchFamily="34" charset="0"/>
              <a:buChar char="•"/>
            </a:pPr>
            <a:r>
              <a:rPr lang="en-AU" sz="2400" b="1" dirty="0">
                <a:latin typeface="+mj-lt"/>
              </a:rPr>
              <a:t>Application of first order ODEs: population models and R-L series circuit</a:t>
            </a:r>
          </a:p>
          <a:p>
            <a:pPr marL="342900" indent="-342900">
              <a:buFont typeface="Arial" panose="020B0604020202020204" pitchFamily="34" charset="0"/>
              <a:buChar char="•"/>
            </a:pPr>
            <a:r>
              <a:rPr lang="en-AU" sz="2400" b="1" dirty="0">
                <a:latin typeface="+mj-lt"/>
              </a:rPr>
              <a:t>Second order ODEs with constant coefficients</a:t>
            </a:r>
          </a:p>
          <a:p>
            <a:pPr marL="342900" indent="-342900">
              <a:buFont typeface="Arial" panose="020B0604020202020204" pitchFamily="34" charset="0"/>
              <a:buChar char="•"/>
            </a:pPr>
            <a:r>
              <a:rPr lang="en-AU" sz="2400" b="1" dirty="0">
                <a:latin typeface="+mj-lt"/>
              </a:rPr>
              <a:t>General solution for the homogeneous and inhomogeneous cases</a:t>
            </a:r>
          </a:p>
        </p:txBody>
      </p:sp>
      <p:sp>
        <p:nvSpPr>
          <p:cNvPr id="2" name="Arrow: Bent-Up 1">
            <a:extLst>
              <a:ext uri="{FF2B5EF4-FFF2-40B4-BE49-F238E27FC236}">
                <a16:creationId xmlns:a16="http://schemas.microsoft.com/office/drawing/2014/main" id="{C6ABE4AA-4A83-4608-9F37-9078BEE8BADF}"/>
              </a:ext>
            </a:extLst>
          </p:cNvPr>
          <p:cNvSpPr/>
          <p:nvPr/>
        </p:nvSpPr>
        <p:spPr>
          <a:xfrm>
            <a:off x="277583" y="1580930"/>
            <a:ext cx="11292736" cy="545926"/>
          </a:xfrm>
          <a:prstGeom prst="bentUpArrow">
            <a:avLst>
              <a:gd name="adj1" fmla="val 3944"/>
              <a:gd name="adj2" fmla="val 12003"/>
              <a:gd name="adj3" fmla="val 2153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AC6C0CE2-BE7F-4AA3-A7B3-3CFAA9F19438}"/>
              </a:ext>
            </a:extLst>
          </p:cNvPr>
          <p:cNvSpPr txBox="1"/>
          <p:nvPr/>
        </p:nvSpPr>
        <p:spPr>
          <a:xfrm>
            <a:off x="11091241" y="1249793"/>
            <a:ext cx="793166" cy="369332"/>
          </a:xfrm>
          <a:prstGeom prst="rect">
            <a:avLst/>
          </a:prstGeom>
          <a:noFill/>
        </p:spPr>
        <p:txBody>
          <a:bodyPr wrap="none" rtlCol="0">
            <a:spAutoFit/>
          </a:bodyPr>
          <a:lstStyle/>
          <a:p>
            <a:r>
              <a:rPr lang="en-AU" dirty="0">
                <a:solidFill>
                  <a:srgbClr val="FF0000"/>
                </a:solidFill>
              </a:rPr>
              <a:t>TEST 2</a:t>
            </a:r>
            <a:endParaRPr lang="en-GB" dirty="0">
              <a:solidFill>
                <a:srgbClr val="FF0000"/>
              </a:solidFill>
            </a:endParaRPr>
          </a:p>
        </p:txBody>
      </p:sp>
    </p:spTree>
    <p:extLst>
      <p:ext uri="{BB962C8B-B14F-4D97-AF65-F5344CB8AC3E}">
        <p14:creationId xmlns:p14="http://schemas.microsoft.com/office/powerpoint/2010/main" val="3570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2" grpId="0" animBg="1"/>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386685" cy="523220"/>
          </a:xfrm>
          <a:prstGeom prst="rect">
            <a:avLst/>
          </a:prstGeom>
          <a:noFill/>
        </p:spPr>
        <p:txBody>
          <a:bodyPr wrap="none" rtlCol="0">
            <a:spAutoFit/>
          </a:bodyPr>
          <a:lstStyle/>
          <a:p>
            <a:r>
              <a:rPr lang="en-AU" sz="2800" b="1" cap="small" dirty="0">
                <a:solidFill>
                  <a:schemeClr val="bg1"/>
                </a:solidFill>
                <a:latin typeface="+mj-lt"/>
              </a:rPr>
              <a:t>6.3 First order linear DE: integrating factors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4550798"/>
              </a:xfrm>
              <a:prstGeom prst="rect">
                <a:avLst/>
              </a:prstGeom>
              <a:noFill/>
            </p:spPr>
            <p:txBody>
              <a:bodyPr wrap="square" rtlCol="0">
                <a:spAutoFit/>
              </a:bodyPr>
              <a:lstStyle/>
              <a:p>
                <a:r>
                  <a:rPr lang="en-GB" sz="2400" dirty="0">
                    <a:latin typeface="+mj-lt"/>
                  </a:rPr>
                  <a:t>Definition (Generic, linear first order ODE). </a:t>
                </a:r>
                <a:r>
                  <a:rPr lang="en-AU" sz="2400" dirty="0">
                    <a:latin typeface="+mj-lt"/>
                  </a:rPr>
                  <a:t>A generic, linear first order differential equation has the following form</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GB" sz="2400" dirty="0">
                  <a:latin typeface="+mj-lt"/>
                </a:endParaRPr>
              </a:p>
              <a:p>
                <a:endParaRPr lang="en-GB" sz="2400" dirty="0">
                  <a:latin typeface="+mj-lt"/>
                </a:endParaRPr>
              </a:p>
              <a:p>
                <a:r>
                  <a:rPr lang="en-GB" sz="2400" dirty="0">
                    <a:latin typeface="+mj-lt"/>
                  </a:rPr>
                  <a:t>where the functions </a:t>
                </a:r>
                <a14:m>
                  <m:oMath xmlns:m="http://schemas.openxmlformats.org/officeDocument/2006/math">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are functions solely of the variable </a:t>
                </a:r>
                <a14:m>
                  <m:oMath xmlns:m="http://schemas.openxmlformats.org/officeDocument/2006/math">
                    <m:r>
                      <a:rPr lang="en-AU" sz="2400" b="0" i="1" smtClean="0">
                        <a:latin typeface="Cambria Math" panose="02040503050406030204" pitchFamily="18" charset="0"/>
                      </a:rPr>
                      <m:t>𝑥</m:t>
                    </m:r>
                  </m:oMath>
                </a14:m>
                <a:r>
                  <a:rPr lang="en-GB" sz="2400" dirty="0">
                    <a:latin typeface="+mj-lt"/>
                  </a:rPr>
                  <a:t>.</a:t>
                </a:r>
              </a:p>
              <a:p>
                <a:r>
                  <a:rPr lang="en-GB" sz="2400" dirty="0">
                    <a:latin typeface="+mj-lt"/>
                  </a:rPr>
                  <a:t>Examples:</a:t>
                </a:r>
              </a:p>
              <a:p>
                <a:pPr>
                  <a:spcAft>
                    <a:spcPts val="1200"/>
                  </a:spcAft>
                </a:pPr>
                <a:r>
                  <a:rPr lang="en-AU" sz="2400" dirty="0">
                    <a:latin typeface="+mj-lt"/>
                  </a:rPr>
                  <a:t>1. </a:t>
                </a:r>
                <a14:m>
                  <m:oMath xmlns:m="http://schemas.openxmlformats.org/officeDocument/2006/math">
                    <m:f>
                      <m:fPr>
                        <m:ctrlPr>
                          <a:rPr lang="en-AU" sz="2400" i="1">
                            <a:latin typeface="Cambria Math" panose="02040503050406030204" pitchFamily="18" charset="0"/>
                          </a:rPr>
                        </m:ctrlPr>
                      </m:fPr>
                      <m:num>
                        <m:r>
                          <a:rPr lang="en-AU" sz="2400">
                            <a:latin typeface="Cambria Math" panose="02040503050406030204" pitchFamily="18" charset="0"/>
                          </a:rPr>
                          <m:t>𝑑𝑦</m:t>
                        </m:r>
                      </m:num>
                      <m:den>
                        <m:r>
                          <a:rPr lang="en-AU" sz="2400">
                            <a:latin typeface="Cambria Math" panose="02040503050406030204" pitchFamily="18" charset="0"/>
                          </a:rPr>
                          <m:t>𝑑𝑥</m:t>
                        </m:r>
                      </m:den>
                    </m:f>
                    <m:r>
                      <a:rPr lang="en-AU" sz="2400">
                        <a:latin typeface="Cambria Math" panose="02040503050406030204" pitchFamily="18" charset="0"/>
                      </a:rPr>
                      <m:t>+2</m:t>
                    </m:r>
                    <m:func>
                      <m:funcPr>
                        <m:ctrlPr>
                          <a:rPr lang="en-AU" sz="2400" i="1">
                            <a:latin typeface="Cambria Math" panose="02040503050406030204" pitchFamily="18" charset="0"/>
                          </a:rPr>
                        </m:ctrlPr>
                      </m:funcPr>
                      <m:fName>
                        <m:r>
                          <m:rPr>
                            <m:sty m:val="p"/>
                          </m:rPr>
                          <a:rPr lang="en-AU" sz="2400">
                            <a:latin typeface="Cambria Math" panose="02040503050406030204" pitchFamily="18" charset="0"/>
                          </a:rPr>
                          <m:t>cos</m:t>
                        </m:r>
                      </m:fName>
                      <m:e>
                        <m:d>
                          <m:dPr>
                            <m:ctrlPr>
                              <a:rPr lang="en-AU" sz="2400" i="1">
                                <a:latin typeface="Cambria Math" panose="02040503050406030204" pitchFamily="18" charset="0"/>
                              </a:rPr>
                            </m:ctrlPr>
                          </m:dPr>
                          <m:e>
                            <m:r>
                              <a:rPr lang="en-AU" sz="2400">
                                <a:latin typeface="Cambria Math" panose="02040503050406030204" pitchFamily="18" charset="0"/>
                              </a:rPr>
                              <m:t>5</m:t>
                            </m:r>
                            <m:r>
                              <a:rPr lang="en-AU" sz="2400">
                                <a:latin typeface="Cambria Math" panose="02040503050406030204" pitchFamily="18" charset="0"/>
                              </a:rPr>
                              <m:t>𝑥</m:t>
                            </m:r>
                          </m:e>
                        </m:d>
                      </m:e>
                    </m:func>
                    <m:r>
                      <a:rPr lang="en-AU" sz="2400">
                        <a:latin typeface="Cambria Math" panose="02040503050406030204" pitchFamily="18" charset="0"/>
                      </a:rPr>
                      <m:t>𝑦</m:t>
                    </m:r>
                    <m:r>
                      <a:rPr lang="en-AU" sz="2400">
                        <a:latin typeface="Cambria Math" panose="02040503050406030204" pitchFamily="18" charset="0"/>
                      </a:rPr>
                      <m:t>=3</m:t>
                    </m:r>
                    <m:sSup>
                      <m:sSupPr>
                        <m:ctrlPr>
                          <a:rPr lang="en-AU" sz="2400" i="1">
                            <a:latin typeface="Cambria Math" panose="02040503050406030204" pitchFamily="18" charset="0"/>
                          </a:rPr>
                        </m:ctrlPr>
                      </m:sSupPr>
                      <m:e>
                        <m:r>
                          <a:rPr lang="en-AU" sz="2400">
                            <a:latin typeface="Cambria Math" panose="02040503050406030204" pitchFamily="18" charset="0"/>
                          </a:rPr>
                          <m:t>𝑥</m:t>
                        </m:r>
                      </m:e>
                      <m:sup>
                        <m:r>
                          <a:rPr lang="en-AU" sz="2400">
                            <a:latin typeface="Cambria Math" panose="02040503050406030204" pitchFamily="18" charset="0"/>
                          </a:rPr>
                          <m:t>2</m:t>
                        </m:r>
                      </m:sup>
                    </m:sSup>
                  </m:oMath>
                </a14:m>
                <a:endParaRPr lang="en-GB" sz="2400" dirty="0">
                  <a:latin typeface="+mj-lt"/>
                </a:endParaRPr>
              </a:p>
              <a:p>
                <a:pPr>
                  <a:spcAft>
                    <a:spcPts val="1200"/>
                  </a:spcAft>
                </a:pPr>
                <a:r>
                  <a:rPr lang="en-GB" sz="2400" dirty="0">
                    <a:latin typeface="+mj-lt"/>
                  </a:rPr>
                  <a:t>2. </a:t>
                </a:r>
                <a14:m>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4</m:t>
                        </m:r>
                      </m:sup>
                    </m:sSup>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𝑥</m:t>
                            </m:r>
                          </m:sup>
                        </m:sSup>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tan</m:t>
                            </m:r>
                          </m:fName>
                          <m:e>
                            <m:r>
                              <a:rPr lang="en-AU" sz="2400" b="0" i="1" smtClean="0">
                                <a:latin typeface="Cambria Math" panose="02040503050406030204" pitchFamily="18" charset="0"/>
                              </a:rPr>
                              <m:t>𝑥</m:t>
                            </m:r>
                          </m:e>
                        </m:func>
                      </m:e>
                    </m:d>
                    <m:r>
                      <a:rPr lang="en-AU" sz="2400" b="0" i="1" smtClean="0">
                        <a:latin typeface="Cambria Math" panose="02040503050406030204" pitchFamily="18" charset="0"/>
                      </a:rPr>
                      <m:t>𝑦</m:t>
                    </m:r>
                    <m:r>
                      <a:rPr lang="en-AU" sz="2400" b="0" i="1" smtClean="0">
                        <a:latin typeface="Cambria Math" panose="02040503050406030204" pitchFamily="18" charset="0"/>
                      </a:rPr>
                      <m:t>=0</m:t>
                    </m:r>
                  </m:oMath>
                </a14:m>
                <a:endParaRPr lang="en-AU" sz="2400" b="0" dirty="0">
                  <a:latin typeface="+mj-lt"/>
                </a:endParaRPr>
              </a:p>
              <a:p>
                <a:pPr>
                  <a:spcAft>
                    <a:spcPts val="1200"/>
                  </a:spcAft>
                </a:pPr>
                <a:r>
                  <a:rPr lang="en-GB" sz="2400" dirty="0">
                    <a:latin typeface="+mj-lt"/>
                  </a:rPr>
                  <a:t>3. </a:t>
                </a:r>
                <a14:m>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5</m:t>
                        </m:r>
                      </m:num>
                      <m:den>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rPr>
                                  <a:rPr lang="en-AU" sz="2400">
                                    <a:latin typeface="Cambria Math" panose="02040503050406030204" pitchFamily="18" charset="0"/>
                                  </a:rPr>
                                  <m:t>sin</m:t>
                                </m:r>
                              </m:e>
                              <m:sup>
                                <m:r>
                                  <a:rPr lang="en-AU" sz="2400" b="0" i="1" smtClean="0">
                                    <a:latin typeface="Cambria Math" panose="02040503050406030204" pitchFamily="18" charset="0"/>
                                  </a:rPr>
                                  <m:t>2</m:t>
                                </m:r>
                              </m:sup>
                            </m:sSup>
                          </m:fName>
                          <m:e>
                            <m:r>
                              <a:rPr lang="en-AU" sz="2400" b="0" i="1" smtClean="0">
                                <a:latin typeface="Cambria Math" panose="02040503050406030204" pitchFamily="18" charset="0"/>
                              </a:rPr>
                              <m:t>𝑥</m:t>
                            </m:r>
                          </m:e>
                        </m:func>
                      </m:den>
                    </m:f>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−3</m:t>
                    </m:r>
                    <m:r>
                      <a:rPr lang="en-AU" sz="2400" b="0" i="1" smtClean="0">
                        <a:latin typeface="Cambria Math" panose="02040503050406030204" pitchFamily="18" charset="0"/>
                      </a:rPr>
                      <m:t>𝑦</m:t>
                    </m:r>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tan</m:t>
                        </m:r>
                      </m:fName>
                      <m:e>
                        <m:r>
                          <a:rPr lang="en-AU" sz="2400" b="0" i="1" smtClean="0">
                            <a:latin typeface="Cambria Math" panose="02040503050406030204" pitchFamily="18" charset="0"/>
                          </a:rPr>
                          <m:t>𝑥</m:t>
                        </m:r>
                      </m:e>
                    </m:func>
                  </m:oMath>
                </a14:m>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86870" y="1079583"/>
                <a:ext cx="11672047" cy="4550798"/>
              </a:xfrm>
              <a:prstGeom prst="rect">
                <a:avLst/>
              </a:prstGeom>
              <a:blipFill>
                <a:blip r:embed="rId2"/>
                <a:stretch>
                  <a:fillRect l="-783" t="-1071" b="-402"/>
                </a:stretch>
              </a:blipFill>
            </p:spPr>
            <p:txBody>
              <a:bodyPr/>
              <a:lstStyle/>
              <a:p>
                <a:r>
                  <a:rPr lang="en-GB">
                    <a:noFill/>
                  </a:rPr>
                  <a:t> </a:t>
                </a:r>
              </a:p>
            </p:txBody>
          </p:sp>
        </mc:Fallback>
      </mc:AlternateContent>
    </p:spTree>
    <p:extLst>
      <p:ext uri="{BB962C8B-B14F-4D97-AF65-F5344CB8AC3E}">
        <p14:creationId xmlns:p14="http://schemas.microsoft.com/office/powerpoint/2010/main" val="4179141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386685" cy="523220"/>
          </a:xfrm>
          <a:prstGeom prst="rect">
            <a:avLst/>
          </a:prstGeom>
          <a:noFill/>
        </p:spPr>
        <p:txBody>
          <a:bodyPr wrap="none" rtlCol="0">
            <a:spAutoFit/>
          </a:bodyPr>
          <a:lstStyle/>
          <a:p>
            <a:r>
              <a:rPr lang="en-AU" sz="2800" b="1" cap="small" dirty="0">
                <a:solidFill>
                  <a:schemeClr val="bg1"/>
                </a:solidFill>
                <a:latin typeface="+mj-lt"/>
              </a:rPr>
              <a:t>6.3 First order linear DE: integrating factors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4775346"/>
              </a:xfrm>
              <a:prstGeom prst="rect">
                <a:avLst/>
              </a:prstGeom>
              <a:noFill/>
            </p:spPr>
            <p:txBody>
              <a:bodyPr wrap="square" rtlCol="0">
                <a:spAutoFit/>
              </a:bodyPr>
              <a:lstStyle/>
              <a:p>
                <a:r>
                  <a:rPr lang="en-GB" sz="2400" dirty="0">
                    <a:latin typeface="+mj-lt"/>
                  </a:rPr>
                  <a:t>Theorem (Integrating factor method). Given a</a:t>
                </a:r>
                <a:r>
                  <a:rPr lang="en-AU" sz="2400" dirty="0">
                    <a:latin typeface="+mj-lt"/>
                  </a:rPr>
                  <a:t> generic, linear first order ODE</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GB" sz="2400" dirty="0">
                  <a:latin typeface="+mj-lt"/>
                </a:endParaRPr>
              </a:p>
              <a:p>
                <a:endParaRPr lang="en-GB" sz="2400" dirty="0">
                  <a:latin typeface="+mj-lt"/>
                </a:endParaRPr>
              </a:p>
              <a:p>
                <a:r>
                  <a:rPr lang="en-GB" sz="2400" dirty="0">
                    <a:latin typeface="+mj-lt"/>
                  </a:rPr>
                  <a:t>a solution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GB" sz="2400" dirty="0">
                    <a:latin typeface="+mj-lt"/>
                  </a:rPr>
                  <a:t> is given by</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ea typeface="Cambria Math" panose="02040503050406030204" pitchFamily="18" charset="0"/>
                            </a:rPr>
                            <m:t>ℐ</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den>
                      </m:f>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r>
                            <a:rPr lang="en-AU" sz="2400" b="0" i="1" smtClean="0">
                              <a:latin typeface="Cambria Math" panose="02040503050406030204" pitchFamily="18" charset="0"/>
                              <a:ea typeface="Cambria Math" panose="02040503050406030204" pitchFamily="18" charset="0"/>
                            </a:rPr>
                            <m:t>𝒬</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ℐ</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𝑑𝑥</m:t>
                          </m:r>
                        </m:e>
                      </m:nary>
                    </m:oMath>
                  </m:oMathPara>
                </a14:m>
                <a:endParaRPr lang="en-GB" sz="2400" dirty="0">
                  <a:latin typeface="+mj-lt"/>
                </a:endParaRPr>
              </a:p>
              <a:p>
                <a:endParaRPr lang="en-GB" sz="2400" dirty="0">
                  <a:latin typeface="+mj-lt"/>
                </a:endParaRPr>
              </a:p>
              <a:p>
                <a:r>
                  <a:rPr lang="en-GB" sz="2400" dirty="0">
                    <a:latin typeface="+mj-lt"/>
                  </a:rPr>
                  <a:t>where </a:t>
                </a:r>
                <a14:m>
                  <m:oMath xmlns:m="http://schemas.openxmlformats.org/officeDocument/2006/math">
                    <m:r>
                      <a:rPr lang="en-GB" sz="2400" i="1" smtClean="0">
                        <a:latin typeface="Cambria Math" panose="02040503050406030204" pitchFamily="18" charset="0"/>
                        <a:ea typeface="Cambria Math" panose="02040503050406030204" pitchFamily="18" charset="0"/>
                      </a:rPr>
                      <m:t>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GB" sz="2400" dirty="0">
                    <a:latin typeface="+mj-lt"/>
                  </a:rPr>
                  <a:t> is called the integrating factor. This factor is given by</a:t>
                </a:r>
              </a:p>
              <a:p>
                <a:endParaRPr lang="en-GB" sz="2400" dirty="0">
                  <a:latin typeface="+mj-lt"/>
                </a:endParaRPr>
              </a:p>
              <a:p>
                <a:pP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ea typeface="Cambria Math" panose="02040503050406030204" pitchFamily="18" charset="0"/>
                        </a:rPr>
                        <m:t>ℐ</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𝑑𝑥</m:t>
                              </m:r>
                            </m:e>
                          </m:nary>
                        </m:sup>
                      </m:sSup>
                    </m:oMath>
                  </m:oMathPara>
                </a14:m>
                <a:endParaRPr lang="en-GB" sz="2400" dirty="0">
                  <a:latin typeface="+mj-lt"/>
                </a:endParaRPr>
              </a:p>
              <a:p>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86870" y="1079583"/>
                <a:ext cx="11672047" cy="4775346"/>
              </a:xfrm>
              <a:prstGeom prst="rect">
                <a:avLst/>
              </a:prstGeom>
              <a:blipFill>
                <a:blip r:embed="rId2"/>
                <a:stretch>
                  <a:fillRect l="-783" t="-1022"/>
                </a:stretch>
              </a:blipFill>
            </p:spPr>
            <p:txBody>
              <a:bodyPr/>
              <a:lstStyle/>
              <a:p>
                <a:r>
                  <a:rPr lang="en-GB">
                    <a:noFill/>
                  </a:rPr>
                  <a:t> </a:t>
                </a:r>
              </a:p>
            </p:txBody>
          </p:sp>
        </mc:Fallback>
      </mc:AlternateContent>
    </p:spTree>
    <p:extLst>
      <p:ext uri="{BB962C8B-B14F-4D97-AF65-F5344CB8AC3E}">
        <p14:creationId xmlns:p14="http://schemas.microsoft.com/office/powerpoint/2010/main" val="2156229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386685" cy="523220"/>
          </a:xfrm>
          <a:prstGeom prst="rect">
            <a:avLst/>
          </a:prstGeom>
          <a:noFill/>
        </p:spPr>
        <p:txBody>
          <a:bodyPr wrap="none" rtlCol="0">
            <a:spAutoFit/>
          </a:bodyPr>
          <a:lstStyle/>
          <a:p>
            <a:r>
              <a:rPr lang="en-AU" sz="2800" b="1" cap="small" dirty="0">
                <a:solidFill>
                  <a:schemeClr val="bg1"/>
                </a:solidFill>
                <a:latin typeface="+mj-lt"/>
              </a:rPr>
              <a:t>6.3 First order linear DE: integrating factors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18645" y="933106"/>
                <a:ext cx="4120273" cy="7936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    </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𝒬</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18645" y="933106"/>
                <a:ext cx="4120273" cy="793615"/>
              </a:xfrm>
              <a:prstGeom prst="rect">
                <a:avLst/>
              </a:prstGeom>
              <a:blipFill>
                <a:blip r:embed="rId2"/>
                <a:stretch>
                  <a:fillRect/>
                </a:stretch>
              </a:blipFill>
            </p:spPr>
            <p:txBody>
              <a:bodyPr/>
              <a:lstStyle/>
              <a:p>
                <a:r>
                  <a:rPr lang="en-GB">
                    <a:noFill/>
                  </a:rPr>
                  <a:t> </a:t>
                </a:r>
              </a:p>
            </p:txBody>
          </p:sp>
        </mc:Fallback>
      </mc:AlternateContent>
      <p:sp>
        <p:nvSpPr>
          <p:cNvPr id="3" name="TextBox 2">
            <a:extLst>
              <a:ext uri="{FF2B5EF4-FFF2-40B4-BE49-F238E27FC236}">
                <a16:creationId xmlns:a16="http://schemas.microsoft.com/office/drawing/2014/main" id="{D0B1CC10-4183-4897-B3E2-7AF11E4AE3B7}"/>
              </a:ext>
            </a:extLst>
          </p:cNvPr>
          <p:cNvSpPr txBox="1"/>
          <p:nvPr/>
        </p:nvSpPr>
        <p:spPr>
          <a:xfrm>
            <a:off x="4922153" y="1213932"/>
            <a:ext cx="2930931" cy="338554"/>
          </a:xfrm>
          <a:prstGeom prst="rect">
            <a:avLst/>
          </a:prstGeom>
          <a:noFill/>
        </p:spPr>
        <p:txBody>
          <a:bodyPr wrap="none" rtlCol="0">
            <a:spAutoFit/>
          </a:bodyPr>
          <a:lstStyle/>
          <a:p>
            <a:r>
              <a:rPr lang="en-AU" sz="1600" dirty="0">
                <a:latin typeface="+mj-lt"/>
              </a:rPr>
              <a:t>Multiply by the integrating factor</a:t>
            </a:r>
            <a:endParaRPr lang="en-GB" sz="1600" dirty="0">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1B15C0C-96E7-492E-B4B0-CB06B20C9098}"/>
                  </a:ext>
                </a:extLst>
              </p:cNvPr>
              <p:cNvSpPr txBox="1"/>
              <p:nvPr/>
            </p:nvSpPr>
            <p:spPr>
              <a:xfrm>
                <a:off x="4948518" y="1868775"/>
                <a:ext cx="2930932" cy="830997"/>
              </a:xfrm>
              <a:prstGeom prst="rect">
                <a:avLst/>
              </a:prstGeom>
              <a:noFill/>
            </p:spPr>
            <p:txBody>
              <a:bodyPr wrap="square" rtlCol="0">
                <a:spAutoFit/>
              </a:bodyPr>
              <a:lstStyle/>
              <a:p>
                <a:r>
                  <a:rPr lang="en-AU" sz="1600" dirty="0">
                    <a:latin typeface="+mj-lt"/>
                  </a:rPr>
                  <a:t>Choose </a:t>
                </a:r>
                <a14:m>
                  <m:oMath xmlns:m="http://schemas.openxmlformats.org/officeDocument/2006/math">
                    <m:r>
                      <a:rPr lang="en-AU" sz="1600" i="1" smtClean="0">
                        <a:latin typeface="Cambria Math" panose="02040503050406030204" pitchFamily="18" charset="0"/>
                        <a:ea typeface="Cambria Math" panose="02040503050406030204" pitchFamily="18" charset="0"/>
                      </a:rPr>
                      <m:t>ℐ</m:t>
                    </m:r>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ea typeface="Cambria Math" panose="02040503050406030204" pitchFamily="18" charset="0"/>
                      </a:rPr>
                      <m:t>𝑥</m:t>
                    </m:r>
                    <m:r>
                      <a:rPr lang="en-AU" sz="1600" b="0" i="1" smtClean="0">
                        <a:latin typeface="Cambria Math" panose="02040503050406030204" pitchFamily="18" charset="0"/>
                        <a:ea typeface="Cambria Math" panose="02040503050406030204" pitchFamily="18" charset="0"/>
                      </a:rPr>
                      <m:t>)</m:t>
                    </m:r>
                  </m:oMath>
                </a14:m>
                <a:r>
                  <a:rPr lang="en-GB" sz="1600" dirty="0">
                    <a:latin typeface="+mj-lt"/>
                  </a:rPr>
                  <a:t> such that the LHS can be reduced to the derivative of </a:t>
                </a:r>
                <a14:m>
                  <m:oMath xmlns:m="http://schemas.openxmlformats.org/officeDocument/2006/math">
                    <m:r>
                      <a:rPr lang="en-AU" sz="1600" b="0" i="1" smtClean="0">
                        <a:latin typeface="Cambria Math" panose="02040503050406030204" pitchFamily="18" charset="0"/>
                      </a:rPr>
                      <m:t>𝑦</m:t>
                    </m:r>
                    <m:r>
                      <a:rPr lang="en-AU" sz="1600" b="0" i="1" smtClean="0">
                        <a:latin typeface="Cambria Math" panose="02040503050406030204" pitchFamily="18" charset="0"/>
                      </a:rPr>
                      <m:t> </m:t>
                    </m:r>
                    <m:r>
                      <a:rPr lang="en-AU" sz="1600" b="0" i="1" smtClean="0">
                        <a:latin typeface="Cambria Math" panose="02040503050406030204" pitchFamily="18" charset="0"/>
                        <a:ea typeface="Cambria Math" panose="02040503050406030204" pitchFamily="18" charset="0"/>
                      </a:rPr>
                      <m:t>ℐ</m:t>
                    </m:r>
                    <m:r>
                      <a:rPr lang="en-AU" sz="1600" b="0" i="1" smtClean="0">
                        <a:latin typeface="Cambria Math" panose="02040503050406030204" pitchFamily="18" charset="0"/>
                        <a:ea typeface="Cambria Math" panose="02040503050406030204" pitchFamily="18" charset="0"/>
                      </a:rPr>
                      <m:t>(</m:t>
                    </m:r>
                    <m:r>
                      <a:rPr lang="en-AU" sz="1600" b="0" i="1" smtClean="0">
                        <a:latin typeface="Cambria Math" panose="02040503050406030204" pitchFamily="18" charset="0"/>
                        <a:ea typeface="Cambria Math" panose="02040503050406030204" pitchFamily="18" charset="0"/>
                      </a:rPr>
                      <m:t>𝑥</m:t>
                    </m:r>
                    <m:r>
                      <a:rPr lang="en-AU" sz="1600" b="0" i="1" smtClean="0">
                        <a:latin typeface="Cambria Math" panose="02040503050406030204" pitchFamily="18" charset="0"/>
                        <a:ea typeface="Cambria Math" panose="02040503050406030204" pitchFamily="18" charset="0"/>
                      </a:rPr>
                      <m:t>)</m:t>
                    </m:r>
                  </m:oMath>
                </a14:m>
                <a:endParaRPr lang="en-GB" sz="1600" dirty="0">
                  <a:latin typeface="+mj-lt"/>
                </a:endParaRPr>
              </a:p>
            </p:txBody>
          </p:sp>
        </mc:Choice>
        <mc:Fallback xmlns="">
          <p:sp>
            <p:nvSpPr>
              <p:cNvPr id="10" name="TextBox 9">
                <a:extLst>
                  <a:ext uri="{FF2B5EF4-FFF2-40B4-BE49-F238E27FC236}">
                    <a16:creationId xmlns:a16="http://schemas.microsoft.com/office/drawing/2014/main" id="{F1B15C0C-96E7-492E-B4B0-CB06B20C9098}"/>
                  </a:ext>
                </a:extLst>
              </p:cNvPr>
              <p:cNvSpPr txBox="1">
                <a:spLocks noRot="1" noChangeAspect="1" noMove="1" noResize="1" noEditPoints="1" noAdjustHandles="1" noChangeArrowheads="1" noChangeShapeType="1" noTextEdit="1"/>
              </p:cNvSpPr>
              <p:nvPr/>
            </p:nvSpPr>
            <p:spPr>
              <a:xfrm>
                <a:off x="4948518" y="1868775"/>
                <a:ext cx="2930932" cy="830997"/>
              </a:xfrm>
              <a:prstGeom prst="rect">
                <a:avLst/>
              </a:prstGeom>
              <a:blipFill>
                <a:blip r:embed="rId3"/>
                <a:stretch>
                  <a:fillRect l="-1247" t="-2206" b="-882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6EFAD8-E6B0-4F0F-8AF3-70FD2D7C9A5C}"/>
                  </a:ext>
                </a:extLst>
              </p:cNvPr>
              <p:cNvSpPr txBox="1"/>
              <p:nvPr/>
            </p:nvSpPr>
            <p:spPr>
              <a:xfrm>
                <a:off x="7679260" y="912216"/>
                <a:ext cx="4401671" cy="7936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𝑥𝑦</m:t>
                      </m:r>
                      <m:r>
                        <a:rPr lang="en-AU" sz="2400" b="0" i="1" smtClean="0">
                          <a:latin typeface="Cambria Math" panose="02040503050406030204" pitchFamily="18" charset="0"/>
                          <a:ea typeface="Cambria Math" panose="02040503050406030204" pitchFamily="18" charset="0"/>
                        </a:rPr>
                        <m:t>=        4</m:t>
                      </m:r>
                      <m:r>
                        <a:rPr lang="en-AU" sz="2400" b="0" i="1" smtClean="0">
                          <a:latin typeface="Cambria Math" panose="02040503050406030204" pitchFamily="18" charset="0"/>
                          <a:ea typeface="Cambria Math" panose="02040503050406030204" pitchFamily="18" charset="0"/>
                        </a:rPr>
                        <m:t>𝑥</m:t>
                      </m:r>
                    </m:oMath>
                  </m:oMathPara>
                </a14:m>
                <a:endParaRPr lang="en-GB" sz="2400" dirty="0">
                  <a:latin typeface="+mj-lt"/>
                </a:endParaRPr>
              </a:p>
            </p:txBody>
          </p:sp>
        </mc:Choice>
        <mc:Fallback xmlns="">
          <p:sp>
            <p:nvSpPr>
              <p:cNvPr id="11" name="TextBox 10">
                <a:extLst>
                  <a:ext uri="{FF2B5EF4-FFF2-40B4-BE49-F238E27FC236}">
                    <a16:creationId xmlns:a16="http://schemas.microsoft.com/office/drawing/2014/main" id="{876EFAD8-E6B0-4F0F-8AF3-70FD2D7C9A5C}"/>
                  </a:ext>
                </a:extLst>
              </p:cNvPr>
              <p:cNvSpPr txBox="1">
                <a:spLocks noRot="1" noChangeAspect="1" noMove="1" noResize="1" noEditPoints="1" noAdjustHandles="1" noChangeArrowheads="1" noChangeShapeType="1" noTextEdit="1"/>
              </p:cNvSpPr>
              <p:nvPr/>
            </p:nvSpPr>
            <p:spPr>
              <a:xfrm>
                <a:off x="7679260" y="912216"/>
                <a:ext cx="4401671" cy="79361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DF11EE1-DEE7-413B-BA6B-7E226C6F2F49}"/>
                  </a:ext>
                </a:extLst>
              </p:cNvPr>
              <p:cNvSpPr txBox="1"/>
              <p:nvPr/>
            </p:nvSpPr>
            <p:spPr>
              <a:xfrm>
                <a:off x="218645" y="1935248"/>
                <a:ext cx="4882274" cy="624273"/>
              </a:xfrm>
              <a:prstGeom prst="rect">
                <a:avLst/>
              </a:prstGeom>
              <a:noFill/>
            </p:spPr>
            <p:txBody>
              <a:bodyPr wrap="square" rtlCol="0">
                <a:spAutoFit/>
              </a:bodyPr>
              <a:lstStyle/>
              <a:p>
                <a:pPr/>
                <a14:m>
                  <m:oMath xmlns:m="http://schemas.openxmlformats.org/officeDocument/2006/math">
                    <m:r>
                      <a:rPr lang="en-AU" sz="2400" b="0" i="1" smtClean="0">
                        <a:latin typeface="Cambria Math" panose="02040503050406030204" pitchFamily="18" charset="0"/>
                        <a:ea typeface="Cambria Math" panose="02040503050406030204" pitchFamily="18" charset="0"/>
                      </a:rPr>
                      <m:t>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ℐ</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oMath>
                </a14:m>
                <a:r>
                  <a:rPr lang="en-AU" sz="2400" dirty="0">
                    <a:ea typeface="Cambria Math" panose="02040503050406030204" pitchFamily="18" charset="0"/>
                  </a:rPr>
                  <a:t> </a:t>
                </a:r>
                <a14:m>
                  <m:oMath xmlns:m="http://schemas.openxmlformats.org/officeDocument/2006/math">
                    <m:r>
                      <a:rPr lang="en-AU" sz="2400" i="1">
                        <a:latin typeface="Cambria Math" panose="02040503050406030204" pitchFamily="18" charset="0"/>
                        <a:ea typeface="Cambria Math" panose="02040503050406030204" pitchFamily="18" charset="0"/>
                      </a:rPr>
                      <m:t>𝒬</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oMath>
                </a14:m>
                <a:endParaRPr lang="en-GB" sz="2400" dirty="0">
                  <a:latin typeface="+mj-lt"/>
                </a:endParaRPr>
              </a:p>
            </p:txBody>
          </p:sp>
        </mc:Choice>
        <mc:Fallback>
          <p:sp>
            <p:nvSpPr>
              <p:cNvPr id="12" name="TextBox 11">
                <a:extLst>
                  <a:ext uri="{FF2B5EF4-FFF2-40B4-BE49-F238E27FC236}">
                    <a16:creationId xmlns:a16="http://schemas.microsoft.com/office/drawing/2014/main" id="{DDF11EE1-DEE7-413B-BA6B-7E226C6F2F49}"/>
                  </a:ext>
                </a:extLst>
              </p:cNvPr>
              <p:cNvSpPr txBox="1">
                <a:spLocks noRot="1" noChangeAspect="1" noMove="1" noResize="1" noEditPoints="1" noAdjustHandles="1" noChangeArrowheads="1" noChangeShapeType="1" noTextEdit="1"/>
              </p:cNvSpPr>
              <p:nvPr/>
            </p:nvSpPr>
            <p:spPr>
              <a:xfrm>
                <a:off x="218645" y="1935248"/>
                <a:ext cx="4882274" cy="624273"/>
              </a:xfrm>
              <a:prstGeom prst="rect">
                <a:avLst/>
              </a:prstGeom>
              <a:blipFill>
                <a:blip r:embed="rId5"/>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B2C4AB4-8DAB-4D0A-AE6B-01B51DD6931C}"/>
                  </a:ext>
                </a:extLst>
              </p:cNvPr>
              <p:cNvSpPr txBox="1"/>
              <p:nvPr/>
            </p:nvSpPr>
            <p:spPr>
              <a:xfrm>
                <a:off x="7571682" y="1739201"/>
                <a:ext cx="4401671" cy="7936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sup>
                      </m:sSup>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𝑒</m:t>
                          </m:r>
                        </m:e>
                        <m:sup>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sup>
                      </m:sSup>
                      <m:r>
                        <a:rPr lang="en-AU" sz="2400" b="0" i="1" smtClean="0">
                          <a:latin typeface="Cambria Math" panose="02040503050406030204" pitchFamily="18" charset="0"/>
                          <a:ea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𝑥𝑦</m:t>
                      </m:r>
                      <m:r>
                        <a:rPr lang="en-AU" sz="2400" b="0" i="1" smtClean="0">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𝑒</m:t>
                          </m:r>
                        </m:e>
                        <m:sup>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sup>
                      </m:sSup>
                      <m:r>
                        <a:rPr lang="en-AU" sz="2400" b="0" i="1" smtClean="0">
                          <a:latin typeface="Cambria Math" panose="02040503050406030204" pitchFamily="18" charset="0"/>
                          <a:ea typeface="Cambria Math" panose="02040503050406030204" pitchFamily="18" charset="0"/>
                        </a:rPr>
                        <m:t>4</m:t>
                      </m:r>
                      <m:r>
                        <a:rPr lang="en-AU" sz="2400" b="0" i="1" smtClean="0">
                          <a:latin typeface="Cambria Math" panose="02040503050406030204" pitchFamily="18" charset="0"/>
                          <a:ea typeface="Cambria Math" panose="02040503050406030204" pitchFamily="18" charset="0"/>
                        </a:rPr>
                        <m:t>𝑥</m:t>
                      </m:r>
                    </m:oMath>
                  </m:oMathPara>
                </a14:m>
                <a:endParaRPr lang="en-GB" sz="2400" dirty="0">
                  <a:latin typeface="+mj-lt"/>
                </a:endParaRPr>
              </a:p>
            </p:txBody>
          </p:sp>
        </mc:Choice>
        <mc:Fallback xmlns="">
          <p:sp>
            <p:nvSpPr>
              <p:cNvPr id="13" name="TextBox 12">
                <a:extLst>
                  <a:ext uri="{FF2B5EF4-FFF2-40B4-BE49-F238E27FC236}">
                    <a16:creationId xmlns:a16="http://schemas.microsoft.com/office/drawing/2014/main" id="{4B2C4AB4-8DAB-4D0A-AE6B-01B51DD6931C}"/>
                  </a:ext>
                </a:extLst>
              </p:cNvPr>
              <p:cNvSpPr txBox="1">
                <a:spLocks noRot="1" noChangeAspect="1" noMove="1" noResize="1" noEditPoints="1" noAdjustHandles="1" noChangeArrowheads="1" noChangeShapeType="1" noTextEdit="1"/>
              </p:cNvSpPr>
              <p:nvPr/>
            </p:nvSpPr>
            <p:spPr>
              <a:xfrm>
                <a:off x="7571682" y="1739201"/>
                <a:ext cx="4401671" cy="793615"/>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78AEE5CA-246C-4CA0-92EA-6800D442876D}"/>
                  </a:ext>
                </a:extLst>
              </p:cNvPr>
              <p:cNvSpPr txBox="1"/>
              <p:nvPr/>
            </p:nvSpPr>
            <p:spPr>
              <a:xfrm>
                <a:off x="1311810" y="3478890"/>
                <a:ext cx="3313450" cy="7936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ℐ</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GB" sz="2400" dirty="0">
                  <a:latin typeface="+mj-lt"/>
                </a:endParaRPr>
              </a:p>
            </p:txBody>
          </p:sp>
        </mc:Choice>
        <mc:Fallback>
          <p:sp>
            <p:nvSpPr>
              <p:cNvPr id="15" name="TextBox 14">
                <a:extLst>
                  <a:ext uri="{FF2B5EF4-FFF2-40B4-BE49-F238E27FC236}">
                    <a16:creationId xmlns:a16="http://schemas.microsoft.com/office/drawing/2014/main" id="{78AEE5CA-246C-4CA0-92EA-6800D442876D}"/>
                  </a:ext>
                </a:extLst>
              </p:cNvPr>
              <p:cNvSpPr txBox="1">
                <a:spLocks noRot="1" noChangeAspect="1" noMove="1" noResize="1" noEditPoints="1" noAdjustHandles="1" noChangeArrowheads="1" noChangeShapeType="1" noTextEdit="1"/>
              </p:cNvSpPr>
              <p:nvPr/>
            </p:nvSpPr>
            <p:spPr>
              <a:xfrm>
                <a:off x="1311810" y="3478890"/>
                <a:ext cx="3313450" cy="793615"/>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DB2184A3-2780-4C11-BCD9-0AB53617C28D}"/>
                  </a:ext>
                </a:extLst>
              </p:cNvPr>
              <p:cNvSpPr txBox="1"/>
              <p:nvPr/>
            </p:nvSpPr>
            <p:spPr>
              <a:xfrm>
                <a:off x="8255093" y="3478889"/>
                <a:ext cx="3138521" cy="7936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sup>
                      </m:sSup>
                      <m:r>
                        <a:rPr lang="en-AU" sz="2400" b="0" i="1" smtClean="0">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rPr>
                          </m:ctrlPr>
                        </m:sSupPr>
                        <m:e>
                          <m:r>
                            <a:rPr lang="en-AU" sz="2400" i="1">
                              <a:latin typeface="Cambria Math" panose="02040503050406030204" pitchFamily="18" charset="0"/>
                            </a:rPr>
                            <m:t>𝑒</m:t>
                          </m:r>
                        </m:e>
                        <m:sup>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sup>
                      </m:sSup>
                      <m:r>
                        <a:rPr lang="en-AU" sz="2400" i="1">
                          <a:latin typeface="Cambria Math" panose="02040503050406030204" pitchFamily="18" charset="0"/>
                          <a:ea typeface="Cambria Math" panose="02040503050406030204" pitchFamily="18" charset="0"/>
                        </a:rPr>
                        <m:t>4</m:t>
                      </m:r>
                      <m:r>
                        <a:rPr lang="en-AU" sz="2400" i="1">
                          <a:latin typeface="Cambria Math" panose="02040503050406030204" pitchFamily="18" charset="0"/>
                          <a:ea typeface="Cambria Math" panose="02040503050406030204" pitchFamily="18" charset="0"/>
                        </a:rPr>
                        <m:t>𝑥</m:t>
                      </m:r>
                    </m:oMath>
                  </m:oMathPara>
                </a14:m>
                <a:endParaRPr lang="en-GB" sz="2400" dirty="0">
                  <a:latin typeface="+mj-lt"/>
                </a:endParaRPr>
              </a:p>
            </p:txBody>
          </p:sp>
        </mc:Choice>
        <mc:Fallback>
          <p:sp>
            <p:nvSpPr>
              <p:cNvPr id="16" name="TextBox 15">
                <a:extLst>
                  <a:ext uri="{FF2B5EF4-FFF2-40B4-BE49-F238E27FC236}">
                    <a16:creationId xmlns:a16="http://schemas.microsoft.com/office/drawing/2014/main" id="{DB2184A3-2780-4C11-BCD9-0AB53617C28D}"/>
                  </a:ext>
                </a:extLst>
              </p:cNvPr>
              <p:cNvSpPr txBox="1">
                <a:spLocks noRot="1" noChangeAspect="1" noMove="1" noResize="1" noEditPoints="1" noAdjustHandles="1" noChangeArrowheads="1" noChangeShapeType="1" noTextEdit="1"/>
              </p:cNvSpPr>
              <p:nvPr/>
            </p:nvSpPr>
            <p:spPr>
              <a:xfrm>
                <a:off x="8255093" y="3478889"/>
                <a:ext cx="3138521" cy="793615"/>
              </a:xfrm>
              <a:prstGeom prst="rect">
                <a:avLst/>
              </a:prstGeom>
              <a:blipFill>
                <a:blip r:embed="rId8"/>
                <a:stretch>
                  <a:fillRect/>
                </a:stretch>
              </a:blipFill>
            </p:spPr>
            <p:txBody>
              <a:bodyPr/>
              <a:lstStyle/>
              <a:p>
                <a:r>
                  <a:rPr lang="en-AU">
                    <a:noFill/>
                  </a:rPr>
                  <a:t> </a:t>
                </a:r>
              </a:p>
            </p:txBody>
          </p:sp>
        </mc:Fallback>
      </mc:AlternateContent>
      <p:sp>
        <p:nvSpPr>
          <p:cNvPr id="17" name="TextBox 16">
            <a:extLst>
              <a:ext uri="{FF2B5EF4-FFF2-40B4-BE49-F238E27FC236}">
                <a16:creationId xmlns:a16="http://schemas.microsoft.com/office/drawing/2014/main" id="{CC42107B-DB09-4AC5-BDC8-6B4753BABBF5}"/>
              </a:ext>
            </a:extLst>
          </p:cNvPr>
          <p:cNvSpPr txBox="1"/>
          <p:nvPr/>
        </p:nvSpPr>
        <p:spPr>
          <a:xfrm>
            <a:off x="5520601" y="4644532"/>
            <a:ext cx="1864658" cy="338554"/>
          </a:xfrm>
          <a:prstGeom prst="rect">
            <a:avLst/>
          </a:prstGeom>
          <a:noFill/>
        </p:spPr>
        <p:txBody>
          <a:bodyPr wrap="square" rtlCol="0">
            <a:spAutoFit/>
          </a:bodyPr>
          <a:lstStyle/>
          <a:p>
            <a:r>
              <a:rPr lang="en-AU" sz="1600" dirty="0">
                <a:latin typeface="+mj-lt"/>
              </a:rPr>
              <a:t>Integrate both sides</a:t>
            </a:r>
            <a:endParaRPr lang="en-GB" sz="1600" dirty="0">
              <a:latin typeface="+mj-lt"/>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F303B20-CC8A-40B7-ADE4-F53EBE99EE5F}"/>
                  </a:ext>
                </a:extLst>
              </p:cNvPr>
              <p:cNvSpPr txBox="1"/>
              <p:nvPr/>
            </p:nvSpPr>
            <p:spPr>
              <a:xfrm>
                <a:off x="263470" y="4354997"/>
                <a:ext cx="4882274" cy="10610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𝑑</m:t>
                              </m:r>
                            </m:num>
                            <m:den>
                              <m:r>
                                <a:rPr lang="en-AU" sz="2400" i="1">
                                  <a:latin typeface="Cambria Math" panose="02040503050406030204" pitchFamily="18" charset="0"/>
                                  <a:ea typeface="Cambria Math" panose="02040503050406030204" pitchFamily="18" charset="0"/>
                                </a:rPr>
                                <m:t>𝑑𝑥</m:t>
                              </m:r>
                            </m:den>
                          </m:f>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𝑦</m:t>
                              </m:r>
                              <m:r>
                                <a:rPr lang="en-AU" sz="2400" i="1">
                                  <a:latin typeface="Cambria Math" panose="02040503050406030204" pitchFamily="18" charset="0"/>
                                  <a:ea typeface="Cambria Math" panose="02040503050406030204" pitchFamily="18" charset="0"/>
                                </a:rPr>
                                <m:t>ℐ</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e>
                          </m:d>
                          <m:r>
                            <a:rPr lang="en-AU" sz="2400" b="0" i="1" smtClean="0">
                              <a:latin typeface="Cambria Math" panose="02040503050406030204" pitchFamily="18" charset="0"/>
                              <a:ea typeface="Cambria Math" panose="02040503050406030204" pitchFamily="18" charset="0"/>
                            </a:rPr>
                            <m:t>𝑑𝑥</m:t>
                          </m:r>
                        </m:e>
                      </m:nary>
                      <m:r>
                        <a:rPr lang="en-AU" sz="2400" b="0" i="1" smtClean="0">
                          <a:latin typeface="Cambria Math" panose="02040503050406030204" pitchFamily="18" charset="0"/>
                          <a:ea typeface="Cambria Math" panose="02040503050406030204" pitchFamily="18" charset="0"/>
                        </a:rPr>
                        <m:t>=</m:t>
                      </m:r>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r>
                            <a:rPr lang="en-AU" sz="2400" i="1">
                              <a:latin typeface="Cambria Math" panose="02040503050406030204" pitchFamily="18" charset="0"/>
                              <a:ea typeface="Cambria Math" panose="02040503050406030204" pitchFamily="18" charset="0"/>
                            </a:rPr>
                            <m:t>ℐ</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𝒬</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𝑑𝑥</m:t>
                          </m:r>
                        </m:e>
                      </m:nary>
                    </m:oMath>
                  </m:oMathPara>
                </a14:m>
                <a:endParaRPr lang="en-GB" sz="2400" dirty="0">
                  <a:latin typeface="+mj-lt"/>
                </a:endParaRPr>
              </a:p>
            </p:txBody>
          </p:sp>
        </mc:Choice>
        <mc:Fallback>
          <p:sp>
            <p:nvSpPr>
              <p:cNvPr id="18" name="TextBox 17">
                <a:extLst>
                  <a:ext uri="{FF2B5EF4-FFF2-40B4-BE49-F238E27FC236}">
                    <a16:creationId xmlns:a16="http://schemas.microsoft.com/office/drawing/2014/main" id="{9F303B20-CC8A-40B7-ADE4-F53EBE99EE5F}"/>
                  </a:ext>
                </a:extLst>
              </p:cNvPr>
              <p:cNvSpPr txBox="1">
                <a:spLocks noRot="1" noChangeAspect="1" noMove="1" noResize="1" noEditPoints="1" noAdjustHandles="1" noChangeArrowheads="1" noChangeShapeType="1" noTextEdit="1"/>
              </p:cNvSpPr>
              <p:nvPr/>
            </p:nvSpPr>
            <p:spPr>
              <a:xfrm>
                <a:off x="263470" y="4354997"/>
                <a:ext cx="4882274" cy="1061060"/>
              </a:xfrm>
              <a:prstGeom prst="rect">
                <a:avLst/>
              </a:prstGeom>
              <a:blipFill>
                <a:blip r:embed="rId9"/>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5731B67-1470-4755-9A0E-877128D1875C}"/>
                  </a:ext>
                </a:extLst>
              </p:cNvPr>
              <p:cNvSpPr txBox="1"/>
              <p:nvPr/>
            </p:nvSpPr>
            <p:spPr>
              <a:xfrm>
                <a:off x="8688548" y="4364374"/>
                <a:ext cx="3589608" cy="10610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sup>
                      </m:sSup>
                      <m:r>
                        <a:rPr lang="en-AU" sz="2400" b="0" i="1" smtClean="0">
                          <a:latin typeface="Cambria Math" panose="02040503050406030204" pitchFamily="18" charset="0"/>
                          <a:ea typeface="Cambria Math" panose="02040503050406030204" pitchFamily="18" charset="0"/>
                        </a:rPr>
                        <m:t>=</m:t>
                      </m:r>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sSup>
                            <m:sSupPr>
                              <m:ctrlPr>
                                <a:rPr lang="en-AU" sz="2400" i="1">
                                  <a:latin typeface="Cambria Math" panose="02040503050406030204" pitchFamily="18" charset="0"/>
                                </a:rPr>
                              </m:ctrlPr>
                            </m:sSupPr>
                            <m:e>
                              <m:r>
                                <a:rPr lang="en-AU" sz="2400" i="1">
                                  <a:latin typeface="Cambria Math" panose="02040503050406030204" pitchFamily="18" charset="0"/>
                                </a:rPr>
                                <m:t>𝑒</m:t>
                              </m:r>
                            </m:e>
                            <m:sup>
                              <m:sSup>
                                <m:sSupPr>
                                  <m:ctrlPr>
                                    <a:rPr lang="en-AU" sz="2400" i="1">
                                      <a:latin typeface="Cambria Math" panose="02040503050406030204" pitchFamily="18" charset="0"/>
                                    </a:rPr>
                                  </m:ctrlPr>
                                </m:sSupPr>
                                <m:e>
                                  <m:r>
                                    <a:rPr lang="en-AU" sz="2400" i="1">
                                      <a:latin typeface="Cambria Math" panose="02040503050406030204" pitchFamily="18" charset="0"/>
                                    </a:rPr>
                                    <m:t>𝑥</m:t>
                                  </m:r>
                                </m:e>
                                <m:sup>
                                  <m:r>
                                    <a:rPr lang="en-AU" sz="2400" i="1">
                                      <a:latin typeface="Cambria Math" panose="02040503050406030204" pitchFamily="18" charset="0"/>
                                    </a:rPr>
                                    <m:t>2</m:t>
                                  </m:r>
                                </m:sup>
                              </m:sSup>
                            </m:sup>
                          </m:sSup>
                          <m:r>
                            <a:rPr lang="en-AU" sz="2400" i="1">
                              <a:latin typeface="Cambria Math" panose="02040503050406030204" pitchFamily="18" charset="0"/>
                              <a:ea typeface="Cambria Math" panose="02040503050406030204" pitchFamily="18" charset="0"/>
                            </a:rPr>
                            <m:t>4</m:t>
                          </m:r>
                          <m:r>
                            <a:rPr lang="en-AU" sz="2400" i="1">
                              <a:latin typeface="Cambria Math" panose="02040503050406030204" pitchFamily="18" charset="0"/>
                              <a:ea typeface="Cambria Math" panose="02040503050406030204" pitchFamily="18" charset="0"/>
                            </a:rPr>
                            <m:t>𝑥𝑑𝑥</m:t>
                          </m:r>
                        </m:e>
                      </m:nary>
                    </m:oMath>
                  </m:oMathPara>
                </a14:m>
                <a:endParaRPr lang="en-GB" sz="2400" dirty="0">
                  <a:latin typeface="+mj-lt"/>
                </a:endParaRPr>
              </a:p>
            </p:txBody>
          </p:sp>
        </mc:Choice>
        <mc:Fallback>
          <p:sp>
            <p:nvSpPr>
              <p:cNvPr id="19" name="TextBox 18">
                <a:extLst>
                  <a:ext uri="{FF2B5EF4-FFF2-40B4-BE49-F238E27FC236}">
                    <a16:creationId xmlns:a16="http://schemas.microsoft.com/office/drawing/2014/main" id="{C5731B67-1470-4755-9A0E-877128D1875C}"/>
                  </a:ext>
                </a:extLst>
              </p:cNvPr>
              <p:cNvSpPr txBox="1">
                <a:spLocks noRot="1" noChangeAspect="1" noMove="1" noResize="1" noEditPoints="1" noAdjustHandles="1" noChangeArrowheads="1" noChangeShapeType="1" noTextEdit="1"/>
              </p:cNvSpPr>
              <p:nvPr/>
            </p:nvSpPr>
            <p:spPr>
              <a:xfrm>
                <a:off x="8688548" y="4364374"/>
                <a:ext cx="3589608" cy="1061060"/>
              </a:xfrm>
              <a:prstGeom prst="rect">
                <a:avLst/>
              </a:prstGeom>
              <a:blipFill>
                <a:blip r:embed="rId10"/>
                <a:stretch>
                  <a:fillRect/>
                </a:stretch>
              </a:blipFill>
            </p:spPr>
            <p:txBody>
              <a:bodyPr/>
              <a:lstStyle/>
              <a:p>
                <a:r>
                  <a:rPr lang="en-AU">
                    <a:noFill/>
                  </a:rPr>
                  <a:t> </a:t>
                </a:r>
              </a:p>
            </p:txBody>
          </p:sp>
        </mc:Fallback>
      </mc:AlternateContent>
      <p:sp>
        <p:nvSpPr>
          <p:cNvPr id="4" name="Right Brace 3">
            <a:extLst>
              <a:ext uri="{FF2B5EF4-FFF2-40B4-BE49-F238E27FC236}">
                <a16:creationId xmlns:a16="http://schemas.microsoft.com/office/drawing/2014/main" id="{A2EFFAA9-1B4D-219E-5101-E3FBCCFAEFD8}"/>
              </a:ext>
            </a:extLst>
          </p:cNvPr>
          <p:cNvSpPr/>
          <p:nvPr/>
        </p:nvSpPr>
        <p:spPr>
          <a:xfrm rot="5400000">
            <a:off x="9092478" y="1498206"/>
            <a:ext cx="155430" cy="2224650"/>
          </a:xfrm>
          <a:prstGeom prst="rightBrace">
            <a:avLst>
              <a:gd name="adj1" fmla="val 52231"/>
              <a:gd name="adj2" fmla="val 49082"/>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35666C5-EA81-D936-EDB8-04A1862E3861}"/>
                  </a:ext>
                </a:extLst>
              </p:cNvPr>
              <p:cNvSpPr txBox="1"/>
              <p:nvPr/>
            </p:nvSpPr>
            <p:spPr>
              <a:xfrm>
                <a:off x="7267113" y="2719531"/>
                <a:ext cx="3965664" cy="864724"/>
              </a:xfrm>
              <a:prstGeom prst="rect">
                <a:avLst/>
              </a:prstGeom>
              <a:noFill/>
            </p:spPr>
            <p:txBody>
              <a:bodyPr wrap="square" rtlCol="0">
                <a:spAutoFit/>
              </a:bodyPr>
              <a:lstStyle/>
              <a:p>
                <a:r>
                  <a:rPr lang="en-AU" sz="1600" dirty="0">
                    <a:solidFill>
                      <a:srgbClr val="FF0000"/>
                    </a:solidFill>
                    <a:latin typeface="Cambria" panose="02040503050406030204" pitchFamily="18" charset="0"/>
                    <a:ea typeface="Cambria" panose="02040503050406030204" pitchFamily="18" charset="0"/>
                  </a:rPr>
                  <a:t>Note that by choosing </a:t>
                </a:r>
                <a14:m>
                  <m:oMath xmlns:m="http://schemas.openxmlformats.org/officeDocument/2006/math">
                    <m:r>
                      <a:rPr lang="en-AU" sz="1600" i="1" smtClean="0">
                        <a:solidFill>
                          <a:srgbClr val="FF0000"/>
                        </a:solidFill>
                        <a:latin typeface="Cambria Math" panose="02040503050406030204" pitchFamily="18" charset="0"/>
                        <a:ea typeface="Cambria Math" panose="02040503050406030204" pitchFamily="18" charset="0"/>
                      </a:rPr>
                      <m:t>ℐ</m:t>
                    </m:r>
                    <m:d>
                      <m:dPr>
                        <m:ctrlPr>
                          <a:rPr lang="en-AU" sz="1600" i="1" smtClean="0">
                            <a:solidFill>
                              <a:srgbClr val="FF0000"/>
                            </a:solidFill>
                            <a:latin typeface="Cambria Math" panose="02040503050406030204" pitchFamily="18" charset="0"/>
                            <a:ea typeface="Cambria Math" panose="02040503050406030204" pitchFamily="18" charset="0"/>
                          </a:rPr>
                        </m:ctrlPr>
                      </m:dPr>
                      <m:e>
                        <m:r>
                          <a:rPr lang="en-AU" sz="1600" i="1" smtClean="0">
                            <a:solidFill>
                              <a:srgbClr val="FF0000"/>
                            </a:solidFill>
                            <a:latin typeface="Cambria Math" panose="02040503050406030204" pitchFamily="18" charset="0"/>
                            <a:ea typeface="Cambria Math" panose="02040503050406030204" pitchFamily="18" charset="0"/>
                          </a:rPr>
                          <m:t>𝑥</m:t>
                        </m:r>
                      </m:e>
                    </m:d>
                    <m:r>
                      <a:rPr lang="en-AU" sz="1600" b="0" i="1" smtClean="0">
                        <a:solidFill>
                          <a:srgbClr val="FF0000"/>
                        </a:solidFill>
                        <a:latin typeface="Cambria Math" panose="02040503050406030204" pitchFamily="18" charset="0"/>
                        <a:ea typeface="Cambria Math" panose="02040503050406030204" pitchFamily="18" charset="0"/>
                      </a:rPr>
                      <m:t>=</m:t>
                    </m:r>
                    <m:sSup>
                      <m:sSupPr>
                        <m:ctrlPr>
                          <a:rPr lang="en-AU" sz="1600" b="0" i="1" smtClean="0">
                            <a:solidFill>
                              <a:srgbClr val="FF0000"/>
                            </a:solidFill>
                            <a:latin typeface="Cambria Math" panose="02040503050406030204" pitchFamily="18" charset="0"/>
                            <a:ea typeface="Cambria Math" panose="02040503050406030204" pitchFamily="18" charset="0"/>
                          </a:rPr>
                        </m:ctrlPr>
                      </m:sSupPr>
                      <m:e>
                        <m:r>
                          <a:rPr lang="en-AU" sz="1600" b="0" i="1" smtClean="0">
                            <a:solidFill>
                              <a:srgbClr val="FF0000"/>
                            </a:solidFill>
                            <a:latin typeface="Cambria Math" panose="02040503050406030204" pitchFamily="18" charset="0"/>
                            <a:ea typeface="Cambria Math" panose="02040503050406030204" pitchFamily="18" charset="0"/>
                          </a:rPr>
                          <m:t>𝑒</m:t>
                        </m:r>
                      </m:e>
                      <m:sup>
                        <m:sSup>
                          <m:sSupPr>
                            <m:ctrlPr>
                              <a:rPr lang="en-AU" sz="1600" b="0" i="1" smtClean="0">
                                <a:solidFill>
                                  <a:srgbClr val="FF0000"/>
                                </a:solidFill>
                                <a:latin typeface="Cambria Math" panose="02040503050406030204" pitchFamily="18" charset="0"/>
                                <a:ea typeface="Cambria Math" panose="02040503050406030204" pitchFamily="18" charset="0"/>
                              </a:rPr>
                            </m:ctrlPr>
                          </m:sSupPr>
                          <m:e>
                            <m:r>
                              <a:rPr lang="en-AU" sz="1600" b="0" i="1" smtClean="0">
                                <a:solidFill>
                                  <a:srgbClr val="FF0000"/>
                                </a:solidFill>
                                <a:latin typeface="Cambria Math" panose="02040503050406030204" pitchFamily="18" charset="0"/>
                                <a:ea typeface="Cambria Math" panose="02040503050406030204" pitchFamily="18" charset="0"/>
                              </a:rPr>
                              <m:t>𝑥</m:t>
                            </m:r>
                          </m:e>
                          <m:sup>
                            <m:r>
                              <a:rPr lang="en-AU" sz="1600" b="0" i="1" smtClean="0">
                                <a:solidFill>
                                  <a:srgbClr val="FF0000"/>
                                </a:solidFill>
                                <a:latin typeface="Cambria Math" panose="02040503050406030204" pitchFamily="18" charset="0"/>
                                <a:ea typeface="Cambria Math" panose="02040503050406030204" pitchFamily="18" charset="0"/>
                              </a:rPr>
                              <m:t>2</m:t>
                            </m:r>
                          </m:sup>
                        </m:sSup>
                      </m:sup>
                    </m:sSup>
                  </m:oMath>
                </a14:m>
                <a:r>
                  <a:rPr lang="en-AU" sz="1600" dirty="0">
                    <a:solidFill>
                      <a:srgbClr val="FF0000"/>
                    </a:solidFill>
                    <a:latin typeface="Cambria" panose="02040503050406030204" pitchFamily="18" charset="0"/>
                    <a:ea typeface="Cambria" panose="02040503050406030204" pitchFamily="18" charset="0"/>
                  </a:rPr>
                  <a:t> the LHS is the product rule:</a:t>
                </a:r>
                <a14:m>
                  <m:oMath xmlns:m="http://schemas.openxmlformats.org/officeDocument/2006/math">
                    <m:r>
                      <a:rPr lang="en-AU" sz="1600" b="0" i="0" smtClean="0">
                        <a:solidFill>
                          <a:srgbClr val="FF0000"/>
                        </a:solidFill>
                        <a:latin typeface="Cambria Math" panose="02040503050406030204" pitchFamily="18" charset="0"/>
                        <a:ea typeface="Cambria" panose="02040503050406030204" pitchFamily="18" charset="0"/>
                      </a:rPr>
                      <m:t> </m:t>
                    </m:r>
                    <m:r>
                      <a:rPr lang="en-AU" sz="1600" b="0" i="1" smtClean="0">
                        <a:solidFill>
                          <a:srgbClr val="FF0000"/>
                        </a:solidFill>
                        <a:latin typeface="Cambria Math" panose="02040503050406030204" pitchFamily="18" charset="0"/>
                        <a:ea typeface="Cambria" panose="02040503050406030204" pitchFamily="18" charset="0"/>
                      </a:rPr>
                      <m:t>𝑓</m:t>
                    </m:r>
                    <m:d>
                      <m:dPr>
                        <m:ctrlPr>
                          <a:rPr lang="en-AU" sz="1600" b="0" i="1" smtClean="0">
                            <a:solidFill>
                              <a:srgbClr val="FF0000"/>
                            </a:solidFill>
                            <a:latin typeface="Cambria Math" panose="02040503050406030204" pitchFamily="18" charset="0"/>
                            <a:ea typeface="Cambria" panose="02040503050406030204" pitchFamily="18" charset="0"/>
                          </a:rPr>
                        </m:ctrlPr>
                      </m:dPr>
                      <m:e>
                        <m:r>
                          <a:rPr lang="en-AU" sz="1600" b="0" i="1" smtClean="0">
                            <a:solidFill>
                              <a:srgbClr val="FF0000"/>
                            </a:solidFill>
                            <a:latin typeface="Cambria Math" panose="02040503050406030204" pitchFamily="18" charset="0"/>
                            <a:ea typeface="Cambria" panose="02040503050406030204" pitchFamily="18" charset="0"/>
                          </a:rPr>
                          <m:t>𝑥</m:t>
                        </m:r>
                      </m:e>
                    </m:d>
                    <m:sSup>
                      <m:sSupPr>
                        <m:ctrlPr>
                          <a:rPr lang="en-AU" sz="1600" b="0" i="1" smtClean="0">
                            <a:solidFill>
                              <a:srgbClr val="FF0000"/>
                            </a:solidFill>
                            <a:latin typeface="Cambria Math" panose="02040503050406030204" pitchFamily="18" charset="0"/>
                            <a:ea typeface="Cambria" panose="02040503050406030204" pitchFamily="18" charset="0"/>
                          </a:rPr>
                        </m:ctrlPr>
                      </m:sSupPr>
                      <m:e>
                        <m:r>
                          <a:rPr lang="en-AU" sz="1600" b="0" i="1" smtClean="0">
                            <a:solidFill>
                              <a:srgbClr val="FF0000"/>
                            </a:solidFill>
                            <a:latin typeface="Cambria Math" panose="02040503050406030204" pitchFamily="18" charset="0"/>
                            <a:ea typeface="Cambria" panose="02040503050406030204" pitchFamily="18" charset="0"/>
                          </a:rPr>
                          <m:t>𝑦</m:t>
                        </m:r>
                      </m:e>
                      <m:sup>
                        <m:r>
                          <a:rPr lang="en-AU" sz="1600" b="0" i="1" smtClean="0">
                            <a:solidFill>
                              <a:srgbClr val="FF0000"/>
                            </a:solidFill>
                            <a:latin typeface="Cambria Math" panose="02040503050406030204" pitchFamily="18" charset="0"/>
                            <a:ea typeface="Cambria" panose="02040503050406030204" pitchFamily="18" charset="0"/>
                          </a:rPr>
                          <m:t>′</m:t>
                        </m:r>
                      </m:sup>
                    </m:sSup>
                    <m:d>
                      <m:dPr>
                        <m:ctrlPr>
                          <a:rPr lang="en-AU" sz="1600" b="0" i="1" smtClean="0">
                            <a:solidFill>
                              <a:srgbClr val="FF0000"/>
                            </a:solidFill>
                            <a:latin typeface="Cambria Math" panose="02040503050406030204" pitchFamily="18" charset="0"/>
                            <a:ea typeface="Cambria" panose="02040503050406030204" pitchFamily="18" charset="0"/>
                          </a:rPr>
                        </m:ctrlPr>
                      </m:dPr>
                      <m:e>
                        <m:r>
                          <a:rPr lang="en-AU" sz="1600" b="0" i="1" smtClean="0">
                            <a:solidFill>
                              <a:srgbClr val="FF0000"/>
                            </a:solidFill>
                            <a:latin typeface="Cambria Math" panose="02040503050406030204" pitchFamily="18" charset="0"/>
                            <a:ea typeface="Cambria" panose="02040503050406030204" pitchFamily="18" charset="0"/>
                          </a:rPr>
                          <m:t>𝑥</m:t>
                        </m:r>
                      </m:e>
                    </m:d>
                    <m:r>
                      <a:rPr lang="en-AU" sz="1600" b="0" i="1" smtClean="0">
                        <a:solidFill>
                          <a:srgbClr val="FF0000"/>
                        </a:solidFill>
                        <a:latin typeface="Cambria Math" panose="02040503050406030204" pitchFamily="18" charset="0"/>
                        <a:ea typeface="Cambria" panose="02040503050406030204" pitchFamily="18" charset="0"/>
                      </a:rPr>
                      <m:t>+</m:t>
                    </m:r>
                    <m:sSup>
                      <m:sSupPr>
                        <m:ctrlPr>
                          <a:rPr lang="en-AU" sz="1600" b="0" i="1" smtClean="0">
                            <a:solidFill>
                              <a:srgbClr val="FF0000"/>
                            </a:solidFill>
                            <a:latin typeface="Cambria Math" panose="02040503050406030204" pitchFamily="18" charset="0"/>
                            <a:ea typeface="Cambria" panose="02040503050406030204" pitchFamily="18" charset="0"/>
                          </a:rPr>
                        </m:ctrlPr>
                      </m:sSupPr>
                      <m:e>
                        <m:r>
                          <a:rPr lang="en-AU" sz="1600" b="0" i="1" smtClean="0">
                            <a:solidFill>
                              <a:srgbClr val="FF0000"/>
                            </a:solidFill>
                            <a:latin typeface="Cambria Math" panose="02040503050406030204" pitchFamily="18" charset="0"/>
                            <a:ea typeface="Cambria" panose="02040503050406030204" pitchFamily="18" charset="0"/>
                          </a:rPr>
                          <m:t>𝑓</m:t>
                        </m:r>
                      </m:e>
                      <m:sup>
                        <m:r>
                          <a:rPr lang="en-AU" sz="1600" b="0" i="1" smtClean="0">
                            <a:solidFill>
                              <a:srgbClr val="FF0000"/>
                            </a:solidFill>
                            <a:latin typeface="Cambria Math" panose="02040503050406030204" pitchFamily="18" charset="0"/>
                            <a:ea typeface="Cambria" panose="02040503050406030204" pitchFamily="18" charset="0"/>
                          </a:rPr>
                          <m:t>′</m:t>
                        </m:r>
                      </m:sup>
                    </m:sSup>
                    <m:d>
                      <m:dPr>
                        <m:ctrlPr>
                          <a:rPr lang="en-AU" sz="1600" b="0" i="1" smtClean="0">
                            <a:solidFill>
                              <a:srgbClr val="FF0000"/>
                            </a:solidFill>
                            <a:latin typeface="Cambria Math" panose="02040503050406030204" pitchFamily="18" charset="0"/>
                            <a:ea typeface="Cambria" panose="02040503050406030204" pitchFamily="18" charset="0"/>
                          </a:rPr>
                        </m:ctrlPr>
                      </m:dPr>
                      <m:e>
                        <m:r>
                          <a:rPr lang="en-AU" sz="1600" b="0" i="1" smtClean="0">
                            <a:solidFill>
                              <a:srgbClr val="FF0000"/>
                            </a:solidFill>
                            <a:latin typeface="Cambria Math" panose="02040503050406030204" pitchFamily="18" charset="0"/>
                            <a:ea typeface="Cambria" panose="02040503050406030204" pitchFamily="18" charset="0"/>
                          </a:rPr>
                          <m:t>𝑥</m:t>
                        </m:r>
                      </m:e>
                    </m:d>
                    <m:r>
                      <a:rPr lang="en-AU" sz="1600" b="0" i="1" smtClean="0">
                        <a:solidFill>
                          <a:srgbClr val="FF0000"/>
                        </a:solidFill>
                        <a:latin typeface="Cambria Math" panose="02040503050406030204" pitchFamily="18" charset="0"/>
                        <a:ea typeface="Cambria" panose="02040503050406030204" pitchFamily="18" charset="0"/>
                      </a:rPr>
                      <m:t>𝑦</m:t>
                    </m:r>
                    <m:d>
                      <m:dPr>
                        <m:ctrlPr>
                          <a:rPr lang="en-AU" sz="1600" b="0" i="1" smtClean="0">
                            <a:solidFill>
                              <a:srgbClr val="FF0000"/>
                            </a:solidFill>
                            <a:latin typeface="Cambria Math" panose="02040503050406030204" pitchFamily="18" charset="0"/>
                            <a:ea typeface="Cambria" panose="02040503050406030204" pitchFamily="18" charset="0"/>
                          </a:rPr>
                        </m:ctrlPr>
                      </m:dPr>
                      <m:e>
                        <m:r>
                          <a:rPr lang="en-AU" sz="1600" b="0" i="1" smtClean="0">
                            <a:solidFill>
                              <a:srgbClr val="FF0000"/>
                            </a:solidFill>
                            <a:latin typeface="Cambria Math" panose="02040503050406030204" pitchFamily="18" charset="0"/>
                            <a:ea typeface="Cambria" panose="02040503050406030204" pitchFamily="18" charset="0"/>
                          </a:rPr>
                          <m:t>𝑥</m:t>
                        </m:r>
                      </m:e>
                    </m:d>
                    <m:r>
                      <a:rPr lang="en-AU" sz="1600" b="0" i="1" smtClean="0">
                        <a:solidFill>
                          <a:srgbClr val="FF0000"/>
                        </a:solidFill>
                        <a:latin typeface="Cambria Math" panose="02040503050406030204" pitchFamily="18" charset="0"/>
                        <a:ea typeface="Cambria" panose="02040503050406030204" pitchFamily="18" charset="0"/>
                      </a:rPr>
                      <m:t>=(</m:t>
                    </m:r>
                    <m:r>
                      <a:rPr lang="en-AU" sz="1600" b="0" i="1" smtClean="0">
                        <a:solidFill>
                          <a:srgbClr val="FF0000"/>
                        </a:solidFill>
                        <a:latin typeface="Cambria Math" panose="02040503050406030204" pitchFamily="18" charset="0"/>
                        <a:ea typeface="Cambria" panose="02040503050406030204" pitchFamily="18" charset="0"/>
                      </a:rPr>
                      <m:t>𝑦</m:t>
                    </m:r>
                    <m:r>
                      <a:rPr lang="en-AU" sz="1600" b="0" i="1" smtClean="0">
                        <a:solidFill>
                          <a:srgbClr val="FF0000"/>
                        </a:solidFill>
                        <a:latin typeface="Cambria Math" panose="02040503050406030204" pitchFamily="18" charset="0"/>
                        <a:ea typeface="Cambria" panose="02040503050406030204" pitchFamily="18" charset="0"/>
                      </a:rPr>
                      <m:t>(</m:t>
                    </m:r>
                    <m:r>
                      <a:rPr lang="en-AU" sz="1600" b="0" i="1" smtClean="0">
                        <a:solidFill>
                          <a:srgbClr val="FF0000"/>
                        </a:solidFill>
                        <a:latin typeface="Cambria Math" panose="02040503050406030204" pitchFamily="18" charset="0"/>
                        <a:ea typeface="Cambria" panose="02040503050406030204" pitchFamily="18" charset="0"/>
                      </a:rPr>
                      <m:t>𝑥</m:t>
                    </m:r>
                    <m:r>
                      <a:rPr lang="en-AU" sz="1600" b="0" i="1" smtClean="0">
                        <a:solidFill>
                          <a:srgbClr val="FF0000"/>
                        </a:solidFill>
                        <a:latin typeface="Cambria Math" panose="02040503050406030204" pitchFamily="18" charset="0"/>
                        <a:ea typeface="Cambria" panose="02040503050406030204" pitchFamily="18" charset="0"/>
                      </a:rPr>
                      <m:t>)</m:t>
                    </m:r>
                    <m:r>
                      <a:rPr lang="en-AU" sz="1600" b="0" i="1" smtClean="0">
                        <a:solidFill>
                          <a:srgbClr val="FF0000"/>
                        </a:solidFill>
                        <a:latin typeface="Cambria Math" panose="02040503050406030204" pitchFamily="18" charset="0"/>
                        <a:ea typeface="Cambria" panose="02040503050406030204" pitchFamily="18" charset="0"/>
                      </a:rPr>
                      <m:t>𝑓</m:t>
                    </m:r>
                    <m:d>
                      <m:dPr>
                        <m:ctrlPr>
                          <a:rPr lang="en-AU" sz="1600" b="0" i="1" smtClean="0">
                            <a:solidFill>
                              <a:srgbClr val="FF0000"/>
                            </a:solidFill>
                            <a:latin typeface="Cambria Math" panose="02040503050406030204" pitchFamily="18" charset="0"/>
                            <a:ea typeface="Cambria" panose="02040503050406030204" pitchFamily="18" charset="0"/>
                          </a:rPr>
                        </m:ctrlPr>
                      </m:dPr>
                      <m:e>
                        <m:r>
                          <a:rPr lang="en-AU" sz="1600" b="0" i="1" smtClean="0">
                            <a:solidFill>
                              <a:srgbClr val="FF0000"/>
                            </a:solidFill>
                            <a:latin typeface="Cambria Math" panose="02040503050406030204" pitchFamily="18" charset="0"/>
                            <a:ea typeface="Cambria" panose="02040503050406030204" pitchFamily="18" charset="0"/>
                          </a:rPr>
                          <m:t>𝑥</m:t>
                        </m:r>
                      </m:e>
                    </m:d>
                    <m:r>
                      <a:rPr lang="en-AU" sz="1600" b="0" i="1" smtClean="0">
                        <a:solidFill>
                          <a:srgbClr val="FF0000"/>
                        </a:solidFill>
                        <a:latin typeface="Cambria Math" panose="02040503050406030204" pitchFamily="18" charset="0"/>
                        <a:ea typeface="Cambria" panose="02040503050406030204" pitchFamily="18" charset="0"/>
                      </a:rPr>
                      <m:t>)′</m:t>
                    </m:r>
                  </m:oMath>
                </a14:m>
                <a:endParaRPr lang="en-AU" sz="1600" dirty="0">
                  <a:solidFill>
                    <a:srgbClr val="FF0000"/>
                  </a:solidFill>
                  <a:latin typeface="Cambria" panose="02040503050406030204" pitchFamily="18" charset="0"/>
                  <a:ea typeface="Cambria" panose="02040503050406030204" pitchFamily="18" charset="0"/>
                </a:endParaRPr>
              </a:p>
            </p:txBody>
          </p:sp>
        </mc:Choice>
        <mc:Fallback>
          <p:sp>
            <p:nvSpPr>
              <p:cNvPr id="5" name="TextBox 4">
                <a:extLst>
                  <a:ext uri="{FF2B5EF4-FFF2-40B4-BE49-F238E27FC236}">
                    <a16:creationId xmlns:a16="http://schemas.microsoft.com/office/drawing/2014/main" id="{735666C5-EA81-D936-EDB8-04A1862E3861}"/>
                  </a:ext>
                </a:extLst>
              </p:cNvPr>
              <p:cNvSpPr txBox="1">
                <a:spLocks noRot="1" noChangeAspect="1" noMove="1" noResize="1" noEditPoints="1" noAdjustHandles="1" noChangeArrowheads="1" noChangeShapeType="1" noTextEdit="1"/>
              </p:cNvSpPr>
              <p:nvPr/>
            </p:nvSpPr>
            <p:spPr>
              <a:xfrm>
                <a:off x="7267113" y="2719531"/>
                <a:ext cx="3965664" cy="864724"/>
              </a:xfrm>
              <a:prstGeom prst="rect">
                <a:avLst/>
              </a:prstGeom>
              <a:blipFill>
                <a:blip r:embed="rId11"/>
                <a:stretch>
                  <a:fillRect l="-768" r="-1843" b="-4225"/>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B8365B0-E0BB-5375-EF11-3C24CC5207E5}"/>
                  </a:ext>
                </a:extLst>
              </p:cNvPr>
              <p:cNvSpPr txBox="1"/>
              <p:nvPr/>
            </p:nvSpPr>
            <p:spPr>
              <a:xfrm>
                <a:off x="882034" y="5191874"/>
                <a:ext cx="4882274" cy="10610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ea typeface="Cambria Math" panose="02040503050406030204" pitchFamily="18" charset="0"/>
                        </a:rPr>
                        <m:t>𝑦</m:t>
                      </m:r>
                      <m:r>
                        <a:rPr lang="en-AU" sz="2400" i="1">
                          <a:latin typeface="Cambria Math" panose="02040503050406030204" pitchFamily="18" charset="0"/>
                          <a:ea typeface="Cambria Math" panose="02040503050406030204" pitchFamily="18" charset="0"/>
                        </a:rPr>
                        <m:t>ℐ</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nary>
                        <m:naryPr>
                          <m:limLoc m:val="undOvr"/>
                          <m:subHide m:val="on"/>
                          <m:supHide m:val="on"/>
                          <m:ctrlPr>
                            <a:rPr lang="en-AU" sz="2400" b="0" i="1" smtClean="0">
                              <a:latin typeface="Cambria Math" panose="02040503050406030204" pitchFamily="18" charset="0"/>
                              <a:ea typeface="Cambria Math" panose="02040503050406030204" pitchFamily="18" charset="0"/>
                            </a:rPr>
                          </m:ctrlPr>
                        </m:naryPr>
                        <m:sub/>
                        <m:sup/>
                        <m:e>
                          <m:r>
                            <a:rPr lang="en-AU" sz="2400" i="1">
                              <a:latin typeface="Cambria Math" panose="02040503050406030204" pitchFamily="18" charset="0"/>
                              <a:ea typeface="Cambria Math" panose="02040503050406030204" pitchFamily="18" charset="0"/>
                            </a:rPr>
                            <m:t>ℐ</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i="1">
                              <a:latin typeface="Cambria Math" panose="02040503050406030204" pitchFamily="18" charset="0"/>
                              <a:ea typeface="Cambria Math" panose="02040503050406030204" pitchFamily="18" charset="0"/>
                            </a:rPr>
                            <m:t>𝒬</m:t>
                          </m:r>
                          <m:d>
                            <m:dPr>
                              <m:ctrlPr>
                                <a:rPr lang="en-AU" sz="2400" i="1">
                                  <a:latin typeface="Cambria Math" panose="02040503050406030204" pitchFamily="18" charset="0"/>
                                  <a:ea typeface="Cambria Math" panose="02040503050406030204" pitchFamily="18" charset="0"/>
                                </a:rPr>
                              </m:ctrlPr>
                            </m:dPr>
                            <m:e>
                              <m:r>
                                <a:rPr lang="en-AU" sz="2400" i="1">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𝑑𝑥</m:t>
                          </m:r>
                        </m:e>
                      </m:nary>
                    </m:oMath>
                  </m:oMathPara>
                </a14:m>
                <a:endParaRPr lang="en-GB" sz="2400" dirty="0">
                  <a:latin typeface="+mj-lt"/>
                </a:endParaRPr>
              </a:p>
            </p:txBody>
          </p:sp>
        </mc:Choice>
        <mc:Fallback>
          <p:sp>
            <p:nvSpPr>
              <p:cNvPr id="20" name="TextBox 19">
                <a:extLst>
                  <a:ext uri="{FF2B5EF4-FFF2-40B4-BE49-F238E27FC236}">
                    <a16:creationId xmlns:a16="http://schemas.microsoft.com/office/drawing/2014/main" id="{6B8365B0-E0BB-5375-EF11-3C24CC5207E5}"/>
                  </a:ext>
                </a:extLst>
              </p:cNvPr>
              <p:cNvSpPr txBox="1">
                <a:spLocks noRot="1" noChangeAspect="1" noMove="1" noResize="1" noEditPoints="1" noAdjustHandles="1" noChangeArrowheads="1" noChangeShapeType="1" noTextEdit="1"/>
              </p:cNvSpPr>
              <p:nvPr/>
            </p:nvSpPr>
            <p:spPr>
              <a:xfrm>
                <a:off x="882034" y="5191874"/>
                <a:ext cx="4882274" cy="1061060"/>
              </a:xfrm>
              <a:prstGeom prst="rect">
                <a:avLst/>
              </a:prstGeom>
              <a:blipFill>
                <a:blip r:embed="rId1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715607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386685" cy="523220"/>
          </a:xfrm>
          <a:prstGeom prst="rect">
            <a:avLst/>
          </a:prstGeom>
          <a:noFill/>
        </p:spPr>
        <p:txBody>
          <a:bodyPr wrap="none" rtlCol="0">
            <a:spAutoFit/>
          </a:bodyPr>
          <a:lstStyle/>
          <a:p>
            <a:r>
              <a:rPr lang="en-AU" sz="2800" b="1" cap="small" dirty="0">
                <a:solidFill>
                  <a:schemeClr val="bg1"/>
                </a:solidFill>
                <a:latin typeface="+mj-lt"/>
              </a:rPr>
              <a:t>6.3 First order linear DE: integrating factors</a:t>
            </a:r>
            <a:endParaRPr lang="en-GB" sz="2800" b="1" cap="small" dirty="0">
              <a:solidFill>
                <a:schemeClr val="bg1"/>
              </a:solidFill>
              <a:latin typeface="+mj-lt"/>
            </a:endParaRPr>
          </a:p>
        </p:txBody>
      </p:sp>
      <p:sp>
        <p:nvSpPr>
          <p:cNvPr id="10" name="TextBox 9">
            <a:extLst>
              <a:ext uri="{FF2B5EF4-FFF2-40B4-BE49-F238E27FC236}">
                <a16:creationId xmlns:a16="http://schemas.microsoft.com/office/drawing/2014/main" id="{F1B15C0C-96E7-492E-B4B0-CB06B20C9098}"/>
              </a:ext>
            </a:extLst>
          </p:cNvPr>
          <p:cNvSpPr txBox="1"/>
          <p:nvPr/>
        </p:nvSpPr>
        <p:spPr>
          <a:xfrm>
            <a:off x="111069" y="968507"/>
            <a:ext cx="3609284" cy="400110"/>
          </a:xfrm>
          <a:prstGeom prst="rect">
            <a:avLst/>
          </a:prstGeom>
          <a:noFill/>
        </p:spPr>
        <p:txBody>
          <a:bodyPr wrap="square" rtlCol="0">
            <a:spAutoFit/>
          </a:bodyPr>
          <a:lstStyle/>
          <a:p>
            <a:r>
              <a:rPr lang="en-AU" sz="2000" dirty="0">
                <a:latin typeface="+mj-lt"/>
              </a:rPr>
              <a:t>To find the integrating factor:</a:t>
            </a:r>
            <a:endParaRPr lang="en-GB" sz="2000" dirty="0">
              <a:latin typeface="+mj-l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DF11EE1-DEE7-413B-BA6B-7E226C6F2F49}"/>
                  </a:ext>
                </a:extLst>
              </p:cNvPr>
              <p:cNvSpPr txBox="1"/>
              <p:nvPr/>
            </p:nvSpPr>
            <p:spPr>
              <a:xfrm>
                <a:off x="2025032" y="1511449"/>
                <a:ext cx="4882274" cy="7936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ℐ</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oMath>
                  </m:oMathPara>
                </a14:m>
                <a:endParaRPr lang="en-GB" sz="2400" dirty="0">
                  <a:latin typeface="+mj-lt"/>
                </a:endParaRPr>
              </a:p>
            </p:txBody>
          </p:sp>
        </mc:Choice>
        <mc:Fallback xmlns="">
          <p:sp>
            <p:nvSpPr>
              <p:cNvPr id="12" name="TextBox 11">
                <a:extLst>
                  <a:ext uri="{FF2B5EF4-FFF2-40B4-BE49-F238E27FC236}">
                    <a16:creationId xmlns:a16="http://schemas.microsoft.com/office/drawing/2014/main" id="{DDF11EE1-DEE7-413B-BA6B-7E226C6F2F49}"/>
                  </a:ext>
                </a:extLst>
              </p:cNvPr>
              <p:cNvSpPr txBox="1">
                <a:spLocks noRot="1" noChangeAspect="1" noMove="1" noResize="1" noEditPoints="1" noAdjustHandles="1" noChangeArrowheads="1" noChangeShapeType="1" noTextEdit="1"/>
              </p:cNvSpPr>
              <p:nvPr/>
            </p:nvSpPr>
            <p:spPr>
              <a:xfrm>
                <a:off x="2025032" y="1511449"/>
                <a:ext cx="4882274" cy="793615"/>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963057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386685" cy="523220"/>
          </a:xfrm>
          <a:prstGeom prst="rect">
            <a:avLst/>
          </a:prstGeom>
          <a:noFill/>
        </p:spPr>
        <p:txBody>
          <a:bodyPr wrap="none" rtlCol="0">
            <a:spAutoFit/>
          </a:bodyPr>
          <a:lstStyle/>
          <a:p>
            <a:r>
              <a:rPr lang="en-AU" sz="2800" b="1" cap="small" dirty="0">
                <a:solidFill>
                  <a:schemeClr val="bg1"/>
                </a:solidFill>
                <a:latin typeface="+mj-lt"/>
              </a:rPr>
              <a:t>6.3 First order linear DE: integrating factors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1B15C0C-96E7-492E-B4B0-CB06B20C9098}"/>
                  </a:ext>
                </a:extLst>
              </p:cNvPr>
              <p:cNvSpPr txBox="1"/>
              <p:nvPr/>
            </p:nvSpPr>
            <p:spPr>
              <a:xfrm>
                <a:off x="137963" y="959543"/>
                <a:ext cx="11713378" cy="624273"/>
              </a:xfrm>
              <a:prstGeom prst="rect">
                <a:avLst/>
              </a:prstGeom>
              <a:noFill/>
            </p:spPr>
            <p:txBody>
              <a:bodyPr wrap="square" rtlCol="0">
                <a:spAutoFit/>
              </a:bodyPr>
              <a:lstStyle/>
              <a:p>
                <a:r>
                  <a:rPr lang="en-AU" sz="2400" dirty="0">
                    <a:latin typeface="+mj-lt"/>
                  </a:rPr>
                  <a:t>Solve the equation: </a:t>
                </a:r>
                <a14:m>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𝑦</m:t>
                        </m:r>
                      </m:num>
                      <m:den>
                        <m:r>
                          <a:rPr lang="en-AU" sz="2400" b="0" i="1" smtClean="0">
                            <a:latin typeface="Cambria Math" panose="02040503050406030204" pitchFamily="18" charset="0"/>
                          </a:rPr>
                          <m:t>𝑥</m:t>
                        </m:r>
                      </m:den>
                    </m:f>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cosh</m:t>
                        </m:r>
                      </m:fName>
                      <m:e>
                        <m:r>
                          <a:rPr lang="en-AU" sz="2400" b="0" i="1" smtClean="0">
                            <a:latin typeface="Cambria Math" panose="02040503050406030204" pitchFamily="18" charset="0"/>
                          </a:rPr>
                          <m:t>𝑥</m:t>
                        </m:r>
                      </m:e>
                    </m:func>
                  </m:oMath>
                </a14:m>
                <a:r>
                  <a:rPr lang="en-GB" sz="2400" dirty="0">
                    <a:latin typeface="+mj-lt"/>
                  </a:rPr>
                  <a:t>,  assumed that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≠0</m:t>
                    </m:r>
                  </m:oMath>
                </a14:m>
                <a:endParaRPr lang="en-GB" sz="2400" dirty="0">
                  <a:latin typeface="+mj-lt"/>
                </a:endParaRPr>
              </a:p>
            </p:txBody>
          </p:sp>
        </mc:Choice>
        <mc:Fallback xmlns="">
          <p:sp>
            <p:nvSpPr>
              <p:cNvPr id="10" name="TextBox 9">
                <a:extLst>
                  <a:ext uri="{FF2B5EF4-FFF2-40B4-BE49-F238E27FC236}">
                    <a16:creationId xmlns:a16="http://schemas.microsoft.com/office/drawing/2014/main" id="{F1B15C0C-96E7-492E-B4B0-CB06B20C9098}"/>
                  </a:ext>
                </a:extLst>
              </p:cNvPr>
              <p:cNvSpPr txBox="1">
                <a:spLocks noRot="1" noChangeAspect="1" noMove="1" noResize="1" noEditPoints="1" noAdjustHandles="1" noChangeArrowheads="1" noChangeShapeType="1" noTextEdit="1"/>
              </p:cNvSpPr>
              <p:nvPr/>
            </p:nvSpPr>
            <p:spPr>
              <a:xfrm>
                <a:off x="137963" y="959543"/>
                <a:ext cx="11713378" cy="624273"/>
              </a:xfrm>
              <a:prstGeom prst="rect">
                <a:avLst/>
              </a:prstGeom>
              <a:blipFill>
                <a:blip r:embed="rId2"/>
                <a:stretch>
                  <a:fillRect l="-833" b="-8738"/>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51A91D4E-EC37-42D8-9879-C18D1BEB944E}"/>
              </a:ext>
            </a:extLst>
          </p:cNvPr>
          <p:cNvPicPr>
            <a:picLocks noChangeAspect="1"/>
          </p:cNvPicPr>
          <p:nvPr/>
        </p:nvPicPr>
        <p:blipFill>
          <a:blip r:embed="rId3"/>
          <a:stretch>
            <a:fillRect/>
          </a:stretch>
        </p:blipFill>
        <p:spPr>
          <a:xfrm>
            <a:off x="6920968" y="2360044"/>
            <a:ext cx="4930373" cy="3119120"/>
          </a:xfrm>
          <a:prstGeom prst="rect">
            <a:avLst/>
          </a:prstGeom>
        </p:spPr>
      </p:pic>
    </p:spTree>
    <p:extLst>
      <p:ext uri="{BB962C8B-B14F-4D97-AF65-F5344CB8AC3E}">
        <p14:creationId xmlns:p14="http://schemas.microsoft.com/office/powerpoint/2010/main" val="62220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386685" cy="523220"/>
          </a:xfrm>
          <a:prstGeom prst="rect">
            <a:avLst/>
          </a:prstGeom>
          <a:noFill/>
        </p:spPr>
        <p:txBody>
          <a:bodyPr wrap="none" rtlCol="0">
            <a:spAutoFit/>
          </a:bodyPr>
          <a:lstStyle/>
          <a:p>
            <a:r>
              <a:rPr lang="en-AU" sz="2800" b="1" cap="small" dirty="0">
                <a:solidFill>
                  <a:schemeClr val="bg1"/>
                </a:solidFill>
                <a:latin typeface="+mj-lt"/>
              </a:rPr>
              <a:t>6.3 First order linear DE: integrating factors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1B15C0C-96E7-492E-B4B0-CB06B20C9098}"/>
                  </a:ext>
                </a:extLst>
              </p:cNvPr>
              <p:cNvSpPr txBox="1"/>
              <p:nvPr/>
            </p:nvSpPr>
            <p:spPr>
              <a:xfrm>
                <a:off x="137963" y="959543"/>
                <a:ext cx="11713378" cy="1271438"/>
              </a:xfrm>
              <a:prstGeom prst="rect">
                <a:avLst/>
              </a:prstGeom>
              <a:noFill/>
            </p:spPr>
            <p:txBody>
              <a:bodyPr wrap="square" rtlCol="0">
                <a:spAutoFit/>
              </a:bodyPr>
              <a:lstStyle/>
              <a:p>
                <a:r>
                  <a:rPr lang="en-AU" sz="2400" dirty="0">
                    <a:latin typeface="+mj-lt"/>
                  </a:rPr>
                  <a:t>Find the solution to the following IVP:</a:t>
                </a:r>
                <a14:m>
                  <m:oMath xmlns:m="http://schemas.openxmlformats.org/officeDocument/2006/math">
                    <m:r>
                      <a:rPr lang="en-AU" sz="2400" b="0" i="0" smtClean="0">
                        <a:latin typeface="Cambria Math" panose="02040503050406030204" pitchFamily="18" charset="0"/>
                      </a:rPr>
                      <m:t> </m:t>
                    </m:r>
                    <m:d>
                      <m:dPr>
                        <m:begChr m:val="{"/>
                        <m:endChr m:val=""/>
                        <m:ctrlPr>
                          <a:rPr lang="en-GB" sz="2400" i="1" smtClean="0">
                            <a:latin typeface="Cambria Math" panose="02040503050406030204" pitchFamily="18" charset="0"/>
                          </a:rPr>
                        </m:ctrlPr>
                      </m:dPr>
                      <m:e>
                        <m:m>
                          <m:mPr>
                            <m:mcs>
                              <m:mc>
                                <m:mcPr>
                                  <m:count m:val="1"/>
                                  <m:mcJc m:val="center"/>
                                </m:mcPr>
                              </m:mc>
                            </m:mcs>
                            <m:ctrlPr>
                              <a:rPr lang="en-GB" sz="2400" i="1" smtClean="0">
                                <a:latin typeface="Cambria Math" panose="02040503050406030204" pitchFamily="18" charset="0"/>
                              </a:rPr>
                            </m:ctrlPr>
                          </m:mPr>
                          <m:mr>
                            <m:e>
                              <m:f>
                                <m:fPr>
                                  <m:ctrlPr>
                                    <a:rPr lang="en-AU" sz="2400" b="0" i="1" smtClean="0">
                                      <a:latin typeface="Cambria Math" panose="02040503050406030204" pitchFamily="18" charset="0"/>
                                    </a:rPr>
                                  </m:ctrlPr>
                                </m:fPr>
                                <m:num>
                                  <m:r>
                                    <m:rPr>
                                      <m:brk m:alnAt="7"/>
                                    </m:rPr>
                                    <a:rPr lang="en-AU" sz="2400" b="0" i="1" smtClean="0">
                                      <a:latin typeface="Cambria Math" panose="02040503050406030204" pitchFamily="18" charset="0"/>
                                    </a:rPr>
                                    <m:t>𝑑</m:t>
                                  </m:r>
                                  <m:r>
                                    <a:rPr lang="en-AU" sz="2400" b="0" i="1" smtClean="0">
                                      <a:latin typeface="Cambria Math" panose="02040503050406030204" pitchFamily="18" charset="0"/>
                                    </a:rPr>
                                    <m:t>𝑦</m:t>
                                  </m:r>
                                </m:num>
                                <m:den>
                                  <m:r>
                                    <m:rPr>
                                      <m:brk m:alnAt="7"/>
                                    </m:rPr>
                                    <a:rPr lang="en-AU" sz="2400" b="0" i="1" smtClean="0">
                                      <a:latin typeface="Cambria Math" panose="02040503050406030204" pitchFamily="18" charset="0"/>
                                    </a:rPr>
                                    <m:t>𝑑</m:t>
                                  </m:r>
                                  <m:r>
                                    <a:rPr lang="en-AU" sz="2400" b="0" i="1" smtClean="0">
                                      <a:latin typeface="Cambria Math" panose="02040503050406030204" pitchFamily="18" charset="0"/>
                                    </a:rPr>
                                    <m:t>𝑥</m:t>
                                  </m:r>
                                </m:den>
                              </m:f>
                              <m:r>
                                <m:rPr>
                                  <m:brk m:alnAt="7"/>
                                </m:rPr>
                                <a:rPr lang="en-AU" sz="2400" b="0" i="1" smtClean="0">
                                  <a:latin typeface="Cambria Math" panose="02040503050406030204" pitchFamily="18" charset="0"/>
                                </a:rPr>
                                <m:t>+</m:t>
                              </m:r>
                              <m:r>
                                <a:rPr lang="en-AU" sz="2400" b="0" i="1" smtClean="0">
                                  <a:latin typeface="Cambria Math" panose="02040503050406030204" pitchFamily="18" charset="0"/>
                                </a:rPr>
                                <m:t>𝑦</m:t>
                              </m:r>
                              <m:func>
                                <m:funcPr>
                                  <m:ctrlPr>
                                    <a:rPr lang="en-AU" sz="2400" b="0" i="1" smtClean="0">
                                      <a:latin typeface="Cambria Math" panose="02040503050406030204" pitchFamily="18" charset="0"/>
                                    </a:rPr>
                                  </m:ctrlPr>
                                </m:funcPr>
                                <m:fName>
                                  <m:r>
                                    <m:rPr>
                                      <m:sty m:val="p"/>
                                      <m:brk m:alnAt="7"/>
                                    </m:rPr>
                                    <a:rPr lang="en-AU" sz="2400" b="0" i="0" smtClean="0">
                                      <a:latin typeface="Cambria Math" panose="02040503050406030204" pitchFamily="18" charset="0"/>
                                    </a:rPr>
                                    <m:t>t</m:t>
                                  </m:r>
                                  <m:r>
                                    <m:rPr>
                                      <m:sty m:val="p"/>
                                    </m:rPr>
                                    <a:rPr lang="en-AU" sz="2400" b="0" i="0" smtClean="0">
                                      <a:latin typeface="Cambria Math" panose="02040503050406030204" pitchFamily="18" charset="0"/>
                                    </a:rPr>
                                    <m:t>an</m:t>
                                  </m:r>
                                </m:fName>
                                <m:e>
                                  <m:r>
                                    <a:rPr lang="en-AU" sz="2400" b="0" i="1" smtClean="0">
                                      <a:latin typeface="Cambria Math" panose="02040503050406030204" pitchFamily="18" charset="0"/>
                                    </a:rPr>
                                    <m:t>𝑥</m:t>
                                  </m:r>
                                </m:e>
                              </m:func>
                              <m:r>
                                <m:rPr>
                                  <m:brk m:alnAt="7"/>
                                </m:rP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sSup>
                                    <m:sSupPr>
                                      <m:ctrlPr>
                                        <a:rPr lang="en-AU" sz="2400" b="0" i="1" smtClean="0">
                                          <a:latin typeface="Cambria Math" panose="02040503050406030204" pitchFamily="18" charset="0"/>
                                        </a:rPr>
                                      </m:ctrlPr>
                                    </m:sSupPr>
                                    <m:e>
                                      <m:r>
                                        <m:rPr>
                                          <m:sty m:val="p"/>
                                          <m:brk m:alnAt="7"/>
                                        </m:rPr>
                                        <a:rPr lang="en-AU" sz="2400">
                                          <a:latin typeface="Cambria Math" panose="02040503050406030204" pitchFamily="18" charset="0"/>
                                        </a:rPr>
                                        <m:t>c</m:t>
                                      </m:r>
                                      <m:r>
                                        <m:rPr>
                                          <m:sty m:val="p"/>
                                        </m:rPr>
                                        <a:rPr lang="en-AU" sz="2400">
                                          <a:latin typeface="Cambria Math" panose="02040503050406030204" pitchFamily="18" charset="0"/>
                                        </a:rPr>
                                        <m:t>os</m:t>
                                      </m:r>
                                    </m:e>
                                    <m:sup>
                                      <m:r>
                                        <a:rPr lang="en-AU" sz="2400" b="0" i="1" smtClean="0">
                                          <a:latin typeface="Cambria Math" panose="02040503050406030204" pitchFamily="18" charset="0"/>
                                        </a:rPr>
                                        <m:t>3</m:t>
                                      </m:r>
                                    </m:sup>
                                  </m:sSup>
                                </m:fName>
                                <m:e>
                                  <m:r>
                                    <a:rPr lang="en-AU" sz="2400" b="0" i="1" smtClean="0">
                                      <a:latin typeface="Cambria Math" panose="02040503050406030204" pitchFamily="18" charset="0"/>
                                    </a:rPr>
                                    <m:t>𝑥</m:t>
                                  </m:r>
                                </m:e>
                              </m:func>
                            </m:e>
                          </m:mr>
                          <m:mr>
                            <m:e>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=1</m:t>
                              </m:r>
                            </m:e>
                          </m:mr>
                        </m:m>
                      </m:e>
                    </m:d>
                  </m:oMath>
                </a14:m>
                <a:endParaRPr lang="en-GB" sz="2400" dirty="0">
                  <a:latin typeface="+mj-lt"/>
                </a:endParaRPr>
              </a:p>
            </p:txBody>
          </p:sp>
        </mc:Choice>
        <mc:Fallback xmlns="">
          <p:sp>
            <p:nvSpPr>
              <p:cNvPr id="10" name="TextBox 9">
                <a:extLst>
                  <a:ext uri="{FF2B5EF4-FFF2-40B4-BE49-F238E27FC236}">
                    <a16:creationId xmlns:a16="http://schemas.microsoft.com/office/drawing/2014/main" id="{F1B15C0C-96E7-492E-B4B0-CB06B20C9098}"/>
                  </a:ext>
                </a:extLst>
              </p:cNvPr>
              <p:cNvSpPr txBox="1">
                <a:spLocks noRot="1" noChangeAspect="1" noMove="1" noResize="1" noEditPoints="1" noAdjustHandles="1" noChangeArrowheads="1" noChangeShapeType="1" noTextEdit="1"/>
              </p:cNvSpPr>
              <p:nvPr/>
            </p:nvSpPr>
            <p:spPr>
              <a:xfrm>
                <a:off x="137963" y="959543"/>
                <a:ext cx="11713378" cy="1271438"/>
              </a:xfrm>
              <a:prstGeom prst="rect">
                <a:avLst/>
              </a:prstGeom>
              <a:blipFill>
                <a:blip r:embed="rId2"/>
                <a:stretch>
                  <a:fillRect l="-833"/>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862E5851-3A90-4BF3-986C-2D6A045E2182}"/>
              </a:ext>
            </a:extLst>
          </p:cNvPr>
          <p:cNvPicPr>
            <a:picLocks noChangeAspect="1"/>
          </p:cNvPicPr>
          <p:nvPr/>
        </p:nvPicPr>
        <p:blipFill>
          <a:blip r:embed="rId3"/>
          <a:stretch>
            <a:fillRect/>
          </a:stretch>
        </p:blipFill>
        <p:spPr>
          <a:xfrm>
            <a:off x="7312607" y="2760038"/>
            <a:ext cx="4538734" cy="2453370"/>
          </a:xfrm>
          <a:prstGeom prst="rect">
            <a:avLst/>
          </a:prstGeom>
        </p:spPr>
      </p:pic>
      <p:sp>
        <p:nvSpPr>
          <p:cNvPr id="5" name="Rectangle 4">
            <a:extLst>
              <a:ext uri="{FF2B5EF4-FFF2-40B4-BE49-F238E27FC236}">
                <a16:creationId xmlns:a16="http://schemas.microsoft.com/office/drawing/2014/main" id="{FB6CFF8E-4D48-40F9-A66C-2C32EA48574A}"/>
              </a:ext>
            </a:extLst>
          </p:cNvPr>
          <p:cNvSpPr/>
          <p:nvPr/>
        </p:nvSpPr>
        <p:spPr>
          <a:xfrm>
            <a:off x="11752729" y="637390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2567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5225533"/>
              </a:xfrm>
              <a:prstGeom prst="rect">
                <a:avLst/>
              </a:prstGeom>
              <a:noFill/>
            </p:spPr>
            <p:txBody>
              <a:bodyPr wrap="square" rtlCol="0">
                <a:spAutoFit/>
              </a:bodyPr>
              <a:lstStyle/>
              <a:p>
                <a:r>
                  <a:rPr lang="en-AU" sz="2400" b="1" dirty="0">
                    <a:latin typeface="+mj-lt"/>
                  </a:rPr>
                  <a:t>Population modelling: the logistic model</a:t>
                </a:r>
              </a:p>
              <a:p>
                <a:r>
                  <a:rPr lang="en-AU" sz="2400" dirty="0">
                    <a:latin typeface="+mj-lt"/>
                  </a:rPr>
                  <a:t>Consider a population where the number of individuals that are alive at a given time </a:t>
                </a:r>
                <a14:m>
                  <m:oMath xmlns:m="http://schemas.openxmlformats.org/officeDocument/2006/math">
                    <m:r>
                      <a:rPr lang="en-AU" sz="2400" b="0" i="1" smtClean="0">
                        <a:latin typeface="Cambria Math" panose="02040503050406030204" pitchFamily="18" charset="0"/>
                      </a:rPr>
                      <m:t>𝑡</m:t>
                    </m:r>
                  </m:oMath>
                </a14:m>
                <a:r>
                  <a:rPr lang="en-GB" sz="2400" dirty="0">
                    <a:latin typeface="+mj-lt"/>
                  </a:rPr>
                  <a:t> if given by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𝑡</m:t>
                    </m:r>
                    <m:r>
                      <a:rPr lang="en-AU" sz="2400" b="0" i="1" smtClean="0">
                        <a:latin typeface="Cambria Math" panose="02040503050406030204" pitchFamily="18" charset="0"/>
                      </a:rPr>
                      <m:t>)</m:t>
                    </m:r>
                  </m:oMath>
                </a14:m>
                <a:r>
                  <a:rPr lang="en-GB" sz="2400" dirty="0">
                    <a:latin typeface="+mj-lt"/>
                  </a:rPr>
                  <a:t>. It is fair to suppose that the rate of growth at time </a:t>
                </a:r>
                <a14:m>
                  <m:oMath xmlns:m="http://schemas.openxmlformats.org/officeDocument/2006/math">
                    <m:r>
                      <a:rPr lang="en-AU" sz="2400" i="1">
                        <a:latin typeface="Cambria Math" panose="02040503050406030204" pitchFamily="18" charset="0"/>
                      </a:rPr>
                      <m:t>𝑡</m:t>
                    </m:r>
                  </m:oMath>
                </a14:m>
                <a:r>
                  <a:rPr lang="en-GB" sz="2400" dirty="0">
                    <a:latin typeface="+mj-lt"/>
                  </a:rPr>
                  <a:t> is proportional to the number of individuals already present at time </a:t>
                </a:r>
                <a14:m>
                  <m:oMath xmlns:m="http://schemas.openxmlformats.org/officeDocument/2006/math">
                    <m:r>
                      <a:rPr lang="en-AU" sz="2400" i="1">
                        <a:latin typeface="Cambria Math" panose="02040503050406030204" pitchFamily="18" charset="0"/>
                      </a:rPr>
                      <m:t>𝑡</m:t>
                    </m:r>
                  </m:oMath>
                </a14:m>
                <a:r>
                  <a:rPr lang="en-GB" sz="2400" dirty="0">
                    <a:latin typeface="+mj-lt"/>
                  </a:rPr>
                  <a:t>, that is</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𝑑𝑥</m:t>
                          </m:r>
                        </m:num>
                        <m:den>
                          <m:r>
                            <a:rPr lang="en-AU" sz="2400" b="0" i="1" smtClean="0">
                              <a:latin typeface="Cambria Math" panose="02040503050406030204" pitchFamily="18" charset="0"/>
                            </a:rPr>
                            <m:t>𝑑𝑡</m:t>
                          </m:r>
                        </m:den>
                      </m:f>
                      <m:r>
                        <a:rPr lang="en-AU" sz="2400" b="0" i="1" smtClean="0">
                          <a:latin typeface="Cambria Math" panose="02040503050406030204" pitchFamily="18" charset="0"/>
                        </a:rPr>
                        <m:t>=</m:t>
                      </m:r>
                      <m:r>
                        <a:rPr lang="en-AU" sz="2400" b="0" i="1" smtClean="0">
                          <a:latin typeface="Cambria Math" panose="02040503050406030204" pitchFamily="18" charset="0"/>
                        </a:rPr>
                        <m:t>𝑘𝑥</m:t>
                      </m:r>
                    </m:oMath>
                  </m:oMathPara>
                </a14:m>
                <a:endParaRPr lang="en-GB" sz="2400" dirty="0">
                  <a:latin typeface="+mj-lt"/>
                </a:endParaRPr>
              </a:p>
              <a:p>
                <a:r>
                  <a:rPr lang="en-GB" sz="2400" dirty="0">
                    <a:latin typeface="+mj-lt"/>
                  </a:rPr>
                  <a:t>where </a:t>
                </a:r>
                <a14:m>
                  <m:oMath xmlns:m="http://schemas.openxmlformats.org/officeDocument/2006/math">
                    <m:r>
                      <a:rPr lang="en-AU" sz="2400" b="0" i="1" smtClean="0">
                        <a:latin typeface="Cambria Math" panose="02040503050406030204" pitchFamily="18" charset="0"/>
                      </a:rPr>
                      <m:t>𝑘</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GB" sz="2400" dirty="0">
                    <a:latin typeface="+mj-lt"/>
                  </a:rPr>
                  <a:t> is a constant, usually called the net birth rate. A </a:t>
                </a:r>
                <a14:m>
                  <m:oMath xmlns:m="http://schemas.openxmlformats.org/officeDocument/2006/math">
                    <m:r>
                      <a:rPr lang="en-AU" sz="2400" b="0" i="1" smtClean="0">
                        <a:latin typeface="Cambria Math" panose="02040503050406030204" pitchFamily="18" charset="0"/>
                      </a:rPr>
                      <m:t>𝑘</m:t>
                    </m:r>
                    <m:r>
                      <a:rPr lang="en-AU" sz="2400" b="0" i="1" smtClean="0">
                        <a:latin typeface="Cambria Math" panose="02040503050406030204" pitchFamily="18" charset="0"/>
                      </a:rPr>
                      <m:t>&gt;0</m:t>
                    </m:r>
                  </m:oMath>
                </a14:m>
                <a:r>
                  <a:rPr lang="en-GB" sz="2400" dirty="0">
                    <a:latin typeface="+mj-lt"/>
                  </a:rPr>
                  <a:t> indicates a growing population whereas a </a:t>
                </a:r>
                <a14:m>
                  <m:oMath xmlns:m="http://schemas.openxmlformats.org/officeDocument/2006/math">
                    <m:r>
                      <a:rPr lang="en-AU" sz="2400" b="0" i="1" smtClean="0">
                        <a:latin typeface="Cambria Math" panose="02040503050406030204" pitchFamily="18" charset="0"/>
                      </a:rPr>
                      <m:t>𝑘</m:t>
                    </m:r>
                    <m:r>
                      <a:rPr lang="en-AU" sz="2400" b="0" i="1" smtClean="0">
                        <a:latin typeface="Cambria Math" panose="02040503050406030204" pitchFamily="18" charset="0"/>
                      </a:rPr>
                      <m:t>&lt;0</m:t>
                    </m:r>
                  </m:oMath>
                </a14:m>
                <a:r>
                  <a:rPr lang="en-GB" sz="2400" dirty="0">
                    <a:latin typeface="+mj-lt"/>
                  </a:rPr>
                  <a:t> indicates a declining population. The larger the net birth rate the faster the population expands in numbers.</a:t>
                </a:r>
              </a:p>
              <a:p>
                <a:r>
                  <a:rPr lang="en-GB" sz="2400" dirty="0">
                    <a:latin typeface="+mj-lt"/>
                  </a:rPr>
                  <a:t>According to this model, the population is bound to grow indefinitely and forever if </a:t>
                </a:r>
                <a14:m>
                  <m:oMath xmlns:m="http://schemas.openxmlformats.org/officeDocument/2006/math">
                    <m:r>
                      <a:rPr lang="en-AU" sz="2400" b="0" i="1" smtClean="0">
                        <a:latin typeface="Cambria Math" panose="02040503050406030204" pitchFamily="18" charset="0"/>
                      </a:rPr>
                      <m:t>𝑘</m:t>
                    </m:r>
                    <m:r>
                      <a:rPr lang="en-AU" sz="2400" b="0" i="1" smtClean="0">
                        <a:latin typeface="Cambria Math" panose="02040503050406030204" pitchFamily="18" charset="0"/>
                      </a:rPr>
                      <m:t>&gt;0</m:t>
                    </m:r>
                  </m:oMath>
                </a14:m>
                <a:r>
                  <a:rPr lang="en-GB" sz="2400" dirty="0">
                    <a:latin typeface="+mj-lt"/>
                  </a:rPr>
                  <a:t>. This is not realistic: there are always adverse factors that limit indefinite grow such as death, lack of food or natural resources, diseases, overcrowding, etc. A counterbalancing term must be present in the model to account for this.</a:t>
                </a:r>
              </a:p>
              <a:p>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86870" y="1079583"/>
                <a:ext cx="11672047" cy="5225533"/>
              </a:xfrm>
              <a:prstGeom prst="rect">
                <a:avLst/>
              </a:prstGeom>
              <a:blipFill>
                <a:blip r:embed="rId2"/>
                <a:stretch>
                  <a:fillRect l="-783" t="-933" r="-574"/>
                </a:stretch>
              </a:blipFill>
            </p:spPr>
            <p:txBody>
              <a:bodyPr/>
              <a:lstStyle/>
              <a:p>
                <a:r>
                  <a:rPr lang="en-GB">
                    <a:noFill/>
                  </a:rPr>
                  <a:t> </a:t>
                </a:r>
              </a:p>
            </p:txBody>
          </p:sp>
        </mc:Fallback>
      </mc:AlternateContent>
    </p:spTree>
    <p:extLst>
      <p:ext uri="{BB962C8B-B14F-4D97-AF65-F5344CB8AC3E}">
        <p14:creationId xmlns:p14="http://schemas.microsoft.com/office/powerpoint/2010/main" val="4288944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4486869"/>
              </a:xfrm>
              <a:prstGeom prst="rect">
                <a:avLst/>
              </a:prstGeom>
              <a:noFill/>
            </p:spPr>
            <p:txBody>
              <a:bodyPr wrap="square" rtlCol="0">
                <a:spAutoFit/>
              </a:bodyPr>
              <a:lstStyle/>
              <a:p>
                <a:r>
                  <a:rPr lang="en-AU" sz="2400" dirty="0">
                    <a:latin typeface="+mj-lt"/>
                  </a:rPr>
                  <a:t>One possibility is</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𝑑𝑥</m:t>
                          </m:r>
                        </m:num>
                        <m:den>
                          <m:r>
                            <a:rPr lang="en-AU" sz="2400" b="0" i="1" smtClean="0">
                              <a:latin typeface="Cambria Math" panose="02040503050406030204" pitchFamily="18" charset="0"/>
                            </a:rPr>
                            <m:t>𝑑𝑡</m:t>
                          </m:r>
                        </m:den>
                      </m:f>
                      <m:r>
                        <a:rPr lang="en-AU" sz="2400" b="0" i="1" smtClean="0">
                          <a:latin typeface="Cambria Math" panose="02040503050406030204" pitchFamily="18" charset="0"/>
                        </a:rPr>
                        <m:t>=</m:t>
                      </m:r>
                      <m:r>
                        <a:rPr lang="en-AU" sz="2400" b="0" i="1" smtClean="0">
                          <a:latin typeface="Cambria Math" panose="02040503050406030204" pitchFamily="18" charset="0"/>
                        </a:rPr>
                        <m:t>𝑘𝑥</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𝑘</m:t>
                          </m:r>
                        </m:num>
                        <m:den>
                          <m:r>
                            <a:rPr lang="en-AU" sz="2400" b="0" i="1" smtClean="0">
                              <a:latin typeface="Cambria Math" panose="02040503050406030204" pitchFamily="18" charset="0"/>
                            </a:rPr>
                            <m:t>𝑏</m:t>
                          </m:r>
                        </m:den>
                      </m:f>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𝑘</m:t>
                          </m:r>
                        </m:num>
                        <m:den>
                          <m:r>
                            <a:rPr lang="en-AU" sz="2400" b="0" i="1" smtClean="0">
                              <a:latin typeface="Cambria Math" panose="02040503050406030204" pitchFamily="18" charset="0"/>
                            </a:rPr>
                            <m:t>𝑏</m:t>
                          </m:r>
                        </m:den>
                      </m:f>
                      <m:r>
                        <a:rPr lang="en-AU" sz="2400" b="0" i="1" smtClean="0">
                          <a:latin typeface="Cambria Math" panose="02040503050406030204" pitchFamily="18" charset="0"/>
                        </a:rPr>
                        <m:t>𝑥</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𝑥</m:t>
                          </m:r>
                        </m:e>
                      </m:d>
                    </m:oMath>
                  </m:oMathPara>
                </a14:m>
                <a:endParaRPr lang="en-AU" sz="2400" b="0" dirty="0">
                  <a:latin typeface="+mj-lt"/>
                </a:endParaRPr>
              </a:p>
              <a:p>
                <a:endParaRPr lang="en-GB" sz="2400" dirty="0">
                  <a:latin typeface="+mj-lt"/>
                </a:endParaRPr>
              </a:p>
              <a:p>
                <a:r>
                  <a:rPr lang="en-GB" sz="2400" dirty="0">
                    <a:latin typeface="+mj-lt"/>
                  </a:rPr>
                  <a:t>where </a:t>
                </a:r>
                <a14:m>
                  <m:oMath xmlns:m="http://schemas.openxmlformats.org/officeDocument/2006/math">
                    <m:r>
                      <a:rPr lang="en-AU" sz="2400" b="0" i="1" smtClean="0">
                        <a:latin typeface="Cambria Math" panose="02040503050406030204" pitchFamily="18" charset="0"/>
                      </a:rPr>
                      <m:t>𝑏</m:t>
                    </m:r>
                    <m:r>
                      <a:rPr lang="en-AU" sz="2400" b="0" i="1" smtClean="0">
                        <a:latin typeface="Cambria Math" panose="02040503050406030204" pitchFamily="18" charset="0"/>
                      </a:rPr>
                      <m:t>&gt;0</m:t>
                    </m:r>
                  </m:oMath>
                </a14:m>
                <a:r>
                  <a:rPr lang="en-GB" sz="2400" dirty="0">
                    <a:latin typeface="+mj-lt"/>
                  </a:rPr>
                  <a:t> is called the carrying capacity. The carrying capacity provides the maximum number of individuals that can be present in the population in the long term. The term is associated with the square of the number of individuals present. This means that, depending on the value of </a:t>
                </a:r>
                <a14:m>
                  <m:oMath xmlns:m="http://schemas.openxmlformats.org/officeDocument/2006/math">
                    <m:r>
                      <a:rPr lang="en-AU" sz="2400" b="0" i="1" smtClean="0">
                        <a:latin typeface="Cambria Math" panose="02040503050406030204" pitchFamily="18" charset="0"/>
                      </a:rPr>
                      <m:t>𝑏</m:t>
                    </m:r>
                  </m:oMath>
                </a14:m>
                <a:r>
                  <a:rPr lang="en-GB" sz="2400" dirty="0">
                    <a:latin typeface="+mj-lt"/>
                  </a:rPr>
                  <a:t>, these effects rapidly set in and tend to erode population numbers faster than the net birth rate.</a:t>
                </a:r>
              </a:p>
              <a:p>
                <a:r>
                  <a:rPr lang="en-GB" sz="2400" dirty="0">
                    <a:latin typeface="+mj-lt"/>
                  </a:rPr>
                  <a:t>The previous equation is the so-called “logistic model” of population dynamics, and was proposed in 1845 by the Belgian mathematician Pierre Verhulst.</a:t>
                </a:r>
              </a:p>
              <a:p>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86870" y="1079583"/>
                <a:ext cx="11672047" cy="4486869"/>
              </a:xfrm>
              <a:prstGeom prst="rect">
                <a:avLst/>
              </a:prstGeom>
              <a:blipFill>
                <a:blip r:embed="rId2"/>
                <a:stretch>
                  <a:fillRect l="-783" t="-1087"/>
                </a:stretch>
              </a:blipFill>
            </p:spPr>
            <p:txBody>
              <a:bodyPr/>
              <a:lstStyle/>
              <a:p>
                <a:r>
                  <a:rPr lang="en-GB">
                    <a:noFill/>
                  </a:rPr>
                  <a:t> </a:t>
                </a:r>
              </a:p>
            </p:txBody>
          </p:sp>
        </mc:Fallback>
      </mc:AlternateContent>
    </p:spTree>
    <p:extLst>
      <p:ext uri="{BB962C8B-B14F-4D97-AF65-F5344CB8AC3E}">
        <p14:creationId xmlns:p14="http://schemas.microsoft.com/office/powerpoint/2010/main" val="1189825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1532214"/>
              </a:xfrm>
              <a:prstGeom prst="rect">
                <a:avLst/>
              </a:prstGeom>
              <a:noFill/>
            </p:spPr>
            <p:txBody>
              <a:bodyPr wrap="square" rtlCol="0">
                <a:spAutoFit/>
              </a:bodyPr>
              <a:lstStyle/>
              <a:p>
                <a:r>
                  <a:rPr lang="en-AU" sz="2400" dirty="0">
                    <a:latin typeface="+mj-lt"/>
                  </a:rPr>
                  <a:t>To solve the equation we use separation of variables:</a:t>
                </a:r>
              </a:p>
              <a:p>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𝑑𝑥</m:t>
                          </m:r>
                        </m:num>
                        <m:den>
                          <m:r>
                            <a:rPr lang="en-AU" sz="2400" b="0" i="1" smtClean="0">
                              <a:latin typeface="Cambria Math" panose="02040503050406030204" pitchFamily="18" charset="0"/>
                            </a:rPr>
                            <m:t>𝑑𝑡</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𝑘</m:t>
                          </m:r>
                        </m:num>
                        <m:den>
                          <m:r>
                            <a:rPr lang="en-AU" sz="2400" b="0" i="1" smtClean="0">
                              <a:latin typeface="Cambria Math" panose="02040503050406030204" pitchFamily="18" charset="0"/>
                            </a:rPr>
                            <m:t>𝑏</m:t>
                          </m:r>
                        </m:den>
                      </m:f>
                      <m:r>
                        <a:rPr lang="en-AU" sz="2400" b="0" i="1" smtClean="0">
                          <a:latin typeface="Cambria Math" panose="02040503050406030204" pitchFamily="18" charset="0"/>
                        </a:rPr>
                        <m:t>𝑥</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𝑥</m:t>
                          </m:r>
                        </m:e>
                      </m:d>
                    </m:oMath>
                  </m:oMathPara>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86870" y="1079583"/>
                <a:ext cx="11672047" cy="1532214"/>
              </a:xfrm>
              <a:prstGeom prst="rect">
                <a:avLst/>
              </a:prstGeom>
              <a:blipFill>
                <a:blip r:embed="rId2"/>
                <a:stretch>
                  <a:fillRect l="-783" t="-3187"/>
                </a:stretch>
              </a:blipFill>
            </p:spPr>
            <p:txBody>
              <a:bodyPr/>
              <a:lstStyle/>
              <a:p>
                <a:r>
                  <a:rPr lang="en-GB">
                    <a:noFill/>
                  </a:rPr>
                  <a:t> </a:t>
                </a:r>
              </a:p>
            </p:txBody>
          </p:sp>
        </mc:Fallback>
      </mc:AlternateContent>
    </p:spTree>
    <p:extLst>
      <p:ext uri="{BB962C8B-B14F-4D97-AF65-F5344CB8AC3E}">
        <p14:creationId xmlns:p14="http://schemas.microsoft.com/office/powerpoint/2010/main" val="4281483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1569660"/>
              </a:xfrm>
              <a:prstGeom prst="rect">
                <a:avLst/>
              </a:prstGeom>
              <a:noFill/>
            </p:spPr>
            <p:txBody>
              <a:bodyPr wrap="square" rtlCol="0">
                <a:spAutoFit/>
              </a:bodyPr>
              <a:lstStyle/>
              <a:p>
                <a:r>
                  <a:rPr lang="en-AU" sz="2400" dirty="0">
                    <a:latin typeface="+mj-lt"/>
                  </a:rPr>
                  <a:t>Let’s imagine that a population at time </a:t>
                </a:r>
                <a14:m>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=0</m:t>
                    </m:r>
                  </m:oMath>
                </a14:m>
                <a:r>
                  <a:rPr lang="en-AU" sz="2400" dirty="0">
                    <a:latin typeface="+mj-lt"/>
                  </a:rPr>
                  <a:t> is composed of 50 individuals, i.e. </a:t>
                </a:r>
                <a14:m>
                  <m:oMath xmlns:m="http://schemas.openxmlformats.org/officeDocument/2006/math">
                    <m:r>
                      <a:rPr lang="en-AU" sz="2400" b="0" i="1" smtClean="0">
                        <a:latin typeface="Cambria Math" panose="02040503050406030204" pitchFamily="18" charset="0"/>
                      </a:rPr>
                      <m:t>𝑥</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=50</m:t>
                    </m:r>
                  </m:oMath>
                </a14:m>
                <a:r>
                  <a:rPr lang="en-AU" sz="2400" dirty="0">
                    <a:latin typeface="+mj-lt"/>
                  </a:rPr>
                  <a:t> and the net birth rate is </a:t>
                </a:r>
                <a14:m>
                  <m:oMath xmlns:m="http://schemas.openxmlformats.org/officeDocument/2006/math">
                    <m:r>
                      <a:rPr lang="en-AU" sz="2400" b="0" i="1" smtClean="0">
                        <a:latin typeface="Cambria Math" panose="02040503050406030204" pitchFamily="18" charset="0"/>
                      </a:rPr>
                      <m:t>𝑘</m:t>
                    </m:r>
                    <m:r>
                      <a:rPr lang="en-AU" sz="2400" b="0" i="1" smtClean="0">
                        <a:latin typeface="Cambria Math" panose="02040503050406030204" pitchFamily="18" charset="0"/>
                      </a:rPr>
                      <m:t>=3</m:t>
                    </m:r>
                  </m:oMath>
                </a14:m>
                <a:r>
                  <a:rPr lang="en-AU" sz="2400" dirty="0">
                    <a:latin typeface="+mj-lt"/>
                  </a:rPr>
                  <a:t>. This means that when the clock goes from </a:t>
                </a:r>
                <a14:m>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=0</m:t>
                    </m:r>
                  </m:oMath>
                </a14:m>
                <a:r>
                  <a:rPr lang="en-AU" sz="2400" dirty="0">
                    <a:latin typeface="+mj-lt"/>
                  </a:rPr>
                  <a:t> to </a:t>
                </a:r>
                <a14:m>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=1</m:t>
                    </m:r>
                  </m:oMath>
                </a14:m>
                <a:r>
                  <a:rPr lang="en-AU" sz="2400" dirty="0">
                    <a:latin typeface="+mj-lt"/>
                  </a:rPr>
                  <a:t>, there will be 3 more individuals in the population. Let us say that the carrying capacity is </a:t>
                </a:r>
                <a14:m>
                  <m:oMath xmlns:m="http://schemas.openxmlformats.org/officeDocument/2006/math">
                    <m:r>
                      <a:rPr lang="en-AU" sz="2400" b="0" i="1" smtClean="0">
                        <a:latin typeface="Cambria Math" panose="02040503050406030204" pitchFamily="18" charset="0"/>
                      </a:rPr>
                      <m:t>𝑏</m:t>
                    </m:r>
                    <m:r>
                      <a:rPr lang="en-AU" sz="2400" b="0" i="1" smtClean="0">
                        <a:latin typeface="Cambria Math" panose="02040503050406030204" pitchFamily="18" charset="0"/>
                      </a:rPr>
                      <m:t>=200</m:t>
                    </m:r>
                  </m:oMath>
                </a14:m>
                <a:r>
                  <a:rPr lang="en-AU" sz="2400" dirty="0">
                    <a:latin typeface="+mj-lt"/>
                  </a:rPr>
                  <a:t>, i.e. no more than 200 individuals can ever be present. How will the population evolve?</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86870" y="1079583"/>
                <a:ext cx="11672047" cy="1569660"/>
              </a:xfrm>
              <a:prstGeom prst="rect">
                <a:avLst/>
              </a:prstGeom>
              <a:blipFill>
                <a:blip r:embed="rId2"/>
                <a:stretch>
                  <a:fillRect l="-783" t="-3101" b="-77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6A3CC2A-E6DB-4687-BA30-1AD21FC0B43C}"/>
                  </a:ext>
                </a:extLst>
              </p:cNvPr>
              <p:cNvSpPr txBox="1"/>
              <p:nvPr/>
            </p:nvSpPr>
            <p:spPr>
              <a:xfrm>
                <a:off x="286870" y="2649243"/>
                <a:ext cx="11672047" cy="1640770"/>
              </a:xfrm>
              <a:prstGeom prst="rect">
                <a:avLst/>
              </a:prstGeom>
              <a:noFill/>
            </p:spPr>
            <p:txBody>
              <a:bodyPr wrap="square" rtlCol="0">
                <a:spAutoFit/>
              </a:bodyPr>
              <a:lstStyle/>
              <a:p>
                <a:r>
                  <a:rPr lang="en-AU" sz="2400" dirty="0">
                    <a:latin typeface="+mj-lt"/>
                  </a:rPr>
                  <a:t>The system is represented by the IVP and parameters:</a:t>
                </a:r>
              </a:p>
              <a:p>
                <a:r>
                  <a:rPr lang="en-AU" sz="2400" dirty="0"/>
                  <a:t> </a:t>
                </a:r>
                <a14:m>
                  <m:oMath xmlns:m="http://schemas.openxmlformats.org/officeDocument/2006/math">
                    <m:d>
                      <m:dPr>
                        <m:begChr m:val="{"/>
                        <m:endChr m:val=""/>
                        <m:ctrlPr>
                          <a:rPr lang="en-AU" sz="2400" i="1" smtClean="0">
                            <a:latin typeface="Cambria Math" panose="02040503050406030204" pitchFamily="18" charset="0"/>
                          </a:rPr>
                        </m:ctrlPr>
                      </m:dPr>
                      <m:e>
                        <m:m>
                          <m:mPr>
                            <m:mcs>
                              <m:mc>
                                <m:mcPr>
                                  <m:count m:val="1"/>
                                  <m:mcJc m:val="center"/>
                                </m:mcPr>
                              </m:mc>
                            </m:mcs>
                            <m:ctrlPr>
                              <a:rPr lang="en-AU" sz="2400" i="1" smtClean="0">
                                <a:latin typeface="Cambria Math" panose="02040503050406030204" pitchFamily="18" charset="0"/>
                              </a:rPr>
                            </m:ctrlPr>
                          </m:mPr>
                          <m:mr>
                            <m:e>
                              <m:r>
                                <m:rPr>
                                  <m:brk m:alnAt="7"/>
                                </m:rPr>
                                <a:rPr lang="en-AU" sz="2400" b="0" i="1" smtClean="0">
                                  <a:latin typeface="Cambria Math" panose="02040503050406030204" pitchFamily="18" charset="0"/>
                                </a:rPr>
                                <m:t>𝑥</m:t>
                              </m:r>
                              <m:d>
                                <m:dPr>
                                  <m:ctrlPr>
                                    <a:rPr lang="en-AU" sz="2400" b="0" i="1" smtClean="0">
                                      <a:latin typeface="Cambria Math" panose="02040503050406030204" pitchFamily="18" charset="0"/>
                                    </a:rPr>
                                  </m:ctrlPr>
                                </m:dPr>
                                <m:e>
                                  <m:r>
                                    <m:rPr>
                                      <m:brk m:alnAt="7"/>
                                    </m:rPr>
                                    <a:rPr lang="en-AU" sz="2400" b="0" i="1" smtClean="0">
                                      <a:latin typeface="Cambria Math" panose="02040503050406030204" pitchFamily="18" charset="0"/>
                                    </a:rPr>
                                    <m:t>𝑡</m:t>
                                  </m:r>
                                </m:e>
                              </m:d>
                              <m:r>
                                <m:rPr>
                                  <m:brk m:alnAt="7"/>
                                </m:rP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m:rPr>
                                      <m:brk m:alnAt="7"/>
                                    </m:rPr>
                                    <a:rPr lang="en-AU" sz="2400" b="0" i="1" smtClean="0">
                                      <a:latin typeface="Cambria Math" panose="02040503050406030204" pitchFamily="18" charset="0"/>
                                    </a:rPr>
                                    <m:t>𝐴</m:t>
                                  </m:r>
                                  <m:r>
                                    <a:rPr lang="en-AU" sz="2400" b="0" i="1" smtClean="0">
                                      <a:latin typeface="Cambria Math" panose="02040503050406030204" pitchFamily="18" charset="0"/>
                                    </a:rPr>
                                    <m:t>𝑏</m:t>
                                  </m:r>
                                  <m:sSup>
                                    <m:sSupPr>
                                      <m:ctrlPr>
                                        <a:rPr lang="en-AU" sz="2400" b="0" i="1" smtClean="0">
                                          <a:latin typeface="Cambria Math" panose="02040503050406030204" pitchFamily="18" charset="0"/>
                                        </a:rPr>
                                      </m:ctrlPr>
                                    </m:sSupPr>
                                    <m:e>
                                      <m:r>
                                        <m:rPr>
                                          <m:brk m:alnAt="7"/>
                                        </m:rPr>
                                        <a:rPr lang="en-AU" sz="2400" b="0" i="1" smtClean="0">
                                          <a:latin typeface="Cambria Math" panose="02040503050406030204" pitchFamily="18" charset="0"/>
                                        </a:rPr>
                                        <m:t>𝑒</m:t>
                                      </m:r>
                                    </m:e>
                                    <m:sup>
                                      <m:r>
                                        <m:rPr>
                                          <m:brk m:alnAt="7"/>
                                        </m:rPr>
                                        <a:rPr lang="en-AU" sz="2400" b="0" i="1" smtClean="0">
                                          <a:latin typeface="Cambria Math" panose="02040503050406030204" pitchFamily="18" charset="0"/>
                                        </a:rPr>
                                        <m:t>𝑘</m:t>
                                      </m:r>
                                      <m:r>
                                        <a:rPr lang="en-AU" sz="2400" b="0" i="1" smtClean="0">
                                          <a:latin typeface="Cambria Math" panose="02040503050406030204" pitchFamily="18" charset="0"/>
                                        </a:rPr>
                                        <m:t>𝑡</m:t>
                                      </m:r>
                                    </m:sup>
                                  </m:sSup>
                                </m:num>
                                <m:den>
                                  <m:r>
                                    <m:rPr>
                                      <m:brk m:alnAt="7"/>
                                    </m:rPr>
                                    <a:rPr lang="en-AU" sz="2400" b="0" i="1" smtClean="0">
                                      <a:latin typeface="Cambria Math" panose="02040503050406030204" pitchFamily="18" charset="0"/>
                                    </a:rPr>
                                    <m:t>1</m:t>
                                  </m:r>
                                  <m:r>
                                    <a:rPr lang="en-AU" sz="2400" b="0" i="1" smtClean="0">
                                      <a:latin typeface="Cambria Math" panose="02040503050406030204" pitchFamily="18" charset="0"/>
                                    </a:rPr>
                                    <m:t>+</m:t>
                                  </m:r>
                                  <m:r>
                                    <a:rPr lang="en-AU" sz="2400" b="0" i="1" smtClean="0">
                                      <a:latin typeface="Cambria Math" panose="02040503050406030204" pitchFamily="18" charset="0"/>
                                    </a:rPr>
                                    <m:t>𝐴</m:t>
                                  </m:r>
                                  <m:sSup>
                                    <m:sSupPr>
                                      <m:ctrlPr>
                                        <a:rPr lang="en-AU" sz="2400" b="0" i="1" smtClean="0">
                                          <a:latin typeface="Cambria Math" panose="02040503050406030204" pitchFamily="18" charset="0"/>
                                        </a:rPr>
                                      </m:ctrlPr>
                                    </m:sSupPr>
                                    <m:e>
                                      <m:r>
                                        <m:rPr>
                                          <m:brk m:alnAt="7"/>
                                        </m:rPr>
                                        <a:rPr lang="en-AU" sz="2400" b="0" i="1" smtClean="0">
                                          <a:latin typeface="Cambria Math" panose="02040503050406030204" pitchFamily="18" charset="0"/>
                                        </a:rPr>
                                        <m:t>𝑒</m:t>
                                      </m:r>
                                    </m:e>
                                    <m:sup>
                                      <m:r>
                                        <m:rPr>
                                          <m:brk m:alnAt="7"/>
                                        </m:rPr>
                                        <a:rPr lang="en-AU" sz="2400" b="0" i="1" smtClean="0">
                                          <a:latin typeface="Cambria Math" panose="02040503050406030204" pitchFamily="18" charset="0"/>
                                        </a:rPr>
                                        <m:t>𝑘</m:t>
                                      </m:r>
                                      <m:r>
                                        <a:rPr lang="en-AU" sz="2400" b="0" i="1" smtClean="0">
                                          <a:latin typeface="Cambria Math" panose="02040503050406030204" pitchFamily="18" charset="0"/>
                                        </a:rPr>
                                        <m:t>𝑡</m:t>
                                      </m:r>
                                    </m:sup>
                                  </m:sSup>
                                </m:den>
                              </m:f>
                            </m:e>
                          </m:mr>
                          <m:mr>
                            <m:e>
                              <m:r>
                                <a:rPr lang="en-AU" sz="2400" b="0" i="1" smtClean="0">
                                  <a:latin typeface="Cambria Math" panose="02040503050406030204" pitchFamily="18" charset="0"/>
                                </a:rPr>
                                <m:t>𝑥</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=50, </m:t>
                              </m:r>
                              <m:r>
                                <a:rPr lang="en-AU" sz="2400" b="0" i="1" smtClean="0">
                                  <a:latin typeface="Cambria Math" panose="02040503050406030204" pitchFamily="18" charset="0"/>
                                </a:rPr>
                                <m:t>𝑘</m:t>
                              </m:r>
                              <m:r>
                                <a:rPr lang="en-AU" sz="2400" b="0" i="1" smtClean="0">
                                  <a:latin typeface="Cambria Math" panose="02040503050406030204" pitchFamily="18" charset="0"/>
                                </a:rPr>
                                <m:t>=3,</m:t>
                              </m:r>
                              <m:r>
                                <a:rPr lang="en-AU" sz="2400" b="0" i="1" smtClean="0">
                                  <a:latin typeface="Cambria Math" panose="02040503050406030204" pitchFamily="18" charset="0"/>
                                </a:rPr>
                                <m:t>𝑏</m:t>
                              </m:r>
                              <m:r>
                                <a:rPr lang="en-AU" sz="2400" b="0" i="1" smtClean="0">
                                  <a:latin typeface="Cambria Math" panose="02040503050406030204" pitchFamily="18" charset="0"/>
                                </a:rPr>
                                <m:t>=200</m:t>
                              </m:r>
                            </m:e>
                          </m:mr>
                        </m:m>
                      </m:e>
                    </m:d>
                  </m:oMath>
                </a14:m>
                <a:endParaRPr lang="en-AU" sz="2400" dirty="0">
                  <a:latin typeface="+mj-lt"/>
                </a:endParaRPr>
              </a:p>
            </p:txBody>
          </p:sp>
        </mc:Choice>
        <mc:Fallback xmlns="">
          <p:sp>
            <p:nvSpPr>
              <p:cNvPr id="10" name="TextBox 9">
                <a:extLst>
                  <a:ext uri="{FF2B5EF4-FFF2-40B4-BE49-F238E27FC236}">
                    <a16:creationId xmlns:a16="http://schemas.microsoft.com/office/drawing/2014/main" id="{E6A3CC2A-E6DB-4687-BA30-1AD21FC0B43C}"/>
                  </a:ext>
                </a:extLst>
              </p:cNvPr>
              <p:cNvSpPr txBox="1">
                <a:spLocks noRot="1" noChangeAspect="1" noMove="1" noResize="1" noEditPoints="1" noAdjustHandles="1" noChangeArrowheads="1" noChangeShapeType="1" noTextEdit="1"/>
              </p:cNvSpPr>
              <p:nvPr/>
            </p:nvSpPr>
            <p:spPr>
              <a:xfrm>
                <a:off x="286870" y="2649243"/>
                <a:ext cx="11672047" cy="1640770"/>
              </a:xfrm>
              <a:prstGeom prst="rect">
                <a:avLst/>
              </a:prstGeom>
              <a:blipFill>
                <a:blip r:embed="rId3"/>
                <a:stretch>
                  <a:fillRect l="-783" t="-2974"/>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C68DEB9A-B1E4-407C-84BC-276DF2A4C34F}"/>
              </a:ext>
            </a:extLst>
          </p:cNvPr>
          <p:cNvPicPr>
            <a:picLocks noChangeAspect="1"/>
          </p:cNvPicPr>
          <p:nvPr/>
        </p:nvPicPr>
        <p:blipFill>
          <a:blip r:embed="rId4"/>
          <a:stretch>
            <a:fillRect/>
          </a:stretch>
        </p:blipFill>
        <p:spPr>
          <a:xfrm>
            <a:off x="5846501" y="3244981"/>
            <a:ext cx="5484887" cy="3159084"/>
          </a:xfrm>
          <a:prstGeom prst="rect">
            <a:avLst/>
          </a:prstGeom>
        </p:spPr>
      </p:pic>
    </p:spTree>
    <p:extLst>
      <p:ext uri="{BB962C8B-B14F-4D97-AF65-F5344CB8AC3E}">
        <p14:creationId xmlns:p14="http://schemas.microsoft.com/office/powerpoint/2010/main" val="3989390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p:sp>
        <p:nvSpPr>
          <p:cNvPr id="2" name="TextBox 1">
            <a:extLst>
              <a:ext uri="{FF2B5EF4-FFF2-40B4-BE49-F238E27FC236}">
                <a16:creationId xmlns:a16="http://schemas.microsoft.com/office/drawing/2014/main" id="{B13DDBE8-D68C-4484-95E4-482B97F835B2}"/>
              </a:ext>
            </a:extLst>
          </p:cNvPr>
          <p:cNvSpPr txBox="1"/>
          <p:nvPr/>
        </p:nvSpPr>
        <p:spPr>
          <a:xfrm>
            <a:off x="286870" y="1079583"/>
            <a:ext cx="11672047" cy="830997"/>
          </a:xfrm>
          <a:prstGeom prst="rect">
            <a:avLst/>
          </a:prstGeom>
          <a:noFill/>
        </p:spPr>
        <p:txBody>
          <a:bodyPr wrap="square" rtlCol="0">
            <a:spAutoFit/>
          </a:bodyPr>
          <a:lstStyle/>
          <a:p>
            <a:r>
              <a:rPr lang="en-AU" sz="2400" dirty="0">
                <a:latin typeface="+mj-lt"/>
              </a:rPr>
              <a:t>Population modelling: the logistic model</a:t>
            </a:r>
          </a:p>
          <a:p>
            <a:r>
              <a:rPr lang="en-AU" sz="2400" dirty="0">
                <a:latin typeface="+mj-lt"/>
              </a:rPr>
              <a:t>Verhulst used his model to predict the US population in 1940.</a:t>
            </a:r>
            <a:endParaRPr lang="en-AU" sz="2400" b="0" dirty="0">
              <a:latin typeface="+mj-lt"/>
            </a:endParaRPr>
          </a:p>
        </p:txBody>
      </p:sp>
      <p:pic>
        <p:nvPicPr>
          <p:cNvPr id="3" name="Picture 2">
            <a:extLst>
              <a:ext uri="{FF2B5EF4-FFF2-40B4-BE49-F238E27FC236}">
                <a16:creationId xmlns:a16="http://schemas.microsoft.com/office/drawing/2014/main" id="{0272046C-C872-4F98-8852-412F2EC350DC}"/>
              </a:ext>
            </a:extLst>
          </p:cNvPr>
          <p:cNvPicPr>
            <a:picLocks noChangeAspect="1"/>
          </p:cNvPicPr>
          <p:nvPr/>
        </p:nvPicPr>
        <p:blipFill>
          <a:blip r:embed="rId2"/>
          <a:stretch>
            <a:fillRect/>
          </a:stretch>
        </p:blipFill>
        <p:spPr>
          <a:xfrm>
            <a:off x="286870" y="2953382"/>
            <a:ext cx="3789239" cy="2139806"/>
          </a:xfrm>
          <a:prstGeom prst="rect">
            <a:avLst/>
          </a:prstGeom>
        </p:spPr>
      </p:pic>
      <p:pic>
        <p:nvPicPr>
          <p:cNvPr id="4" name="Picture 3">
            <a:extLst>
              <a:ext uri="{FF2B5EF4-FFF2-40B4-BE49-F238E27FC236}">
                <a16:creationId xmlns:a16="http://schemas.microsoft.com/office/drawing/2014/main" id="{6562F029-5BB0-43EA-8D40-E0D3F2546B89}"/>
              </a:ext>
            </a:extLst>
          </p:cNvPr>
          <p:cNvPicPr>
            <a:picLocks noChangeAspect="1"/>
          </p:cNvPicPr>
          <p:nvPr/>
        </p:nvPicPr>
        <p:blipFill>
          <a:blip r:embed="rId3"/>
          <a:stretch>
            <a:fillRect/>
          </a:stretch>
        </p:blipFill>
        <p:spPr>
          <a:xfrm>
            <a:off x="3955519" y="2909660"/>
            <a:ext cx="3904444" cy="2183528"/>
          </a:xfrm>
          <a:prstGeom prst="rect">
            <a:avLst/>
          </a:prstGeom>
        </p:spPr>
      </p:pic>
      <p:pic>
        <p:nvPicPr>
          <p:cNvPr id="5" name="Picture 4">
            <a:extLst>
              <a:ext uri="{FF2B5EF4-FFF2-40B4-BE49-F238E27FC236}">
                <a16:creationId xmlns:a16="http://schemas.microsoft.com/office/drawing/2014/main" id="{710CC297-B59F-452D-A2CD-26D6B5047210}"/>
              </a:ext>
            </a:extLst>
          </p:cNvPr>
          <p:cNvPicPr>
            <a:picLocks noChangeAspect="1"/>
          </p:cNvPicPr>
          <p:nvPr/>
        </p:nvPicPr>
        <p:blipFill>
          <a:blip r:embed="rId4"/>
          <a:stretch>
            <a:fillRect/>
          </a:stretch>
        </p:blipFill>
        <p:spPr>
          <a:xfrm>
            <a:off x="7929519" y="2959180"/>
            <a:ext cx="3904444" cy="2227367"/>
          </a:xfrm>
          <a:prstGeom prst="rect">
            <a:avLst/>
          </a:prstGeom>
        </p:spPr>
      </p:pic>
      <p:pic>
        <p:nvPicPr>
          <p:cNvPr id="13" name="Picture 2" descr="Image result for together we can do more rabbits cartoons">
            <a:extLst>
              <a:ext uri="{FF2B5EF4-FFF2-40B4-BE49-F238E27FC236}">
                <a16:creationId xmlns:a16="http://schemas.microsoft.com/office/drawing/2014/main" id="{919074B0-7F1F-43C0-8690-3FBA7F5AEF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8379" y="1279881"/>
            <a:ext cx="5819315" cy="4950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68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1079583"/>
                <a:ext cx="11672047" cy="4893647"/>
              </a:xfrm>
              <a:prstGeom prst="rect">
                <a:avLst/>
              </a:prstGeom>
              <a:noFill/>
            </p:spPr>
            <p:txBody>
              <a:bodyPr wrap="square" rtlCol="0">
                <a:spAutoFit/>
              </a:bodyPr>
              <a:lstStyle/>
              <a:p>
                <a:r>
                  <a:rPr lang="en-AU" sz="2400" b="1" dirty="0">
                    <a:latin typeface="+mj-lt"/>
                  </a:rPr>
                  <a:t>An R-L series circuit</a:t>
                </a:r>
              </a:p>
              <a:p>
                <a:r>
                  <a:rPr lang="en-AU" sz="2400" dirty="0">
                    <a:latin typeface="+mj-lt"/>
                  </a:rPr>
                  <a:t>An R-L series circuit is an electrical circuit in which</a:t>
                </a:r>
              </a:p>
              <a:p>
                <a:endParaRPr lang="en-AU" sz="2400" dirty="0">
                  <a:latin typeface="+mj-lt"/>
                </a:endParaRPr>
              </a:p>
              <a:p>
                <a:pPr marL="342900" indent="-342900">
                  <a:buFont typeface="Arial" panose="020B0604020202020204" pitchFamily="34" charset="0"/>
                  <a:buChar char="•"/>
                </a:pPr>
                <a:r>
                  <a:rPr lang="en-AU" sz="2400" dirty="0">
                    <a:latin typeface="+mj-lt"/>
                  </a:rPr>
                  <a:t>A resistor is present, with resistance </a:t>
                </a:r>
                <a14:m>
                  <m:oMath xmlns:m="http://schemas.openxmlformats.org/officeDocument/2006/math">
                    <m:r>
                      <a:rPr lang="en-AU" sz="2400" b="0" i="1" smtClean="0">
                        <a:latin typeface="Cambria Math" panose="02040503050406030204" pitchFamily="18" charset="0"/>
                      </a:rPr>
                      <m:t>𝑅</m:t>
                    </m:r>
                  </m:oMath>
                </a14:m>
                <a:r>
                  <a:rPr lang="en-GB" sz="2400" dirty="0">
                    <a:latin typeface="+mj-lt"/>
                  </a:rPr>
                  <a:t> expressed in ohms (</a:t>
                </a:r>
                <a:r>
                  <a:rPr lang="el-GR" sz="2400" dirty="0">
                    <a:latin typeface="+mj-lt"/>
                  </a:rPr>
                  <a:t>Ω</a:t>
                </a:r>
                <a:r>
                  <a:rPr lang="en-AU" sz="2400" dirty="0">
                    <a:latin typeface="+mj-lt"/>
                  </a:rPr>
                  <a:t>).</a:t>
                </a:r>
              </a:p>
              <a:p>
                <a:pPr marL="342900" indent="-342900">
                  <a:buFont typeface="Arial" panose="020B0604020202020204" pitchFamily="34" charset="0"/>
                  <a:buChar char="•"/>
                </a:pPr>
                <a:endParaRPr lang="en-AU" sz="2400" dirty="0">
                  <a:latin typeface="+mj-lt"/>
                </a:endParaRPr>
              </a:p>
              <a:p>
                <a:pPr marL="342900" indent="-342900">
                  <a:buFont typeface="Arial" panose="020B0604020202020204" pitchFamily="34" charset="0"/>
                  <a:buChar char="•"/>
                </a:pPr>
                <a:r>
                  <a:rPr lang="en-AU" sz="2400" dirty="0">
                    <a:latin typeface="+mj-lt"/>
                  </a:rPr>
                  <a:t>An inductor is present, with inductance </a:t>
                </a:r>
                <a14:m>
                  <m:oMath xmlns:m="http://schemas.openxmlformats.org/officeDocument/2006/math">
                    <m:r>
                      <a:rPr lang="en-AU" sz="2400" b="0" i="1" smtClean="0">
                        <a:latin typeface="Cambria Math" panose="02040503050406030204" pitchFamily="18" charset="0"/>
                      </a:rPr>
                      <m:t>𝐿</m:t>
                    </m:r>
                  </m:oMath>
                </a14:m>
                <a:r>
                  <a:rPr lang="en-GB" sz="2400" dirty="0">
                    <a:latin typeface="+mj-lt"/>
                  </a:rPr>
                  <a:t> expressed in henrys (</a:t>
                </a:r>
                <a14:m>
                  <m:oMath xmlns:m="http://schemas.openxmlformats.org/officeDocument/2006/math">
                    <m:r>
                      <m:rPr>
                        <m:sty m:val="p"/>
                      </m:rPr>
                      <a:rPr lang="en-AU" sz="2400" b="0" i="0" smtClean="0">
                        <a:latin typeface="Cambria Math" panose="02040503050406030204" pitchFamily="18" charset="0"/>
                      </a:rPr>
                      <m:t>H</m:t>
                    </m:r>
                  </m:oMath>
                </a14:m>
                <a:r>
                  <a:rPr lang="en-GB" sz="2400" dirty="0">
                    <a:latin typeface="+mj-lt"/>
                  </a:rPr>
                  <a:t>).</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The resistor and inductor are connected “in series”, i.e. they are next to each other.</a:t>
                </a:r>
              </a:p>
              <a:p>
                <a:pPr marL="342900" indent="-342900">
                  <a:buFont typeface="Arial" panose="020B0604020202020204" pitchFamily="34" charset="0"/>
                  <a:buChar char="•"/>
                </a:pPr>
                <a:endParaRPr lang="en-GB" sz="2400" dirty="0">
                  <a:latin typeface="+mj-lt"/>
                </a:endParaRPr>
              </a:p>
              <a:p>
                <a:pPr marL="342900" indent="-342900">
                  <a:buFont typeface="Arial" panose="020B0604020202020204" pitchFamily="34" charset="0"/>
                  <a:buChar char="•"/>
                </a:pPr>
                <a:r>
                  <a:rPr lang="en-GB" sz="2400" dirty="0">
                    <a:latin typeface="+mj-lt"/>
                  </a:rPr>
                  <a:t>A generator (or source) may be present, injecting a voltage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𝑆</m:t>
                        </m:r>
                      </m:sub>
                    </m:sSub>
                    <m:r>
                      <a:rPr lang="en-AU" sz="2400" b="0" i="1" smtClean="0">
                        <a:latin typeface="Cambria Math" panose="02040503050406030204" pitchFamily="18" charset="0"/>
                      </a:rPr>
                      <m:t>(</m:t>
                    </m:r>
                    <m:r>
                      <a:rPr lang="en-AU" sz="2400" b="0" i="1" smtClean="0">
                        <a:latin typeface="Cambria Math" panose="02040503050406030204" pitchFamily="18" charset="0"/>
                      </a:rPr>
                      <m:t>𝑡</m:t>
                    </m:r>
                    <m:r>
                      <a:rPr lang="en-AU" sz="2400" b="0" i="1" smtClean="0">
                        <a:latin typeface="Cambria Math" panose="02040503050406030204" pitchFamily="18" charset="0"/>
                      </a:rPr>
                      <m:t>)</m:t>
                    </m:r>
                  </m:oMath>
                </a14:m>
                <a:r>
                  <a:rPr lang="en-GB" sz="2400" dirty="0">
                    <a:latin typeface="+mj-lt"/>
                  </a:rPr>
                  <a:t> in the circuit expressed in volts (</a:t>
                </a:r>
                <a14:m>
                  <m:oMath xmlns:m="http://schemas.openxmlformats.org/officeDocument/2006/math">
                    <m:r>
                      <m:rPr>
                        <m:sty m:val="p"/>
                      </m:rPr>
                      <a:rPr lang="en-AU" sz="2400" b="0" i="0" smtClean="0">
                        <a:latin typeface="Cambria Math" panose="02040503050406030204" pitchFamily="18" charset="0"/>
                      </a:rPr>
                      <m:t>V</m:t>
                    </m:r>
                  </m:oMath>
                </a14:m>
                <a:r>
                  <a:rPr lang="en-GB" sz="2400" dirty="0">
                    <a:latin typeface="+mj-lt"/>
                  </a:rPr>
                  <a:t>). In general, the voltage source can be constant or a function of the time, for example a sine or cosine function. This mimics what happens in DC (direct current) or AC (alternate current) circuits, respectively.</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1079583"/>
                <a:ext cx="11672047" cy="4893647"/>
              </a:xfrm>
              <a:prstGeom prst="rect">
                <a:avLst/>
              </a:prstGeom>
              <a:blipFill>
                <a:blip r:embed="rId2"/>
                <a:stretch>
                  <a:fillRect l="-836" t="-996" r="-731" b="-1868"/>
                </a:stretch>
              </a:blipFill>
            </p:spPr>
            <p:txBody>
              <a:bodyPr/>
              <a:lstStyle/>
              <a:p>
                <a:r>
                  <a:rPr lang="en-GB">
                    <a:noFill/>
                  </a:rPr>
                  <a:t> </a:t>
                </a:r>
              </a:p>
            </p:txBody>
          </p:sp>
        </mc:Fallback>
      </mc:AlternateContent>
    </p:spTree>
    <p:extLst>
      <p:ext uri="{BB962C8B-B14F-4D97-AF65-F5344CB8AC3E}">
        <p14:creationId xmlns:p14="http://schemas.microsoft.com/office/powerpoint/2010/main" val="2072764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1079583"/>
                <a:ext cx="11672047" cy="4718343"/>
              </a:xfrm>
              <a:prstGeom prst="rect">
                <a:avLst/>
              </a:prstGeom>
              <a:noFill/>
            </p:spPr>
            <p:txBody>
              <a:bodyPr wrap="square" rtlCol="0">
                <a:spAutoFit/>
              </a:bodyPr>
              <a:lstStyle/>
              <a:p>
                <a:r>
                  <a:rPr lang="en-GB" sz="2400" dirty="0">
                    <a:latin typeface="+mj-lt"/>
                  </a:rPr>
                  <a:t>According to the laws of Physics (i.e. Ohm’s law for resistance and Faraday’s law for auto-induction), the resistor and the inductor are associated with “voltage drops” given respectively by</a:t>
                </a:r>
              </a:p>
              <a:p>
                <a:pPr marL="342900" indent="-342900">
                  <a:buFont typeface="Arial" panose="020B0604020202020204" pitchFamily="34" charset="0"/>
                  <a:buChar char="•"/>
                </a:pPr>
                <a14:m>
                  <m:oMath xmlns:m="http://schemas.openxmlformats.org/officeDocument/2006/math">
                    <m:sSub>
                      <m:sSubPr>
                        <m:ctrlPr>
                          <a:rPr lang="en-GB" sz="2400" i="1" smtClean="0">
                            <a:latin typeface="Cambria Math" panose="02040503050406030204" pitchFamily="18" charset="0"/>
                          </a:rPr>
                        </m:ctrlPr>
                      </m:sSubPr>
                      <m:e>
                        <m:r>
                          <a:rPr lang="en-GB" sz="2400" i="1" smtClean="0">
                            <a:latin typeface="Cambria Math" panose="02040503050406030204" pitchFamily="18" charset="0"/>
                            <a:ea typeface="Cambria Math" panose="02040503050406030204" pitchFamily="18" charset="0"/>
                          </a:rPr>
                          <m:t>∆</m:t>
                        </m:r>
                      </m:e>
                      <m:sub>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𝑅</m:t>
                            </m:r>
                          </m:sub>
                        </m:sSub>
                      </m:sub>
                    </m:sSub>
                    <m:r>
                      <a:rPr lang="en-AU" sz="2400" b="0" i="1" smtClean="0">
                        <a:latin typeface="Cambria Math" panose="02040503050406030204" pitchFamily="18" charset="0"/>
                      </a:rPr>
                      <m:t>=</m:t>
                    </m:r>
                    <m:r>
                      <a:rPr lang="en-AU" sz="2400" b="0" i="1" smtClean="0">
                        <a:latin typeface="Cambria Math" panose="02040503050406030204" pitchFamily="18" charset="0"/>
                      </a:rPr>
                      <m:t>𝑅𝑖</m:t>
                    </m:r>
                  </m:oMath>
                </a14:m>
                <a:r>
                  <a:rPr lang="en-GB" sz="2400" dirty="0">
                    <a:latin typeface="+mj-lt"/>
                  </a:rPr>
                  <a:t>, where </a:t>
                </a:r>
                <a14:m>
                  <m:oMath xmlns:m="http://schemas.openxmlformats.org/officeDocument/2006/math">
                    <m:r>
                      <a:rPr lang="en-AU" sz="2400" b="0" i="1" smtClean="0">
                        <a:latin typeface="Cambria Math" panose="02040503050406030204" pitchFamily="18" charset="0"/>
                      </a:rPr>
                      <m:t>𝑖</m:t>
                    </m:r>
                  </m:oMath>
                </a14:m>
                <a:r>
                  <a:rPr lang="en-GB" sz="2400" dirty="0">
                    <a:latin typeface="+mj-lt"/>
                  </a:rPr>
                  <a:t> is the current circulating through the resistor.</a:t>
                </a:r>
              </a:p>
              <a:p>
                <a:pPr marL="342900" indent="-342900">
                  <a:buFont typeface="Arial" panose="020B0604020202020204" pitchFamily="34" charset="0"/>
                  <a:buChar char="•"/>
                </a:pPr>
                <a14:m>
                  <m:oMath xmlns:m="http://schemas.openxmlformats.org/officeDocument/2006/math">
                    <m:sSub>
                      <m:sSubPr>
                        <m:ctrlPr>
                          <a:rPr lang="en-GB" sz="2400" i="1" smtClean="0">
                            <a:latin typeface="Cambria Math" panose="02040503050406030204" pitchFamily="18" charset="0"/>
                          </a:rPr>
                        </m:ctrlPr>
                      </m:sSubPr>
                      <m:e>
                        <m:r>
                          <a:rPr lang="en-GB" sz="2400" i="1" smtClean="0">
                            <a:latin typeface="Cambria Math" panose="02040503050406030204" pitchFamily="18" charset="0"/>
                            <a:ea typeface="Cambria Math" panose="02040503050406030204" pitchFamily="18" charset="0"/>
                          </a:rPr>
                          <m:t>∆</m:t>
                        </m:r>
                      </m:e>
                      <m:sub>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𝐿</m:t>
                            </m:r>
                          </m:sub>
                        </m:sSub>
                      </m:sub>
                    </m:sSub>
                    <m:r>
                      <a:rPr lang="en-AU" sz="2400" b="0" i="1" smtClean="0">
                        <a:latin typeface="Cambria Math" panose="02040503050406030204" pitchFamily="18" charset="0"/>
                      </a:rPr>
                      <m:t>=</m:t>
                    </m:r>
                    <m:r>
                      <a:rPr lang="en-AU" sz="2400" b="0" i="1" smtClean="0">
                        <a:latin typeface="Cambria Math" panose="02040503050406030204" pitchFamily="18" charset="0"/>
                      </a:rPr>
                      <m:t>𝐿</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𝑑𝑖</m:t>
                        </m:r>
                      </m:num>
                      <m:den>
                        <m:r>
                          <a:rPr lang="en-AU" sz="2400" b="0" i="1" smtClean="0">
                            <a:latin typeface="Cambria Math" panose="02040503050406030204" pitchFamily="18" charset="0"/>
                          </a:rPr>
                          <m:t>𝑑𝑡</m:t>
                        </m:r>
                      </m:den>
                    </m:f>
                  </m:oMath>
                </a14:m>
                <a:r>
                  <a:rPr lang="en-GB" sz="2400" dirty="0">
                    <a:latin typeface="+mj-lt"/>
                  </a:rPr>
                  <a:t>, where </a:t>
                </a:r>
                <a14:m>
                  <m:oMath xmlns:m="http://schemas.openxmlformats.org/officeDocument/2006/math">
                    <m:r>
                      <a:rPr lang="en-AU" sz="2400" i="1">
                        <a:latin typeface="Cambria Math" panose="02040503050406030204" pitchFamily="18" charset="0"/>
                      </a:rPr>
                      <m:t>𝑖</m:t>
                    </m:r>
                  </m:oMath>
                </a14:m>
                <a:r>
                  <a:rPr lang="en-GB" sz="2400" dirty="0">
                    <a:latin typeface="+mj-lt"/>
                  </a:rPr>
                  <a:t> is the current circulating through the inductor.</a:t>
                </a:r>
              </a:p>
              <a:p>
                <a:r>
                  <a:rPr lang="en-GB" sz="2400" dirty="0">
                    <a:latin typeface="+mj-lt"/>
                  </a:rPr>
                  <a:t>The energy in the system must be conserved, hence the total voltage drop has to be equal to the voltage injected by the source at all times, i.e.</a:t>
                </a:r>
              </a:p>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𝑆</m:t>
                          </m:r>
                        </m:sub>
                      </m:sSub>
                      <m:r>
                        <a:rPr lang="en-AU" sz="2400" b="0" i="1"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m:t>
                          </m:r>
                        </m:e>
                        <m:sub>
                          <m:sSub>
                            <m:sSubPr>
                              <m:ctrlPr>
                                <a:rPr lang="en-GB" sz="2400" i="1">
                                  <a:latin typeface="Cambria Math" panose="02040503050406030204" pitchFamily="18" charset="0"/>
                                </a:rPr>
                              </m:ctrlPr>
                            </m:sSubPr>
                            <m:e>
                              <m:r>
                                <a:rPr lang="en-AU" sz="2400" i="1">
                                  <a:latin typeface="Cambria Math" panose="02040503050406030204" pitchFamily="18" charset="0"/>
                                </a:rPr>
                                <m:t>𝑉</m:t>
                              </m:r>
                            </m:e>
                            <m:sub>
                              <m:r>
                                <a:rPr lang="en-AU" sz="2400" i="1">
                                  <a:latin typeface="Cambria Math" panose="02040503050406030204" pitchFamily="18" charset="0"/>
                                </a:rPr>
                                <m:t>𝑅</m:t>
                              </m:r>
                            </m:sub>
                          </m:sSub>
                        </m:sub>
                      </m:sSub>
                      <m:r>
                        <a:rPr lang="en-AU" sz="2400" b="0" i="0"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ea typeface="Cambria Math" panose="02040503050406030204" pitchFamily="18" charset="0"/>
                            </a:rPr>
                            <m:t>∆</m:t>
                          </m:r>
                        </m:e>
                        <m:sub>
                          <m:sSub>
                            <m:sSubPr>
                              <m:ctrlPr>
                                <a:rPr lang="en-GB" sz="2400" i="1">
                                  <a:latin typeface="Cambria Math" panose="02040503050406030204" pitchFamily="18" charset="0"/>
                                </a:rPr>
                              </m:ctrlPr>
                            </m:sSubPr>
                            <m:e>
                              <m:r>
                                <a:rPr lang="en-AU" sz="2400" i="1">
                                  <a:latin typeface="Cambria Math" panose="02040503050406030204" pitchFamily="18" charset="0"/>
                                </a:rPr>
                                <m:t>𝑉</m:t>
                              </m:r>
                            </m:e>
                            <m:sub>
                              <m:r>
                                <a:rPr lang="en-AU" sz="2400" i="1">
                                  <a:latin typeface="Cambria Math" panose="02040503050406030204" pitchFamily="18" charset="0"/>
                                </a:rPr>
                                <m:t>𝐿</m:t>
                              </m:r>
                            </m:sub>
                          </m:sSub>
                        </m:sub>
                      </m:sSub>
                    </m:oMath>
                  </m:oMathPara>
                </a14:m>
                <a:endParaRPr lang="en-GB" sz="2400" dirty="0">
                  <a:latin typeface="+mj-lt"/>
                </a:endParaRPr>
              </a:p>
              <a:p>
                <a:endParaRPr lang="en-GB" sz="2400" dirty="0">
                  <a:latin typeface="+mj-lt"/>
                </a:endParaRPr>
              </a:p>
              <a:p>
                <a:r>
                  <a:rPr lang="en-GB" sz="2400" dirty="0">
                    <a:latin typeface="+mj-lt"/>
                  </a:rPr>
                  <a:t>Using this, we can write down a first order ODE as follows:</a:t>
                </a:r>
              </a:p>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𝑠</m:t>
                          </m:r>
                        </m:sub>
                      </m:sSub>
                      <m:r>
                        <a:rPr lang="en-AU" sz="2400" b="0" i="1" smtClean="0">
                          <a:latin typeface="Cambria Math" panose="02040503050406030204" pitchFamily="18" charset="0"/>
                        </a:rPr>
                        <m:t>=</m:t>
                      </m:r>
                      <m:r>
                        <a:rPr lang="en-AU" sz="2400" b="0" i="1" smtClean="0">
                          <a:latin typeface="Cambria Math" panose="02040503050406030204" pitchFamily="18" charset="0"/>
                        </a:rPr>
                        <m:t>𝑅𝑖</m:t>
                      </m:r>
                      <m:r>
                        <a:rPr lang="en-AU" sz="2400" b="0" i="1" smtClean="0">
                          <a:latin typeface="Cambria Math" panose="02040503050406030204" pitchFamily="18" charset="0"/>
                        </a:rPr>
                        <m:t>+</m:t>
                      </m:r>
                      <m:r>
                        <a:rPr lang="en-AU" sz="2400" b="0" i="1" smtClean="0">
                          <a:latin typeface="Cambria Math" panose="02040503050406030204" pitchFamily="18" charset="0"/>
                        </a:rPr>
                        <m:t>𝐿</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𝑑𝑖</m:t>
                          </m:r>
                        </m:num>
                        <m:den>
                          <m:r>
                            <a:rPr lang="en-AU" sz="2400" b="0" i="1" smtClean="0">
                              <a:latin typeface="Cambria Math" panose="02040503050406030204" pitchFamily="18" charset="0"/>
                            </a:rPr>
                            <m:t>𝑑𝑡</m:t>
                          </m:r>
                        </m:den>
                      </m:f>
                    </m:oMath>
                  </m:oMathPara>
                </a14:m>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1079583"/>
                <a:ext cx="11672047" cy="4718343"/>
              </a:xfrm>
              <a:prstGeom prst="rect">
                <a:avLst/>
              </a:prstGeom>
              <a:blipFill>
                <a:blip r:embed="rId2"/>
                <a:stretch>
                  <a:fillRect l="-836" t="-1034"/>
                </a:stretch>
              </a:blipFill>
            </p:spPr>
            <p:txBody>
              <a:bodyPr/>
              <a:lstStyle/>
              <a:p>
                <a:r>
                  <a:rPr lang="en-GB">
                    <a:noFill/>
                  </a:rPr>
                  <a:t> </a:t>
                </a:r>
              </a:p>
            </p:txBody>
          </p:sp>
        </mc:Fallback>
      </mc:AlternateContent>
    </p:spTree>
    <p:extLst>
      <p:ext uri="{BB962C8B-B14F-4D97-AF65-F5344CB8AC3E}">
        <p14:creationId xmlns:p14="http://schemas.microsoft.com/office/powerpoint/2010/main" val="3966010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1079583"/>
                <a:ext cx="11672047" cy="830997"/>
              </a:xfrm>
              <a:prstGeom prst="rect">
                <a:avLst/>
              </a:prstGeom>
              <a:noFill/>
            </p:spPr>
            <p:txBody>
              <a:bodyPr wrap="square" rtlCol="0">
                <a:spAutoFit/>
              </a:bodyPr>
              <a:lstStyle/>
              <a:p>
                <a:r>
                  <a:rPr lang="en-AU" sz="2400" dirty="0">
                    <a:latin typeface="+mj-lt"/>
                  </a:rPr>
                  <a:t>Imagine that there is no current in the circuit at </a:t>
                </a:r>
                <a14:m>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=0</m:t>
                    </m:r>
                  </m:oMath>
                </a14:m>
                <a:r>
                  <a:rPr lang="en-GB" sz="2400" dirty="0">
                    <a:latin typeface="+mj-lt"/>
                  </a:rPr>
                  <a:t>, i.e. </a:t>
                </a:r>
                <a14:m>
                  <m:oMath xmlns:m="http://schemas.openxmlformats.org/officeDocument/2006/math">
                    <m:r>
                      <a:rPr lang="en-AU" sz="2400" b="0" i="1" smtClean="0">
                        <a:latin typeface="Cambria Math" panose="02040503050406030204" pitchFamily="18" charset="0"/>
                      </a:rPr>
                      <m:t>𝑖</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=0</m:t>
                    </m:r>
                  </m:oMath>
                </a14:m>
                <a:r>
                  <a:rPr lang="en-GB" sz="2400" dirty="0">
                    <a:latin typeface="+mj-lt"/>
                  </a:rPr>
                  <a:t>. Let us apply and solve this equation for the circuit depicted below, where </a:t>
                </a:r>
                <a14:m>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=12</m:t>
                    </m:r>
                    <m:r>
                      <m:rPr>
                        <m:sty m:val="p"/>
                      </m:rPr>
                      <a:rPr lang="en-AU" sz="2400" b="0" i="0" smtClean="0">
                        <a:latin typeface="Cambria Math" panose="02040503050406030204" pitchFamily="18" charset="0"/>
                      </a:rPr>
                      <m:t>H</m:t>
                    </m:r>
                    <m:r>
                      <a:rPr lang="en-AU" sz="2400" b="0" i="1" smtClean="0">
                        <a:latin typeface="Cambria Math" panose="02040503050406030204" pitchFamily="18" charset="0"/>
                      </a:rPr>
                      <m:t>, </m:t>
                    </m:r>
                    <m:r>
                      <a:rPr lang="en-AU" sz="2400" b="0" i="1" smtClean="0">
                        <a:latin typeface="Cambria Math" panose="02040503050406030204" pitchFamily="18" charset="0"/>
                      </a:rPr>
                      <m:t>𝑅</m:t>
                    </m:r>
                    <m:r>
                      <a:rPr lang="en-AU" sz="2400" b="0" i="1" smtClean="0">
                        <a:latin typeface="Cambria Math" panose="02040503050406030204" pitchFamily="18" charset="0"/>
                      </a:rPr>
                      <m:t>=120</m:t>
                    </m:r>
                    <m:r>
                      <m:rPr>
                        <m:sty m:val="p"/>
                      </m:rPr>
                      <a:rPr lang="el-GR" sz="2400" b="0" i="1" smtClean="0">
                        <a:latin typeface="Cambria Math" panose="02040503050406030204" pitchFamily="18" charset="0"/>
                        <a:ea typeface="Cambria Math" panose="02040503050406030204" pitchFamily="18" charset="0"/>
                      </a:rPr>
                      <m:t>Ω</m:t>
                    </m:r>
                  </m:oMath>
                </a14:m>
                <a:r>
                  <a:rPr lang="en-GB" sz="2400" dirty="0">
                    <a:latin typeface="+mj-lt"/>
                  </a:rPr>
                  <a:t>.</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1079583"/>
                <a:ext cx="11672047" cy="830997"/>
              </a:xfrm>
              <a:prstGeom prst="rect">
                <a:avLst/>
              </a:prstGeom>
              <a:blipFill>
                <a:blip r:embed="rId2"/>
                <a:stretch>
                  <a:fillRect l="-836" t="-5882" b="-16176"/>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66F3AFDF-A3E6-4A2E-BAD1-5053EDA7A1B2}"/>
              </a:ext>
            </a:extLst>
          </p:cNvPr>
          <p:cNvPicPr>
            <a:picLocks noChangeAspect="1"/>
          </p:cNvPicPr>
          <p:nvPr/>
        </p:nvPicPr>
        <p:blipFill>
          <a:blip r:embed="rId3"/>
          <a:stretch>
            <a:fillRect/>
          </a:stretch>
        </p:blipFill>
        <p:spPr>
          <a:xfrm>
            <a:off x="259976" y="2094085"/>
            <a:ext cx="2456221" cy="3684332"/>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8BCC63B-2E5B-45E9-B8F7-E275AE902C15}"/>
                  </a:ext>
                </a:extLst>
              </p:cNvPr>
              <p:cNvSpPr txBox="1"/>
              <p:nvPr/>
            </p:nvSpPr>
            <p:spPr>
              <a:xfrm>
                <a:off x="2934952" y="1910580"/>
                <a:ext cx="8772954" cy="4309962"/>
              </a:xfrm>
              <a:prstGeom prst="rect">
                <a:avLst/>
              </a:prstGeom>
              <a:noFill/>
            </p:spPr>
            <p:txBody>
              <a:bodyPr wrap="square" rtlCol="0">
                <a:spAutoFit/>
              </a:bodyPr>
              <a:lstStyle/>
              <a:p>
                <a:r>
                  <a:rPr lang="en-AU" sz="2400" dirty="0">
                    <a:latin typeface="+mj-lt"/>
                  </a:rPr>
                  <a:t>Imagine that there is no current in the circuit at </a:t>
                </a:r>
                <a14:m>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=0</m:t>
                    </m:r>
                  </m:oMath>
                </a14:m>
                <a:r>
                  <a:rPr lang="en-GB" sz="2400" dirty="0">
                    <a:latin typeface="+mj-lt"/>
                  </a:rPr>
                  <a:t>, i.e. </a:t>
                </a:r>
                <a14:m>
                  <m:oMath xmlns:m="http://schemas.openxmlformats.org/officeDocument/2006/math">
                    <m:r>
                      <a:rPr lang="en-AU" sz="2400" b="0" i="1" smtClean="0">
                        <a:latin typeface="Cambria Math" panose="02040503050406030204" pitchFamily="18" charset="0"/>
                      </a:rPr>
                      <m:t>𝑖</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=0</m:t>
                    </m:r>
                  </m:oMath>
                </a14:m>
                <a:r>
                  <a:rPr lang="en-GB" sz="2400" dirty="0">
                    <a:latin typeface="+mj-lt"/>
                  </a:rPr>
                  <a:t>. Let us apply and solve this equation for the circuit depicted below, where </a:t>
                </a:r>
                <a14:m>
                  <m:oMath xmlns:m="http://schemas.openxmlformats.org/officeDocument/2006/math">
                    <m:r>
                      <a:rPr lang="en-AU" sz="2400" b="0" i="1" smtClean="0">
                        <a:latin typeface="Cambria Math" panose="02040503050406030204" pitchFamily="18" charset="0"/>
                      </a:rPr>
                      <m:t>𝐿</m:t>
                    </m:r>
                    <m:r>
                      <a:rPr lang="en-AU" sz="2400" b="0" i="1" smtClean="0">
                        <a:latin typeface="Cambria Math" panose="02040503050406030204" pitchFamily="18" charset="0"/>
                      </a:rPr>
                      <m:t>=12</m:t>
                    </m:r>
                    <m:r>
                      <m:rPr>
                        <m:sty m:val="p"/>
                      </m:rPr>
                      <a:rPr lang="en-AU" sz="2400" b="0" i="0" smtClean="0">
                        <a:latin typeface="Cambria Math" panose="02040503050406030204" pitchFamily="18" charset="0"/>
                      </a:rPr>
                      <m:t>H</m:t>
                    </m:r>
                    <m:r>
                      <a:rPr lang="en-AU" sz="2400" b="0" i="1" smtClean="0">
                        <a:latin typeface="Cambria Math" panose="02040503050406030204" pitchFamily="18" charset="0"/>
                      </a:rPr>
                      <m:t>, </m:t>
                    </m:r>
                    <m:r>
                      <a:rPr lang="en-AU" sz="2400" b="0" i="1" smtClean="0">
                        <a:latin typeface="Cambria Math" panose="02040503050406030204" pitchFamily="18" charset="0"/>
                      </a:rPr>
                      <m:t>𝑅</m:t>
                    </m:r>
                    <m:r>
                      <a:rPr lang="en-AU" sz="2400" b="0" i="1" smtClean="0">
                        <a:latin typeface="Cambria Math" panose="02040503050406030204" pitchFamily="18" charset="0"/>
                      </a:rPr>
                      <m:t>=120</m:t>
                    </m:r>
                    <m:r>
                      <m:rPr>
                        <m:sty m:val="p"/>
                      </m:rPr>
                      <a:rPr lang="el-GR" sz="2400" b="0" i="1" smtClean="0">
                        <a:latin typeface="Cambria Math" panose="02040503050406030204" pitchFamily="18" charset="0"/>
                        <a:ea typeface="Cambria Math" panose="02040503050406030204" pitchFamily="18" charset="0"/>
                      </a:rPr>
                      <m:t>Ω</m:t>
                    </m:r>
                  </m:oMath>
                </a14:m>
                <a:r>
                  <a:rPr lang="en-GB" sz="2400" dirty="0">
                    <a:latin typeface="+mj-lt"/>
                  </a:rPr>
                  <a:t>.</a:t>
                </a:r>
              </a:p>
              <a:p>
                <a:r>
                  <a:rPr lang="en-GB" sz="2400" dirty="0">
                    <a:latin typeface="+mj-lt"/>
                  </a:rPr>
                  <a:t>With </a:t>
                </a:r>
                <a14:m>
                  <m:oMath xmlns:m="http://schemas.openxmlformats.org/officeDocument/2006/math">
                    <m:r>
                      <a:rPr lang="en-AU" sz="2400" b="0" i="1" smtClean="0">
                        <a:latin typeface="Cambria Math" panose="02040503050406030204" pitchFamily="18" charset="0"/>
                      </a:rPr>
                      <m:t>𝑡</m:t>
                    </m:r>
                  </m:oMath>
                </a14:m>
                <a:r>
                  <a:rPr lang="en-GB" sz="2400" dirty="0">
                    <a:latin typeface="+mj-lt"/>
                  </a:rPr>
                  <a:t> measured in seconds, we take the frequency of the source to be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10</m:t>
                        </m:r>
                      </m:num>
                      <m:den>
                        <m:r>
                          <a:rPr lang="en-AU" sz="2400" b="0" i="1" smtClean="0">
                            <a:latin typeface="Cambria Math" panose="02040503050406030204" pitchFamily="18" charset="0"/>
                            <a:ea typeface="Cambria Math" panose="02040503050406030204" pitchFamily="18" charset="0"/>
                          </a:rPr>
                          <m:t>𝜋</m:t>
                        </m:r>
                      </m:den>
                    </m:f>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10</m:t>
                        </m:r>
                      </m:num>
                      <m:den>
                        <m:r>
                          <a:rPr lang="en-AU" sz="2400" b="0" i="1" smtClean="0">
                            <a:latin typeface="Cambria Math" panose="02040503050406030204" pitchFamily="18" charset="0"/>
                            <a:ea typeface="Cambria Math" panose="02040503050406030204" pitchFamily="18" charset="0"/>
                          </a:rPr>
                          <m:t>𝜋</m:t>
                        </m:r>
                      </m:den>
                    </m:f>
                    <m:r>
                      <m:rPr>
                        <m:sty m:val="p"/>
                      </m:rPr>
                      <a:rPr lang="en-AU" sz="2400" b="0" i="0" smtClean="0">
                        <a:latin typeface="Cambria Math" panose="02040503050406030204" pitchFamily="18" charset="0"/>
                        <a:ea typeface="Cambria Math" panose="02040503050406030204" pitchFamily="18" charset="0"/>
                      </a:rPr>
                      <m:t>Hz</m:t>
                    </m:r>
                  </m:oMath>
                </a14:m>
                <a:r>
                  <a:rPr lang="en-GB" sz="2400" dirty="0">
                    <a:latin typeface="+mj-lt"/>
                  </a:rPr>
                  <a:t>, which is about 3.2 cycles per second.</a:t>
                </a:r>
              </a:p>
              <a:p>
                <a:r>
                  <a:rPr lang="en-GB" sz="2400" dirty="0">
                    <a:latin typeface="+mj-lt"/>
                  </a:rPr>
                  <a:t>So now we let </a:t>
                </a:r>
                <a14:m>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𝑠</m:t>
                        </m:r>
                      </m:sub>
                    </m:sSub>
                    <m:r>
                      <a:rPr lang="en-AU" sz="2400" b="0" i="1" smtClean="0">
                        <a:latin typeface="Cambria Math" panose="02040503050406030204" pitchFamily="18" charset="0"/>
                      </a:rPr>
                      <m:t>(</m:t>
                    </m:r>
                    <m:r>
                      <a:rPr lang="en-AU" sz="2400" b="0" i="1" smtClean="0">
                        <a:latin typeface="Cambria Math" panose="02040503050406030204" pitchFamily="18" charset="0"/>
                      </a:rPr>
                      <m:t>𝑡</m:t>
                    </m:r>
                    <m:r>
                      <a:rPr lang="en-AU" sz="2400" b="0" i="1" smtClean="0">
                        <a:latin typeface="Cambria Math" panose="02040503050406030204" pitchFamily="18" charset="0"/>
                      </a:rPr>
                      <m:t>)</m:t>
                    </m:r>
                  </m:oMath>
                </a14:m>
                <a:r>
                  <a:rPr lang="en-GB" sz="2400" dirty="0">
                    <a:latin typeface="+mj-lt"/>
                  </a:rPr>
                  <a:t> have the following form:</a:t>
                </a:r>
              </a:p>
              <a:p>
                <a:endParaRPr lang="en-GB" sz="2400" dirty="0">
                  <a:latin typeface="+mj-lt"/>
                </a:endParaRPr>
              </a:p>
              <a:p>
                <a:pPr/>
                <a14:m>
                  <m:oMathPara xmlns:m="http://schemas.openxmlformats.org/officeDocument/2006/math">
                    <m:oMathParaPr>
                      <m:jc m:val="centerGroup"/>
                    </m:oMathParaPr>
                    <m:oMath xmlns:m="http://schemas.openxmlformats.org/officeDocument/2006/math">
                      <m:sSub>
                        <m:sSubPr>
                          <m:ctrlPr>
                            <a:rPr lang="en-GB" sz="2400" i="1" smtClean="0">
                              <a:latin typeface="Cambria Math" panose="02040503050406030204" pitchFamily="18" charset="0"/>
                            </a:rPr>
                          </m:ctrlPr>
                        </m:sSubPr>
                        <m:e>
                          <m:r>
                            <a:rPr lang="en-AU" sz="2400" b="0" i="1" smtClean="0">
                              <a:latin typeface="Cambria Math" panose="02040503050406030204" pitchFamily="18" charset="0"/>
                            </a:rPr>
                            <m:t>𝑉</m:t>
                          </m:r>
                        </m:e>
                        <m:sub>
                          <m:r>
                            <a:rPr lang="en-AU" sz="2400" b="0" i="1" smtClean="0">
                              <a:latin typeface="Cambria Math" panose="02040503050406030204" pitchFamily="18" charset="0"/>
                            </a:rPr>
                            <m:t>𝑠</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𝑡</m:t>
                          </m:r>
                        </m:e>
                      </m:d>
                      <m:r>
                        <a:rPr lang="en-AU" sz="2400" b="0" i="1" smtClean="0">
                          <a:latin typeface="Cambria Math" panose="02040503050406030204" pitchFamily="18" charset="0"/>
                        </a:rPr>
                        <m:t>=240</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𝜔</m:t>
                          </m:r>
                          <m:r>
                            <a:rPr lang="en-AU" sz="2400" b="0" i="1" smtClean="0">
                              <a:latin typeface="Cambria Math" panose="02040503050406030204" pitchFamily="18" charset="0"/>
                              <a:ea typeface="Cambria Math" panose="02040503050406030204" pitchFamily="18" charset="0"/>
                            </a:rPr>
                            <m:t>𝑡</m:t>
                          </m:r>
                        </m:e>
                      </m:func>
                      <m:r>
                        <a:rPr lang="en-AU" sz="2400" b="0" i="1" smtClean="0">
                          <a:latin typeface="Cambria Math" panose="02040503050406030204" pitchFamily="18" charset="0"/>
                        </a:rPr>
                        <m:t>=240</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20</m:t>
                          </m:r>
                          <m:r>
                            <a:rPr lang="en-AU" sz="2400" b="0" i="1" smtClean="0">
                              <a:latin typeface="Cambria Math" panose="02040503050406030204" pitchFamily="18" charset="0"/>
                            </a:rPr>
                            <m:t>𝑡</m:t>
                          </m:r>
                        </m:e>
                      </m:func>
                    </m:oMath>
                  </m:oMathPara>
                </a14:m>
                <a:endParaRPr lang="en-GB" sz="2400" dirty="0">
                  <a:latin typeface="+mj-lt"/>
                </a:endParaRPr>
              </a:p>
              <a:p>
                <a:endParaRPr lang="en-GB" sz="2400" dirty="0">
                  <a:latin typeface="+mj-lt"/>
                </a:endParaRPr>
              </a:p>
              <a:p>
                <a:r>
                  <a:rPr lang="en-GB" sz="2400" dirty="0">
                    <a:latin typeface="+mj-lt"/>
                  </a:rPr>
                  <a:t>where </a:t>
                </a:r>
                <a14:m>
                  <m:oMath xmlns:m="http://schemas.openxmlformats.org/officeDocument/2006/math">
                    <m:r>
                      <a:rPr lang="en-GB" sz="2400" i="1" smtClean="0">
                        <a:latin typeface="Cambria Math" panose="02040503050406030204" pitchFamily="18" charset="0"/>
                        <a:ea typeface="Cambria Math" panose="02040503050406030204" pitchFamily="18" charset="0"/>
                      </a:rPr>
                      <m:t>𝜔</m:t>
                    </m:r>
                    <m:r>
                      <a:rPr lang="en-AU" sz="2400" b="0" i="1" smtClean="0">
                        <a:latin typeface="Cambria Math" panose="02040503050406030204" pitchFamily="18" charset="0"/>
                        <a:ea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𝜋</m:t>
                    </m:r>
                    <m:r>
                      <a:rPr lang="en-AU" sz="2400" b="0" i="1" smtClean="0">
                        <a:latin typeface="Cambria Math" panose="02040503050406030204" pitchFamily="18" charset="0"/>
                        <a:ea typeface="Cambria Math" panose="02040503050406030204" pitchFamily="18" charset="0"/>
                      </a:rPr>
                      <m:t>𝑓</m:t>
                    </m:r>
                  </m:oMath>
                </a14:m>
                <a:r>
                  <a:rPr lang="en-GB" sz="2400" dirty="0">
                    <a:latin typeface="+mj-lt"/>
                  </a:rPr>
                  <a:t> is the angular frequency. This means that the circuit is an AC generator, with a maximum voltage of 240 V.</a:t>
                </a:r>
              </a:p>
            </p:txBody>
          </p:sp>
        </mc:Choice>
        <mc:Fallback xmlns="">
          <p:sp>
            <p:nvSpPr>
              <p:cNvPr id="10" name="TextBox 9">
                <a:extLst>
                  <a:ext uri="{FF2B5EF4-FFF2-40B4-BE49-F238E27FC236}">
                    <a16:creationId xmlns:a16="http://schemas.microsoft.com/office/drawing/2014/main" id="{98BCC63B-2E5B-45E9-B8F7-E275AE902C15}"/>
                  </a:ext>
                </a:extLst>
              </p:cNvPr>
              <p:cNvSpPr txBox="1">
                <a:spLocks noRot="1" noChangeAspect="1" noMove="1" noResize="1" noEditPoints="1" noAdjustHandles="1" noChangeArrowheads="1" noChangeShapeType="1" noTextEdit="1"/>
              </p:cNvSpPr>
              <p:nvPr/>
            </p:nvSpPr>
            <p:spPr>
              <a:xfrm>
                <a:off x="2934952" y="1910580"/>
                <a:ext cx="8772954" cy="4309962"/>
              </a:xfrm>
              <a:prstGeom prst="rect">
                <a:avLst/>
              </a:prstGeom>
              <a:blipFill>
                <a:blip r:embed="rId4"/>
                <a:stretch>
                  <a:fillRect l="-1042" t="-1132" b="-2263"/>
                </a:stretch>
              </a:blipFill>
            </p:spPr>
            <p:txBody>
              <a:bodyPr/>
              <a:lstStyle/>
              <a:p>
                <a:r>
                  <a:rPr lang="en-GB">
                    <a:noFill/>
                  </a:rPr>
                  <a:t> </a:t>
                </a:r>
              </a:p>
            </p:txBody>
          </p:sp>
        </mc:Fallback>
      </mc:AlternateContent>
    </p:spTree>
    <p:extLst>
      <p:ext uri="{BB962C8B-B14F-4D97-AF65-F5344CB8AC3E}">
        <p14:creationId xmlns:p14="http://schemas.microsoft.com/office/powerpoint/2010/main" val="3345920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5141600" cy="523220"/>
          </a:xfrm>
          <a:prstGeom prst="rect">
            <a:avLst/>
          </a:prstGeom>
          <a:noFill/>
        </p:spPr>
        <p:txBody>
          <a:bodyPr wrap="none" rtlCol="0">
            <a:spAutoFit/>
          </a:bodyPr>
          <a:lstStyle/>
          <a:p>
            <a:r>
              <a:rPr lang="en-AU" sz="2800" b="1" cap="small" dirty="0">
                <a:solidFill>
                  <a:schemeClr val="bg1"/>
                </a:solidFill>
                <a:latin typeface="+mj-lt"/>
              </a:rPr>
              <a:t>6.4 Applications of first order ODEs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847274"/>
                <a:ext cx="11672047" cy="1271438"/>
              </a:xfrm>
              <a:prstGeom prst="rect">
                <a:avLst/>
              </a:prstGeom>
              <a:noFill/>
            </p:spPr>
            <p:txBody>
              <a:bodyPr wrap="square" rtlCol="0">
                <a:spAutoFit/>
              </a:bodyPr>
              <a:lstStyle/>
              <a:p>
                <a:r>
                  <a:rPr lang="en-AU" sz="2400" dirty="0">
                    <a:latin typeface="+mj-lt"/>
                  </a:rPr>
                  <a:t>This is, mathematically, an IVP for a linear ODE:</a:t>
                </a:r>
                <a14:m>
                  <m:oMath xmlns:m="http://schemas.openxmlformats.org/officeDocument/2006/math">
                    <m:r>
                      <a:rPr lang="en-AU" sz="2400" b="0" i="0" smtClean="0">
                        <a:latin typeface="Cambria Math" panose="02040503050406030204" pitchFamily="18" charset="0"/>
                      </a:rPr>
                      <m:t> </m:t>
                    </m:r>
                    <m:d>
                      <m:dPr>
                        <m:begChr m:val="{"/>
                        <m:endChr m:val=""/>
                        <m:ctrlPr>
                          <a:rPr lang="en-GB" sz="2400" i="1" smtClean="0">
                            <a:latin typeface="Cambria Math" panose="02040503050406030204" pitchFamily="18" charset="0"/>
                          </a:rPr>
                        </m:ctrlPr>
                      </m:dPr>
                      <m:e>
                        <m:m>
                          <m:mPr>
                            <m:mcs>
                              <m:mc>
                                <m:mcPr>
                                  <m:count m:val="1"/>
                                  <m:mcJc m:val="center"/>
                                </m:mcPr>
                              </m:mc>
                            </m:mcs>
                            <m:ctrlPr>
                              <a:rPr lang="en-GB" sz="2400" i="1" smtClean="0">
                                <a:latin typeface="Cambria Math" panose="02040503050406030204" pitchFamily="18" charset="0"/>
                              </a:rPr>
                            </m:ctrlPr>
                          </m:mPr>
                          <m:mr>
                            <m:e>
                              <m:r>
                                <m:rPr>
                                  <m:brk m:alnAt="7"/>
                                </m:rPr>
                                <a:rPr lang="en-AU" sz="2400" b="0" i="1" smtClean="0">
                                  <a:latin typeface="Cambria Math" panose="02040503050406030204" pitchFamily="18" charset="0"/>
                                </a:rPr>
                                <m:t>1</m:t>
                              </m:r>
                              <m:r>
                                <a:rPr lang="en-AU" sz="2400" b="0" i="1" smtClean="0">
                                  <a:latin typeface="Cambria Math" panose="02040503050406030204" pitchFamily="18" charset="0"/>
                                </a:rPr>
                                <m:t>2</m:t>
                              </m:r>
                              <m:f>
                                <m:fPr>
                                  <m:ctrlPr>
                                    <a:rPr lang="en-AU" sz="2400" b="0" i="1" smtClean="0">
                                      <a:latin typeface="Cambria Math" panose="02040503050406030204" pitchFamily="18" charset="0"/>
                                    </a:rPr>
                                  </m:ctrlPr>
                                </m:fPr>
                                <m:num>
                                  <m:r>
                                    <m:rPr>
                                      <m:brk m:alnAt="7"/>
                                    </m:rPr>
                                    <a:rPr lang="en-AU" sz="2400" b="0" i="1" smtClean="0">
                                      <a:latin typeface="Cambria Math" panose="02040503050406030204" pitchFamily="18" charset="0"/>
                                    </a:rPr>
                                    <m:t>𝑑</m:t>
                                  </m:r>
                                  <m:r>
                                    <a:rPr lang="en-AU" sz="2400" b="0" i="1" smtClean="0">
                                      <a:latin typeface="Cambria Math" panose="02040503050406030204" pitchFamily="18" charset="0"/>
                                    </a:rPr>
                                    <m:t>𝑖</m:t>
                                  </m:r>
                                </m:num>
                                <m:den>
                                  <m:r>
                                    <m:rPr>
                                      <m:brk m:alnAt="7"/>
                                    </m:rPr>
                                    <a:rPr lang="en-AU" sz="2400" b="0" i="1" smtClean="0">
                                      <a:latin typeface="Cambria Math" panose="02040503050406030204" pitchFamily="18" charset="0"/>
                                    </a:rPr>
                                    <m:t>𝑑</m:t>
                                  </m:r>
                                  <m:r>
                                    <a:rPr lang="en-AU" sz="2400" b="0" i="1" smtClean="0">
                                      <a:latin typeface="Cambria Math" panose="02040503050406030204" pitchFamily="18" charset="0"/>
                                    </a:rPr>
                                    <m:t>𝑡</m:t>
                                  </m:r>
                                </m:den>
                              </m:f>
                              <m:r>
                                <m:rPr>
                                  <m:brk m:alnAt="7"/>
                                </m:rPr>
                                <a:rPr lang="en-AU" sz="2400" b="0" i="1" smtClean="0">
                                  <a:latin typeface="Cambria Math" panose="02040503050406030204" pitchFamily="18" charset="0"/>
                                </a:rPr>
                                <m:t>+</m:t>
                              </m:r>
                              <m:r>
                                <a:rPr lang="en-AU" sz="2400" b="0" i="1" smtClean="0">
                                  <a:latin typeface="Cambria Math" panose="02040503050406030204" pitchFamily="18" charset="0"/>
                                </a:rPr>
                                <m:t>120</m:t>
                              </m:r>
                              <m:r>
                                <a:rPr lang="en-AU" sz="2400" b="0" i="1" smtClean="0">
                                  <a:latin typeface="Cambria Math" panose="02040503050406030204" pitchFamily="18" charset="0"/>
                                </a:rPr>
                                <m:t>𝑖</m:t>
                              </m:r>
                              <m:r>
                                <a:rPr lang="en-AU" sz="2400" b="0" i="1" smtClean="0">
                                  <a:latin typeface="Cambria Math" panose="02040503050406030204" pitchFamily="18" charset="0"/>
                                </a:rPr>
                                <m:t>=240</m:t>
                              </m:r>
                              <m:func>
                                <m:funcPr>
                                  <m:ctrlPr>
                                    <a:rPr lang="en-AU" sz="2400" b="0" i="1" smtClean="0">
                                      <a:latin typeface="Cambria Math" panose="02040503050406030204" pitchFamily="18" charset="0"/>
                                    </a:rPr>
                                  </m:ctrlPr>
                                </m:funcPr>
                                <m:fName>
                                  <m:r>
                                    <m:rPr>
                                      <m:sty m:val="p"/>
                                      <m:brk m:alnAt="7"/>
                                    </m:rPr>
                                    <a:rPr lang="en-AU" sz="2400" b="0" i="0" smtClean="0">
                                      <a:latin typeface="Cambria Math" panose="02040503050406030204" pitchFamily="18" charset="0"/>
                                    </a:rPr>
                                    <m:t>s</m:t>
                                  </m:r>
                                  <m:r>
                                    <m:rPr>
                                      <m:sty m:val="p"/>
                                    </m:rPr>
                                    <a:rPr lang="en-AU" sz="2400" b="0" i="0" smtClean="0">
                                      <a:latin typeface="Cambria Math" panose="02040503050406030204" pitchFamily="18" charset="0"/>
                                    </a:rPr>
                                    <m:t>in</m:t>
                                  </m:r>
                                </m:fName>
                                <m:e>
                                  <m:r>
                                    <a:rPr lang="en-AU" sz="2400" b="0" i="1" smtClean="0">
                                      <a:latin typeface="Cambria Math" panose="02040503050406030204" pitchFamily="18" charset="0"/>
                                    </a:rPr>
                                    <m:t>20</m:t>
                                  </m:r>
                                  <m:r>
                                    <a:rPr lang="en-AU" sz="2400" b="0" i="1" smtClean="0">
                                      <a:latin typeface="Cambria Math" panose="02040503050406030204" pitchFamily="18" charset="0"/>
                                    </a:rPr>
                                    <m:t>𝑡</m:t>
                                  </m:r>
                                </m:e>
                              </m:func>
                            </m:e>
                          </m:mr>
                          <m:mr>
                            <m:e>
                              <m:r>
                                <a:rPr lang="en-AU" sz="2400" b="0" i="1" smtClean="0">
                                  <a:latin typeface="Cambria Math" panose="02040503050406030204" pitchFamily="18" charset="0"/>
                                </a:rPr>
                                <m:t>𝑖</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0</m:t>
                                  </m:r>
                                </m:e>
                              </m:d>
                              <m:r>
                                <a:rPr lang="en-AU" sz="2400" b="0" i="1" smtClean="0">
                                  <a:latin typeface="Cambria Math" panose="02040503050406030204" pitchFamily="18" charset="0"/>
                                </a:rPr>
                                <m:t>=0</m:t>
                              </m:r>
                            </m:e>
                          </m:mr>
                        </m:m>
                      </m:e>
                    </m:d>
                  </m:oMath>
                </a14:m>
                <a:endParaRPr lang="en-GB" sz="240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847274"/>
                <a:ext cx="11672047" cy="1271438"/>
              </a:xfrm>
              <a:prstGeom prst="rect">
                <a:avLst/>
              </a:prstGeom>
              <a:blipFill>
                <a:blip r:embed="rId2"/>
                <a:stretch>
                  <a:fillRect l="-836"/>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1E53B8AD-20C2-467A-9708-809E951AACD1}"/>
              </a:ext>
            </a:extLst>
          </p:cNvPr>
          <p:cNvPicPr>
            <a:picLocks noChangeAspect="1"/>
          </p:cNvPicPr>
          <p:nvPr/>
        </p:nvPicPr>
        <p:blipFill>
          <a:blip r:embed="rId3"/>
          <a:stretch>
            <a:fillRect/>
          </a:stretch>
        </p:blipFill>
        <p:spPr>
          <a:xfrm>
            <a:off x="7095402" y="3271427"/>
            <a:ext cx="4836621" cy="2892672"/>
          </a:xfrm>
          <a:prstGeom prst="rect">
            <a:avLst/>
          </a:prstGeom>
        </p:spPr>
      </p:pic>
      <p:sp>
        <p:nvSpPr>
          <p:cNvPr id="11" name="Rectangle 10">
            <a:extLst>
              <a:ext uri="{FF2B5EF4-FFF2-40B4-BE49-F238E27FC236}">
                <a16:creationId xmlns:a16="http://schemas.microsoft.com/office/drawing/2014/main" id="{F8DBCA35-7485-4421-9904-C031865FF408}"/>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6694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967630" cy="523220"/>
          </a:xfrm>
          <a:prstGeom prst="rect">
            <a:avLst/>
          </a:prstGeom>
          <a:noFill/>
        </p:spPr>
        <p:txBody>
          <a:bodyPr wrap="none" rtlCol="0">
            <a:spAutoFit/>
          </a:bodyPr>
          <a:lstStyle/>
          <a:p>
            <a:r>
              <a:rPr lang="en-AU" sz="2800" b="1" cap="small" dirty="0">
                <a:solidFill>
                  <a:schemeClr val="bg1"/>
                </a:solidFill>
                <a:latin typeface="+mj-lt"/>
              </a:rPr>
              <a:t>6.5 Second order linear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364161"/>
              </a:xfrm>
              <a:prstGeom prst="rect">
                <a:avLst/>
              </a:prstGeom>
              <a:noFill/>
            </p:spPr>
            <p:txBody>
              <a:bodyPr wrap="square" rtlCol="0">
                <a:spAutoFit/>
              </a:bodyPr>
              <a:lstStyle/>
              <a:p>
                <a:r>
                  <a:rPr lang="en-AU" sz="2400" dirty="0">
                    <a:latin typeface="+mj-lt"/>
                  </a:rPr>
                  <a:t>Second order ODEs are fundamental in modelling systems in Physics, Chemistry and Applied Mathematics. They arise naturally in a range of contexts such as vibrations in structures, oscillations of currents and voltages in electrical circuits, mechanical responses of tissues and muscles enduring stress and strain, dynamics of rigid bodies such as cantilevers, plates and spinning tops, and many other phenomena.</a:t>
                </a:r>
              </a:p>
              <a:p>
                <a:endParaRPr lang="en-AU" sz="2400" dirty="0">
                  <a:latin typeface="+mj-lt"/>
                </a:endParaRPr>
              </a:p>
              <a:p>
                <a:r>
                  <a:rPr lang="en-AU" sz="2400" dirty="0">
                    <a:latin typeface="+mj-lt"/>
                  </a:rPr>
                  <a:t>Definition (Second order, linear ODEs). Consider a generic second order ODE described by the following equation: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r>
                            <a:rPr lang="en-AU" sz="2400" b="0" i="1" smtClean="0">
                              <a:latin typeface="Cambria Math" panose="02040503050406030204" pitchFamily="18" charset="0"/>
                            </a:rPr>
                            <m:t>,</m:t>
                          </m:r>
                          <m:r>
                            <a:rPr lang="en-AU" sz="2400" b="0" i="1" smtClean="0">
                              <a:latin typeface="Cambria Math" panose="02040503050406030204" pitchFamily="18" charset="0"/>
                            </a:rPr>
                            <m:t>𝑦</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e>
                      </m:d>
                      <m:r>
                        <a:rPr lang="en-AU" sz="2400" b="0" i="1" smtClean="0">
                          <a:latin typeface="Cambria Math" panose="02040503050406030204" pitchFamily="18" charset="0"/>
                        </a:rPr>
                        <m:t>=0</m:t>
                      </m:r>
                    </m:oMath>
                  </m:oMathPara>
                </a14:m>
                <a:endParaRPr lang="en-AU" sz="2400" b="0" dirty="0">
                  <a:latin typeface="+mj-lt"/>
                </a:endParaRPr>
              </a:p>
              <a:p>
                <a:r>
                  <a:rPr lang="en-AU" sz="2400" b="0" dirty="0">
                    <a:latin typeface="+mj-lt"/>
                  </a:rPr>
                  <a:t>A linear second order ODE has the form:</a:t>
                </a: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oMath>
                  </m:oMathPara>
                </a14:m>
                <a:endParaRPr lang="en-AU" sz="2400" b="0" dirty="0">
                  <a:latin typeface="+mj-lt"/>
                  <a:ea typeface="Cambria Math" panose="02040503050406030204" pitchFamily="18" charset="0"/>
                </a:endParaRPr>
              </a:p>
              <a:p>
                <a:r>
                  <a:rPr lang="en-AU" sz="2400" b="0" dirty="0">
                    <a:latin typeface="+mj-lt"/>
                  </a:rPr>
                  <a:t>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AU" sz="2400" b="0" dirty="0">
                    <a:latin typeface="+mj-lt"/>
                  </a:rPr>
                  <a:t> are given functions of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364161"/>
              </a:xfrm>
              <a:prstGeom prst="rect">
                <a:avLst/>
              </a:prstGeom>
              <a:blipFill>
                <a:blip r:embed="rId2"/>
                <a:stretch>
                  <a:fillRect l="-836" t="-909" r="-679" b="-1591"/>
                </a:stretch>
              </a:blipFill>
            </p:spPr>
            <p:txBody>
              <a:bodyPr/>
              <a:lstStyle/>
              <a:p>
                <a:r>
                  <a:rPr lang="en-GB">
                    <a:noFill/>
                  </a:rPr>
                  <a:t> </a:t>
                </a:r>
              </a:p>
            </p:txBody>
          </p:sp>
        </mc:Fallback>
      </mc:AlternateContent>
    </p:spTree>
    <p:extLst>
      <p:ext uri="{BB962C8B-B14F-4D97-AF65-F5344CB8AC3E}">
        <p14:creationId xmlns:p14="http://schemas.microsoft.com/office/powerpoint/2010/main" val="509788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967630" cy="523220"/>
          </a:xfrm>
          <a:prstGeom prst="rect">
            <a:avLst/>
          </a:prstGeom>
          <a:noFill/>
        </p:spPr>
        <p:txBody>
          <a:bodyPr wrap="none" rtlCol="0">
            <a:spAutoFit/>
          </a:bodyPr>
          <a:lstStyle/>
          <a:p>
            <a:r>
              <a:rPr lang="en-AU" sz="2800" b="1" cap="small" dirty="0">
                <a:solidFill>
                  <a:schemeClr val="bg1"/>
                </a:solidFill>
                <a:latin typeface="+mj-lt"/>
              </a:rPr>
              <a:t>6.5 Second order linear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704878"/>
              </a:xfrm>
              <a:prstGeom prst="rect">
                <a:avLst/>
              </a:prstGeom>
              <a:noFill/>
            </p:spPr>
            <p:txBody>
              <a:bodyPr wrap="square" rtlCol="0">
                <a:spAutoFit/>
              </a:bodyPr>
              <a:lstStyle/>
              <a:p>
                <a:r>
                  <a:rPr lang="en-AU" sz="2400" dirty="0">
                    <a:latin typeface="+mj-lt"/>
                  </a:rPr>
                  <a:t>Depending on </a:t>
                </a:r>
                <a14:m>
                  <m:oMath xmlns:m="http://schemas.openxmlformats.org/officeDocument/2006/math">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a14:m>
                <a:r>
                  <a:rPr lang="en-AU" sz="2400" b="0" dirty="0">
                    <a:latin typeface="+mj-lt"/>
                  </a:rPr>
                  <a:t>, second order linear ODEs are subdivided into</a:t>
                </a:r>
              </a:p>
              <a:p>
                <a:pPr marL="342900" indent="-342900">
                  <a:buFont typeface="Arial" panose="020B0604020202020204" pitchFamily="34" charset="0"/>
                  <a:buChar char="•"/>
                </a:pPr>
                <a:r>
                  <a:rPr lang="en-AU" sz="2400" dirty="0">
                    <a:latin typeface="+mj-lt"/>
                  </a:rPr>
                  <a:t>Homogeneous ODEs, when </a:t>
                </a:r>
                <a14:m>
                  <m:oMath xmlns:m="http://schemas.openxmlformats.org/officeDocument/2006/math">
                    <m:r>
                      <a:rPr lang="en-AU" sz="2400" b="0" i="1" smtClean="0">
                        <a:latin typeface="Cambria Math" panose="02040503050406030204" pitchFamily="18" charset="0"/>
                        <a:ea typeface="Cambria Math" panose="02040503050406030204" pitchFamily="18" charset="0"/>
                      </a:rPr>
                      <m:t>ℛ</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0" smtClean="0">
                        <a:latin typeface="Cambria Math" panose="02040503050406030204" pitchFamily="18" charset="0"/>
                        <a:ea typeface="Cambria Math" panose="02040503050406030204" pitchFamily="18" charset="0"/>
                      </a:rPr>
                      <m:t>=0</m:t>
                    </m:r>
                  </m:oMath>
                </a14:m>
                <a:endParaRPr lang="en-AU" sz="2400" b="0" dirty="0">
                  <a:latin typeface="+mj-lt"/>
                </a:endParaRPr>
              </a:p>
              <a:p>
                <a:pPr marL="342900" indent="-342900">
                  <a:buFont typeface="Arial" panose="020B0604020202020204" pitchFamily="34" charset="0"/>
                  <a:buChar char="•"/>
                </a:pPr>
                <a:r>
                  <a:rPr lang="en-AU" sz="2400" dirty="0">
                    <a:latin typeface="+mj-lt"/>
                  </a:rPr>
                  <a:t>Inhomogeneous ODEs, when </a:t>
                </a:r>
                <a14:m>
                  <m:oMath xmlns:m="http://schemas.openxmlformats.org/officeDocument/2006/math">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dirty="0">
                        <a:latin typeface="Cambria Math" panose="02040503050406030204" pitchFamily="18" charset="0"/>
                      </a:rPr>
                      <m:t>≠</m:t>
                    </m:r>
                    <m:r>
                      <a:rPr lang="en-AU" sz="2400" b="0" i="0" dirty="0" smtClean="0">
                        <a:latin typeface="Cambria Math" panose="02040503050406030204" pitchFamily="18" charset="0"/>
                      </a:rPr>
                      <m:t>0</m:t>
                    </m:r>
                  </m:oMath>
                </a14:m>
                <a:endParaRPr lang="en-AU" sz="2400" b="0" dirty="0">
                  <a:latin typeface="+mj-lt"/>
                </a:endParaRPr>
              </a:p>
              <a:p>
                <a:endParaRPr lang="en-AU" sz="2400" dirty="0">
                  <a:latin typeface="+mj-lt"/>
                </a:endParaRPr>
              </a:p>
              <a:p>
                <a:r>
                  <a:rPr lang="en-AU" sz="2400" dirty="0">
                    <a:latin typeface="+mj-lt"/>
                  </a:rPr>
                  <a:t>Examples:</a:t>
                </a:r>
              </a:p>
              <a:p>
                <a:pPr>
                  <a:spcAft>
                    <a:spcPts val="1200"/>
                  </a:spcAft>
                </a:pPr>
                <a:r>
                  <a:rPr lang="en-AU" sz="2400" b="0" dirty="0">
                    <a:latin typeface="+mj-lt"/>
                  </a:rPr>
                  <a:t>1.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=12</m:t>
                    </m:r>
                    <m:r>
                      <a:rPr lang="en-AU" sz="2400" b="0" i="1" smtClean="0">
                        <a:latin typeface="Cambria Math" panose="02040503050406030204" pitchFamily="18" charset="0"/>
                      </a:rPr>
                      <m:t>𝑥</m:t>
                    </m:r>
                  </m:oMath>
                </a14:m>
                <a:endParaRPr lang="en-AU" sz="2400" b="0" dirty="0">
                  <a:latin typeface="+mj-lt"/>
                </a:endParaRPr>
              </a:p>
              <a:p>
                <a:pPr>
                  <a:spcAft>
                    <a:spcPts val="1200"/>
                  </a:spcAft>
                </a:pPr>
                <a:r>
                  <a:rPr lang="en-AU" sz="2400" b="0" dirty="0">
                    <a:latin typeface="+mj-lt"/>
                  </a:rPr>
                  <a:t>2.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=−2</m:t>
                    </m:r>
                    <m:r>
                      <a:rPr lang="en-AU" sz="2400" b="0" i="1" smtClean="0">
                        <a:latin typeface="Cambria Math" panose="02040503050406030204" pitchFamily="18" charset="0"/>
                      </a:rPr>
                      <m:t>𝑥𝑦</m:t>
                    </m:r>
                  </m:oMath>
                </a14:m>
                <a:endParaRPr lang="en-AU" sz="2400" b="0" dirty="0">
                  <a:latin typeface="+mj-lt"/>
                </a:endParaRPr>
              </a:p>
              <a:p>
                <a:pPr>
                  <a:spcAft>
                    <a:spcPts val="1200"/>
                  </a:spcAft>
                </a:pPr>
                <a:r>
                  <a:rPr lang="en-AU" sz="2400" b="0" dirty="0">
                    <a:latin typeface="+mj-lt"/>
                  </a:rPr>
                  <a:t>3.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+4</m:t>
                    </m:r>
                    <m:r>
                      <a:rPr lang="en-AU" sz="2400" b="0" i="1" smtClean="0">
                        <a:latin typeface="Cambria Math" panose="02040503050406030204" pitchFamily="18" charset="0"/>
                      </a:rPr>
                      <m:t>𝑥𝑦</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=0</m:t>
                    </m:r>
                  </m:oMath>
                </a14:m>
                <a:endParaRPr lang="en-AU" sz="2400" b="0" dirty="0">
                  <a:latin typeface="+mj-lt"/>
                </a:endParaRPr>
              </a:p>
              <a:p>
                <a:pPr>
                  <a:spcAft>
                    <a:spcPts val="1200"/>
                  </a:spcAft>
                </a:pPr>
                <a:r>
                  <a:rPr lang="en-AU" sz="2400" b="0" dirty="0">
                    <a:latin typeface="+mj-lt"/>
                  </a:rPr>
                  <a:t>4. </a:t>
                </a:r>
                <a14:m>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rPr>
                      <m:t>𝑥</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𝑛</m:t>
                            </m:r>
                          </m:e>
                          <m:sup>
                            <m:r>
                              <a:rPr lang="en-AU" sz="2400" b="0" i="1" smtClean="0">
                                <a:latin typeface="Cambria Math" panose="02040503050406030204" pitchFamily="18" charset="0"/>
                              </a:rPr>
                              <m:t>2</m:t>
                            </m:r>
                          </m:sup>
                        </m:sSup>
                      </m:e>
                    </m:d>
                    <m:r>
                      <a:rPr lang="en-AU" sz="2400" b="0" i="1" smtClean="0">
                        <a:latin typeface="Cambria Math" panose="02040503050406030204" pitchFamily="18" charset="0"/>
                      </a:rPr>
                      <m:t>𝑦</m:t>
                    </m:r>
                    <m:r>
                      <a:rPr lang="en-AU" sz="2400" b="0" i="1" smtClean="0">
                        <a:latin typeface="Cambria Math" panose="02040503050406030204" pitchFamily="18" charset="0"/>
                      </a:rPr>
                      <m:t>=0</m:t>
                    </m:r>
                  </m:oMath>
                </a14:m>
                <a:r>
                  <a:rPr lang="en-AU" sz="2400" b="0" dirty="0">
                    <a:latin typeface="+mj-lt"/>
                  </a:rPr>
                  <a:t>, with </a:t>
                </a:r>
                <a14:m>
                  <m:oMath xmlns:m="http://schemas.openxmlformats.org/officeDocument/2006/math">
                    <m:r>
                      <a:rPr lang="en-AU" sz="2400" b="0" i="1" smtClean="0">
                        <a:latin typeface="Cambria Math" panose="02040503050406030204" pitchFamily="18" charset="0"/>
                      </a:rPr>
                      <m:t>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ℕ</m:t>
                    </m:r>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704878"/>
              </a:xfrm>
              <a:prstGeom prst="rect">
                <a:avLst/>
              </a:prstGeom>
              <a:blipFill>
                <a:blip r:embed="rId2"/>
                <a:stretch>
                  <a:fillRect l="-836" t="-1036" b="-389"/>
                </a:stretch>
              </a:blipFill>
            </p:spPr>
            <p:txBody>
              <a:bodyPr/>
              <a:lstStyle/>
              <a:p>
                <a:r>
                  <a:rPr lang="en-GB">
                    <a:noFill/>
                  </a:rPr>
                  <a:t> </a:t>
                </a:r>
              </a:p>
            </p:txBody>
          </p:sp>
        </mc:Fallback>
      </mc:AlternateContent>
    </p:spTree>
    <p:extLst>
      <p:ext uri="{BB962C8B-B14F-4D97-AF65-F5344CB8AC3E}">
        <p14:creationId xmlns:p14="http://schemas.microsoft.com/office/powerpoint/2010/main" val="313174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967630" cy="523220"/>
          </a:xfrm>
          <a:prstGeom prst="rect">
            <a:avLst/>
          </a:prstGeom>
          <a:noFill/>
        </p:spPr>
        <p:txBody>
          <a:bodyPr wrap="none" rtlCol="0">
            <a:spAutoFit/>
          </a:bodyPr>
          <a:lstStyle/>
          <a:p>
            <a:r>
              <a:rPr lang="en-AU" sz="2800" b="1" cap="small" dirty="0">
                <a:solidFill>
                  <a:schemeClr val="bg1"/>
                </a:solidFill>
                <a:latin typeface="+mj-lt"/>
              </a:rPr>
              <a:t>6.5 Second order linear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832092"/>
              </a:xfrm>
              <a:prstGeom prst="rect">
                <a:avLst/>
              </a:prstGeom>
              <a:noFill/>
            </p:spPr>
            <p:txBody>
              <a:bodyPr wrap="square" rtlCol="0">
                <a:spAutoFit/>
              </a:bodyPr>
              <a:lstStyle/>
              <a:p>
                <a:r>
                  <a:rPr lang="en-AU" sz="2400" dirty="0">
                    <a:latin typeface="+mj-lt"/>
                  </a:rPr>
                  <a:t>Definition (Linear independence). Given two functions </a:t>
                </a:r>
                <a14:m>
                  <m:oMath xmlns:m="http://schemas.openxmlformats.org/officeDocument/2006/math">
                    <m:r>
                      <a:rPr lang="en-AU" sz="2400" b="0" i="1" smtClean="0">
                        <a:latin typeface="Cambria Math" panose="02040503050406030204" pitchFamily="18" charset="0"/>
                      </a:rPr>
                      <m:t>𝑓</m:t>
                    </m:r>
                    <m:r>
                      <a:rPr lang="en-AU" sz="2400" b="0" i="1" smtClean="0">
                        <a:latin typeface="Cambria Math" panose="02040503050406030204" pitchFamily="18" charset="0"/>
                      </a:rPr>
                      <m:t>:</m:t>
                    </m:r>
                    <m:r>
                      <a:rPr lang="en-AU" sz="2400" b="0" i="1" smtClean="0">
                        <a:latin typeface="Cambria Math" panose="02040503050406030204" pitchFamily="18" charset="0"/>
                      </a:rPr>
                      <m:t>𝑋</m:t>
                    </m:r>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𝑔</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rPr>
                  <a:t>, </a:t>
                </a:r>
                <a14:m>
                  <m:oMath xmlns:m="http://schemas.openxmlformats.org/officeDocument/2006/math">
                    <m:r>
                      <a:rPr lang="en-AU" sz="2400" b="0" i="1" smtClean="0">
                        <a:latin typeface="Cambria Math" panose="02040503050406030204" pitchFamily="18" charset="0"/>
                      </a:rPr>
                      <m:t>𝑓</m:t>
                    </m:r>
                  </m:oMath>
                </a14:m>
                <a:r>
                  <a:rPr lang="en-AU" sz="2400" b="0" dirty="0">
                    <a:latin typeface="+mj-lt"/>
                  </a:rPr>
                  <a:t> and </a:t>
                </a:r>
                <a14:m>
                  <m:oMath xmlns:m="http://schemas.openxmlformats.org/officeDocument/2006/math">
                    <m:r>
                      <a:rPr lang="en-AU" sz="2400" b="0" i="1" smtClean="0">
                        <a:latin typeface="Cambria Math" panose="02040503050406030204" pitchFamily="18" charset="0"/>
                      </a:rPr>
                      <m:t>𝑔</m:t>
                    </m:r>
                  </m:oMath>
                </a14:m>
                <a:r>
                  <a:rPr lang="en-AU" sz="2400" b="0" dirty="0">
                    <a:latin typeface="+mj-lt"/>
                  </a:rPr>
                  <a:t> are said to be linearly independent if neither is a constant multiple of the other. In other words, there is no constant </a:t>
                </a:r>
                <a14:m>
                  <m:oMath xmlns:m="http://schemas.openxmlformats.org/officeDocument/2006/math">
                    <m:r>
                      <a:rPr lang="en-AU" sz="2400" b="0" i="1" smtClean="0">
                        <a:latin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𝜖</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rPr>
                  <a:t> such that</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AU" sz="2400" b="0" dirty="0">
                  <a:latin typeface="+mj-lt"/>
                </a:endParaRPr>
              </a:p>
              <a:p>
                <a:r>
                  <a:rPr lang="en-AU" sz="2400" dirty="0">
                    <a:latin typeface="+mj-lt"/>
                  </a:rPr>
                  <a:t>for all </a:t>
                </a:r>
                <a14:m>
                  <m:oMath xmlns:m="http://schemas.openxmlformats.org/officeDocument/2006/math">
                    <m:r>
                      <a:rPr lang="en-AU" sz="2400" b="0" i="1" smtClean="0">
                        <a:latin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𝑋</m:t>
                    </m:r>
                  </m:oMath>
                </a14:m>
                <a:r>
                  <a:rPr lang="en-AU" sz="2400" b="0" dirty="0">
                    <a:latin typeface="+mj-lt"/>
                  </a:rPr>
                  <a:t>.</a:t>
                </a:r>
              </a:p>
              <a:p>
                <a:r>
                  <a:rPr lang="en-AU" sz="2400" dirty="0">
                    <a:latin typeface="+mj-lt"/>
                  </a:rPr>
                  <a:t>Note. If the two functions have different domains, then the above definition applies to the intersection of the domains.</a:t>
                </a:r>
              </a:p>
              <a:p>
                <a:endParaRPr lang="en-AU" sz="2400" b="0" dirty="0">
                  <a:latin typeface="+mj-lt"/>
                </a:endParaRPr>
              </a:p>
              <a:p>
                <a:r>
                  <a:rPr lang="en-AU" sz="2400" b="0" dirty="0">
                    <a:latin typeface="+mj-lt"/>
                  </a:rPr>
                  <a:t>Examples</a:t>
                </a:r>
              </a:p>
              <a:p>
                <a:pPr>
                  <a:spcAft>
                    <a:spcPts val="1200"/>
                  </a:spcAft>
                </a:pPr>
                <a:r>
                  <a:rPr lang="en-AU" sz="2400" dirty="0">
                    <a:latin typeface="+mj-lt"/>
                  </a:rPr>
                  <a:t>1.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 </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=7</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oMath>
                </a14:m>
                <a:endParaRPr lang="en-AU" sz="2400" b="0" dirty="0">
                  <a:latin typeface="+mj-lt"/>
                </a:endParaRPr>
              </a:p>
              <a:p>
                <a:pPr>
                  <a:spcAft>
                    <a:spcPts val="1200"/>
                  </a:spcAft>
                </a:pPr>
                <a:r>
                  <a:rPr lang="en-AU" sz="2400" b="0" dirty="0">
                    <a:latin typeface="+mj-lt"/>
                  </a:rPr>
                  <a:t>2.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=2</m:t>
                    </m:r>
                    <m:r>
                      <a:rPr lang="en-AU" sz="2400" b="0" i="1" smtClean="0">
                        <a:latin typeface="Cambria Math" panose="02040503050406030204" pitchFamily="18" charset="0"/>
                      </a:rPr>
                      <m:t>𝑥</m:t>
                    </m:r>
                    <m:r>
                      <a:rPr lang="en-AU" sz="2400" b="0" i="1" smtClean="0">
                        <a:latin typeface="Cambria Math" panose="02040503050406030204" pitchFamily="18" charset="0"/>
                      </a:rPr>
                      <m:t>, </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=−3</m:t>
                    </m:r>
                    <m:r>
                      <a:rPr lang="en-AU" sz="2400" b="0" i="1" smtClean="0">
                        <a:latin typeface="Cambria Math" panose="02040503050406030204" pitchFamily="18" charset="0"/>
                      </a:rPr>
                      <m:t>𝑥</m:t>
                    </m:r>
                  </m:oMath>
                </a14:m>
                <a:endParaRPr lang="en-AU" sz="2400" b="0" dirty="0">
                  <a:latin typeface="+mj-lt"/>
                </a:endParaRPr>
              </a:p>
              <a:p>
                <a:pPr>
                  <a:spcAft>
                    <a:spcPts val="1200"/>
                  </a:spcAft>
                </a:pPr>
                <a:r>
                  <a:rPr lang="en-AU" sz="2400" b="0" dirty="0">
                    <a:latin typeface="+mj-lt"/>
                  </a:rPr>
                  <a:t>3. </a:t>
                </a:r>
                <a14:m>
                  <m:oMath xmlns:m="http://schemas.openxmlformats.org/officeDocument/2006/math">
                    <m:r>
                      <a:rPr lang="en-AU" sz="2400" b="0" i="1" smtClean="0">
                        <a:latin typeface="Cambria Math" panose="02040503050406030204" pitchFamily="18" charset="0"/>
                      </a:rPr>
                      <m:t>𝑓</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r>
                          <a:rPr lang="en-AU" sz="2400" b="0" i="1" smtClean="0">
                            <a:latin typeface="Cambria Math" panose="02040503050406030204" pitchFamily="18" charset="0"/>
                          </a:rPr>
                          <m:t>𝑥</m:t>
                        </m:r>
                      </m:e>
                    </m:func>
                    <m:r>
                      <a:rPr lang="en-AU" sz="2400" b="0" i="1" smtClean="0">
                        <a:latin typeface="Cambria Math" panose="02040503050406030204" pitchFamily="18" charset="0"/>
                      </a:rPr>
                      <m:t>, </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𝑥</m:t>
                        </m:r>
                      </m:e>
                    </m:func>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832092"/>
              </a:xfrm>
              <a:prstGeom prst="rect">
                <a:avLst/>
              </a:prstGeom>
              <a:blipFill>
                <a:blip r:embed="rId2"/>
                <a:stretch>
                  <a:fillRect l="-836" t="-1009" b="-1892"/>
                </a:stretch>
              </a:blipFill>
            </p:spPr>
            <p:txBody>
              <a:bodyPr/>
              <a:lstStyle/>
              <a:p>
                <a:r>
                  <a:rPr lang="en-GB">
                    <a:noFill/>
                  </a:rPr>
                  <a:t> </a:t>
                </a:r>
              </a:p>
            </p:txBody>
          </p:sp>
        </mc:Fallback>
      </mc:AlternateContent>
    </p:spTree>
    <p:extLst>
      <p:ext uri="{BB962C8B-B14F-4D97-AF65-F5344CB8AC3E}">
        <p14:creationId xmlns:p14="http://schemas.microsoft.com/office/powerpoint/2010/main" val="2018071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967630" cy="523220"/>
          </a:xfrm>
          <a:prstGeom prst="rect">
            <a:avLst/>
          </a:prstGeom>
          <a:noFill/>
        </p:spPr>
        <p:txBody>
          <a:bodyPr wrap="none" rtlCol="0">
            <a:spAutoFit/>
          </a:bodyPr>
          <a:lstStyle/>
          <a:p>
            <a:r>
              <a:rPr lang="en-AU" sz="2800" b="1" cap="small" dirty="0">
                <a:solidFill>
                  <a:schemeClr val="bg1"/>
                </a:solidFill>
                <a:latin typeface="+mj-lt"/>
              </a:rPr>
              <a:t>6.5 Second order linear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896149"/>
              </a:xfrm>
              <a:prstGeom prst="rect">
                <a:avLst/>
              </a:prstGeom>
              <a:noFill/>
            </p:spPr>
            <p:txBody>
              <a:bodyPr wrap="square" rtlCol="0">
                <a:spAutoFit/>
              </a:bodyPr>
              <a:lstStyle/>
              <a:p>
                <a:r>
                  <a:rPr lang="en-AU" sz="2400" dirty="0">
                    <a:latin typeface="+mj-lt"/>
                  </a:rPr>
                  <a:t>Definition (Linear combination of </a:t>
                </a:r>
                <a14:m>
                  <m:oMath xmlns:m="http://schemas.openxmlformats.org/officeDocument/2006/math">
                    <m:r>
                      <a:rPr lang="en-AU" sz="2400" b="0" i="1" smtClean="0">
                        <a:latin typeface="Cambria Math" panose="02040503050406030204" pitchFamily="18" charset="0"/>
                      </a:rPr>
                      <m:t>𝑛</m:t>
                    </m:r>
                  </m:oMath>
                </a14:m>
                <a:r>
                  <a:rPr lang="en-AU" sz="2400" dirty="0">
                    <a:latin typeface="+mj-lt"/>
                  </a:rPr>
                  <a:t> functions). Given </a:t>
                </a:r>
                <a14:m>
                  <m:oMath xmlns:m="http://schemas.openxmlformats.org/officeDocument/2006/math">
                    <m:r>
                      <a:rPr lang="en-AU" sz="2400" b="0" i="1" smtClean="0">
                        <a:latin typeface="Cambria Math" panose="02040503050406030204" pitchFamily="18" charset="0"/>
                      </a:rPr>
                      <m:t>𝑛</m:t>
                    </m:r>
                  </m:oMath>
                </a14:m>
                <a:r>
                  <a:rPr lang="en-AU" sz="2400" dirty="0">
                    <a:latin typeface="+mj-lt"/>
                  </a:rPr>
                  <a:t> functions </a:t>
                </a:r>
                <a14:m>
                  <m:oMath xmlns:m="http://schemas.openxmlformats.org/officeDocument/2006/math">
                    <m:sSub>
                      <m:sSubPr>
                        <m:ctrlPr>
                          <a:rPr lang="en-AU" sz="2400" b="0" i="1" smtClean="0">
                            <a:latin typeface="Cambria Math" panose="02040503050406030204" pitchFamily="18" charset="0"/>
                          </a:rPr>
                        </m:ctrlPr>
                      </m:sSubPr>
                      <m:e>
                        <m:r>
                          <a:rPr lang="en-AU" sz="2400" i="1">
                            <a:latin typeface="Cambria Math" panose="02040503050406030204" pitchFamily="18" charset="0"/>
                          </a:rPr>
                          <m:t>𝑓</m:t>
                        </m:r>
                      </m:e>
                      <m:sub>
                        <m:r>
                          <a:rPr lang="en-AU" sz="2400" b="0" i="1" smtClean="0">
                            <a:latin typeface="Cambria Math" panose="02040503050406030204" pitchFamily="18" charset="0"/>
                          </a:rPr>
                          <m:t>𝑖</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b="0" dirty="0">
                    <a:latin typeface="+mj-lt"/>
                  </a:rPr>
                  <a:t> with </a:t>
                </a:r>
                <a14:m>
                  <m:oMath xmlns:m="http://schemas.openxmlformats.org/officeDocument/2006/math">
                    <m:r>
                      <a:rPr lang="en-AU" sz="2400" b="0" i="1" smtClean="0">
                        <a:latin typeface="Cambria Math" panose="02040503050406030204" pitchFamily="18" charset="0"/>
                      </a:rPr>
                      <m:t>𝑖</m:t>
                    </m:r>
                    <m:r>
                      <a:rPr lang="en-AU" sz="2400" b="0" i="1" smtClean="0">
                        <a:latin typeface="Cambria Math" panose="02040503050406030204" pitchFamily="18" charset="0"/>
                      </a:rPr>
                      <m:t>=1,..,</m:t>
                    </m:r>
                    <m:r>
                      <a:rPr lang="en-AU" sz="2400" b="0" i="1" smtClean="0">
                        <a:latin typeface="Cambria Math" panose="02040503050406030204" pitchFamily="18" charset="0"/>
                      </a:rPr>
                      <m:t>𝑛</m:t>
                    </m:r>
                  </m:oMath>
                </a14:m>
                <a:r>
                  <a:rPr lang="en-AU" sz="2400" b="0" dirty="0">
                    <a:latin typeface="+mj-lt"/>
                  </a:rPr>
                  <a:t>, a linear combination of the functions is given by</a:t>
                </a:r>
              </a:p>
              <a:p>
                <a:pPr/>
                <a14:m>
                  <m:oMathPara xmlns:m="http://schemas.openxmlformats.org/officeDocument/2006/math">
                    <m:oMathParaPr>
                      <m:jc m:val="centerGroup"/>
                    </m:oMathParaPr>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1</m:t>
                          </m:r>
                        </m:sub>
                      </m:sSub>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2</m:t>
                          </m:r>
                        </m:sub>
                      </m:sSub>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2</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𝑛</m:t>
                          </m:r>
                        </m:sub>
                      </m:sSub>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𝑓</m:t>
                          </m:r>
                        </m:e>
                        <m:sub>
                          <m:r>
                            <a:rPr lang="en-AU" sz="2400" b="0" i="1" smtClean="0">
                              <a:latin typeface="Cambria Math" panose="02040503050406030204" pitchFamily="18" charset="0"/>
                            </a:rPr>
                            <m:t>𝑛</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m:oMathPara>
                </a14:m>
                <a:endParaRPr lang="en-AU" sz="2400" dirty="0">
                  <a:latin typeface="+mj-lt"/>
                </a:endParaRPr>
              </a:p>
              <a:p>
                <a:r>
                  <a:rPr lang="en-AU" sz="2400" dirty="0">
                    <a:latin typeface="+mj-lt"/>
                  </a:rPr>
                  <a:t>where </a:t>
                </a: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m:t>
                    </m:r>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𝑛</m:t>
                        </m:r>
                      </m:sub>
                    </m:sSub>
                    <m:r>
                      <a:rPr lang="en-AU" sz="240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are generic constants.</a:t>
                </a:r>
              </a:p>
              <a:p>
                <a:endParaRPr lang="en-AU" sz="2400" dirty="0">
                  <a:latin typeface="+mj-lt"/>
                </a:endParaRPr>
              </a:p>
              <a:p>
                <a:r>
                  <a:rPr lang="en-AU" sz="2400" dirty="0">
                    <a:latin typeface="+mj-lt"/>
                  </a:rPr>
                  <a:t>Theorem (General solution of second order linear ODEs). Consider a second order linear ODE:</a:t>
                </a:r>
              </a:p>
              <a:p>
                <a:endParaRPr lang="en-AU" sz="2400" dirty="0">
                  <a:latin typeface="+mj-lt"/>
                </a:endParaRPr>
              </a:p>
              <a:p>
                <a:pPr/>
                <a14:m>
                  <m:oMathPara xmlns:m="http://schemas.openxmlformats.org/officeDocument/2006/math">
                    <m:oMathParaPr>
                      <m:jc m:val="centerGroup"/>
                    </m:oMathParaPr>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𝒫</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𝒬</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oMath>
                  </m:oMathPara>
                </a14:m>
                <a:endParaRPr lang="en-AU" sz="2400" b="0" dirty="0">
                  <a:latin typeface="+mj-lt"/>
                  <a:ea typeface="Cambria Math" panose="02040503050406030204" pitchFamily="18" charset="0"/>
                </a:endParaRPr>
              </a:p>
              <a:p>
                <a:endParaRPr lang="en-AU" sz="2400" dirty="0">
                  <a:latin typeface="+mj-lt"/>
                </a:endParaRPr>
              </a:p>
              <a:p>
                <a:r>
                  <a:rPr lang="en-AU" sz="2400" dirty="0">
                    <a:latin typeface="+mj-lt"/>
                  </a:rPr>
                  <a:t>The general solution of this ODE is given by</a:t>
                </a:r>
              </a:p>
              <a:p>
                <a:endParaRPr lang="en-AU"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1</m:t>
                          </m:r>
                        </m:sub>
                      </m:sSub>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2</m:t>
                          </m:r>
                        </m:sub>
                      </m:sSub>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2</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m:oMathPara>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896149"/>
              </a:xfrm>
              <a:prstGeom prst="rect">
                <a:avLst/>
              </a:prstGeom>
              <a:blipFill>
                <a:blip r:embed="rId2"/>
                <a:stretch>
                  <a:fillRect l="-836" t="-995" r="-52"/>
                </a:stretch>
              </a:blipFill>
            </p:spPr>
            <p:txBody>
              <a:bodyPr/>
              <a:lstStyle/>
              <a:p>
                <a:r>
                  <a:rPr lang="en-GB">
                    <a:noFill/>
                  </a:rPr>
                  <a:t> </a:t>
                </a:r>
              </a:p>
            </p:txBody>
          </p:sp>
        </mc:Fallback>
      </mc:AlternateContent>
    </p:spTree>
    <p:extLst>
      <p:ext uri="{BB962C8B-B14F-4D97-AF65-F5344CB8AC3E}">
        <p14:creationId xmlns:p14="http://schemas.microsoft.com/office/powerpoint/2010/main" val="1462299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967630" cy="523220"/>
          </a:xfrm>
          <a:prstGeom prst="rect">
            <a:avLst/>
          </a:prstGeom>
          <a:noFill/>
        </p:spPr>
        <p:txBody>
          <a:bodyPr wrap="none" rtlCol="0">
            <a:spAutoFit/>
          </a:bodyPr>
          <a:lstStyle/>
          <a:p>
            <a:r>
              <a:rPr lang="en-AU" sz="2800" b="1" cap="small" dirty="0">
                <a:solidFill>
                  <a:schemeClr val="bg1"/>
                </a:solidFill>
                <a:latin typeface="+mj-lt"/>
              </a:rPr>
              <a:t>6.5 Second order linear ODEs with constant coefficients</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265480"/>
              </a:xfrm>
              <a:prstGeom prst="rect">
                <a:avLst/>
              </a:prstGeom>
              <a:noFill/>
            </p:spPr>
            <p:txBody>
              <a:bodyPr wrap="square" rtlCol="0">
                <a:spAutoFit/>
              </a:bodyPr>
              <a:lstStyle/>
              <a:p>
                <a:r>
                  <a:rPr lang="en-AU" sz="2400" dirty="0">
                    <a:latin typeface="+mj-lt"/>
                  </a:rPr>
                  <a:t>where</a:t>
                </a:r>
              </a:p>
              <a:p>
                <a:pPr marL="342900" indent="-342900">
                  <a:buFont typeface="Arial" panose="020B0604020202020204" pitchFamily="34" charset="0"/>
                  <a:buChar char="•"/>
                </a:pPr>
                <a14:m>
                  <m:oMath xmlns:m="http://schemas.openxmlformats.org/officeDocument/2006/math">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m:t>
                    </m:r>
                    <m:sSub>
                      <m:sSubPr>
                        <m:ctrlPr>
                          <a:rPr lang="en-AU" sz="240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2</m:t>
                        </m:r>
                      </m:sub>
                    </m:sSub>
                    <m:r>
                      <a:rPr lang="en-AU" sz="240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dirty="0">
                    <a:latin typeface="+mj-lt"/>
                  </a:rPr>
                  <a:t> are arbitrary (integration) constants, </a:t>
                </a:r>
              </a:p>
              <a:p>
                <a:pPr marL="342900" indent="-342900">
                  <a:buFont typeface="Arial" panose="020B0604020202020204" pitchFamily="34" charset="0"/>
                  <a:buChar char="•"/>
                </a:pP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𝑦</m:t>
                        </m:r>
                      </m:e>
                      <m:sub>
                        <m:r>
                          <a:rPr lang="en-AU" sz="2400" i="1">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 </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2</m:t>
                        </m:r>
                      </m:sub>
                    </m:sSub>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dirty="0">
                    <a:latin typeface="+mj-lt"/>
                  </a:rPr>
                  <a:t> are linearly independent solutions of the corresponding homogeneous equation, and </a:t>
                </a:r>
                <a:endParaRPr lang="en-AU" sz="2400" b="0" i="1" dirty="0">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r>
                      <a:rPr lang="en-AU" sz="2400" b="0" i="1" smtClean="0">
                        <a:latin typeface="Cambria Math" panose="02040503050406030204" pitchFamily="18" charset="0"/>
                      </a:rPr>
                      <m:t>𝑔</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dirty="0">
                    <a:latin typeface="+mj-lt"/>
                  </a:rPr>
                  <a:t> is one solution of the given inhomogeneous ODE. This function is also called the special or particular solution. </a:t>
                </a:r>
              </a:p>
              <a:p>
                <a:pPr marL="342900" indent="-342900">
                  <a:buFont typeface="Arial" panose="020B0604020202020204" pitchFamily="34" charset="0"/>
                  <a:buChar char="•"/>
                </a:pPr>
                <a:endParaRPr lang="en-AU" sz="2400" dirty="0">
                  <a:latin typeface="+mj-lt"/>
                </a:endParaRPr>
              </a:p>
              <a:p>
                <a:r>
                  <a:rPr lang="en-AU" sz="2400" dirty="0">
                    <a:latin typeface="+mj-lt"/>
                  </a:rPr>
                  <a:t>Definition (Second order linear ODEs with constant coefficients). A second order linear ODE with constant coefficients is an equation of the form</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oMath>
                  </m:oMathPara>
                </a14:m>
                <a:endParaRPr lang="en-AU" sz="2400" b="0" dirty="0">
                  <a:latin typeface="+mj-lt"/>
                  <a:ea typeface="Cambria Math" panose="02040503050406030204" pitchFamily="18" charset="0"/>
                </a:endParaRPr>
              </a:p>
              <a:p>
                <a:r>
                  <a:rPr lang="en-AU" sz="2400" dirty="0">
                    <a:latin typeface="+mj-lt"/>
                  </a:rPr>
                  <a:t>where </a:t>
                </a:r>
                <a14:m>
                  <m:oMath xmlns:m="http://schemas.openxmlformats.org/officeDocument/2006/math">
                    <m:r>
                      <a:rPr lang="en-AU" sz="2400" b="0" i="1" smtClean="0">
                        <a:latin typeface="Cambria Math" panose="02040503050406030204" pitchFamily="18" charset="0"/>
                      </a:rPr>
                      <m:t>𝑎</m:t>
                    </m:r>
                    <m:r>
                      <a:rPr lang="en-AU" sz="2400" b="0" i="1" smtClean="0">
                        <a:latin typeface="Cambria Math" panose="02040503050406030204" pitchFamily="18" charset="0"/>
                      </a:rPr>
                      <m:t>,</m:t>
                    </m:r>
                    <m:r>
                      <a:rPr lang="en-AU" sz="2400" b="0" i="1" smtClean="0">
                        <a:latin typeface="Cambria Math" panose="02040503050406030204" pitchFamily="18" charset="0"/>
                      </a:rPr>
                      <m:t>𝑏</m:t>
                    </m:r>
                    <m:r>
                      <a:rPr lang="en-AU" sz="2400" b="0" i="1" smtClean="0">
                        <a:latin typeface="Cambria Math" panose="02040503050406030204" pitchFamily="18" charset="0"/>
                      </a:rPr>
                      <m:t>,</m:t>
                    </m:r>
                    <m:r>
                      <a:rPr lang="en-AU" sz="2400" b="0" i="1" smtClean="0">
                        <a:latin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ℝ</m:t>
                    </m:r>
                  </m:oMath>
                </a14:m>
                <a:r>
                  <a:rPr lang="en-AU" sz="2400" b="0" dirty="0">
                    <a:latin typeface="+mj-lt"/>
                  </a:rPr>
                  <a:t> are constants. Their general solution will be of the form</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1</m:t>
                          </m:r>
                        </m:sub>
                      </m:sSub>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𝑐</m:t>
                          </m:r>
                        </m:e>
                        <m:sub>
                          <m:r>
                            <a:rPr lang="en-AU" sz="2400" b="0" i="1" smtClean="0">
                              <a:latin typeface="Cambria Math" panose="02040503050406030204" pitchFamily="18" charset="0"/>
                            </a:rPr>
                            <m:t>2</m:t>
                          </m:r>
                        </m:sub>
                      </m:sSub>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2</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m:oMathPara>
                </a14:m>
                <a:endParaRPr lang="en-AU" sz="2400" b="0" dirty="0">
                  <a:latin typeface="+mj-lt"/>
                </a:endParaRPr>
              </a:p>
              <a:p>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265480"/>
              </a:xfrm>
              <a:prstGeom prst="rect">
                <a:avLst/>
              </a:prstGeom>
              <a:blipFill>
                <a:blip r:embed="rId2"/>
                <a:stretch>
                  <a:fillRect l="-836" t="-926"/>
                </a:stretch>
              </a:blipFill>
            </p:spPr>
            <p:txBody>
              <a:bodyPr/>
              <a:lstStyle/>
              <a:p>
                <a:r>
                  <a:rPr lang="en-GB">
                    <a:noFill/>
                  </a:rPr>
                  <a:t> </a:t>
                </a:r>
              </a:p>
            </p:txBody>
          </p:sp>
        </mc:Fallback>
      </mc:AlternateContent>
    </p:spTree>
    <p:extLst>
      <p:ext uri="{BB962C8B-B14F-4D97-AF65-F5344CB8AC3E}">
        <p14:creationId xmlns:p14="http://schemas.microsoft.com/office/powerpoint/2010/main" val="1857645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773136" cy="523220"/>
          </a:xfrm>
          <a:prstGeom prst="rect">
            <a:avLst/>
          </a:prstGeom>
          <a:noFill/>
        </p:spPr>
        <p:txBody>
          <a:bodyPr wrap="none" rtlCol="0">
            <a:spAutoFit/>
          </a:bodyPr>
          <a:lstStyle/>
          <a:p>
            <a:r>
              <a:rPr lang="en-AU" sz="2800" b="1" cap="small" dirty="0">
                <a:solidFill>
                  <a:schemeClr val="bg1"/>
                </a:solidFill>
                <a:latin typeface="+mj-lt"/>
              </a:rPr>
              <a:t>6.6 General solution for the 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300105"/>
              </a:xfrm>
              <a:prstGeom prst="rect">
                <a:avLst/>
              </a:prstGeom>
              <a:noFill/>
            </p:spPr>
            <p:txBody>
              <a:bodyPr wrap="square" rtlCol="0">
                <a:spAutoFit/>
              </a:bodyPr>
              <a:lstStyle/>
              <a:p>
                <a:r>
                  <a:rPr lang="en-AU" sz="2400" dirty="0">
                    <a:latin typeface="+mj-lt"/>
                  </a:rPr>
                  <a:t>We will show how to find general solutions to the homogeneous second order linear ODE with constant coefficients:</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=0</m:t>
                      </m:r>
                    </m:oMath>
                  </m:oMathPara>
                </a14:m>
                <a:endParaRPr lang="en-AU" sz="2400" b="0" dirty="0">
                  <a:latin typeface="+mj-lt"/>
                  <a:ea typeface="Cambria Math" panose="02040503050406030204" pitchFamily="18" charset="0"/>
                </a:endParaRPr>
              </a:p>
              <a:p>
                <a:r>
                  <a:rPr lang="en-AU" sz="2400" b="0" dirty="0">
                    <a:latin typeface="+mj-lt"/>
                  </a:rPr>
                  <a:t>We suggest to try a solution of the type: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𝑦</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oMath>
                  </m:oMathPara>
                </a14:m>
                <a:endParaRPr lang="en-AU" sz="2400" b="0" dirty="0">
                  <a:latin typeface="+mj-lt"/>
                </a:endParaRPr>
              </a:p>
              <a:p>
                <a:r>
                  <a:rPr lang="en-AU" sz="2400" dirty="0">
                    <a:latin typeface="+mj-lt"/>
                  </a:rPr>
                  <a:t>where </a:t>
                </a:r>
                <a14:m>
                  <m:oMath xmlns:m="http://schemas.openxmlformats.org/officeDocument/2006/math">
                    <m:r>
                      <a:rPr lang="en-AU" sz="2400" i="1" smtClean="0">
                        <a:latin typeface="Cambria Math" panose="02040503050406030204" pitchFamily="18" charset="0"/>
                        <a:ea typeface="Cambria Math" panose="02040503050406030204" pitchFamily="18" charset="0"/>
                      </a:rPr>
                      <m:t>𝜆𝜖</m:t>
                    </m:r>
                    <m:r>
                      <a:rPr lang="en-AU" sz="2400" i="1" smtClean="0">
                        <a:latin typeface="Cambria Math" panose="02040503050406030204" pitchFamily="18" charset="0"/>
                        <a:ea typeface="Cambria Math" panose="02040503050406030204" pitchFamily="18" charset="0"/>
                      </a:rPr>
                      <m:t>ℝ</m:t>
                    </m:r>
                  </m:oMath>
                </a14:m>
                <a:r>
                  <a:rPr lang="en-AU" sz="2400" b="0" dirty="0">
                    <a:latin typeface="+mj-lt"/>
                  </a:rPr>
                  <a:t> to be determined. Substituting </a:t>
                </a:r>
                <a14:m>
                  <m:oMath xmlns:m="http://schemas.openxmlformats.org/officeDocument/2006/math">
                    <m:r>
                      <a:rPr lang="en-AU" sz="2400" b="0" i="1" smtClean="0">
                        <a:latin typeface="Cambria Math" panose="02040503050406030204" pitchFamily="18" charset="0"/>
                      </a:rPr>
                      <m:t>𝑦</m:t>
                    </m:r>
                    <m:r>
                      <a:rPr lang="en-AU" sz="2400" b="0" i="1" smtClean="0">
                        <a:latin typeface="Cambria Math" panose="02040503050406030204" pitchFamily="18" charset="0"/>
                      </a:rPr>
                      <m:t>(</m:t>
                    </m:r>
                    <m:r>
                      <a:rPr lang="en-AU" sz="2400" b="0" i="1" smtClean="0">
                        <a:latin typeface="Cambria Math" panose="02040503050406030204" pitchFamily="18" charset="0"/>
                      </a:rPr>
                      <m:t>𝑥</m:t>
                    </m:r>
                    <m:r>
                      <a:rPr lang="en-AU" sz="2400" b="0" i="1" smtClean="0">
                        <a:latin typeface="Cambria Math" panose="02040503050406030204" pitchFamily="18" charset="0"/>
                      </a:rPr>
                      <m:t>)</m:t>
                    </m:r>
                  </m:oMath>
                </a14:m>
                <a:r>
                  <a:rPr lang="en-AU" sz="2400" b="0" dirty="0">
                    <a:latin typeface="+mj-lt"/>
                  </a:rPr>
                  <a:t> in the ODE, we have</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𝜆</m:t>
                          </m:r>
                        </m:e>
                        <m:sup>
                          <m:r>
                            <a:rPr lang="en-AU" sz="2400" b="0" i="1" smtClean="0">
                              <a:latin typeface="Cambria Math" panose="02040503050406030204" pitchFamily="18" charset="0"/>
                              <a:ea typeface="Cambria Math" panose="02040503050406030204" pitchFamily="18" charset="0"/>
                            </a:rPr>
                            <m:t>2</m:t>
                          </m:r>
                        </m:sup>
                      </m:sSup>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𝜆</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r>
                        <a:rPr lang="en-AU" sz="2400" b="0" i="1" smtClean="0">
                          <a:latin typeface="Cambria Math" panose="02040503050406030204" pitchFamily="18" charset="0"/>
                          <a:ea typeface="Cambria Math" panose="02040503050406030204" pitchFamily="18" charset="0"/>
                        </a:rPr>
                        <m:t>=0</m:t>
                      </m:r>
                    </m:oMath>
                  </m:oMathPara>
                </a14:m>
                <a:endParaRPr lang="en-AU" sz="2400" b="0" dirty="0">
                  <a:latin typeface="+mj-lt"/>
                  <a:ea typeface="Cambria Math" panose="02040503050406030204" pitchFamily="18" charset="0"/>
                </a:endParaRPr>
              </a:p>
              <a:p>
                <a:r>
                  <a:rPr lang="en-AU" sz="2400" dirty="0">
                    <a:latin typeface="+mj-lt"/>
                    <a:ea typeface="Cambria Math" panose="02040503050406030204" pitchFamily="18" charset="0"/>
                  </a:rPr>
                  <a:t>Dividing by </a:t>
                </a:r>
                <a14:m>
                  <m:oMath xmlns:m="http://schemas.openxmlformats.org/officeDocument/2006/math">
                    <m:sSup>
                      <m:sSupPr>
                        <m:ctrlPr>
                          <a:rPr lang="en-AU" sz="2400" b="0" i="1" smtClean="0">
                            <a:latin typeface="Cambria Math" panose="02040503050406030204" pitchFamily="18" charset="0"/>
                            <a:ea typeface="Cambria Math" panose="02040503050406030204" pitchFamily="18" charset="0"/>
                          </a:rPr>
                        </m:ctrlPr>
                      </m:sSupPr>
                      <m:e>
                        <m:r>
                          <m:rPr>
                            <m:sty m:val="p"/>
                          </m:rPr>
                          <a:rPr lang="en-AU" sz="2400" b="0" i="0" smtClean="0">
                            <a:latin typeface="Cambria Math" panose="02040503050406030204" pitchFamily="18" charset="0"/>
                            <a:ea typeface="Cambria Math" panose="02040503050406030204" pitchFamily="18" charset="0"/>
                          </a:rPr>
                          <m:t>e</m:t>
                        </m:r>
                      </m:e>
                      <m:sup>
                        <m:r>
                          <a:rPr lang="en-AU" sz="240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oMath>
                </a14:m>
                <a:r>
                  <a:rPr lang="en-AU" sz="2400" b="0" dirty="0">
                    <a:latin typeface="+mj-lt"/>
                    <a:ea typeface="Cambria Math" panose="02040503050406030204" pitchFamily="18" charset="0"/>
                  </a:rPr>
                  <a:t> we obtain the following quadratic equation: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𝑎</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𝜆</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m:t>
                      </m:r>
                      <m:r>
                        <a:rPr lang="en-AU" sz="2400" b="0" i="1" smtClean="0">
                          <a:latin typeface="Cambria Math" panose="02040503050406030204" pitchFamily="18" charset="0"/>
                          <a:ea typeface="Cambria Math" panose="02040503050406030204" pitchFamily="18" charset="0"/>
                        </a:rPr>
                        <m:t>=0</m:t>
                      </m:r>
                    </m:oMath>
                  </m:oMathPara>
                </a14:m>
                <a:endParaRPr lang="en-AU" sz="2400" b="0" dirty="0">
                  <a:latin typeface="+mj-lt"/>
                  <a:ea typeface="Cambria Math" panose="02040503050406030204" pitchFamily="18" charset="0"/>
                </a:endParaRP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This equation is called the characteristic or auxiliary equation. Its two solutions provide the values for the solutions of the homogeneous equation.</a:t>
                </a:r>
                <a:endParaRPr lang="en-AU" sz="2400" b="0" dirty="0">
                  <a:latin typeface="+mj-lt"/>
                  <a:ea typeface="Cambria Math" panose="02040503050406030204" pitchFamily="18" charset="0"/>
                </a:endParaRPr>
              </a:p>
              <a:p>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300105"/>
              </a:xfrm>
              <a:prstGeom prst="rect">
                <a:avLst/>
              </a:prstGeom>
              <a:blipFill>
                <a:blip r:embed="rId2"/>
                <a:stretch>
                  <a:fillRect l="-836" t="-920"/>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0A897514-2229-4FF2-AAD8-405FCD0779A0}"/>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006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773136" cy="523220"/>
          </a:xfrm>
          <a:prstGeom prst="rect">
            <a:avLst/>
          </a:prstGeom>
          <a:noFill/>
        </p:spPr>
        <p:txBody>
          <a:bodyPr wrap="none" rtlCol="0">
            <a:spAutoFit/>
          </a:bodyPr>
          <a:lstStyle/>
          <a:p>
            <a:r>
              <a:rPr lang="en-AU" sz="2800" b="1" cap="small" dirty="0">
                <a:solidFill>
                  <a:schemeClr val="bg1"/>
                </a:solidFill>
                <a:latin typeface="+mj-lt"/>
              </a:rPr>
              <a:t>6.6 General solution for the 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5349541"/>
              </a:xfrm>
              <a:prstGeom prst="rect">
                <a:avLst/>
              </a:prstGeom>
              <a:noFill/>
            </p:spPr>
            <p:txBody>
              <a:bodyPr wrap="square" rtlCol="0">
                <a:spAutoFit/>
              </a:bodyPr>
              <a:lstStyle/>
              <a:p>
                <a:r>
                  <a:rPr lang="en-AU" sz="2400" dirty="0">
                    <a:latin typeface="+mj-lt"/>
                  </a:rPr>
                  <a:t>According to the solutions to the auxiliary equation, we have three cases:</a:t>
                </a:r>
              </a:p>
              <a:p>
                <a:pPr marL="342900" indent="-342900">
                  <a:buFont typeface="Arial" panose="020B0604020202020204" pitchFamily="34" charset="0"/>
                  <a:buChar char="•"/>
                </a:pPr>
                <a:r>
                  <a:rPr lang="en-AU" sz="2400" b="0" dirty="0">
                    <a:latin typeface="+mj-lt"/>
                    <a:ea typeface="Cambria Math" panose="02040503050406030204" pitchFamily="18" charset="0"/>
                  </a:rPr>
                  <a:t>Two disti</a:t>
                </a:r>
                <a:r>
                  <a:rPr lang="en-AU" sz="2400" dirty="0">
                    <a:latin typeface="+mj-lt"/>
                    <a:ea typeface="Cambria Math" panose="02040503050406030204" pitchFamily="18" charset="0"/>
                  </a:rPr>
                  <a:t>nct, real solutions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2</m:t>
                        </m:r>
                      </m:sub>
                    </m:sSub>
                  </m:oMath>
                </a14:m>
                <a:r>
                  <a:rPr lang="en-AU" sz="2400" b="0" dirty="0">
                    <a:latin typeface="+mj-lt"/>
                    <a:ea typeface="Cambria Math" panose="02040503050406030204" pitchFamily="18" charset="0"/>
                  </a:rPr>
                  <a:t> exist. Then two linearly independent solutions of the equation exist and are given by</a:t>
                </a:r>
              </a:p>
              <a:p>
                <a:pPr/>
                <a14:m>
                  <m:oMathPara xmlns:m="http://schemas.openxmlformats.org/officeDocument/2006/math">
                    <m:oMathParaPr>
                      <m:jc m:val="centerGroup"/>
                    </m:oMathParaPr>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1</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𝑥</m:t>
                          </m:r>
                        </m:sup>
                      </m:sSup>
                      <m:r>
                        <a:rPr lang="en-AU" sz="2400" b="0" i="1" smtClean="0">
                          <a:latin typeface="Cambria Math" panose="02040503050406030204" pitchFamily="18" charset="0"/>
                          <a:ea typeface="Cambria Math" panose="02040503050406030204" pitchFamily="18" charset="0"/>
                        </a:rPr>
                        <m:t>,     </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2</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2</m:t>
                              </m:r>
                            </m:sub>
                          </m:sSub>
                          <m:r>
                            <a:rPr lang="en-AU" sz="2400" b="0" i="1" smtClean="0">
                              <a:latin typeface="Cambria Math" panose="02040503050406030204" pitchFamily="18" charset="0"/>
                              <a:ea typeface="Cambria Math" panose="02040503050406030204" pitchFamily="18" charset="0"/>
                            </a:rPr>
                            <m:t>𝑥</m:t>
                          </m:r>
                        </m:sup>
                      </m:sSup>
                    </m:oMath>
                  </m:oMathPara>
                </a14:m>
                <a:endParaRPr lang="en-AU" sz="2400" b="0" dirty="0">
                  <a:latin typeface="+mj-lt"/>
                  <a:ea typeface="Cambria Math" panose="02040503050406030204" pitchFamily="18" charset="0"/>
                </a:endParaRPr>
              </a:p>
              <a:p>
                <a:pPr>
                  <a:tabLst>
                    <a:tab pos="358775" algn="l"/>
                  </a:tabLst>
                </a:pPr>
                <a:r>
                  <a:rPr lang="en-AU" sz="2400" b="0" dirty="0">
                    <a:latin typeface="+mj-lt"/>
                    <a:ea typeface="Cambria Math" panose="02040503050406030204" pitchFamily="18" charset="0"/>
                  </a:rPr>
                  <a:t>	The general solution of the homogeneous equation is a linear combination: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𝜆</m:t>
                              </m:r>
                            </m:e>
                            <m:sub>
                              <m:r>
                                <a:rPr lang="en-AU" sz="2400" i="1">
                                  <a:latin typeface="Cambria Math" panose="02040503050406030204" pitchFamily="18" charset="0"/>
                                  <a:ea typeface="Cambria Math" panose="02040503050406030204" pitchFamily="18" charset="0"/>
                                </a:rPr>
                                <m:t>1</m:t>
                              </m:r>
                            </m:sub>
                          </m:sSub>
                          <m:r>
                            <a:rPr lang="en-AU" sz="2400" i="1">
                              <a:latin typeface="Cambria Math" panose="02040503050406030204" pitchFamily="18" charset="0"/>
                              <a:ea typeface="Cambria Math" panose="02040503050406030204" pitchFamily="18" charset="0"/>
                            </a:rPr>
                            <m:t>𝑥</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2</m:t>
                              </m:r>
                            </m:sub>
                          </m:sSub>
                          <m:r>
                            <a:rPr lang="en-AU" sz="2400" i="1">
                              <a:latin typeface="Cambria Math" panose="02040503050406030204" pitchFamily="18" charset="0"/>
                              <a:ea typeface="Cambria Math" panose="02040503050406030204" pitchFamily="18" charset="0"/>
                            </a:rPr>
                            <m:t>𝑥</m:t>
                          </m:r>
                        </m:sup>
                      </m:sSup>
                    </m:oMath>
                  </m:oMathPara>
                </a14:m>
                <a:endParaRPr lang="en-AU" sz="2400" b="0" dirty="0">
                  <a:latin typeface="+mj-lt"/>
                  <a:ea typeface="Cambria Math" panose="02040503050406030204" pitchFamily="18" charset="0"/>
                </a:endParaRPr>
              </a:p>
              <a:p>
                <a:pPr>
                  <a:tabLst>
                    <a:tab pos="358775" algn="l"/>
                  </a:tabLst>
                </a:pPr>
                <a:r>
                  <a:rPr lang="en-AU" sz="2400" dirty="0">
                    <a:latin typeface="+mj-lt"/>
                    <a:ea typeface="Cambria Math" panose="02040503050406030204" pitchFamily="18" charset="0"/>
                  </a:rPr>
                  <a:t>	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ea typeface="Cambria Math" panose="02040503050406030204" pitchFamily="18" charset="0"/>
                  </a:rPr>
                  <a:t> are generic (integration) constants.</a:t>
                </a:r>
              </a:p>
              <a:p>
                <a:pPr marL="342900" indent="-342900">
                  <a:buFont typeface="Arial" panose="020B0604020202020204" pitchFamily="34" charset="0"/>
                  <a:buChar char="•"/>
                </a:pPr>
                <a:r>
                  <a:rPr lang="en-AU" sz="2400" b="0" dirty="0">
                    <a:latin typeface="+mj-lt"/>
                  </a:rPr>
                  <a:t>One repeated, real solution </a:t>
                </a:r>
                <a14:m>
                  <m:oMath xmlns:m="http://schemas.openxmlformats.org/officeDocument/2006/math">
                    <m:r>
                      <a:rPr lang="en-AU" sz="2400" b="0" i="1" smtClean="0">
                        <a:latin typeface="Cambria Math" panose="02040503050406030204" pitchFamily="18" charset="0"/>
                        <a:ea typeface="Cambria Math" panose="02040503050406030204" pitchFamily="18" charset="0"/>
                      </a:rPr>
                      <m:t>𝜆</m:t>
                    </m:r>
                  </m:oMath>
                </a14:m>
                <a:r>
                  <a:rPr lang="en-AU" sz="2400" b="0" dirty="0">
                    <a:latin typeface="+mj-lt"/>
                  </a:rPr>
                  <a:t> exists. One solution of the equation exist, given by</a:t>
                </a:r>
              </a:p>
              <a:p>
                <a:pPr/>
                <a14:m>
                  <m:oMathPara xmlns:m="http://schemas.openxmlformats.org/officeDocument/2006/math">
                    <m:oMathParaPr>
                      <m:jc m:val="centerGroup"/>
                    </m:oMathParaPr>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oMath>
                  </m:oMathPara>
                </a14:m>
                <a:endParaRPr lang="en-AU" sz="2400" b="0" dirty="0">
                  <a:latin typeface="+mj-lt"/>
                </a:endParaRPr>
              </a:p>
              <a:p>
                <a:pPr marL="358775">
                  <a:tabLst>
                    <a:tab pos="358775" algn="l"/>
                  </a:tabLst>
                </a:pPr>
                <a:r>
                  <a:rPr lang="en-AU" sz="2400" dirty="0">
                    <a:latin typeface="+mj-lt"/>
                  </a:rPr>
                  <a:t>A second, linearly independent solution can be found using a method whose justification is not discussed here. This second solution is obtained by multiplying </a:t>
                </a:r>
                <a14:m>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1</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oMath>
                </a14:m>
                <a:r>
                  <a:rPr lang="en-AU" sz="2400" b="0" dirty="0">
                    <a:latin typeface="+mj-lt"/>
                  </a:rPr>
                  <a:t> by </a:t>
                </a:r>
                <a14:m>
                  <m:oMath xmlns:m="http://schemas.openxmlformats.org/officeDocument/2006/math">
                    <m:r>
                      <a:rPr lang="en-AU" sz="2400" b="0" i="1" smtClean="0">
                        <a:latin typeface="Cambria Math" panose="02040503050406030204" pitchFamily="18" charset="0"/>
                      </a:rPr>
                      <m:t>𝑥</m:t>
                    </m:r>
                  </m:oMath>
                </a14:m>
                <a:r>
                  <a:rPr lang="en-AU" sz="2400" b="0" dirty="0">
                    <a:latin typeface="+mj-lt"/>
                  </a:rPr>
                  <a:t>:</a:t>
                </a:r>
              </a:p>
              <a:p>
                <a:pPr marL="358775">
                  <a:tabLst>
                    <a:tab pos="358775" algn="l"/>
                  </a:tabLst>
                </a:pPr>
                <a14:m>
                  <m:oMathPara xmlns:m="http://schemas.openxmlformats.org/officeDocument/2006/math">
                    <m:oMathParaPr>
                      <m:jc m:val="centerGroup"/>
                    </m:oMathParaPr>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𝑦</m:t>
                          </m:r>
                        </m:e>
                        <m:sub>
                          <m:r>
                            <a:rPr lang="en-AU" sz="2400" b="0" i="1" smtClean="0">
                              <a:latin typeface="Cambria Math" panose="02040503050406030204" pitchFamily="18" charset="0"/>
                            </a:rPr>
                            <m:t>2</m:t>
                          </m:r>
                        </m:sub>
                      </m:sSub>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𝑥</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𝜆</m:t>
                          </m:r>
                          <m:r>
                            <a:rPr lang="en-AU" sz="2400" b="0" i="1" smtClean="0">
                              <a:latin typeface="Cambria Math" panose="02040503050406030204" pitchFamily="18" charset="0"/>
                              <a:ea typeface="Cambria Math" panose="02040503050406030204" pitchFamily="18" charset="0"/>
                            </a:rPr>
                            <m:t>𝑥</m:t>
                          </m:r>
                        </m:sup>
                      </m:sSup>
                    </m:oMath>
                  </m:oMathPara>
                </a14:m>
                <a:endParaRPr lang="en-AU" sz="2400" b="0" dirty="0">
                  <a:latin typeface="+mj-lt"/>
                </a:endParaRPr>
              </a:p>
              <a:p>
                <a:pPr>
                  <a:tabLst>
                    <a:tab pos="358775" algn="l"/>
                  </a:tabLst>
                </a:pPr>
                <a:r>
                  <a:rPr lang="en-AU" sz="2400" b="0" dirty="0">
                    <a:latin typeface="+mj-lt"/>
                    <a:ea typeface="Cambria Math" panose="02040503050406030204" pitchFamily="18" charset="0"/>
                  </a:rPr>
                  <a:t>	The general solution of the homogeneous equation is a linear combination: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𝜆</m:t>
                          </m:r>
                          <m:r>
                            <a:rPr lang="en-AU" sz="2400" i="1">
                              <a:latin typeface="Cambria Math" panose="02040503050406030204" pitchFamily="18" charset="0"/>
                              <a:ea typeface="Cambria Math" panose="02040503050406030204" pitchFamily="18" charset="0"/>
                            </a:rPr>
                            <m:t>𝑥</m:t>
                          </m:r>
                        </m:sup>
                      </m:sSup>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𝐵𝑥</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smtClean="0">
                              <a:latin typeface="Cambria Math" panose="02040503050406030204" pitchFamily="18" charset="0"/>
                              <a:ea typeface="Cambria Math" panose="02040503050406030204" pitchFamily="18" charset="0"/>
                            </a:rPr>
                            <m:t>𝜆</m:t>
                          </m:r>
                          <m:r>
                            <a:rPr lang="en-AU" sz="2400" i="1">
                              <a:latin typeface="Cambria Math" panose="02040503050406030204" pitchFamily="18" charset="0"/>
                              <a:ea typeface="Cambria Math" panose="02040503050406030204" pitchFamily="18" charset="0"/>
                            </a:rPr>
                            <m:t>𝑥</m:t>
                          </m:r>
                        </m:sup>
                      </m:sSup>
                    </m:oMath>
                  </m:oMathPara>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5349541"/>
              </a:xfrm>
              <a:prstGeom prst="rect">
                <a:avLst/>
              </a:prstGeom>
              <a:blipFill>
                <a:blip r:embed="rId2"/>
                <a:stretch>
                  <a:fillRect l="-836" t="-911" r="-261"/>
                </a:stretch>
              </a:blipFill>
            </p:spPr>
            <p:txBody>
              <a:bodyPr/>
              <a:lstStyle/>
              <a:p>
                <a:r>
                  <a:rPr lang="en-GB">
                    <a:noFill/>
                  </a:rPr>
                  <a:t> </a:t>
                </a:r>
              </a:p>
            </p:txBody>
          </p:sp>
        </mc:Fallback>
      </mc:AlternateContent>
    </p:spTree>
    <p:extLst>
      <p:ext uri="{BB962C8B-B14F-4D97-AF65-F5344CB8AC3E}">
        <p14:creationId xmlns:p14="http://schemas.microsoft.com/office/powerpoint/2010/main" val="2881276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773136" cy="523220"/>
          </a:xfrm>
          <a:prstGeom prst="rect">
            <a:avLst/>
          </a:prstGeom>
          <a:noFill/>
        </p:spPr>
        <p:txBody>
          <a:bodyPr wrap="none" rtlCol="0">
            <a:spAutoFit/>
          </a:bodyPr>
          <a:lstStyle/>
          <a:p>
            <a:r>
              <a:rPr lang="en-AU" sz="2800" b="1" cap="small" dirty="0">
                <a:solidFill>
                  <a:schemeClr val="bg1"/>
                </a:solidFill>
                <a:latin typeface="+mj-lt"/>
              </a:rPr>
              <a:t>6.6 General solution for the 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2920351"/>
              </a:xfrm>
              <a:prstGeom prst="rect">
                <a:avLst/>
              </a:prstGeom>
              <a:noFill/>
            </p:spPr>
            <p:txBody>
              <a:bodyPr wrap="square" rtlCol="0">
                <a:spAutoFit/>
              </a:bodyPr>
              <a:lstStyle/>
              <a:p>
                <a:pPr marL="342900" indent="-342900">
                  <a:buFont typeface="Arial" panose="020B0604020202020204" pitchFamily="34" charset="0"/>
                  <a:buChar char="•"/>
                </a:pPr>
                <a:r>
                  <a:rPr lang="en-AU" sz="2400" b="0" dirty="0">
                    <a:latin typeface="+mj-lt"/>
                    <a:ea typeface="Cambria Math" panose="02040503050406030204" pitchFamily="18" charset="0"/>
                  </a:rPr>
                  <a:t>Two complex, conjugate solutions </a:t>
                </a:r>
                <a14:m>
                  <m:oMath xmlns:m="http://schemas.openxmlformats.org/officeDocument/2006/math">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1</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𝑗</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m:t>
                    </m:r>
                    <m:sSub>
                      <m:sSubPr>
                        <m:ctrlPr>
                          <a:rPr lang="en-AU" sz="2400" i="1" smtClean="0">
                            <a:latin typeface="Cambria Math" panose="02040503050406030204" pitchFamily="18" charset="0"/>
                            <a:ea typeface="Cambria Math" panose="02040503050406030204" pitchFamily="18" charset="0"/>
                          </a:rPr>
                        </m:ctrlPr>
                      </m:sSubPr>
                      <m:e>
                        <m:r>
                          <a:rPr lang="en-AU" sz="2400" i="1" smtClean="0">
                            <a:latin typeface="Cambria Math" panose="02040503050406030204" pitchFamily="18" charset="0"/>
                            <a:ea typeface="Cambria Math" panose="02040503050406030204" pitchFamily="18" charset="0"/>
                          </a:rPr>
                          <m:t>𝜆</m:t>
                        </m:r>
                      </m:e>
                      <m:sub>
                        <m:r>
                          <a:rPr lang="en-AU" sz="2400" b="0" i="1" smtClean="0">
                            <a:latin typeface="Cambria Math" panose="02040503050406030204" pitchFamily="18" charset="0"/>
                            <a:ea typeface="Cambria Math" panose="02040503050406030204" pitchFamily="18" charset="0"/>
                          </a:rPr>
                          <m:t>2</m:t>
                        </m:r>
                      </m:sub>
                    </m:sSub>
                    <m:r>
                      <a:rPr lang="en-AU" sz="2400" b="0" i="1" smtClean="0">
                        <a:latin typeface="Cambria Math" panose="02040503050406030204" pitchFamily="18" charset="0"/>
                        <a:ea typeface="Cambria Math" panose="02040503050406030204" pitchFamily="18" charset="0"/>
                      </a:rPr>
                      <m:t>=</m:t>
                    </m:r>
                    <m:r>
                      <a:rPr lang="en-AU" sz="2400" i="1" smtClean="0">
                        <a:latin typeface="Cambria Math" panose="02040503050406030204" pitchFamily="18" charset="0"/>
                        <a:ea typeface="Cambria Math" panose="02040503050406030204" pitchFamily="18" charset="0"/>
                      </a:rPr>
                      <m:t>𝛼</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𝑗</m:t>
                    </m:r>
                    <m:r>
                      <a:rPr lang="en-AU" sz="2400" b="0" i="1" smtClean="0">
                        <a:latin typeface="Cambria Math" panose="02040503050406030204" pitchFamily="18" charset="0"/>
                        <a:ea typeface="Cambria Math" panose="02040503050406030204" pitchFamily="18" charset="0"/>
                      </a:rPr>
                      <m:t>𝛽</m:t>
                    </m:r>
                  </m:oMath>
                </a14:m>
                <a:r>
                  <a:rPr lang="en-AU" sz="2400" b="0" dirty="0">
                    <a:latin typeface="+mj-lt"/>
                    <a:ea typeface="Cambria Math" panose="02040503050406030204" pitchFamily="18" charset="0"/>
                  </a:rPr>
                  <a:t> exist, 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𝑗</m:t>
                    </m:r>
                    <m:r>
                      <a:rPr lang="en-AU" sz="2400" b="0" i="1" smtClean="0">
                        <a:latin typeface="Cambria Math" panose="02040503050406030204" pitchFamily="18" charset="0"/>
                        <a:ea typeface="Cambria Math" panose="02040503050406030204" pitchFamily="18" charset="0"/>
                      </a:rPr>
                      <m:t>=</m:t>
                    </m:r>
                    <m:rad>
                      <m:radPr>
                        <m:degHide m:val="on"/>
                        <m:ctrlPr>
                          <a:rPr lang="en-AU" sz="2400" b="0" i="1" smtClean="0">
                            <a:latin typeface="Cambria Math" panose="02040503050406030204" pitchFamily="18" charset="0"/>
                            <a:ea typeface="Cambria Math" panose="02040503050406030204" pitchFamily="18" charset="0"/>
                          </a:rPr>
                        </m:ctrlPr>
                      </m:radPr>
                      <m:deg/>
                      <m:e>
                        <m:r>
                          <a:rPr lang="en-AU" sz="2400" b="0" i="1" smtClean="0">
                            <a:latin typeface="Cambria Math" panose="02040503050406030204" pitchFamily="18" charset="0"/>
                            <a:ea typeface="Cambria Math" panose="02040503050406030204" pitchFamily="18" charset="0"/>
                          </a:rPr>
                          <m:t>−1</m:t>
                        </m:r>
                      </m:e>
                    </m:rad>
                  </m:oMath>
                </a14:m>
                <a:r>
                  <a:rPr lang="en-AU" sz="2400" b="0" dirty="0">
                    <a:latin typeface="+mj-lt"/>
                    <a:ea typeface="Cambria Math" panose="02040503050406030204" pitchFamily="18" charset="0"/>
                  </a:rPr>
                  <a:t> is the imaginary unit. Then two solutions of the equation exist and are given by</a:t>
                </a:r>
              </a:p>
              <a:p>
                <a:pPr/>
                <a14:m>
                  <m:oMathPara xmlns:m="http://schemas.openxmlformats.org/officeDocument/2006/math">
                    <m:oMathParaPr>
                      <m:jc m:val="centerGroup"/>
                    </m:oMathParaPr>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1</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𝛼</m:t>
                          </m:r>
                          <m:r>
                            <a:rPr lang="en-AU" sz="2400" b="0" i="1" smtClean="0">
                              <a:latin typeface="Cambria Math" panose="02040503050406030204" pitchFamily="18" charset="0"/>
                              <a:ea typeface="Cambria Math" panose="02040503050406030204" pitchFamily="18" charset="0"/>
                            </a:rPr>
                            <m:t>𝑥</m:t>
                          </m:r>
                        </m:sup>
                      </m:sSup>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cos</m:t>
                          </m:r>
                        </m:fName>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e>
                      </m:func>
                      <m:r>
                        <a:rPr lang="en-AU" sz="2400" b="0" i="1" smtClean="0">
                          <a:latin typeface="Cambria Math" panose="02040503050406030204" pitchFamily="18" charset="0"/>
                          <a:ea typeface="Cambria Math" panose="02040503050406030204" pitchFamily="18" charset="0"/>
                        </a:rPr>
                        <m:t>,     </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2</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𝑒</m:t>
                          </m:r>
                        </m:e>
                        <m:sup>
                          <m:r>
                            <a:rPr lang="en-AU" sz="2400" b="0" i="1" smtClean="0">
                              <a:latin typeface="Cambria Math" panose="02040503050406030204" pitchFamily="18" charset="0"/>
                              <a:ea typeface="Cambria Math" panose="02040503050406030204" pitchFamily="18" charset="0"/>
                            </a:rPr>
                            <m:t>𝛼</m:t>
                          </m:r>
                          <m:r>
                            <a:rPr lang="en-AU" sz="2400" b="0" i="1" smtClean="0">
                              <a:latin typeface="Cambria Math" panose="02040503050406030204" pitchFamily="18" charset="0"/>
                              <a:ea typeface="Cambria Math" panose="02040503050406030204" pitchFamily="18" charset="0"/>
                            </a:rPr>
                            <m:t>𝑥</m:t>
                          </m:r>
                        </m:sup>
                      </m:sSup>
                      <m:func>
                        <m:funcPr>
                          <m:ctrlPr>
                            <a:rPr lang="en-AU" sz="2400" b="0" i="1" smtClean="0">
                              <a:latin typeface="Cambria Math" panose="02040503050406030204" pitchFamily="18" charset="0"/>
                              <a:ea typeface="Cambria Math" panose="02040503050406030204" pitchFamily="18" charset="0"/>
                            </a:rPr>
                          </m:ctrlPr>
                        </m:funcPr>
                        <m:fName>
                          <m:r>
                            <m:rPr>
                              <m:sty m:val="p"/>
                            </m:rPr>
                            <a:rPr lang="en-AU" sz="2400" b="0" i="0" smtClean="0">
                              <a:latin typeface="Cambria Math" panose="02040503050406030204" pitchFamily="18" charset="0"/>
                              <a:ea typeface="Cambria Math" panose="02040503050406030204" pitchFamily="18" charset="0"/>
                            </a:rPr>
                            <m:t>sin</m:t>
                          </m:r>
                        </m:fName>
                        <m:e>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e>
                      </m:func>
                    </m:oMath>
                  </m:oMathPara>
                </a14:m>
                <a:endParaRPr lang="en-AU" sz="2400" b="0" dirty="0">
                  <a:latin typeface="+mj-lt"/>
                  <a:ea typeface="Cambria Math" panose="02040503050406030204" pitchFamily="18" charset="0"/>
                </a:endParaRPr>
              </a:p>
              <a:p>
                <a:pPr>
                  <a:tabLst>
                    <a:tab pos="358775" algn="l"/>
                  </a:tabLst>
                </a:pPr>
                <a:r>
                  <a:rPr lang="en-AU" sz="2400" b="0" dirty="0">
                    <a:latin typeface="+mj-lt"/>
                    <a:ea typeface="Cambria Math" panose="02040503050406030204" pitchFamily="18" charset="0"/>
                  </a:rPr>
                  <a:t>	The general solution of the homogeneous equation is a linear combination:</a:t>
                </a: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𝐴</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a:latin typeface="Cambria Math" panose="02040503050406030204" pitchFamily="18" charset="0"/>
                              <a:ea typeface="Cambria Math" panose="02040503050406030204" pitchFamily="18" charset="0"/>
                            </a:rPr>
                            <m:t>𝛼</m:t>
                          </m:r>
                          <m:r>
                            <a:rPr lang="en-AU" sz="2400" i="1">
                              <a:latin typeface="Cambria Math" panose="02040503050406030204" pitchFamily="18" charset="0"/>
                              <a:ea typeface="Cambria Math" panose="02040503050406030204" pitchFamily="18" charset="0"/>
                            </a:rPr>
                            <m:t>𝑥</m:t>
                          </m:r>
                        </m:sup>
                      </m:sSup>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cos</m:t>
                          </m:r>
                        </m:fName>
                        <m:e>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𝛽</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e>
                      </m:func>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𝑒</m:t>
                          </m:r>
                        </m:e>
                        <m:sup>
                          <m:r>
                            <a:rPr lang="en-AU" sz="2400" i="1">
                              <a:latin typeface="Cambria Math" panose="02040503050406030204" pitchFamily="18" charset="0"/>
                              <a:ea typeface="Cambria Math" panose="02040503050406030204" pitchFamily="18" charset="0"/>
                            </a:rPr>
                            <m:t>𝛼</m:t>
                          </m:r>
                          <m:r>
                            <a:rPr lang="en-AU" sz="2400" i="1">
                              <a:latin typeface="Cambria Math" panose="02040503050406030204" pitchFamily="18" charset="0"/>
                              <a:ea typeface="Cambria Math" panose="02040503050406030204" pitchFamily="18" charset="0"/>
                            </a:rPr>
                            <m:t>𝑥</m:t>
                          </m:r>
                        </m:sup>
                      </m:sSup>
                      <m:func>
                        <m:funcPr>
                          <m:ctrlPr>
                            <a:rPr lang="en-AU" sz="2400" i="1">
                              <a:latin typeface="Cambria Math" panose="02040503050406030204" pitchFamily="18" charset="0"/>
                              <a:ea typeface="Cambria Math" panose="02040503050406030204" pitchFamily="18" charset="0"/>
                            </a:rPr>
                          </m:ctrlPr>
                        </m:funcPr>
                        <m:fName>
                          <m:r>
                            <m:rPr>
                              <m:sty m:val="p"/>
                            </m:rPr>
                            <a:rPr lang="en-AU" sz="2400">
                              <a:latin typeface="Cambria Math" panose="02040503050406030204" pitchFamily="18" charset="0"/>
                              <a:ea typeface="Cambria Math" panose="02040503050406030204" pitchFamily="18" charset="0"/>
                            </a:rPr>
                            <m:t>sin</m:t>
                          </m:r>
                        </m:fName>
                        <m:e>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𝛽</m:t>
                          </m:r>
                          <m:r>
                            <a:rPr lang="en-AU" sz="2400" i="1">
                              <a:latin typeface="Cambria Math" panose="02040503050406030204" pitchFamily="18" charset="0"/>
                              <a:ea typeface="Cambria Math" panose="02040503050406030204" pitchFamily="18" charset="0"/>
                            </a:rPr>
                            <m:t>𝑥</m:t>
                          </m:r>
                          <m:r>
                            <a:rPr lang="en-AU" sz="2400" i="1">
                              <a:latin typeface="Cambria Math" panose="02040503050406030204" pitchFamily="18" charset="0"/>
                              <a:ea typeface="Cambria Math" panose="02040503050406030204" pitchFamily="18" charset="0"/>
                            </a:rPr>
                            <m:t>)</m:t>
                          </m:r>
                        </m:e>
                      </m:func>
                    </m:oMath>
                  </m:oMathPara>
                </a14:m>
                <a:endParaRPr lang="en-AU" sz="2400" b="0" dirty="0">
                  <a:latin typeface="+mj-lt"/>
                  <a:ea typeface="Cambria Math" panose="02040503050406030204" pitchFamily="18" charset="0"/>
                </a:endParaRPr>
              </a:p>
              <a:p>
                <a:pPr>
                  <a:tabLst>
                    <a:tab pos="358775" algn="l"/>
                  </a:tabLst>
                </a:pPr>
                <a:r>
                  <a:rPr lang="en-AU" sz="2400" dirty="0">
                    <a:latin typeface="+mj-lt"/>
                    <a:ea typeface="Cambria Math" panose="02040503050406030204" pitchFamily="18" charset="0"/>
                  </a:rPr>
                  <a:t>	where </a:t>
                </a:r>
                <a14:m>
                  <m:oMath xmlns:m="http://schemas.openxmlformats.org/officeDocument/2006/math">
                    <m:r>
                      <a:rPr lang="en-AU" sz="2400" b="0" i="1" smtClean="0">
                        <a:latin typeface="Cambria Math" panose="02040503050406030204" pitchFamily="18" charset="0"/>
                        <a:ea typeface="Cambria Math" panose="02040503050406030204" pitchFamily="18" charset="0"/>
                      </a:rPr>
                      <m:t>𝐴</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𝐵</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ℝ</m:t>
                    </m:r>
                  </m:oMath>
                </a14:m>
                <a:r>
                  <a:rPr lang="en-AU" sz="2400" b="0" dirty="0">
                    <a:latin typeface="+mj-lt"/>
                    <a:ea typeface="Cambria Math" panose="02040503050406030204" pitchFamily="18" charset="0"/>
                  </a:rPr>
                  <a:t> are generic (integration) constants.</a:t>
                </a:r>
              </a:p>
              <a:p>
                <a:pPr>
                  <a:tabLst>
                    <a:tab pos="358775" algn="l"/>
                  </a:tabLst>
                </a:pPr>
                <a:r>
                  <a:rPr lang="en-AU" sz="2400" dirty="0">
                    <a:latin typeface="+mj-lt"/>
                    <a:ea typeface="Cambria Math" panose="02040503050406030204" pitchFamily="18" charset="0"/>
                  </a:rPr>
                  <a:t>Examples. Find the general solution of the differential equation</a:t>
                </a:r>
                <a14:m>
                  <m:oMath xmlns:m="http://schemas.openxmlformats.org/officeDocument/2006/math">
                    <m:r>
                      <a:rPr lang="en-AU" sz="2400" b="0" i="0" smtClean="0">
                        <a:latin typeface="Cambria Math" panose="02040503050406030204" pitchFamily="18" charset="0"/>
                        <a:ea typeface="Cambria Math" panose="02040503050406030204" pitchFamily="18" charset="0"/>
                      </a:rPr>
                      <m:t> </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𝑦</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−6</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=0</m:t>
                    </m:r>
                  </m:oMath>
                </a14:m>
                <a:endParaRPr lang="en-AU" sz="2400" b="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2920351"/>
              </a:xfrm>
              <a:prstGeom prst="rect">
                <a:avLst/>
              </a:prstGeom>
              <a:blipFill>
                <a:blip r:embed="rId2"/>
                <a:stretch>
                  <a:fillRect l="-836" t="-418" b="-1253"/>
                </a:stretch>
              </a:blipFill>
            </p:spPr>
            <p:txBody>
              <a:bodyPr/>
              <a:lstStyle/>
              <a:p>
                <a:r>
                  <a:rPr lang="en-GB">
                    <a:noFill/>
                  </a:rPr>
                  <a:t> </a:t>
                </a:r>
              </a:p>
            </p:txBody>
          </p:sp>
        </mc:Fallback>
      </mc:AlternateContent>
    </p:spTree>
    <p:extLst>
      <p:ext uri="{BB962C8B-B14F-4D97-AF65-F5344CB8AC3E}">
        <p14:creationId xmlns:p14="http://schemas.microsoft.com/office/powerpoint/2010/main" val="2306256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6773136" cy="523220"/>
          </a:xfrm>
          <a:prstGeom prst="rect">
            <a:avLst/>
          </a:prstGeom>
          <a:noFill/>
        </p:spPr>
        <p:txBody>
          <a:bodyPr wrap="none" rtlCol="0">
            <a:spAutoFit/>
          </a:bodyPr>
          <a:lstStyle/>
          <a:p>
            <a:r>
              <a:rPr lang="en-AU" sz="2800" b="1" cap="small" dirty="0">
                <a:solidFill>
                  <a:schemeClr val="bg1"/>
                </a:solidFill>
                <a:latin typeface="+mj-lt"/>
              </a:rPr>
              <a:t>6.6 General solution for the 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3460434"/>
              </a:xfrm>
              <a:prstGeom prst="rect">
                <a:avLst/>
              </a:prstGeom>
              <a:noFill/>
            </p:spPr>
            <p:txBody>
              <a:bodyPr wrap="square" rtlCol="0">
                <a:spAutoFit/>
              </a:bodyPr>
              <a:lstStyle/>
              <a:p>
                <a:r>
                  <a:rPr lang="en-AU" sz="2400" dirty="0">
                    <a:latin typeface="+mj-lt"/>
                    <a:ea typeface="Cambria Math" panose="02040503050406030204" pitchFamily="18" charset="0"/>
                  </a:rPr>
                  <a:t>Find the general solution of the differential equation</a:t>
                </a:r>
                <a14:m>
                  <m:oMath xmlns:m="http://schemas.openxmlformats.org/officeDocument/2006/math">
                    <m:r>
                      <a:rPr lang="en-AU" sz="2400" b="0" i="0" smtClean="0">
                        <a:latin typeface="Cambria Math" panose="02040503050406030204" pitchFamily="18" charset="0"/>
                        <a:ea typeface="Cambria Math" panose="02040503050406030204" pitchFamily="18" charset="0"/>
                      </a:rPr>
                      <m:t> </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𝑦</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−6</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+9</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=0</m:t>
                    </m:r>
                  </m:oMath>
                </a14:m>
                <a:endParaRPr lang="en-AU" sz="2400" b="0" dirty="0">
                  <a:latin typeface="+mj-lt"/>
                  <a:ea typeface="Cambria Math" panose="02040503050406030204" pitchFamily="18" charset="0"/>
                </a:endParaRPr>
              </a:p>
              <a:p>
                <a:endParaRPr lang="en-AU" sz="2400" dirty="0">
                  <a:latin typeface="+mj-lt"/>
                  <a:ea typeface="Cambria Math" panose="02040503050406030204" pitchFamily="18" charset="0"/>
                </a:endParaRPr>
              </a:p>
              <a:p>
                <a:endParaRPr lang="en-AU" sz="2400" b="0" dirty="0">
                  <a:latin typeface="+mj-lt"/>
                  <a:ea typeface="Cambria Math" panose="02040503050406030204" pitchFamily="18" charset="0"/>
                </a:endParaRPr>
              </a:p>
              <a:p>
                <a:endParaRPr lang="en-AU" sz="2400" dirty="0">
                  <a:latin typeface="+mj-lt"/>
                  <a:ea typeface="Cambria Math" panose="02040503050406030204" pitchFamily="18" charset="0"/>
                </a:endParaRPr>
              </a:p>
              <a:p>
                <a:endParaRPr lang="en-AU" sz="2400" b="0" dirty="0">
                  <a:latin typeface="+mj-lt"/>
                  <a:ea typeface="Cambria Math" panose="02040503050406030204" pitchFamily="18" charset="0"/>
                </a:endParaRP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Find the general solution of the differential equation</a:t>
                </a:r>
                <a14:m>
                  <m:oMath xmlns:m="http://schemas.openxmlformats.org/officeDocument/2006/math">
                    <m:r>
                      <a:rPr lang="en-AU" sz="2400" b="0" i="0" smtClean="0">
                        <a:latin typeface="Cambria Math" panose="02040503050406030204" pitchFamily="18" charset="0"/>
                        <a:ea typeface="Cambria Math" panose="02040503050406030204" pitchFamily="18" charset="0"/>
                      </a:rPr>
                      <m:t> </m:t>
                    </m:r>
                    <m:f>
                      <m:fPr>
                        <m:ctrlPr>
                          <a:rPr lang="en-AU" sz="2400" b="0" i="1" smtClean="0">
                            <a:latin typeface="Cambria Math" panose="02040503050406030204" pitchFamily="18" charset="0"/>
                            <a:ea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𝑑</m:t>
                            </m:r>
                          </m:e>
                          <m:sup>
                            <m:r>
                              <a:rPr lang="en-AU" sz="2400" b="0" i="1" smtClean="0">
                                <a:latin typeface="Cambria Math" panose="02040503050406030204" pitchFamily="18" charset="0"/>
                                <a:ea typeface="Cambria Math" panose="02040503050406030204" pitchFamily="18" charset="0"/>
                              </a:rPr>
                              <m:t>2</m:t>
                            </m:r>
                          </m:sup>
                        </m:sSup>
                        <m:r>
                          <a:rPr lang="en-AU" sz="2400" b="0" i="1" smtClean="0">
                            <a:latin typeface="Cambria Math" panose="02040503050406030204" pitchFamily="18" charset="0"/>
                            <a:ea typeface="Cambria Math" panose="02040503050406030204" pitchFamily="18" charset="0"/>
                          </a:rPr>
                          <m:t>𝑦</m:t>
                        </m:r>
                      </m:num>
                      <m:den>
                        <m:r>
                          <a:rPr lang="en-AU" sz="2400" b="0" i="1" smtClean="0">
                            <a:latin typeface="Cambria Math" panose="02040503050406030204" pitchFamily="18" charset="0"/>
                            <a:ea typeface="Cambria Math" panose="02040503050406030204" pitchFamily="18" charset="0"/>
                          </a:rPr>
                          <m:t>𝑑</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𝑥</m:t>
                            </m:r>
                          </m:e>
                          <m:sup>
                            <m:r>
                              <a:rPr lang="en-AU" sz="2400" b="0" i="1" smtClean="0">
                                <a:latin typeface="Cambria Math" panose="02040503050406030204" pitchFamily="18" charset="0"/>
                                <a:ea typeface="Cambria Math" panose="02040503050406030204" pitchFamily="18" charset="0"/>
                              </a:rPr>
                              <m:t>2</m:t>
                            </m:r>
                          </m:sup>
                        </m:sSup>
                      </m:den>
                    </m:f>
                    <m:r>
                      <a:rPr lang="en-AU" sz="2400" b="0" i="1" smtClean="0">
                        <a:latin typeface="Cambria Math" panose="02040503050406030204" pitchFamily="18" charset="0"/>
                        <a:ea typeface="Cambria Math" panose="02040503050406030204" pitchFamily="18" charset="0"/>
                      </a:rPr>
                      <m:t>+2</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𝑦</m:t>
                    </m:r>
                    <m:r>
                      <a:rPr lang="en-AU" sz="2400" b="0" i="1" smtClean="0">
                        <a:latin typeface="Cambria Math" panose="02040503050406030204" pitchFamily="18" charset="0"/>
                        <a:ea typeface="Cambria Math" panose="02040503050406030204" pitchFamily="18" charset="0"/>
                      </a:rPr>
                      <m:t>=0</m:t>
                    </m:r>
                  </m:oMath>
                </a14:m>
                <a:endParaRPr lang="en-AU" sz="2400" b="0" dirty="0">
                  <a:latin typeface="+mj-lt"/>
                  <a:ea typeface="Cambria Math" panose="02040503050406030204" pitchFamily="18" charset="0"/>
                </a:endParaRPr>
              </a:p>
              <a:p>
                <a:endParaRPr lang="en-AU" sz="2400" b="0" dirty="0">
                  <a:latin typeface="+mj-lt"/>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3460434"/>
              </a:xfrm>
              <a:prstGeom prst="rect">
                <a:avLst/>
              </a:prstGeom>
              <a:blipFill>
                <a:blip r:embed="rId2"/>
                <a:stretch>
                  <a:fillRect l="-836"/>
                </a:stretch>
              </a:blipFill>
            </p:spPr>
            <p:txBody>
              <a:bodyPr/>
              <a:lstStyle/>
              <a:p>
                <a:r>
                  <a:rPr lang="en-GB">
                    <a:noFill/>
                  </a:rPr>
                  <a:t> </a:t>
                </a:r>
              </a:p>
            </p:txBody>
          </p:sp>
        </mc:Fallback>
      </mc:AlternateContent>
    </p:spTree>
    <p:extLst>
      <p:ext uri="{BB962C8B-B14F-4D97-AF65-F5344CB8AC3E}">
        <p14:creationId xmlns:p14="http://schemas.microsoft.com/office/powerpoint/2010/main" val="1456098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21602" cy="523220"/>
          </a:xfrm>
          <a:prstGeom prst="rect">
            <a:avLst/>
          </a:prstGeom>
          <a:noFill/>
        </p:spPr>
        <p:txBody>
          <a:bodyPr wrap="none" rtlCol="0">
            <a:spAutoFit/>
          </a:bodyPr>
          <a:lstStyle/>
          <a:p>
            <a:r>
              <a:rPr lang="en-AU" sz="2800" b="1" cap="small" dirty="0">
                <a:solidFill>
                  <a:schemeClr val="bg1"/>
                </a:solidFill>
                <a:latin typeface="+mj-lt"/>
              </a:rPr>
              <a:t>6.7 General solution for the inhomogeneous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896149"/>
              </a:xfrm>
              <a:prstGeom prst="rect">
                <a:avLst/>
              </a:prstGeom>
              <a:noFill/>
            </p:spPr>
            <p:txBody>
              <a:bodyPr wrap="square" rtlCol="0">
                <a:spAutoFit/>
              </a:bodyPr>
              <a:lstStyle/>
              <a:p>
                <a:r>
                  <a:rPr lang="en-AU" sz="2400" dirty="0">
                    <a:latin typeface="+mj-lt"/>
                  </a:rPr>
                  <a:t>Theorem (Solution for an inhomogeneous second order ODE with constant coefficients). Consider the generic second order, linear, inhomogeneous ODE with constant coefficients:</a:t>
                </a:r>
              </a:p>
              <a:p>
                <a:endParaRPr lang="en-AU" sz="240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𝑎</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𝑏</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𝑑𝑦</m:t>
                          </m:r>
                        </m:num>
                        <m:den>
                          <m:r>
                            <a:rPr lang="en-AU" sz="2400" b="0" i="1" smtClean="0">
                              <a:latin typeface="Cambria Math" panose="02040503050406030204" pitchFamily="18" charset="0"/>
                              <a:ea typeface="Cambria Math" panose="02040503050406030204" pitchFamily="18" charset="0"/>
                            </a:rPr>
                            <m:t>𝑑𝑥</m:t>
                          </m:r>
                        </m:den>
                      </m:f>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𝑐𝑦</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ℛ</m:t>
                      </m:r>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endParaRPr lang="en-AU" sz="2400" b="0" dirty="0">
                  <a:latin typeface="+mj-lt"/>
                </a:endParaRPr>
              </a:p>
              <a:p>
                <a:r>
                  <a:rPr lang="en-AU" sz="2400" b="0" dirty="0">
                    <a:latin typeface="+mj-lt"/>
                  </a:rPr>
                  <a:t>The general solution of this equation has the form</a:t>
                </a:r>
              </a:p>
              <a:p>
                <a:endParaRPr lang="en-AU" sz="2400" b="0" dirty="0">
                  <a:latin typeface="+mj-lt"/>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ea typeface="Cambria Math" panose="02040503050406030204" pitchFamily="18" charset="0"/>
                        </a:rPr>
                        <m:t>𝑦</m:t>
                      </m:r>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𝐻</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r>
                        <a:rPr lang="en-AU" sz="2400" b="0" i="1" smtClean="0">
                          <a:latin typeface="Cambria Math" panose="02040503050406030204" pitchFamily="18" charset="0"/>
                          <a:ea typeface="Cambria Math" panose="02040503050406030204" pitchFamily="18" charset="0"/>
                        </a:rPr>
                        <m:t>+</m:t>
                      </m:r>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r>
                        <a:rPr lang="en-AU" sz="2400" b="0" i="1" smtClean="0">
                          <a:latin typeface="Cambria Math" panose="02040503050406030204" pitchFamily="18" charset="0"/>
                          <a:ea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m:t>
                      </m:r>
                    </m:oMath>
                  </m:oMathPara>
                </a14:m>
                <a:endParaRPr lang="en-AU" sz="2400" b="0" dirty="0">
                  <a:latin typeface="+mj-lt"/>
                  <a:ea typeface="Cambria Math" panose="02040503050406030204" pitchFamily="18" charset="0"/>
                </a:endParaRPr>
              </a:p>
              <a:p>
                <a:endParaRPr lang="en-AU" sz="2400" dirty="0">
                  <a:latin typeface="+mj-lt"/>
                  <a:ea typeface="Cambria Math" panose="02040503050406030204" pitchFamily="18" charset="0"/>
                </a:endParaRPr>
              </a:p>
              <a:p>
                <a:r>
                  <a:rPr lang="en-AU" sz="2400" dirty="0">
                    <a:latin typeface="+mj-lt"/>
                    <a:ea typeface="Cambria Math" panose="02040503050406030204" pitchFamily="18" charset="0"/>
                  </a:rPr>
                  <a:t>where </a:t>
                </a:r>
              </a:p>
              <a:p>
                <a:pPr marL="342900" indent="-342900">
                  <a:buFont typeface="Arial" panose="020B0604020202020204" pitchFamily="34" charset="0"/>
                  <a:buChar char="•"/>
                </a:pPr>
                <a14:m>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𝐻</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the general solution of the homogeneous version of the given equation.</a:t>
                </a:r>
              </a:p>
              <a:p>
                <a:pPr marL="342900" indent="-342900">
                  <a:buFont typeface="Arial" panose="020B0604020202020204" pitchFamily="34" charset="0"/>
                  <a:buChar char="•"/>
                </a:pPr>
                <a14:m>
                  <m:oMath xmlns:m="http://schemas.openxmlformats.org/officeDocument/2006/math">
                    <m:sSub>
                      <m:sSubPr>
                        <m:ctrlPr>
                          <a:rPr lang="en-AU" sz="2400" b="0" i="1" smtClean="0">
                            <a:latin typeface="Cambria Math" panose="02040503050406030204" pitchFamily="18" charset="0"/>
                            <a:ea typeface="Cambria Math" panose="02040503050406030204" pitchFamily="18" charset="0"/>
                          </a:rPr>
                        </m:ctrlPr>
                      </m:sSubPr>
                      <m:e>
                        <m:r>
                          <a:rPr lang="en-AU" sz="2400" b="0" i="1" smtClean="0">
                            <a:latin typeface="Cambria Math" panose="02040503050406030204" pitchFamily="18" charset="0"/>
                            <a:ea typeface="Cambria Math" panose="02040503050406030204" pitchFamily="18" charset="0"/>
                          </a:rPr>
                          <m:t>𝑦</m:t>
                        </m:r>
                      </m:e>
                      <m:sub>
                        <m:r>
                          <a:rPr lang="en-AU" sz="2400" b="0" i="1" smtClean="0">
                            <a:latin typeface="Cambria Math" panose="02040503050406030204" pitchFamily="18" charset="0"/>
                            <a:ea typeface="Cambria Math" panose="02040503050406030204" pitchFamily="18" charset="0"/>
                          </a:rPr>
                          <m:t>𝑃</m:t>
                        </m:r>
                      </m:sub>
                    </m:sSub>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𝑥</m:t>
                        </m:r>
                      </m:e>
                    </m:d>
                  </m:oMath>
                </a14:m>
                <a:r>
                  <a:rPr lang="en-AU" sz="2400" b="0" dirty="0">
                    <a:latin typeface="+mj-lt"/>
                    <a:ea typeface="Cambria Math" panose="02040503050406030204" pitchFamily="18" charset="0"/>
                  </a:rPr>
                  <a:t> is one, particular solution of the given inhomogeneous equation.</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896149"/>
              </a:xfrm>
              <a:prstGeom prst="rect">
                <a:avLst/>
              </a:prstGeom>
              <a:blipFill>
                <a:blip r:embed="rId2"/>
                <a:stretch>
                  <a:fillRect l="-836" t="-995" b="-1741"/>
                </a:stretch>
              </a:blipFill>
            </p:spPr>
            <p:txBody>
              <a:bodyPr/>
              <a:lstStyle/>
              <a:p>
                <a:r>
                  <a:rPr lang="en-GB">
                    <a:noFill/>
                  </a:rPr>
                  <a:t> </a:t>
                </a:r>
              </a:p>
            </p:txBody>
          </p:sp>
        </mc:Fallback>
      </mc:AlternateContent>
    </p:spTree>
    <p:extLst>
      <p:ext uri="{BB962C8B-B14F-4D97-AF65-F5344CB8AC3E}">
        <p14:creationId xmlns:p14="http://schemas.microsoft.com/office/powerpoint/2010/main" val="350418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21602" cy="523220"/>
          </a:xfrm>
          <a:prstGeom prst="rect">
            <a:avLst/>
          </a:prstGeom>
          <a:noFill/>
        </p:spPr>
        <p:txBody>
          <a:bodyPr wrap="none" rtlCol="0">
            <a:spAutoFit/>
          </a:bodyPr>
          <a:lstStyle/>
          <a:p>
            <a:r>
              <a:rPr lang="en-AU" sz="2800" b="1" cap="small" dirty="0">
                <a:solidFill>
                  <a:schemeClr val="bg1"/>
                </a:solidFill>
                <a:latin typeface="+mj-lt"/>
              </a:rPr>
              <a:t>6.7 General solution for the inhomogeneous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4524315"/>
              </a:xfrm>
              <a:prstGeom prst="rect">
                <a:avLst/>
              </a:prstGeom>
              <a:noFill/>
            </p:spPr>
            <p:txBody>
              <a:bodyPr wrap="square" rtlCol="0">
                <a:spAutoFit/>
              </a:bodyPr>
              <a:lstStyle/>
              <a:p>
                <a:r>
                  <a:rPr lang="en-AU" sz="2400" dirty="0">
                    <a:latin typeface="+mj-lt"/>
                  </a:rPr>
                  <a:t>Finding a particular solution for the inhomogeneous case will be possible when </a:t>
                </a:r>
                <a14:m>
                  <m:oMath xmlns:m="http://schemas.openxmlformats.org/officeDocument/2006/math">
                    <m:r>
                      <a:rPr lang="en-AU" sz="2400">
                        <a:latin typeface="Cambria Math" panose="02040503050406030204" pitchFamily="18" charset="0"/>
                      </a:rPr>
                      <m:t>ℛ</m:t>
                    </m:r>
                    <m:r>
                      <a:rPr lang="en-AU" sz="2400">
                        <a:latin typeface="Cambria Math" panose="02040503050406030204" pitchFamily="18" charset="0"/>
                      </a:rPr>
                      <m:t>(</m:t>
                    </m:r>
                    <m:r>
                      <a:rPr lang="en-AU" sz="2400">
                        <a:latin typeface="Cambria Math" panose="02040503050406030204" pitchFamily="18" charset="0"/>
                      </a:rPr>
                      <m:t>𝑥</m:t>
                    </m:r>
                    <m:r>
                      <a:rPr lang="en-AU" sz="2400">
                        <a:latin typeface="Cambria Math" panose="02040503050406030204" pitchFamily="18" charset="0"/>
                      </a:rPr>
                      <m:t>)</m:t>
                    </m:r>
                  </m:oMath>
                </a14:m>
                <a:r>
                  <a:rPr lang="en-AU" sz="2400" dirty="0">
                    <a:latin typeface="+mj-lt"/>
                  </a:rPr>
                  <a:t> is:</a:t>
                </a:r>
              </a:p>
              <a:p>
                <a:pPr marL="342900" indent="-342900">
                  <a:buFont typeface="Arial" panose="020B0604020202020204" pitchFamily="34" charset="0"/>
                  <a:buChar char="•"/>
                </a:pPr>
                <a:r>
                  <a:rPr lang="en-AU" sz="2400" dirty="0">
                    <a:latin typeface="+mj-lt"/>
                  </a:rPr>
                  <a:t>A polynomial of order </a:t>
                </a:r>
                <a14:m>
                  <m:oMath xmlns:m="http://schemas.openxmlformats.org/officeDocument/2006/math">
                    <m:r>
                      <a:rPr lang="en-AU" sz="2400">
                        <a:latin typeface="Cambria Math" panose="02040503050406030204" pitchFamily="18" charset="0"/>
                      </a:rPr>
                      <m:t>𝑛</m:t>
                    </m:r>
                    <m:r>
                      <a:rPr lang="en-AU" sz="2400" b="0" i="0" smtClean="0">
                        <a:latin typeface="Cambria Math" panose="02040503050406030204" pitchFamily="18" charset="0"/>
                      </a:rPr>
                      <m:t>:  </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𝑛</m:t>
                        </m:r>
                      </m:sub>
                    </m:sSub>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𝑛</m:t>
                        </m:r>
                      </m:sup>
                    </m:sSup>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1</m:t>
                        </m:r>
                      </m:sub>
                    </m:sSub>
                    <m:r>
                      <a:rPr lang="en-AU" sz="2400" b="0" i="1" smtClean="0">
                        <a:latin typeface="Cambria Math" panose="02040503050406030204" pitchFamily="18" charset="0"/>
                      </a:rPr>
                      <m:t>𝑥</m:t>
                    </m:r>
                    <m:r>
                      <a:rPr lang="en-AU" sz="2400" b="0" i="1" smtClean="0">
                        <a:latin typeface="Cambria Math" panose="02040503050406030204" pitchFamily="18" charset="0"/>
                      </a:rPr>
                      <m:t>+</m:t>
                    </m:r>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𝑎</m:t>
                        </m:r>
                      </m:e>
                      <m:sub>
                        <m:r>
                          <a:rPr lang="en-AU" sz="2400" b="0" i="1" smtClean="0">
                            <a:latin typeface="Cambria Math" panose="02040503050406030204" pitchFamily="18" charset="0"/>
                          </a:rPr>
                          <m:t>0</m:t>
                        </m:r>
                      </m:sub>
                    </m:sSub>
                  </m:oMath>
                </a14:m>
                <a:endParaRPr lang="en-AU" sz="2400" dirty="0">
                  <a:latin typeface="+mj-lt"/>
                </a:endParaRPr>
              </a:p>
              <a:p>
                <a:pPr marL="342900" indent="-342900">
                  <a:buFont typeface="Arial" panose="020B0604020202020204" pitchFamily="34" charset="0"/>
                  <a:buChar char="•"/>
                </a:pPr>
                <a:r>
                  <a:rPr lang="en-AU" sz="2400" dirty="0">
                    <a:latin typeface="+mj-lt"/>
                  </a:rPr>
                  <a:t>An exponential function: </a:t>
                </a:r>
                <a14:m>
                  <m:oMath xmlns:m="http://schemas.openxmlformats.org/officeDocument/2006/math">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𝑎𝑥</m:t>
                        </m:r>
                      </m:sup>
                    </m:sSup>
                  </m:oMath>
                </a14:m>
                <a:endParaRPr lang="en-AU" sz="2400" dirty="0">
                  <a:latin typeface="+mj-lt"/>
                </a:endParaRPr>
              </a:p>
              <a:p>
                <a:pPr marL="342900" indent="-342900">
                  <a:buFont typeface="Arial" panose="020B0604020202020204" pitchFamily="34" charset="0"/>
                  <a:buChar char="•"/>
                </a:pPr>
                <a:r>
                  <a:rPr lang="en-AU" sz="2400" dirty="0">
                    <a:latin typeface="+mj-lt"/>
                  </a:rPr>
                  <a:t>A sine or cosine trigonometric function: </a:t>
                </a:r>
                <a14:m>
                  <m:oMath xmlns:m="http://schemas.openxmlformats.org/officeDocument/2006/math">
                    <m:r>
                      <a:rPr lang="en-AU" sz="2400" b="0" i="1" smtClean="0">
                        <a:latin typeface="Cambria Math" panose="02040503050406030204" pitchFamily="18" charset="0"/>
                      </a:rPr>
                      <m:t>𝑎</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sin</m:t>
                        </m:r>
                      </m:fName>
                      <m:e>
                        <m:d>
                          <m:dPr>
                            <m:ctrlPr>
                              <a:rPr lang="en-AU" sz="2400" b="0" i="1" smtClean="0">
                                <a:latin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𝛼</m:t>
                            </m:r>
                            <m:r>
                              <a:rPr lang="en-AU" sz="2400" b="0" i="1" smtClean="0">
                                <a:latin typeface="Cambria Math" panose="02040503050406030204" pitchFamily="18" charset="0"/>
                              </a:rPr>
                              <m:t>𝑥</m:t>
                            </m:r>
                          </m:e>
                        </m:d>
                        <m:r>
                          <a:rPr lang="en-AU" sz="2400" b="0" i="1" smtClean="0">
                            <a:latin typeface="Cambria Math" panose="02040503050406030204" pitchFamily="18" charset="0"/>
                          </a:rPr>
                          <m:t>,</m:t>
                        </m:r>
                        <m:r>
                          <a:rPr lang="en-AU" sz="2400" b="0" i="1" smtClean="0">
                            <a:latin typeface="Cambria Math" panose="02040503050406030204" pitchFamily="18" charset="0"/>
                          </a:rPr>
                          <m:t>𝑏</m:t>
                        </m:r>
                        <m:func>
                          <m:funcPr>
                            <m:ctrlPr>
                              <a:rPr lang="en-AU" sz="2400" b="0" i="1" smtClean="0">
                                <a:latin typeface="Cambria Math" panose="02040503050406030204" pitchFamily="18" charset="0"/>
                              </a:rPr>
                            </m:ctrlPr>
                          </m:funcPr>
                          <m:fName>
                            <m:r>
                              <m:rPr>
                                <m:sty m:val="p"/>
                              </m:rPr>
                              <a:rPr lang="en-AU" sz="2400" b="0" i="0" smtClean="0">
                                <a:latin typeface="Cambria Math" panose="02040503050406030204" pitchFamily="18" charset="0"/>
                              </a:rPr>
                              <m:t>cos</m:t>
                            </m:r>
                          </m:fName>
                          <m:e>
                            <m:r>
                              <a:rPr lang="en-AU" sz="2400" b="0" i="1" smtClean="0">
                                <a:latin typeface="Cambria Math" panose="02040503050406030204" pitchFamily="18" charset="0"/>
                              </a:rPr>
                              <m:t>(</m:t>
                            </m:r>
                            <m:r>
                              <a:rPr lang="en-AU" sz="2400" b="0" i="1" smtClean="0">
                                <a:latin typeface="Cambria Math" panose="02040503050406030204" pitchFamily="18" charset="0"/>
                                <a:ea typeface="Cambria Math" panose="02040503050406030204" pitchFamily="18" charset="0"/>
                              </a:rPr>
                              <m:t>𝛽</m:t>
                            </m:r>
                            <m:r>
                              <a:rPr lang="en-AU" sz="2400" b="0" i="1" smtClean="0">
                                <a:latin typeface="Cambria Math" panose="02040503050406030204" pitchFamily="18" charset="0"/>
                              </a:rPr>
                              <m:t>𝑥</m:t>
                            </m:r>
                            <m:r>
                              <a:rPr lang="en-AU" sz="2400" b="0" i="1" smtClean="0">
                                <a:latin typeface="Cambria Math" panose="02040503050406030204" pitchFamily="18" charset="0"/>
                              </a:rPr>
                              <m:t>)</m:t>
                            </m:r>
                          </m:e>
                        </m:func>
                      </m:e>
                    </m:func>
                  </m:oMath>
                </a14:m>
                <a:endParaRPr lang="en-AU" sz="2400" dirty="0">
                  <a:latin typeface="+mj-lt"/>
                </a:endParaRPr>
              </a:p>
              <a:p>
                <a:pPr marL="342900" indent="-342900">
                  <a:buFont typeface="Arial" panose="020B0604020202020204" pitchFamily="34" charset="0"/>
                  <a:buChar char="•"/>
                </a:pPr>
                <a:r>
                  <a:rPr lang="en-AU" sz="2400" dirty="0">
                    <a:latin typeface="+mj-lt"/>
                  </a:rPr>
                  <a:t>A linear combination of the three types of functions given above.</a:t>
                </a:r>
              </a:p>
              <a:p>
                <a:endParaRPr lang="en-AU" sz="2400" dirty="0">
                  <a:latin typeface="+mj-lt"/>
                </a:endParaRPr>
              </a:p>
              <a:p>
                <a:r>
                  <a:rPr lang="en-AU" sz="2400" dirty="0">
                    <a:latin typeface="+mj-lt"/>
                  </a:rPr>
                  <a:t>To find the particular solution for these cases, the idea it to use a “trial” function which depends of unknown coefficients </a:t>
                </a:r>
                <a14:m>
                  <m:oMath xmlns:m="http://schemas.openxmlformats.org/officeDocument/2006/math">
                    <m:r>
                      <a:rPr lang="en-AU" sz="2400" b="0" i="1" smtClean="0">
                        <a:latin typeface="Cambria Math" panose="02040503050406030204" pitchFamily="18" charset="0"/>
                      </a:rPr>
                      <m:t>𝐴</m:t>
                    </m:r>
                    <m:r>
                      <a:rPr lang="en-AU" sz="2400" b="0" i="1" smtClean="0">
                        <a:latin typeface="Cambria Math" panose="02040503050406030204" pitchFamily="18" charset="0"/>
                      </a:rPr>
                      <m:t>,</m:t>
                    </m:r>
                    <m:r>
                      <a:rPr lang="en-AU" sz="2400" b="0" i="1" smtClean="0">
                        <a:latin typeface="Cambria Math" panose="02040503050406030204" pitchFamily="18" charset="0"/>
                      </a:rPr>
                      <m:t>𝐵</m:t>
                    </m:r>
                    <m:r>
                      <a:rPr lang="en-AU" sz="2400" b="0" i="1" smtClean="0">
                        <a:latin typeface="Cambria Math" panose="02040503050406030204" pitchFamily="18" charset="0"/>
                      </a:rPr>
                      <m:t>,…</m:t>
                    </m:r>
                  </m:oMath>
                </a14:m>
                <a:r>
                  <a:rPr lang="en-AU" sz="2400" b="0" dirty="0">
                    <a:latin typeface="+mj-lt"/>
                  </a:rPr>
                  <a:t>and insisting that the proposed solution satisfies the ODE. This method is called the method of undetermined coefficients. There is a more sophisticated and general method called the method of variation of parameters, invented by Euler and Lagrange at the end of the XVIII century whilst studying celestial mechanics, but we will not discuss this method here.</a:t>
                </a: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4524315"/>
              </a:xfrm>
              <a:prstGeom prst="rect">
                <a:avLst/>
              </a:prstGeom>
              <a:blipFill>
                <a:blip r:embed="rId2"/>
                <a:stretch>
                  <a:fillRect l="-836" t="-1077" r="-366" b="-2019"/>
                </a:stretch>
              </a:blipFill>
            </p:spPr>
            <p:txBody>
              <a:bodyPr/>
              <a:lstStyle/>
              <a:p>
                <a:r>
                  <a:rPr lang="en-GB">
                    <a:noFill/>
                  </a:rPr>
                  <a:t> </a:t>
                </a:r>
              </a:p>
            </p:txBody>
          </p:sp>
        </mc:Fallback>
      </mc:AlternateContent>
    </p:spTree>
    <p:extLst>
      <p:ext uri="{BB962C8B-B14F-4D97-AF65-F5344CB8AC3E}">
        <p14:creationId xmlns:p14="http://schemas.microsoft.com/office/powerpoint/2010/main" val="2736383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BFC5591-E61A-4EE5-BB1C-8E45CBAED73D}"/>
              </a:ext>
            </a:extLst>
          </p:cNvPr>
          <p:cNvGrpSpPr/>
          <p:nvPr/>
        </p:nvGrpSpPr>
        <p:grpSpPr>
          <a:xfrm>
            <a:off x="0" y="361"/>
            <a:ext cx="12192000" cy="825314"/>
            <a:chOff x="0" y="213019"/>
            <a:chExt cx="12192000" cy="825314"/>
          </a:xfrm>
          <a:solidFill>
            <a:schemeClr val="accent2">
              <a:lumMod val="50000"/>
            </a:schemeClr>
          </a:solidFill>
        </p:grpSpPr>
        <p:sp>
          <p:nvSpPr>
            <p:cNvPr id="6" name="Rectangle 5">
              <a:extLst>
                <a:ext uri="{FF2B5EF4-FFF2-40B4-BE49-F238E27FC236}">
                  <a16:creationId xmlns:a16="http://schemas.microsoft.com/office/drawing/2014/main" id="{343834FE-C17C-471B-A4C7-F2D5B7B52639}"/>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D2D8A11-C241-42D6-992D-BFA9580DEA76}"/>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DD01A5F-0239-4FAA-B606-1BDC2875208E}"/>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7142420B-320B-4AC2-B607-EDEF1BB01BAE}"/>
              </a:ext>
            </a:extLst>
          </p:cNvPr>
          <p:cNvSpPr txBox="1"/>
          <p:nvPr/>
        </p:nvSpPr>
        <p:spPr>
          <a:xfrm>
            <a:off x="66245" y="124632"/>
            <a:ext cx="7021602" cy="523220"/>
          </a:xfrm>
          <a:prstGeom prst="rect">
            <a:avLst/>
          </a:prstGeom>
          <a:noFill/>
        </p:spPr>
        <p:txBody>
          <a:bodyPr wrap="none" rtlCol="0">
            <a:spAutoFit/>
          </a:bodyPr>
          <a:lstStyle/>
          <a:p>
            <a:r>
              <a:rPr lang="en-AU" sz="2800" b="1" cap="small" dirty="0">
                <a:solidFill>
                  <a:schemeClr val="bg1"/>
                </a:solidFill>
                <a:latin typeface="+mj-lt"/>
              </a:rPr>
              <a:t>6.7 General solution for the inhomogeneous case</a:t>
            </a:r>
            <a:endParaRPr lang="en-GB" sz="2800" b="1" cap="small" dirty="0">
              <a:solidFill>
                <a:schemeClr val="bg1"/>
              </a:solidFill>
              <a:latin typeface="+mj-lt"/>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13DDBE8-D68C-4484-95E4-482B97F835B2}"/>
                  </a:ext>
                </a:extLst>
              </p:cNvPr>
              <p:cNvSpPr txBox="1"/>
              <p:nvPr/>
            </p:nvSpPr>
            <p:spPr>
              <a:xfrm>
                <a:off x="259976" y="910456"/>
                <a:ext cx="11672047" cy="668388"/>
              </a:xfrm>
              <a:prstGeom prst="rect">
                <a:avLst/>
              </a:prstGeom>
              <a:noFill/>
            </p:spPr>
            <p:txBody>
              <a:bodyPr wrap="square" rtlCol="0">
                <a:spAutoFit/>
              </a:bodyPr>
              <a:lstStyle/>
              <a:p>
                <a:r>
                  <a:rPr lang="en-AU" sz="2400" dirty="0">
                    <a:latin typeface="+mj-lt"/>
                  </a:rPr>
                  <a:t>Example. Find the general solution to the DE: </a:t>
                </a:r>
                <a14:m>
                  <m:oMath xmlns:m="http://schemas.openxmlformats.org/officeDocument/2006/math">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𝑑</m:t>
                            </m:r>
                          </m:e>
                          <m:sup>
                            <m:r>
                              <a:rPr lang="en-AU" sz="2400" b="0" i="1" smtClean="0">
                                <a:latin typeface="Cambria Math" panose="02040503050406030204" pitchFamily="18" charset="0"/>
                              </a:rPr>
                              <m:t>2</m:t>
                            </m:r>
                          </m:sup>
                        </m:sSup>
                        <m:r>
                          <a:rPr lang="en-AU" sz="2400" b="0" i="1" smtClean="0">
                            <a:latin typeface="Cambria Math" panose="02040503050406030204" pitchFamily="18" charset="0"/>
                          </a:rPr>
                          <m:t>𝑦</m:t>
                        </m:r>
                      </m:num>
                      <m:den>
                        <m:r>
                          <a:rPr lang="en-AU" sz="2400" b="0" i="1" smtClean="0">
                            <a:latin typeface="Cambria Math" panose="02040503050406030204" pitchFamily="18" charset="0"/>
                          </a:rPr>
                          <m:t>𝑑</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𝑥</m:t>
                            </m:r>
                          </m:e>
                          <m:sup>
                            <m:r>
                              <a:rPr lang="en-AU" sz="2400" b="0" i="1" smtClean="0">
                                <a:latin typeface="Cambria Math" panose="02040503050406030204" pitchFamily="18" charset="0"/>
                              </a:rPr>
                              <m:t>2</m:t>
                            </m:r>
                          </m:sup>
                        </m:sSup>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𝑑𝑦</m:t>
                        </m:r>
                      </m:num>
                      <m:den>
                        <m:r>
                          <a:rPr lang="en-AU" sz="2400" b="0" i="1" smtClean="0">
                            <a:latin typeface="Cambria Math" panose="02040503050406030204" pitchFamily="18" charset="0"/>
                          </a:rPr>
                          <m:t>𝑑𝑥</m:t>
                        </m:r>
                      </m:den>
                    </m:f>
                    <m:r>
                      <a:rPr lang="en-AU" sz="2400" b="0" i="1" smtClean="0">
                        <a:latin typeface="Cambria Math" panose="02040503050406030204" pitchFamily="18" charset="0"/>
                      </a:rPr>
                      <m:t>−2</m:t>
                    </m:r>
                    <m:r>
                      <a:rPr lang="en-AU" sz="2400" b="0" i="1" smtClean="0">
                        <a:latin typeface="Cambria Math" panose="02040503050406030204" pitchFamily="18" charset="0"/>
                      </a:rPr>
                      <m:t>𝑦</m:t>
                    </m:r>
                    <m:r>
                      <a:rPr lang="en-AU" sz="2400" b="0" i="1" smtClean="0">
                        <a:latin typeface="Cambria Math" panose="02040503050406030204" pitchFamily="18" charset="0"/>
                      </a:rPr>
                      <m:t>=2</m:t>
                    </m:r>
                    <m:r>
                      <a:rPr lang="en-AU" sz="2400" b="0" i="1" smtClean="0">
                        <a:latin typeface="Cambria Math" panose="02040503050406030204" pitchFamily="18" charset="0"/>
                      </a:rPr>
                      <m:t>𝑥</m:t>
                    </m:r>
                  </m:oMath>
                </a14:m>
                <a:endParaRPr lang="en-AU" sz="2400" b="0" dirty="0">
                  <a:latin typeface="+mj-lt"/>
                </a:endParaRPr>
              </a:p>
            </p:txBody>
          </p:sp>
        </mc:Choice>
        <mc:Fallback xmlns="">
          <p:sp>
            <p:nvSpPr>
              <p:cNvPr id="2" name="TextBox 1">
                <a:extLst>
                  <a:ext uri="{FF2B5EF4-FFF2-40B4-BE49-F238E27FC236}">
                    <a16:creationId xmlns:a16="http://schemas.microsoft.com/office/drawing/2014/main" id="{B13DDBE8-D68C-4484-95E4-482B97F835B2}"/>
                  </a:ext>
                </a:extLst>
              </p:cNvPr>
              <p:cNvSpPr txBox="1">
                <a:spLocks noRot="1" noChangeAspect="1" noMove="1" noResize="1" noEditPoints="1" noAdjustHandles="1" noChangeArrowheads="1" noChangeShapeType="1" noTextEdit="1"/>
              </p:cNvSpPr>
              <p:nvPr/>
            </p:nvSpPr>
            <p:spPr>
              <a:xfrm>
                <a:off x="259976" y="910456"/>
                <a:ext cx="11672047" cy="668388"/>
              </a:xfrm>
              <a:prstGeom prst="rect">
                <a:avLst/>
              </a:prstGeom>
              <a:blipFill>
                <a:blip r:embed="rId2"/>
                <a:stretch>
                  <a:fillRect l="-836" b="-8182"/>
                </a:stretch>
              </a:blipFill>
            </p:spPr>
            <p:txBody>
              <a:bodyPr/>
              <a:lstStyle/>
              <a:p>
                <a:r>
                  <a:rPr lang="en-GB">
                    <a:noFill/>
                  </a:rPr>
                  <a:t> </a:t>
                </a:r>
              </a:p>
            </p:txBody>
          </p:sp>
        </mc:Fallback>
      </mc:AlternateContent>
      <p:sp>
        <p:nvSpPr>
          <p:cNvPr id="3" name="Rectangle 2">
            <a:extLst>
              <a:ext uri="{FF2B5EF4-FFF2-40B4-BE49-F238E27FC236}">
                <a16:creationId xmlns:a16="http://schemas.microsoft.com/office/drawing/2014/main" id="{1A344526-C5A7-4127-9423-398F44C8AA67}"/>
              </a:ext>
            </a:extLst>
          </p:cNvPr>
          <p:cNvSpPr/>
          <p:nvPr/>
        </p:nvSpPr>
        <p:spPr>
          <a:xfrm>
            <a:off x="11842379" y="6391836"/>
            <a:ext cx="98612" cy="10757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4756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FE63619-80A3-4A89-960D-0F91C6BB0AAA}"/>
              </a:ext>
            </a:extLst>
          </p:cNvPr>
          <p:cNvGrpSpPr/>
          <p:nvPr/>
        </p:nvGrpSpPr>
        <p:grpSpPr>
          <a:xfrm>
            <a:off x="0" y="361"/>
            <a:ext cx="12192000" cy="825314"/>
            <a:chOff x="0" y="213019"/>
            <a:chExt cx="12192000" cy="825314"/>
          </a:xfrm>
          <a:solidFill>
            <a:schemeClr val="accent2">
              <a:lumMod val="50000"/>
            </a:schemeClr>
          </a:solidFill>
        </p:grpSpPr>
        <p:sp>
          <p:nvSpPr>
            <p:cNvPr id="4" name="Rectangle 3">
              <a:extLst>
                <a:ext uri="{FF2B5EF4-FFF2-40B4-BE49-F238E27FC236}">
                  <a16:creationId xmlns:a16="http://schemas.microsoft.com/office/drawing/2014/main" id="{0F605405-8240-4BCC-AF89-B810229A04DC}"/>
                </a:ext>
              </a:extLst>
            </p:cNvPr>
            <p:cNvSpPr/>
            <p:nvPr/>
          </p:nvSpPr>
          <p:spPr>
            <a:xfrm>
              <a:off x="0" y="276447"/>
              <a:ext cx="12192000" cy="69456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F9556E24-176E-4E21-ACB9-FCE58612884D}"/>
                </a:ext>
              </a:extLst>
            </p:cNvPr>
            <p:cNvSpPr/>
            <p:nvPr/>
          </p:nvSpPr>
          <p:spPr>
            <a:xfrm>
              <a:off x="0" y="992614"/>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20AD420-227D-44EE-A46A-95E968DB5793}"/>
                </a:ext>
              </a:extLst>
            </p:cNvPr>
            <p:cNvSpPr/>
            <p:nvPr/>
          </p:nvSpPr>
          <p:spPr>
            <a:xfrm>
              <a:off x="0" y="213019"/>
              <a:ext cx="12192000" cy="457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7" name="TextBox 6">
            <a:extLst>
              <a:ext uri="{FF2B5EF4-FFF2-40B4-BE49-F238E27FC236}">
                <a16:creationId xmlns:a16="http://schemas.microsoft.com/office/drawing/2014/main" id="{3833D331-C78A-418D-9AFF-6E3587061322}"/>
              </a:ext>
            </a:extLst>
          </p:cNvPr>
          <p:cNvSpPr txBox="1"/>
          <p:nvPr/>
        </p:nvSpPr>
        <p:spPr>
          <a:xfrm>
            <a:off x="66245" y="124632"/>
            <a:ext cx="2220673" cy="523220"/>
          </a:xfrm>
          <a:prstGeom prst="rect">
            <a:avLst/>
          </a:prstGeom>
          <a:noFill/>
        </p:spPr>
        <p:txBody>
          <a:bodyPr wrap="none" rtlCol="0">
            <a:spAutoFit/>
          </a:bodyPr>
          <a:lstStyle/>
          <a:p>
            <a:r>
              <a:rPr lang="en-AU" sz="2800" b="1" cap="small" dirty="0">
                <a:solidFill>
                  <a:schemeClr val="bg1"/>
                </a:solidFill>
                <a:latin typeface="+mj-lt"/>
              </a:rPr>
              <a:t>End of Lecture</a:t>
            </a:r>
            <a:endParaRPr lang="en-GB" sz="2800" b="1" cap="small" dirty="0">
              <a:solidFill>
                <a:schemeClr val="bg1"/>
              </a:solidFill>
              <a:latin typeface="+mj-lt"/>
            </a:endParaRPr>
          </a:p>
        </p:txBody>
      </p:sp>
    </p:spTree>
    <p:extLst>
      <p:ext uri="{BB962C8B-B14F-4D97-AF65-F5344CB8AC3E}">
        <p14:creationId xmlns:p14="http://schemas.microsoft.com/office/powerpoint/2010/main" val="3677207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9661</TotalTime>
  <Words>2692</Words>
  <Application>Microsoft Office PowerPoint</Application>
  <PresentationFormat>Widescreen</PresentationFormat>
  <Paragraphs>222</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Cambria</vt:lpstr>
      <vt:lpstr>Cambria Math</vt:lpstr>
      <vt:lpstr>Times New Roman</vt:lpstr>
      <vt:lpstr>Office Theme</vt:lpstr>
      <vt:lpstr>Calculus and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MATHEMATICS</dc:title>
  <dc:creator>David</dc:creator>
  <cp:lastModifiedBy>Paul Hernandez Martinez</cp:lastModifiedBy>
  <cp:revision>552</cp:revision>
  <dcterms:created xsi:type="dcterms:W3CDTF">2018-11-23T00:41:45Z</dcterms:created>
  <dcterms:modified xsi:type="dcterms:W3CDTF">2024-10-07T04:00:23Z</dcterms:modified>
</cp:coreProperties>
</file>