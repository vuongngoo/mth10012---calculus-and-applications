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1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337" r:id="rId23"/>
  </p:sldIdLst>
  <p:sldSz cx="12192000" cy="6858000"/>
  <p:notesSz cx="6805613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C0000"/>
    <a:srgbClr val="E050C5"/>
    <a:srgbClr val="FFF2CC"/>
    <a:srgbClr val="FFEBB3"/>
    <a:srgbClr val="75F8FF"/>
    <a:srgbClr val="A1FFE2"/>
    <a:srgbClr val="9AFFBF"/>
    <a:srgbClr val="00FF99"/>
    <a:srgbClr val="FFC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56" autoAdjust="0"/>
    <p:restoredTop sz="96625" autoAdjust="0"/>
  </p:normalViewPr>
  <p:slideViewPr>
    <p:cSldViewPr snapToGrid="0">
      <p:cViewPr varScale="1">
        <p:scale>
          <a:sx n="107" d="100"/>
          <a:sy n="107" d="100"/>
        </p:scale>
        <p:origin x="120" y="1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7C00F1-1718-4925-A43A-175331727A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6C4DA-E8E9-439A-AFBB-71B1FA85B9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F5198-13BD-4E71-A56E-DADFEA4013F7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77F23-B46D-4600-856F-446828C726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DB845-9091-44C1-BB5A-012CFA80FF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43135-408F-4918-93DC-4C4FABB8B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519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9DCAD-DE8F-4CDD-984A-DA4AA5EA435B}" type="datetimeFigureOut">
              <a:rPr lang="en-AU" smtClean="0"/>
              <a:t>28/09/2020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00294-AEF9-4034-8E81-4D594CB10C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19912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BE2F-261A-488B-B93C-7BE08E26F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D02DE-1CFE-4515-9E33-21EBC2882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A0201-588B-4FDC-B1A7-99525CBE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AB16-CEA3-471F-8DD6-F4EB36AF83AE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79FBC-E34E-463B-9581-0DBAF2C9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8FE7A-01BB-4021-8D2B-4591558B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E577-446B-4DBC-A698-2A6B8DE6A9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F5D431-79F7-473F-8B6E-B3955076CD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2" y="6140610"/>
            <a:ext cx="1122769" cy="574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5D6FCD-D711-415C-BDDE-8F6DDE0408BE}"/>
              </a:ext>
            </a:extLst>
          </p:cNvPr>
          <p:cNvSpPr txBox="1"/>
          <p:nvPr userDrawn="1"/>
        </p:nvSpPr>
        <p:spPr>
          <a:xfrm>
            <a:off x="11443527" y="6227700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B0E72E4E-4CBE-4D12-B6A9-8CB223CF8265}" type="slidenum">
              <a:rPr lang="en-AU" sz="2000" b="1" smtClean="0"/>
              <a:t>‹#›</a:t>
            </a:fld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349658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A2F9-7D55-40B9-B9F6-47CEB7F2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4E6F6-872B-4351-82CE-F6BDED67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37C49-E28A-4BC7-B01F-46B91082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BB18F-8376-4052-A4AC-9CEE87CB9347}" type="datetime1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BD53B-FA02-45C3-B746-4698E5C7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585B1-EDCF-4B2C-AB51-34E6296E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67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CFC9-D1E8-4E90-A313-CE13BA34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CAFC9-3AAB-464E-BF70-473E57067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92BC8-6CF3-4155-A3AC-94AADADA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FC66-FB02-44EA-BC04-6F096A7B7769}" type="datetime1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31418-83C4-4996-B0E2-AABE17A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6ECE1-87D5-4300-BACC-4A4EB516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6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7873-C1A0-4FC9-9508-391EDD08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A00C2-E18A-49F2-813D-D09687060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CC943-1A72-4568-B75B-790E77A35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426C6-D368-434D-A76E-A08FE05B2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6C89-1765-4641-A2C2-0C255FF54FD1}" type="datetime1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1A0D2-A40A-49C1-8234-B7D2E597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590CF-5EB7-4621-AF70-49745B7E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01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EC4E-7129-4DFE-A8BF-D2F4C51E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68A7-B0A8-48B8-9C40-76D73A53E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52730-3A93-4774-B024-FF41D7ADB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1560C-643D-4E43-9F3C-1BAB21E15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C2905-B67E-4FAA-969B-8323B9811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91CAE1-7796-4C1F-9BED-1A8C90ABA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3857-A5A5-474E-9E58-C4E578787857}" type="datetime1">
              <a:rPr lang="en-AU" smtClean="0"/>
              <a:t>28/09/2020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73460-6DE1-4496-9257-1CF265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E5745-5DC0-47E7-86B4-926C3EEB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98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0E46-5C93-447B-AA2A-FABDBC83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D545D-C4CE-4C13-933E-BB80F082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7F37-9D1F-41EA-AAC5-1B6F73404883}" type="datetime1">
              <a:rPr lang="en-AU" smtClean="0"/>
              <a:t>28/09/2020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5F992-DE21-4FF8-9EC3-24F7AAB4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18A99-A541-4FC4-8B0F-E2C0D8ED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895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9AF43-84E3-4B89-A20D-5AD12A92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FDF9-A986-4905-9508-247B7F4B200D}" type="datetime1">
              <a:rPr lang="en-AU" smtClean="0"/>
              <a:t>28/09/2020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52FC8-6766-4AF6-AE1B-3E3E40DE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8A401-3F10-4AB5-B56C-A44167EC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13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0E79-7D0A-4913-9B9D-D14A1401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F2BE-34D1-4394-A79C-56929CB7F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86DDC-E9A4-494D-8DA3-DF6FF0CB2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C4CB1-DD02-4E14-8070-D529601A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7C78-DADF-4969-B242-4855E9F4C4D5}" type="datetime1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8DCFE-E8EA-4807-BCD4-B175C0E2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BDD04-DF59-476B-A2E1-B91A947D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213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D7C8-9040-4BEA-BDE3-ABA1A1C2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8E7C11-8D21-434A-A6FD-3E8617092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ED949-D4DE-4581-87B3-C03FD4FD1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D51E2-1921-40F3-AC40-E142F785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0D74D-1239-4392-A26B-B7E440CEC8CB}" type="datetime1">
              <a:rPr lang="en-AU" smtClean="0"/>
              <a:t>28/09/2020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14FAF-0386-4409-8BFE-A413765B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F7AEF-E743-4036-9326-1065E481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280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7700-60C9-4E9C-9852-C7B6C38A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E9C5B-FA98-43FE-90F2-7DDE18ED8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FD572-AD9E-4D3B-8F7B-2BB536B5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578B-E5FA-490D-8208-9FBD9A867E75}" type="datetime1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E37F-1B21-4246-BA36-73956FFE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EDB52-5DFE-4447-91E2-9787D84D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440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0283C-E2F0-4A6F-9AD9-82CA902DE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E5EE6-7D9F-42B2-94B0-02A3E84F5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C19CB-43F8-4CC0-903E-C23803089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54018-37EC-481E-B7F2-FDEEBA0F84AF}" type="datetime1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45F0E-7361-4676-B432-1D05B70C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4F4EB-1112-445C-96AB-93D5D843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49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2DA63-5604-4C8B-A185-3346EDDF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5E662-E32E-4BF0-B3BA-15B99830E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8C86-7471-4189-957D-1CEA3FBEE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43812-AA3E-4766-916C-F1E5A438B57F}" type="datetime1">
              <a:rPr lang="en-AU" smtClean="0"/>
              <a:t>28/09/2020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008F-2F27-46E4-A82E-92541B128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6096A-7E11-4FA7-B795-CF89E7D09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83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9CBF2271-6786-48D8-8625-48074A2F58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5916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029B91-E5FE-43A6-9535-58B2F4EBB5EE}"/>
              </a:ext>
            </a:extLst>
          </p:cNvPr>
          <p:cNvSpPr txBox="1">
            <a:spLocks/>
          </p:cNvSpPr>
          <p:nvPr/>
        </p:nvSpPr>
        <p:spPr>
          <a:xfrm>
            <a:off x="0" y="-2"/>
            <a:ext cx="12192000" cy="4591665"/>
          </a:xfrm>
          <a:prstGeom prst="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sz="4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292225" y="4850229"/>
            <a:ext cx="9607550" cy="14757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latin typeface="+mj-lt"/>
              </a:rPr>
              <a:t>Week 8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9935" y="2486361"/>
            <a:ext cx="11012129" cy="1518035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Calculus and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23654"/>
            <a:ext cx="9144000" cy="562707"/>
          </a:xfrm>
        </p:spPr>
        <p:txBody>
          <a:bodyPr>
            <a:noAutofit/>
          </a:bodyPr>
          <a:lstStyle/>
          <a:p>
            <a:r>
              <a:rPr lang="en-AU" sz="3200" dirty="0">
                <a:latin typeface="+mj-lt"/>
              </a:rPr>
              <a:t>MTH10012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DCCAF879-A57E-4938-88B5-1CA526E0E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39" y="701528"/>
            <a:ext cx="1927122" cy="96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91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991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Introduction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EC57D0-AC67-44EF-AAC1-EB45706D89C7}"/>
              </a:ext>
            </a:extLst>
          </p:cNvPr>
          <p:cNvSpPr txBox="1"/>
          <p:nvPr/>
        </p:nvSpPr>
        <p:spPr>
          <a:xfrm>
            <a:off x="1232187" y="1582735"/>
            <a:ext cx="10368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Taylor’s and </a:t>
            </a:r>
            <a:r>
              <a:rPr lang="en-AU" sz="2400" b="1" dirty="0" err="1">
                <a:latin typeface="+mj-lt"/>
              </a:rPr>
              <a:t>MacLaurin’s</a:t>
            </a:r>
            <a:r>
              <a:rPr lang="en-AU" sz="2400" b="1" dirty="0">
                <a:latin typeface="+mj-lt"/>
              </a:rPr>
              <a:t> formulas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Antidifferentiation, fundamental integrals, integration by substitution, integration of products of trig/</a:t>
            </a:r>
            <a:r>
              <a:rPr lang="en-AU" sz="2400" b="1" dirty="0" err="1">
                <a:latin typeface="+mj-lt"/>
              </a:rPr>
              <a:t>hyp</a:t>
            </a:r>
            <a:r>
              <a:rPr lang="en-AU" sz="2400" b="1" dirty="0">
                <a:latin typeface="+mj-lt"/>
              </a:rPr>
              <a:t> functions (part 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EC46B-21B4-4C87-946C-3EAD91A29AA1}"/>
              </a:ext>
            </a:extLst>
          </p:cNvPr>
          <p:cNvSpPr txBox="1"/>
          <p:nvPr/>
        </p:nvSpPr>
        <p:spPr>
          <a:xfrm>
            <a:off x="307593" y="1036182"/>
            <a:ext cx="888385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Week 7</a:t>
            </a:r>
            <a:endParaRPr lang="en-GB" sz="2000" b="1" cap="small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F658E-4D46-438A-89D3-59C69A018DE7}"/>
              </a:ext>
            </a:extLst>
          </p:cNvPr>
          <p:cNvSpPr txBox="1"/>
          <p:nvPr/>
        </p:nvSpPr>
        <p:spPr>
          <a:xfrm>
            <a:off x="307593" y="3059799"/>
            <a:ext cx="888385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Week 8</a:t>
            </a:r>
            <a:endParaRPr lang="en-GB" sz="2000" b="1" cap="small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60D396-44DB-4720-AA20-0FECBBC96907}"/>
              </a:ext>
            </a:extLst>
          </p:cNvPr>
          <p:cNvCxnSpPr>
            <a:stCxn id="13" idx="3"/>
          </p:cNvCxnSpPr>
          <p:nvPr/>
        </p:nvCxnSpPr>
        <p:spPr>
          <a:xfrm>
            <a:off x="1195978" y="3259854"/>
            <a:ext cx="104043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D933F3-BDCD-41B7-8B70-5B047253E6FA}"/>
              </a:ext>
            </a:extLst>
          </p:cNvPr>
          <p:cNvCxnSpPr>
            <a:cxnSpLocks/>
          </p:cNvCxnSpPr>
          <p:nvPr/>
        </p:nvCxnSpPr>
        <p:spPr>
          <a:xfrm flipV="1">
            <a:off x="1195978" y="1211598"/>
            <a:ext cx="10404351" cy="23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5F0327-FC2D-4943-8211-A27F72BBEB38}"/>
              </a:ext>
            </a:extLst>
          </p:cNvPr>
          <p:cNvSpPr txBox="1"/>
          <p:nvPr/>
        </p:nvSpPr>
        <p:spPr>
          <a:xfrm>
            <a:off x="123006" y="2070787"/>
            <a:ext cx="1072972" cy="33855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latin typeface="+mj-lt"/>
              </a:rPr>
              <a:t>MODULE 5</a:t>
            </a:r>
            <a:endParaRPr lang="en-GB" sz="1600" b="1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F34354-4086-4731-BD25-91F233A36B56}"/>
              </a:ext>
            </a:extLst>
          </p:cNvPr>
          <p:cNvSpPr txBox="1"/>
          <p:nvPr/>
        </p:nvSpPr>
        <p:spPr>
          <a:xfrm>
            <a:off x="1232187" y="3853138"/>
            <a:ext cx="102160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Integration of products of trig/</a:t>
            </a:r>
            <a:r>
              <a:rPr lang="en-AU" sz="2400" b="1" dirty="0" err="1">
                <a:latin typeface="+mj-lt"/>
              </a:rPr>
              <a:t>hyp</a:t>
            </a:r>
            <a:r>
              <a:rPr lang="en-AU" sz="2400" b="1" dirty="0">
                <a:latin typeface="+mj-lt"/>
              </a:rPr>
              <a:t> functions (part 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Integration of rational functions and the method of partial fractions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Trigonometric and hyperbolic substitutions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Integration by parts</a:t>
            </a:r>
          </a:p>
        </p:txBody>
      </p:sp>
    </p:spTree>
    <p:extLst>
      <p:ext uri="{BB962C8B-B14F-4D97-AF65-F5344CB8AC3E}">
        <p14:creationId xmlns:p14="http://schemas.microsoft.com/office/powerpoint/2010/main" val="35705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9307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5.4 Integration of products of trigonometric/hyperbolic functions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5154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Last week we saw how to solve products of powers of trigonometric/hyperbolic functions of the type: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  ,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400">
                                      <a:latin typeface="Cambria Math" panose="02040503050406030204" pitchFamily="18" charset="0"/>
                                    </a:rPr>
                                    <m:t>sinh</m:t>
                                  </m:r>
                                </m:e>
                                <m: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400">
                                      <a:latin typeface="Cambria Math" panose="02040503050406030204" pitchFamily="18" charset="0"/>
                                    </a:rPr>
                                    <m:t>cosh</m:t>
                                  </m:r>
                                </m:e>
                                <m: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By using the fundamental identities: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400" dirty="0">
                    <a:latin typeface="+mj-lt"/>
                  </a:rPr>
                  <a:t>,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cosh</m:t>
                            </m:r>
                          </m:e>
                          <m: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sinh</m:t>
                            </m:r>
                          </m:e>
                          <m: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AU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400" dirty="0">
                    <a:latin typeface="+mj-lt"/>
                  </a:rPr>
                  <a:t>, or the double angle formulae:</a:t>
                </a: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This week we will use the double angle formulae to solve</a:t>
                </a:r>
                <a:r>
                  <a:rPr lang="en-AU" sz="2400" dirty="0">
                    <a:latin typeface="+mj-lt"/>
                  </a:rPr>
                  <a:t> products of trigonometric/hyperbolic functions with different arguments.</a:t>
                </a:r>
                <a:r>
                  <a:rPr lang="en-GB" sz="24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5154488"/>
              </a:xfrm>
              <a:prstGeom prst="rect">
                <a:avLst/>
              </a:prstGeom>
              <a:blipFill>
                <a:blip r:embed="rId2"/>
                <a:stretch>
                  <a:fillRect l="-775" t="-947" r="-827" b="-17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B791579-CBA8-4192-82C3-CA1E2EAA10A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39184" y="3826498"/>
            <a:ext cx="3723701" cy="12999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C8AF7B-701B-4A98-9FC7-7A0903D5347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16293" y="3826498"/>
            <a:ext cx="4120308" cy="13550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9141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9307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5.4 Integration of products of trigonometric/hyperbolic functions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3715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Find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Find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cosh</m:t>
                            </m:r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cosh</m:t>
                            </m:r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3715248"/>
              </a:xfrm>
              <a:prstGeom prst="rect">
                <a:avLst/>
              </a:prstGeom>
              <a:blipFill>
                <a:blip r:embed="rId2"/>
                <a:stretch>
                  <a:fillRect l="-775" t="-19869" b="-136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9834B27-28EB-4679-829B-1B99DFAC701F}"/>
              </a:ext>
            </a:extLst>
          </p:cNvPr>
          <p:cNvSpPr/>
          <p:nvPr/>
        </p:nvSpPr>
        <p:spPr>
          <a:xfrm>
            <a:off x="11716870" y="6373906"/>
            <a:ext cx="107577" cy="107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4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295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5.5 Integration of rational functions and the method of partial fractions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5029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A rational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</a:t>
                </a:r>
                <a:r>
                  <a:rPr lang="en-AU" sz="2400" dirty="0">
                    <a:latin typeface="+mj-lt"/>
                  </a:rPr>
                  <a:t>is the ratio of two polynomials, generally of different degrees,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2400" dirty="0">
                    <a:latin typeface="+mj-lt"/>
                  </a:rPr>
                  <a:t>. </a:t>
                </a:r>
                <a:r>
                  <a:rPr lang="en-AU" sz="2400" dirty="0">
                    <a:latin typeface="+mj-lt"/>
                  </a:rPr>
                  <a:t>The </a:t>
                </a:r>
                <a:r>
                  <a:rPr lang="en-GB" sz="2400" dirty="0">
                    <a:latin typeface="+mj-lt"/>
                  </a:rPr>
                  <a:t>general expression of a rational function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AU" sz="2400" dirty="0">
                    <a:latin typeface="+mj-lt"/>
                  </a:rPr>
                  <a:t>If the degree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is less than the degree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, the rational function is “proper”.</a:t>
                </a: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Integration of proper rational functions is possible via a decomposition procedure name the “method of partial fractions”, which can be seen as the inverse of finding the least common denominator between fractions: the aim is to rewrite a given rational expression by dividing it as a sum of simpler terms. For example: </a:t>
                </a:r>
              </a:p>
              <a:p>
                <a:endParaRPr lang="en-GB" sz="16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+3(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−2)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−2)</m:t>
                          </m:r>
                        </m:den>
                      </m:f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5029582"/>
              </a:xfrm>
              <a:prstGeom prst="rect">
                <a:avLst/>
              </a:prstGeom>
              <a:blipFill>
                <a:blip r:embed="rId2"/>
                <a:stretch>
                  <a:fillRect l="-775" t="-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C287F34-A0B4-4F31-A87C-6BEF4D805BB8}"/>
              </a:ext>
            </a:extLst>
          </p:cNvPr>
          <p:cNvSpPr/>
          <p:nvPr/>
        </p:nvSpPr>
        <p:spPr>
          <a:xfrm>
            <a:off x="3459620" y="5885375"/>
            <a:ext cx="5351929" cy="295846"/>
          </a:xfrm>
          <a:custGeom>
            <a:avLst/>
            <a:gdLst>
              <a:gd name="connsiteX0" fmla="*/ 5351929 w 5351929"/>
              <a:gd name="connsiteY0" fmla="*/ 8964 h 295846"/>
              <a:gd name="connsiteX1" fmla="*/ 2537012 w 5351929"/>
              <a:gd name="connsiteY1" fmla="*/ 295835 h 295846"/>
              <a:gd name="connsiteX2" fmla="*/ 0 w 5351929"/>
              <a:gd name="connsiteY2" fmla="*/ 0 h 29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51929" h="295846">
                <a:moveTo>
                  <a:pt x="5351929" y="8964"/>
                </a:moveTo>
                <a:cubicBezTo>
                  <a:pt x="4390464" y="153146"/>
                  <a:pt x="3429000" y="297329"/>
                  <a:pt x="2537012" y="295835"/>
                </a:cubicBezTo>
                <a:cubicBezTo>
                  <a:pt x="1645024" y="294341"/>
                  <a:pt x="822512" y="147170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7F511-AA00-4107-9ECA-35C008D20B5C}"/>
              </a:ext>
            </a:extLst>
          </p:cNvPr>
          <p:cNvSpPr txBox="1"/>
          <p:nvPr/>
        </p:nvSpPr>
        <p:spPr>
          <a:xfrm>
            <a:off x="4739475" y="6181221"/>
            <a:ext cx="271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Method of partial fractions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11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295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5.5 Integration of rational functions and the method of partial fractions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603048-B62A-40C2-82FC-F2A2093AAAC0}"/>
              </a:ext>
            </a:extLst>
          </p:cNvPr>
          <p:cNvSpPr txBox="1"/>
          <p:nvPr/>
        </p:nvSpPr>
        <p:spPr>
          <a:xfrm>
            <a:off x="240535" y="972625"/>
            <a:ext cx="11790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j-lt"/>
              </a:rPr>
              <a:t>We will only see cases where we assume that the denominator can always be expressed as a product of quadratic and/or linear terms.</a:t>
            </a:r>
            <a:endParaRPr lang="en-GB" sz="24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FF1EE-807F-47EE-95A5-91D4CE1521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12973" y="2393806"/>
            <a:ext cx="6566053" cy="266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72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295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5.5 Integration of rational functions and the method of partial fractions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Use partial fractions to evaluate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+5)</m:t>
                              </m:r>
                            </m:den>
                          </m:f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blipFill>
                <a:blip r:embed="rId2"/>
                <a:stretch>
                  <a:fillRect l="-775" t="-3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9494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295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5.5 Integration of rational functions and the method of partial fractions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Use partial fractions to evaluate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+4)(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den>
                          </m:f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blipFill>
                <a:blip r:embed="rId2"/>
                <a:stretch>
                  <a:fillRect l="-775" t="-3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595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295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5.5 Integration of rational functions and the method of partial fractions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Use partial fractions to evaluate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+5)(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den>
                          </m:f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blipFill>
                <a:blip r:embed="rId2"/>
                <a:stretch>
                  <a:fillRect l="-775" t="-3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5AA08D3-5CB8-4D76-8C03-A1820F5B5521}"/>
              </a:ext>
            </a:extLst>
          </p:cNvPr>
          <p:cNvSpPr/>
          <p:nvPr/>
        </p:nvSpPr>
        <p:spPr>
          <a:xfrm>
            <a:off x="11716870" y="6373906"/>
            <a:ext cx="107577" cy="107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159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66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5.6 Trigonometric and hyperbolic substitutions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2106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Given a generic constant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if an integrand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contains one of the following: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then a specific trigonometric/hyperbolic substitution is available, of the generic type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. The result of the substitution will be, in general: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Depending on the substitution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, restrictions on the value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400" dirty="0">
                    <a:latin typeface="+mj-lt"/>
                  </a:rPr>
                  <a:t> will be needed.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2106602"/>
              </a:xfrm>
              <a:prstGeom prst="rect">
                <a:avLst/>
              </a:prstGeom>
              <a:blipFill>
                <a:blip r:embed="rId2"/>
                <a:stretch>
                  <a:fillRect l="-775" t="-2319" r="-1137" b="-5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2673BA5-7933-4EA1-8F93-E1EF970CE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614" y="3226177"/>
            <a:ext cx="5728771" cy="306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25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66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5.6 Trigonometric and hyperbolic substitutions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4−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blipFill>
                <a:blip r:embed="rId2"/>
                <a:stretch>
                  <a:fillRect l="-775" t="-3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511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66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5.6 Trigonometric and hyperbolic substitutions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sSup>
                                    <m:sSupPr>
                                      <m:ctrlP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blipFill>
                <a:blip r:embed="rId2"/>
                <a:stretch>
                  <a:fillRect l="-775" t="-3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B36BE8F-4DA3-4024-9DB5-D8EA41AAEE4E}"/>
              </a:ext>
            </a:extLst>
          </p:cNvPr>
          <p:cNvSpPr/>
          <p:nvPr/>
        </p:nvSpPr>
        <p:spPr>
          <a:xfrm>
            <a:off x="11824446" y="6382871"/>
            <a:ext cx="107577" cy="107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798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66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5.6 Trigonometric and hyperbolic substitutions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+4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blipFill>
                <a:blip r:embed="rId2"/>
                <a:stretch>
                  <a:fillRect l="-775" t="-3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481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66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5.6 Trigonometric and hyperbolic substitutions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+7</m:t>
                              </m:r>
                            </m:den>
                          </m:f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blipFill>
                <a:blip r:embed="rId2"/>
                <a:stretch>
                  <a:fillRect l="-775" t="-3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603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66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5.6 Trigonometric and hyperbolic substitutions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2538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There are cases where the integrand does not present the required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>
                    <a:latin typeface="+mj-lt"/>
                  </a:rPr>
                  <a:t>, but instead a general quadratic expression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sz="2400" dirty="0">
                    <a:latin typeface="+mj-lt"/>
                  </a:rPr>
                  <a:t>. It is then necessary to complete the square to reshape the integrand into a form suitable for the substitutions discussed above.</a:t>
                </a:r>
              </a:p>
              <a:p>
                <a:r>
                  <a:rPr lang="en-AU" sz="2400" dirty="0">
                    <a:latin typeface="+mj-lt"/>
                  </a:rPr>
                  <a:t>Find: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2538387"/>
              </a:xfrm>
              <a:prstGeom prst="rect">
                <a:avLst/>
              </a:prstGeom>
              <a:blipFill>
                <a:blip r:embed="rId2"/>
                <a:stretch>
                  <a:fillRect l="-775" t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B9A0C04-3539-4D07-B33E-FE00A6999ADF}"/>
              </a:ext>
            </a:extLst>
          </p:cNvPr>
          <p:cNvSpPr/>
          <p:nvPr/>
        </p:nvSpPr>
        <p:spPr>
          <a:xfrm>
            <a:off x="11860305" y="6373906"/>
            <a:ext cx="107577" cy="1075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26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403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5.7 Integration by parts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5316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The method of integration by parts originates from the product rule for differentiation and it is extensively used in fields as diverse as mathematical physics, fluid dynamics and mechanical engineering. </a:t>
                </a:r>
              </a:p>
              <a:p>
                <a:r>
                  <a:rPr lang="en-AU" sz="2400" dirty="0">
                    <a:latin typeface="+mj-lt"/>
                  </a:rPr>
                  <a:t>Recall that,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are functions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,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Integrating both sides gives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𝑢𝑣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f>
                            <m:f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f>
                            <m:f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Rearranging, we have the following integration by parts formula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𝑑𝑣</m:t>
                          </m:r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𝑢𝑣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5316392"/>
              </a:xfrm>
              <a:prstGeom prst="rect">
                <a:avLst/>
              </a:prstGeom>
              <a:blipFill>
                <a:blip r:embed="rId2"/>
                <a:stretch>
                  <a:fillRect l="-775" t="-917" r="-4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681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403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5.7 Integration by parts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50562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Notes.</a:t>
                </a:r>
              </a:p>
              <a:p>
                <a:r>
                  <a:rPr lang="en-AU" sz="2400" dirty="0">
                    <a:latin typeface="+mj-lt"/>
                  </a:rPr>
                  <a:t>1. The integrand is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𝑢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2400" dirty="0">
                    <a:latin typeface="+mj-lt"/>
                  </a:rPr>
                  <a:t> so we need to identify the expression that will integrate as such a product.</a:t>
                </a: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2. The term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2400" dirty="0">
                    <a:latin typeface="+mj-lt"/>
                  </a:rPr>
                  <a:t> is never integrated directly. This suggests that a good choice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2400" dirty="0">
                    <a:latin typeface="+mj-lt"/>
                  </a:rPr>
                  <a:t> is a function that (a) we don’t know how to integrate or that (b) will become “more complex” if we integrate it, but instead gives rise to a simpler expression when differentiated.</a:t>
                </a: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3. The term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GB" sz="2400" dirty="0">
                    <a:latin typeface="+mj-lt"/>
                  </a:rPr>
                  <a:t> is integrated once in the first term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𝑢𝑣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and its integral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2400" dirty="0">
                    <a:latin typeface="+mj-lt"/>
                  </a:rPr>
                  <a:t> also appears in the second term. This suggests that a good choice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GB" sz="2400" dirty="0">
                    <a:latin typeface="+mj-lt"/>
                  </a:rPr>
                  <a:t> is a differential that we know how to integrate and will become “simpler” (or at least not more complicated) if we integrate it.</a:t>
                </a: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In the next examples, it will be clear that some choices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2400" dirty="0">
                    <a:latin typeface="+mj-lt"/>
                  </a:rPr>
                  <a:t> are to be avoided.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5056256"/>
              </a:xfrm>
              <a:prstGeom prst="rect">
                <a:avLst/>
              </a:prstGeom>
              <a:blipFill>
                <a:blip r:embed="rId2"/>
                <a:stretch>
                  <a:fillRect l="-775" t="-965" r="-1292" b="-18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7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403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5.7 Integration by parts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1430392"/>
              </a:xfrm>
              <a:prstGeom prst="rect">
                <a:avLst/>
              </a:prstGeom>
              <a:blipFill>
                <a:blip r:embed="rId2"/>
                <a:stretch>
                  <a:fillRect l="-775" t="-3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069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403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5.7 Integration by parts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3876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3876446"/>
              </a:xfrm>
              <a:prstGeom prst="rect">
                <a:avLst/>
              </a:prstGeom>
              <a:blipFill>
                <a:blip r:embed="rId2"/>
                <a:stretch>
                  <a:fillRect l="-775" t="-12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126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403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5.7 Integration by parts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5723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unc>
                            <m:func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5723105"/>
              </a:xfrm>
              <a:prstGeom prst="rect">
                <a:avLst/>
              </a:prstGeom>
              <a:blipFill>
                <a:blip r:embed="rId2"/>
                <a:stretch>
                  <a:fillRect l="-775" t="-8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627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4038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5.7 Integration by parts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/>
              <p:nvPr/>
            </p:nvSpPr>
            <p:spPr>
              <a:xfrm>
                <a:off x="240535" y="972625"/>
                <a:ext cx="11790100" cy="3277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603048-B62A-40C2-82FC-F2A2093A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2625"/>
                <a:ext cx="11790100" cy="3277051"/>
              </a:xfrm>
              <a:prstGeom prst="rect">
                <a:avLst/>
              </a:prstGeom>
              <a:blipFill>
                <a:blip r:embed="rId2"/>
                <a:stretch>
                  <a:fillRect l="-775" t="-1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7581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E63619-80A3-4A89-960D-0F91C6BB0AAA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605405-8240-4BCC-AF89-B810229A04DC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556E24-176E-4E21-ACB9-FCE58612884D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20AD420-227D-44EE-A46A-95E968DB5793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33D331-C78A-418D-9AFF-6E3587061322}"/>
              </a:ext>
            </a:extLst>
          </p:cNvPr>
          <p:cNvSpPr txBox="1"/>
          <p:nvPr/>
        </p:nvSpPr>
        <p:spPr>
          <a:xfrm>
            <a:off x="66245" y="124632"/>
            <a:ext cx="2220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End of Lecture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720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8713</TotalTime>
  <Words>869</Words>
  <Application>Microsoft Office PowerPoint</Application>
  <PresentationFormat>Widescreen</PresentationFormat>
  <Paragraphs>116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Times New Roman</vt:lpstr>
      <vt:lpstr>Office Theme</vt:lpstr>
      <vt:lpstr>Calculus and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PRELIMINARY MATHEMATICS</dc:title>
  <dc:creator>David</dc:creator>
  <cp:lastModifiedBy>Paul Hernandez Martinez</cp:lastModifiedBy>
  <cp:revision>478</cp:revision>
  <dcterms:created xsi:type="dcterms:W3CDTF">2018-11-23T00:41:45Z</dcterms:created>
  <dcterms:modified xsi:type="dcterms:W3CDTF">2020-09-27T23:00:36Z</dcterms:modified>
</cp:coreProperties>
</file>