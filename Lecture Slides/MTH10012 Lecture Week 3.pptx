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1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9" r:id="rId16"/>
    <p:sldId id="358" r:id="rId17"/>
    <p:sldId id="360" r:id="rId18"/>
    <p:sldId id="361" r:id="rId19"/>
    <p:sldId id="362" r:id="rId20"/>
    <p:sldId id="363" r:id="rId21"/>
    <p:sldId id="364" r:id="rId22"/>
    <p:sldId id="365" r:id="rId23"/>
    <p:sldId id="366" r:id="rId24"/>
    <p:sldId id="367" r:id="rId25"/>
    <p:sldId id="368" r:id="rId26"/>
    <p:sldId id="369" r:id="rId27"/>
    <p:sldId id="370" r:id="rId28"/>
    <p:sldId id="371" r:id="rId29"/>
    <p:sldId id="337" r:id="rId30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0000"/>
    <a:srgbClr val="FF0000"/>
    <a:srgbClr val="E050C5"/>
    <a:srgbClr val="FFF2CC"/>
    <a:srgbClr val="FFEBB3"/>
    <a:srgbClr val="75F8FF"/>
    <a:srgbClr val="A1FFE2"/>
    <a:srgbClr val="9AFFBF"/>
    <a:srgbClr val="00FF99"/>
    <a:srgbClr val="FFC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56" autoAdjust="0"/>
    <p:restoredTop sz="96625" autoAdjust="0"/>
  </p:normalViewPr>
  <p:slideViewPr>
    <p:cSldViewPr snapToGrid="0">
      <p:cViewPr varScale="1">
        <p:scale>
          <a:sx n="107" d="100"/>
          <a:sy n="107" d="100"/>
        </p:scale>
        <p:origin x="120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C00F1-1718-4925-A43A-175331727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6C4DA-E8E9-439A-AFBB-71B1FA85B9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F5198-13BD-4E71-A56E-DADFEA4013F7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7F23-B46D-4600-856F-446828C726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B845-9091-44C1-BB5A-012CFA80F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43135-408F-4918-93DC-4C4FABB8B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519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DCAD-DE8F-4CDD-984A-DA4AA5EA435B}" type="datetimeFigureOut">
              <a:rPr lang="en-AU" smtClean="0"/>
              <a:t>22/08/2024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00294-AEF9-4034-8E81-4D594CB10C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9912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E2F-261A-488B-B93C-7BE08E26F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D02DE-1CFE-4515-9E33-21EBC28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0201-588B-4FDC-B1A7-99525CBE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AB16-CEA3-471F-8DD6-F4EB36AF83AE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9FBC-E34E-463B-9581-0DBAF2C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E7A-01BB-4021-8D2B-4591558B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E577-446B-4DBC-A698-2A6B8DE6A9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5D431-79F7-473F-8B6E-B3955076CD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2" y="6140610"/>
            <a:ext cx="1122769" cy="57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D6FCD-D711-415C-BDDE-8F6DDE0408BE}"/>
              </a:ext>
            </a:extLst>
          </p:cNvPr>
          <p:cNvSpPr txBox="1"/>
          <p:nvPr userDrawn="1"/>
        </p:nvSpPr>
        <p:spPr>
          <a:xfrm>
            <a:off x="11443527" y="6227700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0E72E4E-4CBE-4D12-B6A9-8CB223CF8265}" type="slidenum">
              <a:rPr lang="en-AU" sz="2000" b="1" smtClean="0"/>
              <a:t>‹#›</a:t>
            </a:fld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4965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2F9-7D55-40B9-B9F6-47CEB7F2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6F6-872B-4351-82CE-F6BDED67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7C49-E28A-4BC7-B01F-46B91082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B18F-8376-4052-A4AC-9CEE87CB9347}" type="datetime1">
              <a:rPr lang="en-AU" smtClean="0"/>
              <a:t>22/08/2024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D53B-FA02-45C3-B746-4698E5C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85B1-EDCF-4B2C-AB51-34E6296E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67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CFC9-D1E8-4E90-A313-CE13BA34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AFC9-3AAB-464E-BF70-473E5706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2BC8-6CF3-4155-A3AC-94AADAD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FC66-FB02-44EA-BC04-6F096A7B7769}" type="datetime1">
              <a:rPr lang="en-AU" smtClean="0"/>
              <a:t>22/08/2024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1418-83C4-4996-B0E2-AABE17A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ECE1-87D5-4300-BACC-4A4EB51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873-C1A0-4FC9-9508-391EDD08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00C2-E18A-49F2-813D-D0968706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C943-1A72-4568-B75B-790E77A3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426C6-D368-434D-A76E-A08FE05B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6C89-1765-4641-A2C2-0C255FF54FD1}" type="datetime1">
              <a:rPr lang="en-AU" smtClean="0"/>
              <a:t>22/08/2024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A0D2-A40A-49C1-8234-B7D2E597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90CF-5EB7-4621-AF70-49745B7E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C4E-7129-4DFE-A8BF-D2F4C51E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68A7-B0A8-48B8-9C40-76D73A53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2730-3A93-4774-B024-FF41D7AD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60C-643D-4E43-9F3C-1BAB21E15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905-B67E-4FAA-969B-8323B9811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CAE1-7796-4C1F-9BED-1A8C90AB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3857-A5A5-474E-9E58-C4E578787857}" type="datetime1">
              <a:rPr lang="en-AU" smtClean="0"/>
              <a:t>22/08/2024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3460-6DE1-4496-9257-1CF265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E5745-5DC0-47E7-86B4-926C3EEB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98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E46-5C93-447B-AA2A-FABDBC83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545D-C4CE-4C13-933E-BB80F082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7F37-9D1F-41EA-AAC5-1B6F73404883}" type="datetime1">
              <a:rPr lang="en-AU" smtClean="0"/>
              <a:t>22/08/2024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F992-DE21-4FF8-9EC3-24F7AAB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18A99-A541-4FC4-8B0F-E2C0D8E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9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9AF43-84E3-4B89-A20D-5AD12A92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FDF9-A986-4905-9508-247B7F4B200D}" type="datetime1">
              <a:rPr lang="en-AU" smtClean="0"/>
              <a:t>22/08/2024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52FC8-6766-4AF6-AE1B-3E3E40DE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A401-3F10-4AB5-B56C-A44167EC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13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E79-7D0A-4913-9B9D-D14A14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2BE-34D1-4394-A79C-56929CB7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86DDC-E9A4-494D-8DA3-DF6FF0CB2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4CB1-DD02-4E14-8070-D529601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C78-DADF-4969-B242-4855E9F4C4D5}" type="datetime1">
              <a:rPr lang="en-AU" smtClean="0"/>
              <a:t>22/08/2024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DCFE-E8EA-4807-BCD4-B175C0E2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DD04-DF59-476B-A2E1-B91A947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1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7C8-9040-4BEA-BDE3-ABA1A1C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7C11-8D21-434A-A6FD-3E8617092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D949-D4DE-4581-87B3-C03FD4FD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51E2-1921-40F3-AC40-E142F785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D74D-1239-4392-A26B-B7E440CEC8CB}" type="datetime1">
              <a:rPr lang="en-AU" smtClean="0"/>
              <a:t>22/08/2024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FAF-0386-4409-8BFE-A413765B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7AEF-E743-4036-9326-1065E481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80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7700-60C9-4E9C-9852-C7B6C38A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E9C5B-FA98-43FE-90F2-7DDE18ED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D572-AD9E-4D3B-8F7B-2BB536B5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578B-E5FA-490D-8208-9FBD9A867E75}" type="datetime1">
              <a:rPr lang="en-AU" smtClean="0"/>
              <a:t>22/08/2024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E37F-1B21-4246-BA36-73956FFE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DB52-5DFE-4447-91E2-9787D84D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283C-E2F0-4A6F-9AD9-82CA902D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5EE6-7D9F-42B2-94B0-02A3E84F5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19CB-43F8-4CC0-903E-C238030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4018-37EC-481E-B7F2-FDEEBA0F84AF}" type="datetime1">
              <a:rPr lang="en-AU" smtClean="0"/>
              <a:t>22/08/2024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5F0E-7361-4676-B432-1D05B70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F4EB-1112-445C-96AB-93D5D84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2DA63-5604-4C8B-A185-3346EDDF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E662-E32E-4BF0-B3BA-15B99830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8C86-7471-4189-957D-1CEA3FBE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43812-AA3E-4766-916C-F1E5A438B57F}" type="datetime1">
              <a:rPr lang="en-AU" smtClean="0"/>
              <a:t>22/08/2024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008F-2F27-46E4-A82E-92541B12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96A-7E11-4FA7-B795-CF89E7D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CBF2271-6786-48D8-8625-48074A2F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916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029B91-E5FE-43A6-9535-58B2F4EBB5EE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12192000" cy="4591665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92225" y="4850229"/>
            <a:ext cx="9607550" cy="14757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latin typeface="+mj-lt"/>
              </a:rPr>
              <a:t>Week 3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935" y="2486361"/>
            <a:ext cx="11012129" cy="1518035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Calculus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23654"/>
            <a:ext cx="9144000" cy="562707"/>
          </a:xfrm>
        </p:spPr>
        <p:txBody>
          <a:bodyPr>
            <a:noAutofit/>
          </a:bodyPr>
          <a:lstStyle/>
          <a:p>
            <a:r>
              <a:rPr lang="en-AU" sz="3200" dirty="0">
                <a:latin typeface="+mj-lt"/>
              </a:rPr>
              <a:t>MTH10012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CCAF879-A57E-4938-88B5-1CA526E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9" y="701528"/>
            <a:ext cx="1927122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9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99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Introduction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57D0-AC67-44EF-AAC1-EB45706D89C7}"/>
              </a:ext>
            </a:extLst>
          </p:cNvPr>
          <p:cNvSpPr txBox="1"/>
          <p:nvPr/>
        </p:nvSpPr>
        <p:spPr>
          <a:xfrm>
            <a:off x="1232187" y="1537613"/>
            <a:ext cx="51659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Elementary functions and their graphs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Limit of a function and limit laws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C46B-21B4-4C87-946C-3EAD91A29AA1}"/>
              </a:ext>
            </a:extLst>
          </p:cNvPr>
          <p:cNvSpPr txBox="1"/>
          <p:nvPr/>
        </p:nvSpPr>
        <p:spPr>
          <a:xfrm>
            <a:off x="307593" y="1036182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2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F658E-4D46-438A-89D3-59C69A018DE7}"/>
              </a:ext>
            </a:extLst>
          </p:cNvPr>
          <p:cNvSpPr txBox="1"/>
          <p:nvPr/>
        </p:nvSpPr>
        <p:spPr>
          <a:xfrm>
            <a:off x="307593" y="2610373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3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798BC-1968-4592-A84D-9889D441C7B0}"/>
              </a:ext>
            </a:extLst>
          </p:cNvPr>
          <p:cNvSpPr txBox="1"/>
          <p:nvPr/>
        </p:nvSpPr>
        <p:spPr>
          <a:xfrm>
            <a:off x="1195978" y="3707410"/>
            <a:ext cx="100977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Limits at infinity and infinite limits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Indefinite 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The sandwich theorem and standard limits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Continuity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Theorems of continuity and applications to limits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0D396-44DB-4720-AA20-0FECBBC96907}"/>
              </a:ext>
            </a:extLst>
          </p:cNvPr>
          <p:cNvCxnSpPr>
            <a:stCxn id="13" idx="3"/>
          </p:cNvCxnSpPr>
          <p:nvPr/>
        </p:nvCxnSpPr>
        <p:spPr>
          <a:xfrm>
            <a:off x="1195978" y="2810428"/>
            <a:ext cx="104043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933F3-BDCD-41B7-8B70-5B047253E6FA}"/>
              </a:ext>
            </a:extLst>
          </p:cNvPr>
          <p:cNvCxnSpPr>
            <a:cxnSpLocks/>
          </p:cNvCxnSpPr>
          <p:nvPr/>
        </p:nvCxnSpPr>
        <p:spPr>
          <a:xfrm flipV="1">
            <a:off x="1195978" y="1211598"/>
            <a:ext cx="10404351" cy="2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815BF5-1815-494B-8C1F-8AB3E9CBAD1F}"/>
              </a:ext>
            </a:extLst>
          </p:cNvPr>
          <p:cNvSpPr txBox="1"/>
          <p:nvPr/>
        </p:nvSpPr>
        <p:spPr>
          <a:xfrm>
            <a:off x="525480" y="3338079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2</a:t>
            </a:r>
            <a:endParaRPr lang="en-GB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05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367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2.3 Limits at infinity and infinite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4F362-DFED-4C11-A1CD-925763418DC8}"/>
              </a:ext>
            </a:extLst>
          </p:cNvPr>
          <p:cNvSpPr txBox="1"/>
          <p:nvPr/>
        </p:nvSpPr>
        <p:spPr>
          <a:xfrm>
            <a:off x="220338" y="1057620"/>
            <a:ext cx="2022028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Limit at infinity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7" y="1556707"/>
                <a:ext cx="11710929" cy="326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we say that a function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has the limit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we can make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arbitrarily close to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by taking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to be sufficiently </a:t>
                </a:r>
                <a:r>
                  <a:rPr lang="en-GB" sz="2400" i="1" u="sng" dirty="0">
                    <a:latin typeface="+mj-lt"/>
                  </a:rPr>
                  <a:t>large </a:t>
                </a:r>
                <a:r>
                  <a:rPr lang="en-GB" sz="2400" dirty="0">
                    <a:latin typeface="+mj-lt"/>
                  </a:rPr>
                  <a:t>and</a:t>
                </a:r>
                <a:r>
                  <a:rPr lang="en-GB" sz="2400" i="1" u="sng" dirty="0">
                    <a:latin typeface="+mj-lt"/>
                  </a:rPr>
                  <a:t> positive</a:t>
                </a:r>
                <a:r>
                  <a:rPr lang="en-GB" sz="2400" dirty="0">
                    <a:latin typeface="+mj-lt"/>
                  </a:rPr>
                  <a:t>.</a:t>
                </a:r>
              </a:p>
              <a:p>
                <a:r>
                  <a:rPr lang="en-AU" sz="2400" dirty="0">
                    <a:latin typeface="+mj-lt"/>
                  </a:rPr>
                  <a:t>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we say that a function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has the limit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→−∞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we can make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 arbitrarily close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sz="2400" dirty="0">
                    <a:latin typeface="+mj-lt"/>
                  </a:rPr>
                  <a:t> by taking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to be sufficiently </a:t>
                </a:r>
                <a:r>
                  <a:rPr lang="en-GB" sz="2400" i="1" u="sng" dirty="0">
                    <a:latin typeface="+mj-lt"/>
                  </a:rPr>
                  <a:t>large </a:t>
                </a:r>
                <a:r>
                  <a:rPr lang="en-GB" sz="2400" dirty="0">
                    <a:latin typeface="+mj-lt"/>
                  </a:rPr>
                  <a:t>and</a:t>
                </a:r>
                <a:r>
                  <a:rPr lang="en-GB" sz="2400" i="1" u="sng" dirty="0">
                    <a:latin typeface="+mj-lt"/>
                  </a:rPr>
                  <a:t> negative</a:t>
                </a:r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7" y="1556707"/>
                <a:ext cx="11710929" cy="3269869"/>
              </a:xfrm>
              <a:prstGeom prst="rect">
                <a:avLst/>
              </a:prstGeom>
              <a:blipFill>
                <a:blip r:embed="rId2"/>
                <a:stretch>
                  <a:fillRect l="-781" t="-1490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9C8F58-9556-478D-9CB6-A38707747F31}"/>
                  </a:ext>
                </a:extLst>
              </p:cNvPr>
              <p:cNvSpPr txBox="1"/>
              <p:nvPr/>
            </p:nvSpPr>
            <p:spPr>
              <a:xfrm>
                <a:off x="309216" y="5106472"/>
                <a:ext cx="1249125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9C8F58-9556-478D-9CB6-A38707747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216" y="5106472"/>
                <a:ext cx="1249125" cy="693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07BAAF-3548-4930-B592-962AA3878D9E}"/>
                  </a:ext>
                </a:extLst>
              </p:cNvPr>
              <p:cNvSpPr txBox="1"/>
              <p:nvPr/>
            </p:nvSpPr>
            <p:spPr>
              <a:xfrm>
                <a:off x="6969992" y="5268760"/>
                <a:ext cx="15604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07BAAF-3548-4930-B592-962AA3878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992" y="5268760"/>
                <a:ext cx="1560427" cy="369332"/>
              </a:xfrm>
              <a:prstGeom prst="rect">
                <a:avLst/>
              </a:prstGeom>
              <a:blipFill>
                <a:blip r:embed="rId4"/>
                <a:stretch>
                  <a:fillRect l="-4688" r="-781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08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367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2.3 Limits at infinity and infinite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94F362-DFED-4C11-A1CD-925763418DC8}"/>
              </a:ext>
            </a:extLst>
          </p:cNvPr>
          <p:cNvSpPr txBox="1"/>
          <p:nvPr/>
        </p:nvSpPr>
        <p:spPr>
          <a:xfrm>
            <a:off x="220338" y="1057620"/>
            <a:ext cx="2022028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Limit at infinity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/>
              <p:nvPr/>
            </p:nvSpPr>
            <p:spPr>
              <a:xfrm>
                <a:off x="220337" y="1556707"/>
                <a:ext cx="117109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All the previously seen limit laws apply to the case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approaching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±∞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9818E6-5C7E-453D-9A85-59F4D902F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7" y="1556707"/>
                <a:ext cx="11710929" cy="461665"/>
              </a:xfrm>
              <a:prstGeom prst="rect">
                <a:avLst/>
              </a:prstGeom>
              <a:blipFill>
                <a:blip r:embed="rId2"/>
                <a:stretch>
                  <a:fillRect l="-78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/>
              <p:nvPr/>
            </p:nvSpPr>
            <p:spPr>
              <a:xfrm>
                <a:off x="220338" y="2138892"/>
                <a:ext cx="2293320" cy="46166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“being” infinity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8" y="2138892"/>
                <a:ext cx="2293320" cy="461665"/>
              </a:xfrm>
              <a:prstGeom prst="rect">
                <a:avLst/>
              </a:prstGeom>
              <a:blipFill>
                <a:blip r:embed="rId3"/>
                <a:stretch>
                  <a:fillRect l="-265" t="-8974" r="-3175" b="-26923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20337" y="2838659"/>
                <a:ext cx="11710929" cy="326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we say that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we can make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larger than </a:t>
                </a:r>
                <a:r>
                  <a:rPr lang="en-GB" sz="2400" i="1" u="sng" dirty="0">
                    <a:latin typeface="+mj-lt"/>
                  </a:rPr>
                  <a:t>any</a:t>
                </a:r>
                <a:r>
                  <a:rPr lang="en-GB" sz="2400" dirty="0">
                    <a:latin typeface="+mj-lt"/>
                  </a:rPr>
                  <a:t> given real, positive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by taking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sufficiently close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r>
                  <a:rPr lang="en-AU" sz="2400" dirty="0">
                    <a:latin typeface="+mj-lt"/>
                  </a:rPr>
                  <a:t>Analogously,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we say that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we can make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arbitrarily less than </a:t>
                </a:r>
                <a:r>
                  <a:rPr lang="en-GB" sz="2400" i="1" u="sng" dirty="0">
                    <a:latin typeface="+mj-lt"/>
                  </a:rPr>
                  <a:t>any</a:t>
                </a:r>
                <a:r>
                  <a:rPr lang="en-GB" sz="2400" dirty="0">
                    <a:latin typeface="+mj-lt"/>
                  </a:rPr>
                  <a:t> given real, negative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by taking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sufficiently close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. We can say that the function “blows up” or “goes to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sz="2400" dirty="0">
                    <a:latin typeface="+mj-lt"/>
                  </a:rPr>
                  <a:t>”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37" y="2838659"/>
                <a:ext cx="11710929" cy="3269869"/>
              </a:xfrm>
              <a:prstGeom prst="rect">
                <a:avLst/>
              </a:prstGeom>
              <a:blipFill>
                <a:blip r:embed="rId4"/>
                <a:stretch>
                  <a:fillRect l="-781" t="-1493" b="-33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97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367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2.3 Limits at infinity and infinite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/>
              <p:nvPr/>
            </p:nvSpPr>
            <p:spPr>
              <a:xfrm>
                <a:off x="265161" y="1045198"/>
                <a:ext cx="2293320" cy="46166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400" dirty="0">
                    <a:latin typeface="+mj-lt"/>
                  </a:rPr>
                  <a:t> “being” infinity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1" y="1045198"/>
                <a:ext cx="2293320" cy="461665"/>
              </a:xfrm>
              <a:prstGeom prst="rect">
                <a:avLst/>
              </a:prstGeom>
              <a:blipFill>
                <a:blip r:embed="rId2"/>
                <a:stretch>
                  <a:fillRect l="-264" t="-8974" r="-2902" b="-26923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261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26167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853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5367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2.3 Limits at infinity and infinite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1" y="1045198"/>
            <a:ext cx="2147639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Indefinite forms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4440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Limit laws do not apply for the case of the function approaching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±∞</m:t>
                    </m:r>
                  </m:oMath>
                </a14:m>
                <a:r>
                  <a:rPr lang="en-GB" sz="2400" dirty="0">
                    <a:latin typeface="+mj-lt"/>
                  </a:rPr>
                  <a:t>. For example, suppose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satisfy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AU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what would happen to: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                                                 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final limit may in fact exist and be finite, be infinite, or not exist.</a:t>
                </a:r>
              </a:p>
              <a:p>
                <a:r>
                  <a:rPr lang="en-GB" sz="2400" dirty="0">
                    <a:latin typeface="+mj-lt"/>
                  </a:rPr>
                  <a:t>The indefinite or </a:t>
                </a:r>
                <a:r>
                  <a:rPr lang="en-GB" sz="2400" dirty="0" err="1">
                    <a:latin typeface="+mj-lt"/>
                  </a:rPr>
                  <a:t>indeterminated</a:t>
                </a:r>
                <a:r>
                  <a:rPr lang="en-GB" sz="2400" dirty="0">
                    <a:latin typeface="+mj-lt"/>
                  </a:rPr>
                  <a:t> forms are (they need to be re-worked, or resolved):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den>
                          </m:f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, 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∞−∞)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4440831"/>
              </a:xfrm>
              <a:prstGeom prst="rect">
                <a:avLst/>
              </a:prstGeom>
              <a:blipFill>
                <a:blip r:embed="rId2"/>
                <a:stretch>
                  <a:fillRect l="-780" t="-10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911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911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2.4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/>
              <p:nvPr/>
            </p:nvSpPr>
            <p:spPr>
              <a:xfrm>
                <a:off x="265161" y="1045198"/>
                <a:ext cx="2529539" cy="645048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Indefinite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1" y="1045198"/>
                <a:ext cx="2529539" cy="645048"/>
              </a:xfrm>
              <a:prstGeom prst="rect">
                <a:avLst/>
              </a:prstGeom>
              <a:blipFill>
                <a:blip r:embed="rId2"/>
                <a:stretch>
                  <a:fillRect l="-3357" b="-6481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→−1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84A496F-0C36-47A1-A9A3-48938FAF35CD}"/>
              </a:ext>
            </a:extLst>
          </p:cNvPr>
          <p:cNvSpPr txBox="1"/>
          <p:nvPr/>
        </p:nvSpPr>
        <p:spPr>
          <a:xfrm>
            <a:off x="2978004" y="1163608"/>
            <a:ext cx="242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+mj-lt"/>
              </a:rPr>
              <a:t>(Factorise or rationalise)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EF123A-4D70-4CDA-A49A-A13408AB2D24}"/>
                  </a:ext>
                </a:extLst>
              </p:cNvPr>
              <p:cNvSpPr txBox="1"/>
              <p:nvPr/>
            </p:nvSpPr>
            <p:spPr>
              <a:xfrm>
                <a:off x="265160" y="3937330"/>
                <a:ext cx="11710929" cy="886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EF123A-4D70-4CDA-A49A-A13408AB2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3937330"/>
                <a:ext cx="11710929" cy="886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58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911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2.4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/>
              <p:nvPr/>
            </p:nvSpPr>
            <p:spPr>
              <a:xfrm>
                <a:off x="265161" y="1045198"/>
                <a:ext cx="2606483" cy="645048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Indefinite form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1" y="1045198"/>
                <a:ext cx="2606483" cy="645048"/>
              </a:xfrm>
              <a:prstGeom prst="rect">
                <a:avLst/>
              </a:prstGeom>
              <a:blipFill>
                <a:blip r:embed="rId2"/>
                <a:stretch>
                  <a:fillRect l="-3256" b="-6481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833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833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84A496F-0C36-47A1-A9A3-48938FAF35CD}"/>
              </a:ext>
            </a:extLst>
          </p:cNvPr>
          <p:cNvSpPr txBox="1"/>
          <p:nvPr/>
        </p:nvSpPr>
        <p:spPr>
          <a:xfrm>
            <a:off x="2978004" y="1163608"/>
            <a:ext cx="3432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+mj-lt"/>
              </a:rPr>
              <a:t>(Which one goes faster to infinity?)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EF123A-4D70-4CDA-A49A-A13408AB2D24}"/>
                  </a:ext>
                </a:extLst>
              </p:cNvPr>
              <p:cNvSpPr txBox="1"/>
              <p:nvPr/>
            </p:nvSpPr>
            <p:spPr>
              <a:xfrm>
                <a:off x="265160" y="3937330"/>
                <a:ext cx="11710929" cy="833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+11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EF123A-4D70-4CDA-A49A-A13408AB2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3937330"/>
                <a:ext cx="11710929" cy="8334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26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911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2.4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1" y="1045198"/>
            <a:ext cx="4789901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Limits at infinity for rational functions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1" y="1506863"/>
                <a:ext cx="11710929" cy="3429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Given a generic rational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with numerator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and denominator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following occurs: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→±∞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  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0            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1" y="1506863"/>
                <a:ext cx="11710929" cy="3429400"/>
              </a:xfrm>
              <a:prstGeom prst="rect">
                <a:avLst/>
              </a:prstGeom>
              <a:blipFill>
                <a:blip r:embed="rId2"/>
                <a:stretch>
                  <a:fillRect l="-780" t="-14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1CFC6-B822-4323-8CF2-9F7695DB2A8C}"/>
                  </a:ext>
                </a:extLst>
              </p:cNvPr>
              <p:cNvSpPr txBox="1"/>
              <p:nvPr/>
            </p:nvSpPr>
            <p:spPr>
              <a:xfrm>
                <a:off x="1423511" y="4936263"/>
                <a:ext cx="10329217" cy="1528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The last case is a consequence of larger powers in the denominator being faster, hence the expression going to zero 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goes to infinity. This is also true for positive rational powers,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box>
                              <m:box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type m:val="skw"/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box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11CFC6-B822-4323-8CF2-9F7695DB2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511" y="4936263"/>
                <a:ext cx="10329217" cy="1528047"/>
              </a:xfrm>
              <a:prstGeom prst="rect">
                <a:avLst/>
              </a:prstGeom>
              <a:blipFill>
                <a:blip r:embed="rId3"/>
                <a:stretch>
                  <a:fillRect l="-945" t="-3200" r="-1299" b="-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0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911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2.4 Indefinite forms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/>
              <p:nvPr/>
            </p:nvSpPr>
            <p:spPr>
              <a:xfrm>
                <a:off x="265161" y="1045198"/>
                <a:ext cx="2986587" cy="461665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Indefinite form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−∞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6530B0-3307-4700-A725-064BF64A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1" y="1045198"/>
                <a:ext cx="2986587" cy="461665"/>
              </a:xfrm>
              <a:prstGeom prst="rect">
                <a:avLst/>
              </a:prstGeom>
              <a:blipFill>
                <a:blip r:embed="rId2"/>
                <a:stretch>
                  <a:fillRect l="-2846" t="-8974" b="-26923"/>
                </a:stretch>
              </a:blipFill>
              <a:ln>
                <a:solidFill>
                  <a:schemeClr val="accent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672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ra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672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84A496F-0C36-47A1-A9A3-48938FAF35CD}"/>
              </a:ext>
            </a:extLst>
          </p:cNvPr>
          <p:cNvSpPr txBox="1"/>
          <p:nvPr/>
        </p:nvSpPr>
        <p:spPr>
          <a:xfrm>
            <a:off x="3569675" y="1063777"/>
            <a:ext cx="1334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+mj-lt"/>
              </a:rPr>
              <a:t>(Rationalise)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732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40535" y="1061248"/>
                <a:ext cx="11710929" cy="4384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(Sandwich theorem).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and three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, if we have that</a:t>
                </a: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when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is near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 (but not necessarily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) and </a:t>
                </a: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then</a:t>
                </a: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61248"/>
                <a:ext cx="11710929" cy="4384342"/>
              </a:xfrm>
              <a:prstGeom prst="rect">
                <a:avLst/>
              </a:prstGeom>
              <a:blipFill>
                <a:blip r:embed="rId2"/>
                <a:stretch>
                  <a:fillRect l="-780" t="-11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2143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40535" y="1061248"/>
                <a:ext cx="11710929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61248"/>
                <a:ext cx="11710929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828404-4CAB-4018-8E1E-D3FBDB41771B}"/>
                  </a:ext>
                </a:extLst>
              </p:cNvPr>
              <p:cNvSpPr txBox="1"/>
              <p:nvPr/>
            </p:nvSpPr>
            <p:spPr>
              <a:xfrm>
                <a:off x="240535" y="3429000"/>
                <a:ext cx="11710929" cy="833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2400" b="0" i="0" smtClean="0"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828404-4CAB-4018-8E1E-D3FBDB417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3429000"/>
                <a:ext cx="11710929" cy="833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60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0" y="1063777"/>
            <a:ext cx="5594160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Standard limits using the sandwich theorem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376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AU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GB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⁡(1+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37666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144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0" y="1063777"/>
            <a:ext cx="5594160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Standard limits using the sandwich theorem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62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62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CF15FB2E-C4B4-4019-923D-26013950EFCE}"/>
              </a:ext>
            </a:extLst>
          </p:cNvPr>
          <p:cNvGrpSpPr/>
          <p:nvPr/>
        </p:nvGrpSpPr>
        <p:grpSpPr>
          <a:xfrm>
            <a:off x="170330" y="2757670"/>
            <a:ext cx="3514165" cy="3451411"/>
            <a:chOff x="2017059" y="2501153"/>
            <a:chExt cx="3514165" cy="3451411"/>
          </a:xfrm>
        </p:grpSpPr>
        <p:sp>
          <p:nvSpPr>
            <p:cNvPr id="2" name="Partial Circle 1">
              <a:extLst>
                <a:ext uri="{FF2B5EF4-FFF2-40B4-BE49-F238E27FC236}">
                  <a16:creationId xmlns:a16="http://schemas.microsoft.com/office/drawing/2014/main" id="{DB6AA69E-7197-47DB-ACE0-70E638F6DAF6}"/>
                </a:ext>
              </a:extLst>
            </p:cNvPr>
            <p:cNvSpPr/>
            <p:nvPr/>
          </p:nvSpPr>
          <p:spPr>
            <a:xfrm>
              <a:off x="2017059" y="3065929"/>
              <a:ext cx="2886635" cy="2886635"/>
            </a:xfrm>
            <a:prstGeom prst="pie">
              <a:avLst>
                <a:gd name="adj1" fmla="val 13823357"/>
                <a:gd name="adj2" fmla="val 3951441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DFDA841-7DF3-4C9C-A244-752CFDA95D8D}"/>
                </a:ext>
              </a:extLst>
            </p:cNvPr>
            <p:cNvCxnSpPr/>
            <p:nvPr/>
          </p:nvCxnSpPr>
          <p:spPr>
            <a:xfrm>
              <a:off x="3460376" y="4509247"/>
              <a:ext cx="207084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0F225CD-0313-4AA8-BF00-928D506DFC3D}"/>
                </a:ext>
              </a:extLst>
            </p:cNvPr>
            <p:cNvCxnSpPr/>
            <p:nvPr/>
          </p:nvCxnSpPr>
          <p:spPr>
            <a:xfrm flipV="1">
              <a:off x="3460376" y="2501153"/>
              <a:ext cx="0" cy="2008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59D6E61-21CE-4D42-AC7B-9EA6A82D966A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4392706" y="3429000"/>
              <a:ext cx="510988" cy="1080247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E486825-706E-44FF-82BA-85C5FEF58417}"/>
                </a:ext>
              </a:extLst>
            </p:cNvPr>
            <p:cNvCxnSpPr/>
            <p:nvPr/>
          </p:nvCxnSpPr>
          <p:spPr>
            <a:xfrm flipV="1">
              <a:off x="3460376" y="2594148"/>
              <a:ext cx="1658471" cy="1889228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F79B23-6DE2-4EB0-B2A1-82048919B47D}"/>
                </a:ext>
              </a:extLst>
            </p:cNvPr>
            <p:cNvCxnSpPr>
              <a:endCxn id="2" idx="0"/>
            </p:cNvCxnSpPr>
            <p:nvPr/>
          </p:nvCxnSpPr>
          <p:spPr>
            <a:xfrm>
              <a:off x="3460376" y="4509246"/>
              <a:ext cx="1443318" cy="1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F23691-23BE-44B9-B292-3C4B9059E538}"/>
                </a:ext>
              </a:extLst>
            </p:cNvPr>
            <p:cNvCxnSpPr/>
            <p:nvPr/>
          </p:nvCxnSpPr>
          <p:spPr>
            <a:xfrm>
              <a:off x="4392706" y="3429000"/>
              <a:ext cx="0" cy="1080246"/>
            </a:xfrm>
            <a:prstGeom prst="line">
              <a:avLst/>
            </a:prstGeom>
            <a:ln w="28575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FF9FB0CD-730D-42EF-8A77-4497FF70B70D}"/>
                </a:ext>
              </a:extLst>
            </p:cNvPr>
            <p:cNvSpPr/>
            <p:nvPr/>
          </p:nvSpPr>
          <p:spPr>
            <a:xfrm>
              <a:off x="3294528" y="4343399"/>
              <a:ext cx="331694" cy="331694"/>
            </a:xfrm>
            <a:prstGeom prst="pie">
              <a:avLst>
                <a:gd name="adj1" fmla="val 18728353"/>
                <a:gd name="adj2" fmla="val 21536350"/>
              </a:avLst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71A7258-3260-4F9D-9DCB-3B1E30D5DB69}"/>
                    </a:ext>
                  </a:extLst>
                </p:cNvPr>
                <p:cNvSpPr txBox="1"/>
                <p:nvPr/>
              </p:nvSpPr>
              <p:spPr>
                <a:xfrm>
                  <a:off x="3549806" y="4207039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71A7258-3260-4F9D-9DCB-3B1E30D5D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9806" y="4207039"/>
                  <a:ext cx="36798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242DC4-D1B7-4420-A9B7-0D76C98BA3B2}"/>
                </a:ext>
              </a:extLst>
            </p:cNvPr>
            <p:cNvSpPr txBox="1"/>
            <p:nvPr/>
          </p:nvSpPr>
          <p:spPr>
            <a:xfrm>
              <a:off x="3184169" y="4374333"/>
              <a:ext cx="320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A</a:t>
              </a:r>
              <a:endParaRPr lang="en-GB" sz="16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8B7B5E-76B6-44F1-961B-2CA7B31D7389}"/>
                </a:ext>
              </a:extLst>
            </p:cNvPr>
            <p:cNvSpPr txBox="1"/>
            <p:nvPr/>
          </p:nvSpPr>
          <p:spPr>
            <a:xfrm>
              <a:off x="4262715" y="3078188"/>
              <a:ext cx="320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C</a:t>
              </a:r>
              <a:endParaRPr lang="en-GB" sz="16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960F6C-B2C5-4AE7-B66B-9D2A7025D135}"/>
                </a:ext>
              </a:extLst>
            </p:cNvPr>
            <p:cNvSpPr txBox="1"/>
            <p:nvPr/>
          </p:nvSpPr>
          <p:spPr>
            <a:xfrm>
              <a:off x="4867622" y="4460572"/>
              <a:ext cx="320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B</a:t>
              </a:r>
              <a:endParaRPr lang="en-GB" sz="1600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B83481-F765-49F9-80F7-16E4914D1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6039" y="2607624"/>
              <a:ext cx="33404" cy="1905941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F3885-91CB-4861-AFDD-D589B506B28C}"/>
                </a:ext>
              </a:extLst>
            </p:cNvPr>
            <p:cNvSpPr txBox="1"/>
            <p:nvPr/>
          </p:nvSpPr>
          <p:spPr>
            <a:xfrm>
              <a:off x="4912659" y="2662675"/>
              <a:ext cx="320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D</a:t>
              </a:r>
              <a:endParaRPr lang="en-GB" sz="1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7CA6F9-7BDA-4537-AD30-805B7F97B601}"/>
                </a:ext>
              </a:extLst>
            </p:cNvPr>
            <p:cNvSpPr txBox="1"/>
            <p:nvPr/>
          </p:nvSpPr>
          <p:spPr>
            <a:xfrm>
              <a:off x="4228560" y="4483376"/>
              <a:ext cx="320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dirty="0"/>
                <a:t>E</a:t>
              </a:r>
              <a:endParaRPr lang="en-GB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78139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0" y="1063777"/>
            <a:ext cx="5594160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Standard limits using the sandwich theorem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num>
                          <m:den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613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267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2.5 The sandwich theorem and standard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530B0-3307-4700-A725-064BF64A81D0}"/>
              </a:ext>
            </a:extLst>
          </p:cNvPr>
          <p:cNvSpPr txBox="1"/>
          <p:nvPr/>
        </p:nvSpPr>
        <p:spPr>
          <a:xfrm>
            <a:off x="265160" y="1063777"/>
            <a:ext cx="5594160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400" dirty="0">
                <a:latin typeface="+mj-lt"/>
              </a:rPr>
              <a:t>Standard limits using the sandwich theorem</a:t>
            </a:r>
            <a:endParaRPr lang="en-GB" sz="2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65160" y="1744965"/>
                <a:ext cx="11710929" cy="651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60" y="1744965"/>
                <a:ext cx="11710929" cy="6515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85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15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2.6 Continuity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40535" y="1018824"/>
                <a:ext cx="11710929" cy="4323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(</a:t>
                </a:r>
                <a:r>
                  <a:rPr lang="en-AU" sz="2400" i="1" dirty="0">
                    <a:latin typeface="+mj-lt"/>
                  </a:rPr>
                  <a:t>Continuity</a:t>
                </a:r>
                <a:r>
                  <a:rPr lang="en-AU" sz="2400" dirty="0">
                    <a:latin typeface="+mj-lt"/>
                  </a:rPr>
                  <a:t>). Let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 be an open interval.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latin typeface="+mj-lt"/>
                  </a:rPr>
                  <a:t> is said to be continuous at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, if</a:t>
                </a:r>
                <a:endParaRPr lang="en-AU" sz="24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This definition implies that the following four fundamental results have to occur at the same time:</a:t>
                </a:r>
              </a:p>
              <a:p>
                <a:r>
                  <a:rPr lang="en-GB" sz="2400" dirty="0">
                    <a:latin typeface="+mj-lt"/>
                  </a:rPr>
                  <a:t>1. The left limit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  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must exist</a:t>
                </a:r>
              </a:p>
              <a:p>
                <a:r>
                  <a:rPr lang="en-GB" sz="2400" dirty="0">
                    <a:latin typeface="+mj-lt"/>
                  </a:rPr>
                  <a:t>2. The right limit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    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must exist</a:t>
                </a:r>
              </a:p>
              <a:p>
                <a:r>
                  <a:rPr lang="en-GB" sz="2400" dirty="0">
                    <a:latin typeface="+mj-lt"/>
                  </a:rPr>
                  <a:t>3.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>
                    <a:latin typeface="+mj-lt"/>
                  </a:rPr>
                  <a:t> can be evaluated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, and its value is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4. All three values above have to be the same: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lim>
                            </m:limLow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18824"/>
                <a:ext cx="11710929" cy="4323748"/>
              </a:xfrm>
              <a:prstGeom prst="rect">
                <a:avLst/>
              </a:prstGeom>
              <a:blipFill>
                <a:blip r:embed="rId2"/>
                <a:stretch>
                  <a:fillRect l="-780" t="-1128" r="-4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4256AB-747E-4A2B-9B82-1D2A2DDAF0DD}"/>
                  </a:ext>
                </a:extLst>
              </p:cNvPr>
              <p:cNvSpPr txBox="1"/>
              <p:nvPr/>
            </p:nvSpPr>
            <p:spPr>
              <a:xfrm>
                <a:off x="240534" y="5201398"/>
                <a:ext cx="1171092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Continuity is defined as a “local” property of a function. This means that the definition establishes if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continuous at a given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4256AB-747E-4A2B-9B82-1D2A2DDAF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4" y="5201398"/>
                <a:ext cx="11710929" cy="830997"/>
              </a:xfrm>
              <a:prstGeom prst="rect">
                <a:avLst/>
              </a:prstGeom>
              <a:blipFill>
                <a:blip r:embed="rId3"/>
                <a:stretch>
                  <a:fillRect l="-780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3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046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Test your knowledge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449197-EB29-4DE2-973B-D1F07624790F}"/>
                  </a:ext>
                </a:extLst>
              </p:cNvPr>
              <p:cNvSpPr txBox="1"/>
              <p:nvPr/>
            </p:nvSpPr>
            <p:spPr>
              <a:xfrm>
                <a:off x="240535" y="1018824"/>
                <a:ext cx="11710929" cy="5206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1. Determine if the following functions are continuous at the given points.</a:t>
                </a:r>
              </a:p>
              <a:p>
                <a:pPr>
                  <a:spcAft>
                    <a:spcPts val="1800"/>
                  </a:spcAft>
                </a:pPr>
                <a:r>
                  <a:rPr lang="en-GB" sz="2400" dirty="0">
                    <a:latin typeface="+mj-lt"/>
                  </a:rPr>
                  <a:t>a)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 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endParaRPr lang="en-GB" sz="16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GB" sz="2400" dirty="0">
                    <a:latin typeface="+mj-lt"/>
                  </a:rPr>
                  <a:t>b)The sign function,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endParaRPr lang="en-GB" sz="1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GB" sz="2400" dirty="0">
                    <a:latin typeface="+mj-lt"/>
                  </a:rPr>
                  <a:t>c)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+1      </m:t>
                              </m:r>
                              <m:r>
                                <m:rPr>
                                  <m:sty m:val="p"/>
                                  <m:brk m:alnAt="7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+1      </m:t>
                              </m:r>
                              <m:r>
                                <m:rPr>
                                  <m:sty m:val="p"/>
                                </m:rPr>
                                <a:rPr lang="en-AU" sz="2400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</m:m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     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endParaRPr lang="en-GB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GB" sz="2400" dirty="0">
                    <a:latin typeface="+mj-lt"/>
                  </a:rPr>
                  <a:t>d)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449197-EB29-4DE2-973B-D1F076247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18824"/>
                <a:ext cx="11710929" cy="5206362"/>
              </a:xfrm>
              <a:prstGeom prst="rect">
                <a:avLst/>
              </a:prstGeom>
              <a:blipFill>
                <a:blip r:embed="rId2"/>
                <a:stretch>
                  <a:fillRect l="-780" t="-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B20DF70-03E9-4D85-9D63-5B5AA718D0DB}"/>
              </a:ext>
            </a:extLst>
          </p:cNvPr>
          <p:cNvSpPr txBox="1"/>
          <p:nvPr/>
        </p:nvSpPr>
        <p:spPr>
          <a:xfrm>
            <a:off x="3576918" y="1371600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NO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3847E-FF75-4162-ABC6-CE5FCD68816D}"/>
              </a:ext>
            </a:extLst>
          </p:cNvPr>
          <p:cNvSpPr txBox="1"/>
          <p:nvPr/>
        </p:nvSpPr>
        <p:spPr>
          <a:xfrm>
            <a:off x="3953436" y="2429435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NO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AF13D1-21F1-4BF4-96A0-97301409DCD6}"/>
              </a:ext>
            </a:extLst>
          </p:cNvPr>
          <p:cNvSpPr txBox="1"/>
          <p:nvPr/>
        </p:nvSpPr>
        <p:spPr>
          <a:xfrm>
            <a:off x="6212542" y="3890682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NO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590053-316F-4BCC-80B3-FCA9DC9DDC54}"/>
              </a:ext>
            </a:extLst>
          </p:cNvPr>
          <p:cNvSpPr txBox="1"/>
          <p:nvPr/>
        </p:nvSpPr>
        <p:spPr>
          <a:xfrm>
            <a:off x="4401671" y="5608343"/>
            <a:ext cx="5870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NO</a:t>
            </a:r>
            <a:endParaRPr lang="en-GB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0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15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2.6 Continuity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/>
              <p:nvPr/>
            </p:nvSpPr>
            <p:spPr>
              <a:xfrm>
                <a:off x="240535" y="1018824"/>
                <a:ext cx="11710929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(</a:t>
                </a:r>
                <a:r>
                  <a:rPr lang="en-AU" sz="2400" i="1" dirty="0">
                    <a:latin typeface="+mj-lt"/>
                  </a:rPr>
                  <a:t>Continuity in a set or interval</a:t>
                </a:r>
                <a:r>
                  <a:rPr lang="en-AU" sz="2400" dirty="0">
                    <a:latin typeface="+mj-lt"/>
                  </a:rPr>
                  <a:t>). </a:t>
                </a:r>
                <a:r>
                  <a:rPr lang="en-GB" sz="2400" dirty="0">
                    <a:latin typeface="+mj-lt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sz="2400" dirty="0">
                    <a:latin typeface="+mj-lt"/>
                  </a:rPr>
                  <a:t> is said to be continuous in an open subset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+mj-lt"/>
                  </a:rPr>
                  <a:t> of its domain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continuous at all values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(</a:t>
                </a:r>
                <a:r>
                  <a:rPr lang="en-AU" sz="2400" i="1" dirty="0">
                    <a:latin typeface="+mj-lt"/>
                  </a:rPr>
                  <a:t>Continuity of a function</a:t>
                </a:r>
                <a:r>
                  <a:rPr lang="en-AU" sz="2400" dirty="0">
                    <a:latin typeface="+mj-lt"/>
                  </a:rPr>
                  <a:t>).</a:t>
                </a:r>
                <a:r>
                  <a:rPr lang="en-GB" sz="2400" dirty="0">
                    <a:latin typeface="+mj-lt"/>
                  </a:rPr>
                  <a:t>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AU" sz="2400" dirty="0">
                    <a:latin typeface="+mj-lt"/>
                  </a:rPr>
                  <a:t> is said to be continuous if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continuous in all open subsets of its natural domain.</a:t>
                </a:r>
              </a:p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(</a:t>
                </a:r>
                <a:r>
                  <a:rPr lang="en-AU" sz="2400" i="1" dirty="0">
                    <a:latin typeface="+mj-lt"/>
                  </a:rPr>
                  <a:t>Types of discontinuity</a:t>
                </a:r>
                <a:r>
                  <a:rPr lang="en-AU" sz="2400" dirty="0">
                    <a:latin typeface="+mj-lt"/>
                  </a:rPr>
                  <a:t>). Given a</a:t>
                </a:r>
                <a:r>
                  <a:rPr lang="en-GB" sz="2400" dirty="0">
                    <a:latin typeface="+mj-lt"/>
                  </a:rPr>
                  <a:t>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AU" sz="2400" dirty="0">
                    <a:latin typeface="+mj-lt"/>
                  </a:rPr>
                  <a:t> which is discontinuous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, typical examples of discontinuities are classified as follows.</a:t>
                </a:r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22B235-3BFA-4DA6-8988-2CF02C2CC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1018824"/>
                <a:ext cx="11710929" cy="2769989"/>
              </a:xfrm>
              <a:prstGeom prst="rect">
                <a:avLst/>
              </a:prstGeom>
              <a:blipFill>
                <a:blip r:embed="rId2"/>
                <a:stretch>
                  <a:fillRect l="-780" t="-1758" r="-572" b="-39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72273F-C0C0-41C4-9C9B-D0F64B91AC1C}"/>
                  </a:ext>
                </a:extLst>
              </p:cNvPr>
              <p:cNvSpPr txBox="1"/>
              <p:nvPr/>
            </p:nvSpPr>
            <p:spPr>
              <a:xfrm>
                <a:off x="240535" y="4405717"/>
                <a:ext cx="524586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Jump discontinuity:</a:t>
                </a:r>
                <a:r>
                  <a:rPr lang="en-AU" sz="2400" dirty="0">
                    <a:latin typeface="+mj-lt"/>
                  </a:rPr>
                  <a:t> the graph of the function has a finite jump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72273F-C0C0-41C4-9C9B-D0F64B91A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35" y="4405717"/>
                <a:ext cx="5245865" cy="830997"/>
              </a:xfrm>
              <a:prstGeom prst="rect">
                <a:avLst/>
              </a:prstGeom>
              <a:blipFill>
                <a:blip r:embed="rId3"/>
                <a:stretch>
                  <a:fillRect l="-1742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C5C2D96-AA8B-4CC1-9113-F351BA90F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396" y="3906427"/>
            <a:ext cx="4384713" cy="266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91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15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2.6 Continuity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72273F-C0C0-41C4-9C9B-D0F64B91AC1C}"/>
                  </a:ext>
                </a:extLst>
              </p:cNvPr>
              <p:cNvSpPr txBox="1"/>
              <p:nvPr/>
            </p:nvSpPr>
            <p:spPr>
              <a:xfrm>
                <a:off x="312362" y="1852431"/>
                <a:ext cx="524586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Essential discontinuity:</a:t>
                </a:r>
                <a:r>
                  <a:rPr lang="en-AU" sz="2400" dirty="0">
                    <a:latin typeface="+mj-lt"/>
                  </a:rPr>
                  <a:t> the graph of the function has an infinite jump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 (vertical asymptote).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72273F-C0C0-41C4-9C9B-D0F64B91A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2" y="1852431"/>
                <a:ext cx="5245865" cy="1200329"/>
              </a:xfrm>
              <a:prstGeom prst="rect">
                <a:avLst/>
              </a:prstGeom>
              <a:blipFill>
                <a:blip r:embed="rId2"/>
                <a:stretch>
                  <a:fillRect l="-1742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52DD78B-EC71-4EAA-BA0E-E2233046F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774" y="1119555"/>
            <a:ext cx="4428781" cy="2666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7EBB4-DE6B-4BDD-9B30-4D824E4A7E97}"/>
                  </a:ext>
                </a:extLst>
              </p:cNvPr>
              <p:cNvSpPr txBox="1"/>
              <p:nvPr/>
            </p:nvSpPr>
            <p:spPr>
              <a:xfrm>
                <a:off x="312362" y="4446076"/>
                <a:ext cx="5245865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Removable discontinuity or hole:</a:t>
                </a:r>
                <a:r>
                  <a:rPr lang="en-AU" sz="2400" dirty="0">
                    <a:latin typeface="+mj-lt"/>
                  </a:rPr>
                  <a:t> the graph of the function shows a hole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, so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does not follow the overall trend of the graph.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07EBB4-DE6B-4BDD-9B30-4D824E4A7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2" y="4446076"/>
                <a:ext cx="5245865" cy="1569660"/>
              </a:xfrm>
              <a:prstGeom prst="rect">
                <a:avLst/>
              </a:prstGeom>
              <a:blipFill>
                <a:blip r:embed="rId4"/>
                <a:stretch>
                  <a:fillRect l="-1742" t="-3101" b="-77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9A967D2-D57B-4D37-AEC6-9DBBCDA0B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808" y="3919899"/>
            <a:ext cx="4406747" cy="262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99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15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2.6 Continuity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F87E97-6C7B-4CCC-8A21-19914D58C2A2}"/>
                  </a:ext>
                </a:extLst>
              </p:cNvPr>
              <p:cNvSpPr txBox="1"/>
              <p:nvPr/>
            </p:nvSpPr>
            <p:spPr>
              <a:xfrm>
                <a:off x="312361" y="1025283"/>
                <a:ext cx="11556910" cy="4502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Jump discontinuity: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AU" sz="2400" b="1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Essential discontinuity:</a:t>
                </a:r>
                <a:r>
                  <a:rPr lang="en-AU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±∞</m:t>
                    </m:r>
                  </m:oMath>
                </a14:m>
                <a:r>
                  <a:rPr lang="en-AU" sz="2400" dirty="0">
                    <a:latin typeface="+mj-lt"/>
                  </a:rPr>
                  <a:t> (Here a one-sided limit is sufficient)</a:t>
                </a:r>
              </a:p>
              <a:p>
                <a:pPr>
                  <a:spcAft>
                    <a:spcPts val="1800"/>
                  </a:spcAft>
                </a:pPr>
                <a:r>
                  <a:rPr lang="en-AU" sz="2400" b="1" dirty="0">
                    <a:latin typeface="+mj-lt"/>
                  </a:rPr>
                  <a:t>Removable discontinuity: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Example. Given the piecewise function below, is it 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sz="2400" dirty="0">
                    <a:latin typeface="+mj-lt"/>
                  </a:rPr>
                  <a:t>?</a:t>
                </a: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4        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F87E97-6C7B-4CCC-8A21-19914D58C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1025283"/>
                <a:ext cx="11556910" cy="4502515"/>
              </a:xfrm>
              <a:prstGeom prst="rect">
                <a:avLst/>
              </a:prstGeom>
              <a:blipFill>
                <a:blip r:embed="rId2"/>
                <a:stretch>
                  <a:fillRect l="-791" t="-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270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21592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2.6 Continuity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F87E97-6C7B-4CCC-8A21-19914D58C2A2}"/>
                  </a:ext>
                </a:extLst>
              </p:cNvPr>
              <p:cNvSpPr txBox="1"/>
              <p:nvPr/>
            </p:nvSpPr>
            <p:spPr>
              <a:xfrm>
                <a:off x="312361" y="1025283"/>
                <a:ext cx="11556910" cy="328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Example. Given the piecewise function below, is it 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=−3</m:t>
                    </m:r>
                  </m:oMath>
                </a14:m>
                <a:r>
                  <a:rPr lang="en-AU" sz="2400" dirty="0">
                    <a:latin typeface="+mj-lt"/>
                  </a:rPr>
                  <a:t>?</a:t>
                </a:r>
              </a:p>
              <a:p>
                <a:pPr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AU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num>
                                  <m:den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−6           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=−3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AU" sz="2400" dirty="0">
                    <a:latin typeface="+mj-lt"/>
                  </a:rPr>
                  <a:t>Example. Find and classify the discontinuities of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AU" sz="24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AU" sz="240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&lt;−1</m:t>
                              </m:r>
                            </m:e>
                          </m:mr>
                          <m:m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AU" sz="24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AU" sz="240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AU" sz="240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4F87E97-6C7B-4CCC-8A21-19914D58C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1025283"/>
                <a:ext cx="11556910" cy="3281539"/>
              </a:xfrm>
              <a:prstGeom prst="rect">
                <a:avLst/>
              </a:prstGeom>
              <a:blipFill>
                <a:blip r:embed="rId2"/>
                <a:stretch>
                  <a:fillRect l="-791" t="-1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720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87E97-6C7B-4CCC-8A21-19914D58C2A2}"/>
              </a:ext>
            </a:extLst>
          </p:cNvPr>
          <p:cNvSpPr txBox="1"/>
          <p:nvPr/>
        </p:nvSpPr>
        <p:spPr>
          <a:xfrm>
            <a:off x="312361" y="1025283"/>
            <a:ext cx="4654086" cy="461665"/>
          </a:xfrm>
          <a:prstGeom prst="rect">
            <a:avLst/>
          </a:prstGeom>
          <a:noFill/>
          <a:ln>
            <a:solidFill>
              <a:srgbClr val="6C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AU" sz="2400" dirty="0">
                <a:latin typeface="+mj-lt"/>
              </a:rPr>
              <a:t>Linearity, multiplication and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2361" y="1599024"/>
                <a:ext cx="11556910" cy="2839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if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are 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, the following functions are continuous at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: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1. Addition/Subtraction: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)±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2. Multiplication by a constant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: 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3. Multiplication of functions: 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4. Division of functions: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 ,  provided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1599024"/>
                <a:ext cx="11556910" cy="2839303"/>
              </a:xfrm>
              <a:prstGeom prst="rect">
                <a:avLst/>
              </a:prstGeom>
              <a:blipFill>
                <a:blip r:embed="rId2"/>
                <a:stretch>
                  <a:fillRect l="-791" t="-1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28FFC3-51C0-4441-9FB2-2DF05CDBAB75}"/>
              </a:ext>
            </a:extLst>
          </p:cNvPr>
          <p:cNvSpPr txBox="1"/>
          <p:nvPr/>
        </p:nvSpPr>
        <p:spPr>
          <a:xfrm>
            <a:off x="312361" y="4546701"/>
            <a:ext cx="1740557" cy="461665"/>
          </a:xfrm>
          <a:prstGeom prst="rect">
            <a:avLst/>
          </a:prstGeom>
          <a:noFill/>
          <a:ln>
            <a:solidFill>
              <a:srgbClr val="6C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AU" sz="2400" dirty="0">
                <a:latin typeface="+mj-lt"/>
              </a:rPr>
              <a:t>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CE98DA-F5A3-4ED5-99B1-CDE11E4D7746}"/>
                  </a:ext>
                </a:extLst>
              </p:cNvPr>
              <p:cNvSpPr txBox="1"/>
              <p:nvPr/>
            </p:nvSpPr>
            <p:spPr>
              <a:xfrm>
                <a:off x="312361" y="5146275"/>
                <a:ext cx="1155691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if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, then the composition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continuous at 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CE98DA-F5A3-4ED5-99B1-CDE11E4D7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5146275"/>
                <a:ext cx="11556910" cy="830997"/>
              </a:xfrm>
              <a:prstGeom prst="rect">
                <a:avLst/>
              </a:prstGeom>
              <a:blipFill>
                <a:blip r:embed="rId3"/>
                <a:stretch>
                  <a:fillRect l="-791" t="-5839" b="-153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69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87E97-6C7B-4CCC-8A21-19914D58C2A2}"/>
              </a:ext>
            </a:extLst>
          </p:cNvPr>
          <p:cNvSpPr txBox="1"/>
          <p:nvPr/>
        </p:nvSpPr>
        <p:spPr>
          <a:xfrm>
            <a:off x="312361" y="1025283"/>
            <a:ext cx="3981733" cy="461665"/>
          </a:xfrm>
          <a:prstGeom prst="rect">
            <a:avLst/>
          </a:prstGeom>
          <a:noFill/>
          <a:ln>
            <a:solidFill>
              <a:srgbClr val="6C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AU" sz="2400" dirty="0">
                <a:latin typeface="+mj-lt"/>
              </a:rPr>
              <a:t>Standard continuous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2361" y="1599024"/>
                <a:ext cx="11556910" cy="4231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The following function types are continuous in their natural domain, given the definition of continuous functions: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Polynomials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Rational functions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Trigonometric and hyperbolic functions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arcsinh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Exponentials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Logarithms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=4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(3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AU" sz="2400" dirty="0">
                    <a:latin typeface="+mj-lt"/>
                  </a:rPr>
                  <a:t>Radicals,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sz="2400" dirty="0">
                    <a:latin typeface="+mj-lt"/>
                  </a:rPr>
                  <a:t>-</a:t>
                </a:r>
                <a:r>
                  <a:rPr lang="en-AU" sz="2400" dirty="0" err="1">
                    <a:latin typeface="+mj-lt"/>
                  </a:rPr>
                  <a:t>th</a:t>
                </a:r>
                <a:r>
                  <a:rPr lang="en-AU" sz="2400" dirty="0">
                    <a:latin typeface="+mj-lt"/>
                  </a:rPr>
                  <a:t> root functions (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AU" sz="2400" dirty="0">
                    <a:latin typeface="+mj-lt"/>
                  </a:rPr>
                  <a:t>) and powers with positive fractional exponents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 (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AU" sz="2400" dirty="0">
                    <a:latin typeface="+mj-lt"/>
                  </a:rPr>
                  <a:t>) (e.g.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=5</m:t>
                    </m:r>
                    <m:rad>
                      <m:ra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g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type m:val="skw"/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AU" sz="2400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1599024"/>
                <a:ext cx="11556910" cy="4231415"/>
              </a:xfrm>
              <a:prstGeom prst="rect">
                <a:avLst/>
              </a:prstGeom>
              <a:blipFill>
                <a:blip r:embed="rId2"/>
                <a:stretch>
                  <a:fillRect l="-791" t="-1153" r="-2954" b="-80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439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7545" y="918991"/>
                <a:ext cx="11556910" cy="1128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Example. Given the following function, find the values for which it is continuous.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AU" sz="24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45" y="918991"/>
                <a:ext cx="11556910" cy="1128066"/>
              </a:xfrm>
              <a:prstGeom prst="rect">
                <a:avLst/>
              </a:prstGeom>
              <a:blipFill>
                <a:blip r:embed="rId2"/>
                <a:stretch>
                  <a:fillRect l="-791" t="-43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4140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7545" y="918991"/>
                <a:ext cx="11556910" cy="1445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Example. Given the following function, find the values for which it is continuous.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AU" sz="2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num>
                                <m:den>
                                  <m:sSup>
                                    <m:sSupPr>
                                      <m:ctrlP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AU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45" y="918991"/>
                <a:ext cx="11556910" cy="1445396"/>
              </a:xfrm>
              <a:prstGeom prst="rect">
                <a:avLst/>
              </a:prstGeom>
              <a:blipFill>
                <a:blip r:embed="rId2"/>
                <a:stretch>
                  <a:fillRect l="-791" t="-33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257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7545" y="918991"/>
                <a:ext cx="1155691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Example. Find the value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sz="2400" dirty="0">
                    <a:latin typeface="+mj-lt"/>
                  </a:rPr>
                  <a:t> such that the function is continuous in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𝑘𝑥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e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&gt;1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45" y="918991"/>
                <a:ext cx="11556910" cy="1439368"/>
              </a:xfrm>
              <a:prstGeom prst="rect">
                <a:avLst/>
              </a:prstGeom>
              <a:blipFill>
                <a:blip r:embed="rId2"/>
                <a:stretch>
                  <a:fillRect l="-791" t="-3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529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7477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2.7 Theorems on continuity and applications to limits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F87E97-6C7B-4CCC-8A21-19914D58C2A2}"/>
              </a:ext>
            </a:extLst>
          </p:cNvPr>
          <p:cNvSpPr txBox="1"/>
          <p:nvPr/>
        </p:nvSpPr>
        <p:spPr>
          <a:xfrm>
            <a:off x="312361" y="1025283"/>
            <a:ext cx="2762533" cy="461665"/>
          </a:xfrm>
          <a:prstGeom prst="rect">
            <a:avLst/>
          </a:prstGeom>
          <a:noFill/>
          <a:ln>
            <a:solidFill>
              <a:srgbClr val="6C000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AU" sz="2400" dirty="0">
                <a:latin typeface="+mj-lt"/>
              </a:rPr>
              <a:t>Applications to limits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/>
              <p:nvPr/>
            </p:nvSpPr>
            <p:spPr>
              <a:xfrm>
                <a:off x="312361" y="1599024"/>
                <a:ext cx="11556910" cy="4272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(Theorem). Given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, if the following occurs: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1.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AU" sz="2400" dirty="0">
                    <a:latin typeface="+mj-lt"/>
                  </a:rPr>
                  <a:t> and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2.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then: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AU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unc>
                            <m:func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400" b="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Examples: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1. Evaluate: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(3−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endParaRPr lang="en-AU" sz="2400" dirty="0">
                  <a:latin typeface="+mj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latin typeface="+mj-lt"/>
                  </a:rPr>
                  <a:t>2. Evaluate: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→0+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func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A72EECB-B3CA-4583-BAC7-94479B851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61" y="1599024"/>
                <a:ext cx="11556910" cy="4272323"/>
              </a:xfrm>
              <a:prstGeom prst="rect">
                <a:avLst/>
              </a:prstGeom>
              <a:blipFill>
                <a:blip r:embed="rId2"/>
                <a:stretch>
                  <a:fillRect l="-791" t="-1141" b="-12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128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E63619-80A3-4A89-960D-0F91C6BB0AAA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605405-8240-4BCC-AF89-B810229A04DC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556E24-176E-4E21-ACB9-FCE58612884D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AD420-227D-44EE-A46A-95E968DB5793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33D331-C78A-418D-9AFF-6E3587061322}"/>
              </a:ext>
            </a:extLst>
          </p:cNvPr>
          <p:cNvSpPr txBox="1"/>
          <p:nvPr/>
        </p:nvSpPr>
        <p:spPr>
          <a:xfrm>
            <a:off x="66245" y="124632"/>
            <a:ext cx="2220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End of Lecture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720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4369</TotalTime>
  <Words>1621</Words>
  <Application>Microsoft Office PowerPoint</Application>
  <PresentationFormat>Widescreen</PresentationFormat>
  <Paragraphs>190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Office Theme</vt:lpstr>
      <vt:lpstr>Calculus and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MATHEMATICS</dc:title>
  <dc:creator>David</dc:creator>
  <cp:lastModifiedBy>Paul Hernandez Martinez</cp:lastModifiedBy>
  <cp:revision>300</cp:revision>
  <dcterms:created xsi:type="dcterms:W3CDTF">2018-11-23T00:41:45Z</dcterms:created>
  <dcterms:modified xsi:type="dcterms:W3CDTF">2024-08-22T06:19:09Z</dcterms:modified>
</cp:coreProperties>
</file>