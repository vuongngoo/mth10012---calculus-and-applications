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1" r:id="rId3"/>
    <p:sldId id="346" r:id="rId4"/>
    <p:sldId id="348" r:id="rId5"/>
    <p:sldId id="349" r:id="rId6"/>
    <p:sldId id="347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9" r:id="rId26"/>
    <p:sldId id="370" r:id="rId27"/>
    <p:sldId id="371" r:id="rId28"/>
    <p:sldId id="372" r:id="rId29"/>
    <p:sldId id="337" r:id="rId30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0000"/>
    <a:srgbClr val="FF0000"/>
    <a:srgbClr val="E050C5"/>
    <a:srgbClr val="FFF2CC"/>
    <a:srgbClr val="FFEBB3"/>
    <a:srgbClr val="75F8FF"/>
    <a:srgbClr val="A1FFE2"/>
    <a:srgbClr val="9AFFBF"/>
    <a:srgbClr val="00FF99"/>
    <a:srgbClr val="FFC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56" autoAdjust="0"/>
    <p:restoredTop sz="96625" autoAdjust="0"/>
  </p:normalViewPr>
  <p:slideViewPr>
    <p:cSldViewPr snapToGrid="0">
      <p:cViewPr varScale="1">
        <p:scale>
          <a:sx n="107" d="100"/>
          <a:sy n="107" d="100"/>
        </p:scale>
        <p:origin x="120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C00F1-1718-4925-A43A-175331727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6C4DA-E8E9-439A-AFBB-71B1FA85B9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F5198-13BD-4E71-A56E-DADFEA4013F7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77F23-B46D-4600-856F-446828C726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DB845-9091-44C1-BB5A-012CFA80F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43135-408F-4918-93DC-4C4FABB8B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519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9DCAD-DE8F-4CDD-984A-DA4AA5EA435B}" type="datetimeFigureOut">
              <a:rPr lang="en-AU" smtClean="0"/>
              <a:t>24/06/2024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00294-AEF9-4034-8E81-4D594CB10C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9912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E2F-261A-488B-B93C-7BE08E26F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D02DE-1CFE-4515-9E33-21EBC288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0201-588B-4FDC-B1A7-99525CBE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AB16-CEA3-471F-8DD6-F4EB36AF83AE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9FBC-E34E-463B-9581-0DBAF2C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FE7A-01BB-4021-8D2B-4591558B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E577-446B-4DBC-A698-2A6B8DE6A9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5D431-79F7-473F-8B6E-B3955076CD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2" y="6140610"/>
            <a:ext cx="1122769" cy="574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D6FCD-D711-415C-BDDE-8F6DDE0408BE}"/>
              </a:ext>
            </a:extLst>
          </p:cNvPr>
          <p:cNvSpPr txBox="1"/>
          <p:nvPr userDrawn="1"/>
        </p:nvSpPr>
        <p:spPr>
          <a:xfrm>
            <a:off x="11443527" y="6227700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0E72E4E-4CBE-4D12-B6A9-8CB223CF8265}" type="slidenum">
              <a:rPr lang="en-AU" sz="2000" b="1" smtClean="0"/>
              <a:t>‹#›</a:t>
            </a:fld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49658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A2F9-7D55-40B9-B9F6-47CEB7F2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E6F6-872B-4351-82CE-F6BDED67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37C49-E28A-4BC7-B01F-46B91082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BB18F-8376-4052-A4AC-9CEE87CB9347}" type="datetime1">
              <a:rPr lang="en-AU" smtClean="0"/>
              <a:t>24/06/2024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D53B-FA02-45C3-B746-4698E5C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85B1-EDCF-4B2C-AB51-34E6296E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67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CFC9-D1E8-4E90-A313-CE13BA34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CAFC9-3AAB-464E-BF70-473E5706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92BC8-6CF3-4155-A3AC-94AADADA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FC66-FB02-44EA-BC04-6F096A7B7769}" type="datetime1">
              <a:rPr lang="en-AU" smtClean="0"/>
              <a:t>24/06/2024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1418-83C4-4996-B0E2-AABE17A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ECE1-87D5-4300-BACC-4A4EB516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7873-C1A0-4FC9-9508-391EDD08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00C2-E18A-49F2-813D-D0968706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CC943-1A72-4568-B75B-790E77A3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426C6-D368-434D-A76E-A08FE05B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6C89-1765-4641-A2C2-0C255FF54FD1}" type="datetime1">
              <a:rPr lang="en-AU" smtClean="0"/>
              <a:t>24/06/2024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A0D2-A40A-49C1-8234-B7D2E597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590CF-5EB7-4621-AF70-49745B7E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1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EC4E-7129-4DFE-A8BF-D2F4C51E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68A7-B0A8-48B8-9C40-76D73A53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52730-3A93-4774-B024-FF41D7AD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560C-643D-4E43-9F3C-1BAB21E15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C2905-B67E-4FAA-969B-8323B9811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1CAE1-7796-4C1F-9BED-1A8C90AB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3857-A5A5-474E-9E58-C4E578787857}" type="datetime1">
              <a:rPr lang="en-AU" smtClean="0"/>
              <a:t>24/06/2024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73460-6DE1-4496-9257-1CF265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E5745-5DC0-47E7-86B4-926C3EEB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98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E46-5C93-447B-AA2A-FABDBC83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545D-C4CE-4C13-933E-BB80F082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7F37-9D1F-41EA-AAC5-1B6F73404883}" type="datetime1">
              <a:rPr lang="en-AU" smtClean="0"/>
              <a:t>24/06/2024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5F992-DE21-4FF8-9EC3-24F7AAB4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18A99-A541-4FC4-8B0F-E2C0D8E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89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9AF43-84E3-4B89-A20D-5AD12A92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FDF9-A986-4905-9508-247B7F4B200D}" type="datetime1">
              <a:rPr lang="en-AU" smtClean="0"/>
              <a:t>24/06/2024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52FC8-6766-4AF6-AE1B-3E3E40DE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A401-3F10-4AB5-B56C-A44167EC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13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0E79-7D0A-4913-9B9D-D14A1401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F2BE-34D1-4394-A79C-56929CB7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86DDC-E9A4-494D-8DA3-DF6FF0CB2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4CB1-DD02-4E14-8070-D529601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7C78-DADF-4969-B242-4855E9F4C4D5}" type="datetime1">
              <a:rPr lang="en-AU" smtClean="0"/>
              <a:t>24/06/2024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8DCFE-E8EA-4807-BCD4-B175C0E2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BDD04-DF59-476B-A2E1-B91A947D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1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7C8-9040-4BEA-BDE3-ABA1A1C2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E7C11-8D21-434A-A6FD-3E8617092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D949-D4DE-4581-87B3-C03FD4FD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D51E2-1921-40F3-AC40-E142F785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D74D-1239-4392-A26B-B7E440CEC8CB}" type="datetime1">
              <a:rPr lang="en-AU" smtClean="0"/>
              <a:t>24/06/2024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14FAF-0386-4409-8BFE-A413765B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F7AEF-E743-4036-9326-1065E481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80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7700-60C9-4E9C-9852-C7B6C38A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E9C5B-FA98-43FE-90F2-7DDE18ED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FD572-AD9E-4D3B-8F7B-2BB536B5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578B-E5FA-490D-8208-9FBD9A867E75}" type="datetime1">
              <a:rPr lang="en-AU" smtClean="0"/>
              <a:t>24/06/2024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E37F-1B21-4246-BA36-73956FFE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DB52-5DFE-4447-91E2-9787D84D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4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0283C-E2F0-4A6F-9AD9-82CA902DE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5EE6-7D9F-42B2-94B0-02A3E84F5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19CB-43F8-4CC0-903E-C2380308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4018-37EC-481E-B7F2-FDEEBA0F84AF}" type="datetime1">
              <a:rPr lang="en-AU" smtClean="0"/>
              <a:t>24/06/2024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5F0E-7361-4676-B432-1D05B70C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F4EB-1112-445C-96AB-93D5D843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9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2DA63-5604-4C8B-A185-3346EDDF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E662-E32E-4BF0-B3BA-15B99830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8C86-7471-4189-957D-1CEA3FBEE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43812-AA3E-4766-916C-F1E5A438B57F}" type="datetime1">
              <a:rPr lang="en-AU" smtClean="0"/>
              <a:t>24/06/2024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008F-2F27-46E4-A82E-92541B128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096A-7E11-4FA7-B795-CF89E7D09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about:blank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9CBF2271-6786-48D8-8625-48074A2F58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916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029B91-E5FE-43A6-9535-58B2F4EBB5EE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12192000" cy="4591665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92225" y="4850229"/>
            <a:ext cx="9607550" cy="14757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latin typeface="+mj-lt"/>
              </a:rPr>
              <a:t>Week 4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935" y="2486361"/>
            <a:ext cx="11012129" cy="1518035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Calculus and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23654"/>
            <a:ext cx="9144000" cy="562707"/>
          </a:xfrm>
        </p:spPr>
        <p:txBody>
          <a:bodyPr>
            <a:noAutofit/>
          </a:bodyPr>
          <a:lstStyle/>
          <a:p>
            <a:r>
              <a:rPr lang="en-AU" sz="3200" dirty="0">
                <a:latin typeface="+mj-lt"/>
              </a:rPr>
              <a:t>MTH10012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CCAF879-A57E-4938-88B5-1CA526E0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9" y="701528"/>
            <a:ext cx="1927122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9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991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Introduction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C57D0-AC67-44EF-AAC1-EB45706D89C7}"/>
              </a:ext>
            </a:extLst>
          </p:cNvPr>
          <p:cNvSpPr txBox="1"/>
          <p:nvPr/>
        </p:nvSpPr>
        <p:spPr>
          <a:xfrm>
            <a:off x="1232187" y="1463905"/>
            <a:ext cx="10368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Infinity and limits, indefinite forms, sandwich theorem, standard limits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Continuity and applications to limits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C46B-21B4-4C87-946C-3EAD91A29AA1}"/>
              </a:ext>
            </a:extLst>
          </p:cNvPr>
          <p:cNvSpPr txBox="1"/>
          <p:nvPr/>
        </p:nvSpPr>
        <p:spPr>
          <a:xfrm>
            <a:off x="307593" y="1036182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3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F658E-4D46-438A-89D3-59C69A018DE7}"/>
              </a:ext>
            </a:extLst>
          </p:cNvPr>
          <p:cNvSpPr txBox="1"/>
          <p:nvPr/>
        </p:nvSpPr>
        <p:spPr>
          <a:xfrm>
            <a:off x="307593" y="2353463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4</a:t>
            </a:r>
            <a:endParaRPr lang="en-GB" sz="2000" b="1" cap="small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8798BC-1968-4592-A84D-9889D441C7B0}"/>
                  </a:ext>
                </a:extLst>
              </p:cNvPr>
              <p:cNvSpPr txBox="1"/>
              <p:nvPr/>
            </p:nvSpPr>
            <p:spPr>
              <a:xfrm>
                <a:off x="1195978" y="3124298"/>
                <a:ext cx="10097756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400" b="1" dirty="0">
                    <a:latin typeface="+mj-lt"/>
                  </a:rPr>
                  <a:t>Comparing “speeds” of forms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endParaRPr lang="en-AU" sz="2400" b="1" dirty="0">
                  <a:latin typeface="+mj-lt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400" b="1" dirty="0">
                    <a:latin typeface="+mj-lt"/>
                  </a:rPr>
                  <a:t>The substitution technique and further standard limits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8798BC-1968-4592-A84D-9889D441C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978" y="3124298"/>
                <a:ext cx="10097756" cy="1014380"/>
              </a:xfrm>
              <a:prstGeom prst="rect">
                <a:avLst/>
              </a:prstGeom>
              <a:blipFill>
                <a:blip r:embed="rId2"/>
                <a:stretch>
                  <a:fillRect l="-785" b="-132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0D396-44DB-4720-AA20-0FECBBC96907}"/>
              </a:ext>
            </a:extLst>
          </p:cNvPr>
          <p:cNvCxnSpPr>
            <a:stCxn id="13" idx="3"/>
          </p:cNvCxnSpPr>
          <p:nvPr/>
        </p:nvCxnSpPr>
        <p:spPr>
          <a:xfrm>
            <a:off x="1195978" y="2553518"/>
            <a:ext cx="104043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D933F3-BDCD-41B7-8B70-5B047253E6FA}"/>
              </a:ext>
            </a:extLst>
          </p:cNvPr>
          <p:cNvCxnSpPr>
            <a:cxnSpLocks/>
          </p:cNvCxnSpPr>
          <p:nvPr/>
        </p:nvCxnSpPr>
        <p:spPr>
          <a:xfrm flipV="1">
            <a:off x="1195978" y="1211598"/>
            <a:ext cx="10404351" cy="23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815BF5-1815-494B-8C1F-8AB3E9CBAD1F}"/>
              </a:ext>
            </a:extLst>
          </p:cNvPr>
          <p:cNvSpPr txBox="1"/>
          <p:nvPr/>
        </p:nvSpPr>
        <p:spPr>
          <a:xfrm>
            <a:off x="525480" y="2871368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2</a:t>
            </a:r>
            <a:endParaRPr lang="en-GB" sz="1600" b="1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62F77-E487-4256-964F-D159628EC888}"/>
              </a:ext>
            </a:extLst>
          </p:cNvPr>
          <p:cNvSpPr txBox="1"/>
          <p:nvPr/>
        </p:nvSpPr>
        <p:spPr>
          <a:xfrm>
            <a:off x="525480" y="4188144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3</a:t>
            </a:r>
            <a:endParaRPr lang="en-GB" sz="1600" b="1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C70749-9BBC-4C36-9100-A4B3DA0E0FF8}"/>
              </a:ext>
            </a:extLst>
          </p:cNvPr>
          <p:cNvSpPr txBox="1"/>
          <p:nvPr/>
        </p:nvSpPr>
        <p:spPr>
          <a:xfrm>
            <a:off x="1195978" y="4576164"/>
            <a:ext cx="10097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Sequences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Limits of sequences (convergent, divergent and irregular sequences)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Limit laws for sequences and simple indefinite 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Standard limits for sequences</a:t>
            </a:r>
          </a:p>
        </p:txBody>
      </p:sp>
    </p:spTree>
    <p:extLst>
      <p:ext uri="{BB962C8B-B14F-4D97-AF65-F5344CB8AC3E}">
        <p14:creationId xmlns:p14="http://schemas.microsoft.com/office/powerpoint/2010/main" val="35705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6" grpId="0" animBg="1"/>
      <p:bldP spid="17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124632"/>
                <a:ext cx="92447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2.8 The “race to infinity”: comparing “speeds” for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800" b="1" cap="small" dirty="0">
                    <a:solidFill>
                      <a:schemeClr val="bg1"/>
                    </a:solidFill>
                    <a:latin typeface="+mj-lt"/>
                  </a:rPr>
                  <a:t>case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124632"/>
                <a:ext cx="9244775" cy="523220"/>
              </a:xfrm>
              <a:prstGeom prst="rect">
                <a:avLst/>
              </a:prstGeom>
              <a:blipFill>
                <a:blip r:embed="rId2"/>
                <a:stretch>
                  <a:fillRect l="-1385" t="-10465" r="-132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976091"/>
                <a:ext cx="117109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Theorem (Speeds at infinity).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when the limit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AU" sz="2400" dirty="0">
                    <a:latin typeface="+mj-lt"/>
                  </a:rPr>
                  <a:t> is considered, the following functions grow to infinity with different speeds. In order from fastest to slowest: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6091"/>
                <a:ext cx="11710929" cy="830997"/>
              </a:xfrm>
              <a:prstGeom prst="rect">
                <a:avLst/>
              </a:prstGeom>
              <a:blipFill>
                <a:blip r:embed="rId3"/>
                <a:stretch>
                  <a:fillRect l="-780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picture containing screen&#10;&#10;Description automatically generated">
            <a:extLst>
              <a:ext uri="{FF2B5EF4-FFF2-40B4-BE49-F238E27FC236}">
                <a16:creationId xmlns:a16="http://schemas.microsoft.com/office/drawing/2014/main" id="{579AD4A0-FA7C-42A6-903A-2F11AB60E3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740" y="1807087"/>
            <a:ext cx="4356847" cy="435684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208B46-0A4A-4B55-9CDE-7C9AA3159B1C}"/>
                  </a:ext>
                </a:extLst>
              </p:cNvPr>
              <p:cNvSpPr txBox="1"/>
              <p:nvPr/>
            </p:nvSpPr>
            <p:spPr>
              <a:xfrm>
                <a:off x="240535" y="1807088"/>
                <a:ext cx="7191206" cy="3792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, which grows the ‘fastest”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, for a fixed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AU" sz="2400" dirty="0">
                    <a:latin typeface="+mj-lt"/>
                  </a:rPr>
                  <a:t> (exponentials). The larger the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, the faster it grows.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, for a fixed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AU" sz="2400" dirty="0">
                    <a:latin typeface="+mj-lt"/>
                  </a:rPr>
                  <a:t> (polynomials and powers). The larger the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AU" sz="2400" dirty="0">
                    <a:latin typeface="+mj-lt"/>
                  </a:rPr>
                  <a:t>, the faster it grows.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AU" sz="2400" dirty="0">
                    <a:latin typeface="+mj-lt"/>
                  </a:rPr>
                  <a:t>, for a fixed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AU" sz="2400" dirty="0">
                    <a:latin typeface="+mj-lt"/>
                  </a:rPr>
                  <a:t>. In this case the constant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sz="2400" dirty="0">
                    <a:latin typeface="+mj-lt"/>
                  </a:rPr>
                  <a:t> does not play any role in determining speed.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Trigonometric functions and constants, which do not tend to infinity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sz="2400" dirty="0">
                    <a:latin typeface="+mj-lt"/>
                  </a:rPr>
                  <a:t>, except for some at particular values (e.g.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208B46-0A4A-4B55-9CDE-7C9AA315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807088"/>
                <a:ext cx="7191206" cy="3792192"/>
              </a:xfrm>
              <a:prstGeom prst="rect">
                <a:avLst/>
              </a:prstGeom>
              <a:blipFill>
                <a:blip r:embed="rId5"/>
                <a:stretch>
                  <a:fillRect l="-1102" t="-1284" b="-25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08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124632"/>
                <a:ext cx="92447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2.8 The “race to infinity”: comparing “speeds” for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800" b="1" cap="small" dirty="0">
                    <a:solidFill>
                      <a:schemeClr val="bg1"/>
                    </a:solidFill>
                    <a:latin typeface="+mj-lt"/>
                  </a:rPr>
                  <a:t>case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124632"/>
                <a:ext cx="9244775" cy="523220"/>
              </a:xfrm>
              <a:prstGeom prst="rect">
                <a:avLst/>
              </a:prstGeom>
              <a:blipFill>
                <a:blip r:embed="rId2"/>
                <a:stretch>
                  <a:fillRect l="-1385" t="-10465" r="-132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976091"/>
                <a:ext cx="11710929" cy="6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Evaluate the following limit: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 +1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6091"/>
                <a:ext cx="11710929" cy="647357"/>
              </a:xfrm>
              <a:prstGeom prst="rect">
                <a:avLst/>
              </a:prstGeom>
              <a:blipFill>
                <a:blip r:embed="rId3"/>
                <a:stretch>
                  <a:fillRect l="-780" b="-7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E70549-42D2-486B-A568-804C99852BBF}"/>
                  </a:ext>
                </a:extLst>
              </p:cNvPr>
              <p:cNvSpPr txBox="1"/>
              <p:nvPr/>
            </p:nvSpPr>
            <p:spPr>
              <a:xfrm>
                <a:off x="240534" y="3429000"/>
                <a:ext cx="11710929" cy="668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Evaluate the following limit: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AU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E70549-42D2-486B-A568-804C9985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4" y="3429000"/>
                <a:ext cx="11710929" cy="668388"/>
              </a:xfrm>
              <a:prstGeom prst="rect">
                <a:avLst/>
              </a:prstGeom>
              <a:blipFill>
                <a:blip r:embed="rId4"/>
                <a:stretch>
                  <a:fillRect l="-780" b="-82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32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/>
              <p:nvPr/>
            </p:nvSpPr>
            <p:spPr>
              <a:xfrm>
                <a:off x="66245" y="124632"/>
                <a:ext cx="924477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b="1" cap="small" dirty="0">
                    <a:solidFill>
                      <a:schemeClr val="bg1"/>
                    </a:solidFill>
                    <a:latin typeface="+mj-lt"/>
                  </a:rPr>
                  <a:t>2.8 The “race to infinity”: comparing “speeds” for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cap="small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800" b="1" i="1" cap="small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800" b="1" cap="small" dirty="0">
                    <a:solidFill>
                      <a:schemeClr val="bg1"/>
                    </a:solidFill>
                    <a:latin typeface="+mj-lt"/>
                  </a:rPr>
                  <a:t>case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42420B-320B-4AC2-B607-EDEF1BB01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5" y="124632"/>
                <a:ext cx="9244775" cy="523220"/>
              </a:xfrm>
              <a:prstGeom prst="rect">
                <a:avLst/>
              </a:prstGeom>
              <a:blipFill>
                <a:blip r:embed="rId2"/>
                <a:stretch>
                  <a:fillRect l="-1385" t="-10465" r="-132" b="-325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976091"/>
                <a:ext cx="11710929" cy="72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Evaluate the following limit: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976091"/>
                <a:ext cx="11710929" cy="726737"/>
              </a:xfrm>
              <a:prstGeom prst="rect">
                <a:avLst/>
              </a:prstGeom>
              <a:blipFill>
                <a:blip r:embed="rId3"/>
                <a:stretch>
                  <a:fillRect l="-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CA0A7-866E-4545-9F27-F07E47C4FC55}"/>
                  </a:ext>
                </a:extLst>
              </p:cNvPr>
              <p:cNvSpPr txBox="1"/>
              <p:nvPr/>
            </p:nvSpPr>
            <p:spPr>
              <a:xfrm>
                <a:off x="240535" y="3531032"/>
                <a:ext cx="11710929" cy="726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Evaluate the following limit: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2+</m:t>
                            </m:r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CA0A7-866E-4545-9F27-F07E47C4F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3531032"/>
                <a:ext cx="11710929" cy="726737"/>
              </a:xfrm>
              <a:prstGeom prst="rect">
                <a:avLst/>
              </a:prstGeom>
              <a:blipFill>
                <a:blip r:embed="rId4"/>
                <a:stretch>
                  <a:fillRect l="-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52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247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2.9 The substitution technique and further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6" y="953300"/>
                <a:ext cx="11710929" cy="5056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Other important standard limits are given by the following: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,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These standard limits introduce three new indefinite forms: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∙∞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,(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It is possible to manipulate indefinite forms to some degree, and recast some “new” types into well-know examples: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den>
                          </m:f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den>
                          </m:f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∙∞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∙∞</m:t>
                          </m:r>
                        </m:e>
                      </m:d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6" y="953300"/>
                <a:ext cx="11710929" cy="5056897"/>
              </a:xfrm>
              <a:prstGeom prst="rect">
                <a:avLst/>
              </a:prstGeom>
              <a:blipFill>
                <a:blip r:embed="rId2"/>
                <a:stretch>
                  <a:fillRect l="-781" t="-964" r="-1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971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247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2.9 The substitution technique and further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6" y="953300"/>
                <a:ext cx="11710929" cy="4707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(substitution of variable in limits).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and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with the following properties: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1. The limit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exists and is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2. The limit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sz="2400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exists and is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then,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Note: No hypothesis on the continuity of functions is taken here, and only the existence of the two limits for the “internal”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and the “external” function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required.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This theorem is still valid if any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400" dirty="0">
                    <a:latin typeface="+mj-lt"/>
                  </a:rPr>
                  <a:t> are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±∞</m:t>
                    </m:r>
                  </m:oMath>
                </a14:m>
                <a:r>
                  <a:rPr lang="en-GB" sz="2400" dirty="0">
                    <a:latin typeface="+mj-lt"/>
                  </a:rPr>
                  <a:t>. The key is that the limit exists.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6" y="953300"/>
                <a:ext cx="11710929" cy="4707764"/>
              </a:xfrm>
              <a:prstGeom prst="rect">
                <a:avLst/>
              </a:prstGeom>
              <a:blipFill>
                <a:blip r:embed="rId2"/>
                <a:stretch>
                  <a:fillRect l="-781" t="-1035" r="-937" b="-19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108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247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2.9 The substitution technique and further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6" y="953300"/>
                <a:ext cx="11710929" cy="225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,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2400" dirty="0">
                    <a:latin typeface="+mj-lt"/>
                  </a:rPr>
                  <a:t> (Will be proven in Module 4)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 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Verify that: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6" y="953300"/>
                <a:ext cx="11710929" cy="2254848"/>
              </a:xfrm>
              <a:prstGeom prst="rect">
                <a:avLst/>
              </a:prstGeom>
              <a:blipFill>
                <a:blip r:embed="rId2"/>
                <a:stretch>
                  <a:fillRect l="-781" t="-18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56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247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2.9 The substitution technique and further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6" y="953300"/>
                <a:ext cx="11710929" cy="710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dirty="0"/>
                  <a:t>Verify that: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6" y="953300"/>
                <a:ext cx="11710929" cy="710323"/>
              </a:xfrm>
              <a:prstGeom prst="rect">
                <a:avLst/>
              </a:prstGeom>
              <a:blipFill>
                <a:blip r:embed="rId2"/>
                <a:stretch>
                  <a:fillRect l="-781" b="-3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508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247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2.9 The substitution technique and further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6" y="953300"/>
                <a:ext cx="11710929" cy="717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dirty="0"/>
                  <a:t>Verify that: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6" y="953300"/>
                <a:ext cx="11710929" cy="717119"/>
              </a:xfrm>
              <a:prstGeom prst="rect">
                <a:avLst/>
              </a:prstGeom>
              <a:blipFill>
                <a:blip r:embed="rId2"/>
                <a:stretch>
                  <a:fillRect l="-781" b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9F08B5-EE92-420A-8C2A-E584E1CC0BD6}"/>
                  </a:ext>
                </a:extLst>
              </p:cNvPr>
              <p:cNvSpPr txBox="1"/>
              <p:nvPr/>
            </p:nvSpPr>
            <p:spPr>
              <a:xfrm>
                <a:off x="220335" y="3535136"/>
                <a:ext cx="11710929" cy="683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dirty="0"/>
                  <a:t>Verify that: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9F08B5-EE92-420A-8C2A-E584E1CC0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5" y="3535136"/>
                <a:ext cx="11710929" cy="683457"/>
              </a:xfrm>
              <a:prstGeom prst="rect">
                <a:avLst/>
              </a:prstGeom>
              <a:blipFill>
                <a:blip r:embed="rId3"/>
                <a:stretch>
                  <a:fillRect l="-781"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55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0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3.1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461396"/>
                <a:ext cx="11710929" cy="4616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(sequence). A sequence is an ordered set of real elements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GB" sz="2400" dirty="0">
                    <a:latin typeface="+mj-lt"/>
                  </a:rPr>
                  <a:t> The whole sequence is indicated by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, 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is the “general” 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-</a:t>
                </a:r>
                <a:r>
                  <a:rPr lang="en-GB" sz="2400" dirty="0" err="1">
                    <a:latin typeface="+mj-lt"/>
                  </a:rPr>
                  <a:t>th</a:t>
                </a:r>
                <a:r>
                  <a:rPr lang="en-GB" sz="2400" dirty="0">
                    <a:latin typeface="+mj-lt"/>
                  </a:rPr>
                  <a:t> term.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 parenthesis ( ) instead of braces { } is intended to distinguish an ordered set from one without ordering. If the sequence has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 members, the notation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is sometimes referred to as an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-tuple.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A sequence is thus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which associates every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=1, 2,…</m:t>
                    </m:r>
                  </m:oMath>
                </a14:m>
                <a:r>
                  <a:rPr lang="en-GB" sz="2400" dirty="0">
                    <a:latin typeface="+mj-lt"/>
                  </a:rPr>
                  <a:t> to a real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. It is ordered, because terms in the sequence are following each other according to the index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. Note that this order does not mean elements are ordered by size, but by their index.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Note. We assume that every sequence starts with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>
                    <a:latin typeface="+mj-lt"/>
                  </a:rPr>
                  <a:t>, but it is not uncommon to have sequences starting at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, or to have negative indices where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=…,−2,−1,0,1,2,…</m:t>
                    </m:r>
                  </m:oMath>
                </a14:m>
                <a:r>
                  <a:rPr lang="en-GB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461396"/>
                <a:ext cx="11710929" cy="4616648"/>
              </a:xfrm>
              <a:prstGeom prst="rect">
                <a:avLst/>
              </a:prstGeom>
              <a:blipFill>
                <a:blip r:embed="rId2"/>
                <a:stretch>
                  <a:fillRect l="-780" t="-1057" r="-1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9E81988-E079-4E9B-8D7C-7C1C77B20BE7}"/>
              </a:ext>
            </a:extLst>
          </p:cNvPr>
          <p:cNvSpPr txBox="1"/>
          <p:nvPr/>
        </p:nvSpPr>
        <p:spPr>
          <a:xfrm>
            <a:off x="240535" y="955816"/>
            <a:ext cx="1339523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+mj-lt"/>
              </a:rPr>
              <a:t>MODULE 3</a:t>
            </a:r>
            <a:endParaRPr lang="en-GB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212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0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3.1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3753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Examples.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 list {-1,5,15,29,47,…}. Its general term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 list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{1,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GB" sz="2400" dirty="0">
                    <a:latin typeface="+mj-lt"/>
                  </a:rPr>
                  <a:t>. Its general term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3753207"/>
              </a:xfrm>
              <a:prstGeom prst="rect">
                <a:avLst/>
              </a:prstGeom>
              <a:blipFill>
                <a:blip r:embed="rId2"/>
                <a:stretch>
                  <a:fillRect l="-780" t="-1301" b="-9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EC7658D-6AC3-46D3-8527-9986164A3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095" y="950958"/>
            <a:ext cx="3503364" cy="2947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E77936-1C36-40F2-8B5A-4AB225646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503" y="4052853"/>
            <a:ext cx="5199961" cy="196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80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0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3.1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Examples.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 list {-1,1,-1,1,…}. Its general term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 list {0.841,0.909, 0.141, -0.757, -0.959,…}. Its general term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3354765"/>
              </a:xfrm>
              <a:prstGeom prst="rect">
                <a:avLst/>
              </a:prstGeom>
              <a:blipFill>
                <a:blip r:embed="rId2"/>
                <a:stretch>
                  <a:fillRect l="-780" t="-1455" b="-3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F37C8DF-AC9A-4128-BE5A-1E2B7B19B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570" y="2026173"/>
            <a:ext cx="5155894" cy="1878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C4160D-A724-4AFC-AE79-BC5DBDD3B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604" y="4376891"/>
            <a:ext cx="5133860" cy="187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77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0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3.1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3378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Note. Sequences can be defined by cases, for example: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even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is</m:t>
                                </m:r>
                                <m: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odd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There are also sequences for which a closed expression is simply not possible. For example, the sequence of decimal digits of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=3.141596359…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3378361"/>
              </a:xfrm>
              <a:prstGeom prst="rect">
                <a:avLst/>
              </a:prstGeom>
              <a:blipFill>
                <a:blip r:embed="rId2"/>
                <a:stretch>
                  <a:fillRect l="-780" t="-1444" b="-3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picture containing group, water, many, standing&#10;&#10;Description automatically generated">
            <a:extLst>
              <a:ext uri="{FF2B5EF4-FFF2-40B4-BE49-F238E27FC236}">
                <a16:creationId xmlns:a16="http://schemas.microsoft.com/office/drawing/2014/main" id="{A53ABAE3-618D-417C-B67C-25F93FFB40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565" y="968188"/>
            <a:ext cx="2460812" cy="24608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picture containing lot, people, group, water&#10;&#10;Description automatically generated">
            <a:extLst>
              <a:ext uri="{FF2B5EF4-FFF2-40B4-BE49-F238E27FC236}">
                <a16:creationId xmlns:a16="http://schemas.microsoft.com/office/drawing/2014/main" id="{61F2AEE8-F536-4272-95BF-1A21842A07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565" y="4083574"/>
            <a:ext cx="2460812" cy="2460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9821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2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4666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(limit of a sequence).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we say that a sequence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dirty="0">
                    <a:latin typeface="+mj-lt"/>
                  </a:rPr>
                  <a:t> has the limit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if we can make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arbitrarily close to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by taking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 to be sufficiently large and positive. 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(We are concerned with the behaviour of the sequence for values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 larger than a given number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>
                    <a:latin typeface="+mj-lt"/>
                  </a:rPr>
                  <a:t>. How large should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2400" dirty="0">
                    <a:latin typeface="+mj-lt"/>
                  </a:rPr>
                  <a:t> be for the sequence to be made “arbitrarily” close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depends on the character of the sequence).</a:t>
                </a: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 algn="ctr">
                  <a:spcAft>
                    <a:spcPts val="1200"/>
                  </a:spcAft>
                </a:pPr>
                <a:r>
                  <a:rPr lang="en-GB" sz="2400" dirty="0">
                    <a:hlinkClick r:id="rId2"/>
                  </a:rPr>
                  <a:t>https://www.geogebra.org/m/fmpsrfhh</a:t>
                </a:r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4666534"/>
              </a:xfrm>
              <a:prstGeom prst="rect">
                <a:avLst/>
              </a:prstGeom>
              <a:blipFill>
                <a:blip r:embed="rId3"/>
                <a:stretch>
                  <a:fillRect l="-780" t="-1046" b="-20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2533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327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Limits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4520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Definition (convergent, divergent and irregular sequences). Given a sequence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dirty="0">
                    <a:latin typeface="+mj-lt"/>
                  </a:rPr>
                  <a:t>, the three following outcomes can occur: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1. We say that the sequence </a:t>
                </a:r>
                <a:r>
                  <a:rPr lang="en-GB" sz="2400" u="sng" dirty="0">
                    <a:latin typeface="+mj-lt"/>
                  </a:rPr>
                  <a:t>converges</a:t>
                </a:r>
                <a:r>
                  <a:rPr lang="en-GB" sz="2400" dirty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latin typeface="+mj-lt"/>
                  </a:rPr>
                  <a:t>(i.e. the limit exists and is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)</a:t>
                </a: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2. We say that the sequence diverges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(−</m:t>
                    </m:r>
                  </m:oMath>
                </a14:m>
                <a:r>
                  <a:rPr lang="en-GB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)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(i.e. the finite limit does not exist but the sequence diverges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).</a:t>
                </a:r>
              </a:p>
              <a:p>
                <a:pPr>
                  <a:spcAft>
                    <a:spcPts val="12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3. We say that the sequence is irregular or indeterminate 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 does not exist and is also not equal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4520084"/>
              </a:xfrm>
              <a:prstGeom prst="rect">
                <a:avLst/>
              </a:prstGeom>
              <a:blipFill>
                <a:blip r:embed="rId2"/>
                <a:stretch>
                  <a:fillRect l="-780" t="-1080" r="-260" b="-21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486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2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1139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Classify the sequences described by the following general terms: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(a)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GB" sz="2400" dirty="0">
                    <a:latin typeface="+mj-lt"/>
                  </a:rPr>
                  <a:t>      (b)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2400" dirty="0">
                    <a:latin typeface="+mj-lt"/>
                  </a:rPr>
                  <a:t>    (c)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     (d)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GB" sz="2400" dirty="0"/>
                  <a:t>           </a:t>
                </a:r>
                <a:r>
                  <a:rPr lang="en-GB" sz="2400" dirty="0">
                    <a:latin typeface="+mj-lt"/>
                  </a:rPr>
                  <a:t>(e)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1139094"/>
              </a:xfrm>
              <a:prstGeom prst="rect">
                <a:avLst/>
              </a:prstGeom>
              <a:blipFill>
                <a:blip r:embed="rId2"/>
                <a:stretch>
                  <a:fillRect l="-780" t="-4278" b="-4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856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2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4585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Definition (monotonic sequences). A sequence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sz="2400" dirty="0">
                    <a:latin typeface="+mj-lt"/>
                  </a:rPr>
                  <a:t> is said to be </a:t>
                </a:r>
                <a:r>
                  <a:rPr lang="en-AU" sz="2400" u="sng" dirty="0">
                    <a:latin typeface="+mj-lt"/>
                  </a:rPr>
                  <a:t>increasing</a:t>
                </a:r>
                <a:r>
                  <a:rPr lang="en-AU" sz="2400" dirty="0">
                    <a:latin typeface="+mj-lt"/>
                  </a:rPr>
                  <a:t> if,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AU" sz="2400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. If the inequality is strict (i.e. &lt;) in the last expression, then the sequence is said to be </a:t>
                </a:r>
                <a:r>
                  <a:rPr lang="en-GB" sz="2400" u="sng" dirty="0">
                    <a:latin typeface="+mj-lt"/>
                  </a:rPr>
                  <a:t>strictly increasing</a:t>
                </a:r>
                <a:r>
                  <a:rPr lang="en-GB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Conversely,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sz="2400" dirty="0">
                    <a:latin typeface="+mj-lt"/>
                  </a:rPr>
                  <a:t> is said to be </a:t>
                </a:r>
                <a:r>
                  <a:rPr lang="en-AU" sz="2400" u="sng" dirty="0">
                    <a:latin typeface="+mj-lt"/>
                  </a:rPr>
                  <a:t>decreasing</a:t>
                </a:r>
                <a:r>
                  <a:rPr lang="en-AU" sz="2400" dirty="0">
                    <a:latin typeface="+mj-lt"/>
                  </a:rPr>
                  <a:t> if,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AU" sz="2400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. If the inequality is strict (i.e. &gt;) in the last expression, then the sequence is said to be </a:t>
                </a:r>
                <a:r>
                  <a:rPr lang="en-GB" sz="2400" u="sng" dirty="0">
                    <a:latin typeface="+mj-lt"/>
                  </a:rPr>
                  <a:t>strictly decreasing</a:t>
                </a:r>
                <a:r>
                  <a:rPr lang="en-GB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GB" sz="2400" dirty="0">
                    <a:latin typeface="+mj-lt"/>
                  </a:rPr>
                  <a:t>Note that </a:t>
                </a:r>
                <a:r>
                  <a:rPr lang="en-AU" sz="2400" dirty="0">
                    <a:latin typeface="+mj-lt"/>
                  </a:rPr>
                  <a:t>for increasing sequences</a:t>
                </a:r>
                <a:r>
                  <a:rPr lang="en-AU" sz="2400">
                    <a:latin typeface="+mj-lt"/>
                  </a:rPr>
                  <a:t>,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AU" sz="2400" dirty="0">
                    <a:latin typeface="+mj-lt"/>
                  </a:rPr>
                  <a:t> we have that:</a:t>
                </a: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4585486"/>
              </a:xfrm>
              <a:prstGeom prst="rect">
                <a:avLst/>
              </a:prstGeom>
              <a:blipFill>
                <a:blip r:embed="rId2"/>
                <a:stretch>
                  <a:fillRect l="-780" t="-10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24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2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1139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State if the following sequences described by their general terms as increasing or decreasing: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(a)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GB" sz="2400" dirty="0">
                    <a:latin typeface="+mj-lt"/>
                  </a:rPr>
                  <a:t>      (b)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2400" dirty="0">
                    <a:latin typeface="+mj-lt"/>
                  </a:rPr>
                  <a:t>    (c)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     (d)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GB" sz="2400" dirty="0"/>
                  <a:t>           </a:t>
                </a:r>
                <a:r>
                  <a:rPr lang="en-GB" sz="2400" dirty="0">
                    <a:latin typeface="+mj-lt"/>
                  </a:rPr>
                  <a:t>(e)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1139094"/>
              </a:xfrm>
              <a:prstGeom prst="rect">
                <a:avLst/>
              </a:prstGeom>
              <a:blipFill>
                <a:blip r:embed="rId2"/>
                <a:stretch>
                  <a:fillRect l="-780" t="-4278" b="-4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215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2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A more compact, practical way to establish if a sequence is increasing or decreasing can be achieved by evaluating the following</a:t>
                </a:r>
                <a:r>
                  <a:rPr lang="en-GB" sz="2400" dirty="0">
                    <a:latin typeface="+mj-lt"/>
                  </a:rPr>
                  <a:t>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for a generic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>
                    <a:latin typeface="+mj-lt"/>
                  </a:rPr>
                  <a:t>. If there exists a number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sz="2400" dirty="0"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AU" sz="2400" dirty="0">
                    <a:latin typeface="+mj-lt"/>
                  </a:rPr>
                  <a:t> when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sz="2400" dirty="0">
                    <a:latin typeface="+mj-lt"/>
                  </a:rPr>
                  <a:t>, then the sequence is eventually increasing.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For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−6)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2769989"/>
              </a:xfrm>
              <a:prstGeom prst="rect">
                <a:avLst/>
              </a:prstGeom>
              <a:blipFill>
                <a:blip r:embed="rId2"/>
                <a:stretch>
                  <a:fillRect l="-780" t="-1762" b="-41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517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200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3.2 Limit of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2410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(limit of eventually increasing sequences). If a sequence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sz="2400" dirty="0">
                    <a:latin typeface="+mj-lt"/>
                  </a:rPr>
                  <a:t> is eventually increasing, it is either convergent or divergent. This means that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exists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infinite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Example. Find the value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sz="2400" dirty="0">
                    <a:latin typeface="+mj-lt"/>
                  </a:rPr>
                  <a:t> at which the eventually increasing sequence described by the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−4</m:t>
                    </m:r>
                    <m:rad>
                      <m:radPr>
                        <m:degHide m:val="on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AU" sz="2400" dirty="0">
                    <a:latin typeface="+mj-lt"/>
                  </a:rPr>
                  <a:t> starts to increase.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2410147"/>
              </a:xfrm>
              <a:prstGeom prst="rect">
                <a:avLst/>
              </a:prstGeom>
              <a:blipFill>
                <a:blip r:embed="rId2"/>
                <a:stretch>
                  <a:fillRect l="-780" t="-2025" b="-30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480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967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3.3 Limits laws for sequences and simple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4408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(Limit of functions and sequences). Let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be a real function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 be a sequence of real numbers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.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if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then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This result allow us to reformulate theorems for limits of functions for the case of sequences. This is essential to determine whether a sequence converges or diverges, especially when indeterminate forms appear.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4408643"/>
              </a:xfrm>
              <a:prstGeom prst="rect">
                <a:avLst/>
              </a:prstGeom>
              <a:blipFill>
                <a:blip r:embed="rId2"/>
                <a:stretch>
                  <a:fillRect l="-780" t="-1107" b="-2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338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967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3.3 Limits laws for sequences and simple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4430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For two generic sequences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supposing that 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 following limit laws apply: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1. Addition/subtraction of limits: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sSub>
                              <m:sSub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func>
                          <m:func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2. Multiplication by a constant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3. Multiplication of limits: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  <m: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unc>
                          <m:func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4. Division of limits: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AU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AU" sz="2400">
                                        <a:latin typeface="Cambria Math" panose="02040503050406030204" pitchFamily="18" charset="0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AU" sz="2400">
                                        <a:latin typeface="Cambria Math" panose="02040503050406030204" pitchFamily="18" charset="0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→∞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A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func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,   provided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4430380"/>
              </a:xfrm>
              <a:prstGeom prst="rect">
                <a:avLst/>
              </a:prstGeom>
              <a:blipFill>
                <a:blip r:embed="rId2"/>
                <a:stretch>
                  <a:fillRect l="-780" t="-11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509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967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3.3 Limits laws for sequences and simple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3336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Examples. Evaluate the following limits: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rad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3336426"/>
              </a:xfrm>
              <a:prstGeom prst="rect">
                <a:avLst/>
              </a:prstGeom>
              <a:blipFill>
                <a:blip r:embed="rId2"/>
                <a:stretch>
                  <a:fillRect l="-780" t="-1463" b="-27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000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967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3.3 Limits laws for sequences and simple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3164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Examples. Evaluate the following limits: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3.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AU" sz="240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ad>
                          <m:radPr>
                            <m:degHide m:val="on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4.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rad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3164456"/>
              </a:xfrm>
              <a:prstGeom prst="rect">
                <a:avLst/>
              </a:prstGeom>
              <a:blipFill>
                <a:blip r:embed="rId2"/>
                <a:stretch>
                  <a:fillRect l="-780" t="-1541" b="-23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37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9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3.4 Standard limits and “speeds” for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3967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 considerations on “speeds” of functions can also be adapted for sequences.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Theorem (Standard limits for sequences).</a:t>
                </a: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f>
                              <m:f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sup>
                        </m:sSup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3967561"/>
              </a:xfrm>
              <a:prstGeom prst="rect">
                <a:avLst/>
              </a:prstGeom>
              <a:blipFill>
                <a:blip r:embed="rId2"/>
                <a:stretch>
                  <a:fillRect l="-780" t="-12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442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9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3.4 Standard limits and “speeds” for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541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3.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>
                              <m:f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sup>
                        </m:sSup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4.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5.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5410199"/>
              </a:xfrm>
              <a:prstGeom prst="rect">
                <a:avLst/>
              </a:prstGeom>
              <a:blipFill>
                <a:blip r:embed="rId2"/>
                <a:stretch>
                  <a:fillRect l="-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4682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92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3.4 Standard limits and “speeds” for sequences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40535" y="1022126"/>
                <a:ext cx="11710929" cy="5267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6.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AU" sz="24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AU" sz="2400" dirty="0">
                    <a:latin typeface="+mj-lt"/>
                  </a:rPr>
                  <a:t>, any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7.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AU" sz="2400" dirty="0">
                    <a:latin typeface="+mj-lt"/>
                  </a:rPr>
                  <a:t>, for any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&gt;1,</m:t>
                    </m:r>
                  </m:oMath>
                </a14:m>
                <a:r>
                  <a:rPr lang="en-AU" sz="2400" dirty="0">
                    <a:latin typeface="+mj-lt"/>
                  </a:rPr>
                  <a:t> any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AU" sz="2400" dirty="0"/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AU" sz="2400" dirty="0">
                    <a:latin typeface="+mj-lt"/>
                  </a:rPr>
                  <a:t>8.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200"/>
                  </a:spcAft>
                </a:pPr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22126"/>
                <a:ext cx="11710929" cy="5267083"/>
              </a:xfrm>
              <a:prstGeom prst="rect">
                <a:avLst/>
              </a:prstGeom>
              <a:blipFill>
                <a:blip r:embed="rId2"/>
                <a:stretch>
                  <a:fillRect l="-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334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E63619-80A3-4A89-960D-0F91C6BB0AAA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605405-8240-4BCC-AF89-B810229A04DC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556E24-176E-4E21-ACB9-FCE58612884D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0AD420-227D-44EE-A46A-95E968DB5793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33D331-C78A-418D-9AFF-6E3587061322}"/>
              </a:ext>
            </a:extLst>
          </p:cNvPr>
          <p:cNvSpPr txBox="1"/>
          <p:nvPr/>
        </p:nvSpPr>
        <p:spPr>
          <a:xfrm>
            <a:off x="66245" y="124632"/>
            <a:ext cx="2220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End of Lecture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720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5071</TotalTime>
  <Words>1871</Words>
  <Application>Microsoft Office PowerPoint</Application>
  <PresentationFormat>Widescreen</PresentationFormat>
  <Paragraphs>173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Times New Roman</vt:lpstr>
      <vt:lpstr>Office Theme</vt:lpstr>
      <vt:lpstr>Calculus and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MATHEMATICS</dc:title>
  <dc:creator>David</dc:creator>
  <cp:lastModifiedBy>Paul Hernandez Martinez</cp:lastModifiedBy>
  <cp:revision>343</cp:revision>
  <dcterms:created xsi:type="dcterms:W3CDTF">2018-11-23T00:41:45Z</dcterms:created>
  <dcterms:modified xsi:type="dcterms:W3CDTF">2024-06-24T07:37:53Z</dcterms:modified>
</cp:coreProperties>
</file>