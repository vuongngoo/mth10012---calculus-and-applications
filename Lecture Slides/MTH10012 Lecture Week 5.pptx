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handoutMasterIdLst>
    <p:handoutMasterId r:id="rId24"/>
  </p:handoutMasterIdLst>
  <p:sldIdLst>
    <p:sldId id="256" r:id="rId2"/>
    <p:sldId id="261" r:id="rId3"/>
    <p:sldId id="346" r:id="rId4"/>
    <p:sldId id="348" r:id="rId5"/>
    <p:sldId id="349" r:id="rId6"/>
    <p:sldId id="350" r:id="rId7"/>
    <p:sldId id="351" r:id="rId8"/>
    <p:sldId id="352" r:id="rId9"/>
    <p:sldId id="354" r:id="rId10"/>
    <p:sldId id="353" r:id="rId11"/>
    <p:sldId id="355" r:id="rId12"/>
    <p:sldId id="356" r:id="rId13"/>
    <p:sldId id="357" r:id="rId14"/>
    <p:sldId id="358" r:id="rId15"/>
    <p:sldId id="359" r:id="rId16"/>
    <p:sldId id="360" r:id="rId17"/>
    <p:sldId id="361" r:id="rId18"/>
    <p:sldId id="362" r:id="rId19"/>
    <p:sldId id="363" r:id="rId20"/>
    <p:sldId id="364" r:id="rId21"/>
    <p:sldId id="337" r:id="rId22"/>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0000"/>
    <a:srgbClr val="FF0000"/>
    <a:srgbClr val="E050C5"/>
    <a:srgbClr val="FFF2CC"/>
    <a:srgbClr val="FFEBB3"/>
    <a:srgbClr val="75F8FF"/>
    <a:srgbClr val="A1FFE2"/>
    <a:srgbClr val="9AFFBF"/>
    <a:srgbClr val="00FF99"/>
    <a:srgbClr val="FFC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E399E5-3169-4E07-9E1C-2B9186119723}" v="5" dt="2025-03-31T23:34:09.479"/>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91" autoAdjust="0"/>
    <p:restoredTop sz="96625" autoAdjust="0"/>
  </p:normalViewPr>
  <p:slideViewPr>
    <p:cSldViewPr snapToGrid="0">
      <p:cViewPr varScale="1">
        <p:scale>
          <a:sx n="78" d="100"/>
          <a:sy n="78" d="100"/>
        </p:scale>
        <p:origin x="308" y="4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Richards" userId="8a90462c-7eae-4dfc-8681-e46f9bdc0644" providerId="ADAL" clId="{E1E399E5-3169-4E07-9E1C-2B9186119723}"/>
    <pc:docChg chg="custSel modSld">
      <pc:chgData name="David Richards" userId="8a90462c-7eae-4dfc-8681-e46f9bdc0644" providerId="ADAL" clId="{E1E399E5-3169-4E07-9E1C-2B9186119723}" dt="2025-04-01T00:15:38.229" v="18" actId="20577"/>
      <pc:docMkLst>
        <pc:docMk/>
      </pc:docMkLst>
      <pc:sldChg chg="delSp modSp mod">
        <pc:chgData name="David Richards" userId="8a90462c-7eae-4dfc-8681-e46f9bdc0644" providerId="ADAL" clId="{E1E399E5-3169-4E07-9E1C-2B9186119723}" dt="2025-03-31T23:33:41.637" v="9"/>
        <pc:sldMkLst>
          <pc:docMk/>
          <pc:sldMk cId="357059836" sldId="261"/>
        </pc:sldMkLst>
        <pc:spChg chg="del">
          <ac:chgData name="David Richards" userId="8a90462c-7eae-4dfc-8681-e46f9bdc0644" providerId="ADAL" clId="{E1E399E5-3169-4E07-9E1C-2B9186119723}" dt="2025-03-31T23:33:24.050" v="2" actId="478"/>
          <ac:spMkLst>
            <pc:docMk/>
            <pc:sldMk cId="357059836" sldId="261"/>
            <ac:spMk id="2" creationId="{90BE9578-B3D0-88E1-0776-47218E1B411A}"/>
          </ac:spMkLst>
        </pc:spChg>
        <pc:spChg chg="del mod">
          <ac:chgData name="David Richards" userId="8a90462c-7eae-4dfc-8681-e46f9bdc0644" providerId="ADAL" clId="{E1E399E5-3169-4E07-9E1C-2B9186119723}" dt="2025-03-31T23:33:41.637" v="9"/>
          <ac:spMkLst>
            <pc:docMk/>
            <pc:sldMk cId="357059836" sldId="261"/>
            <ac:spMk id="4" creationId="{07515458-EE35-9C90-D004-F1039F1383B1}"/>
          </ac:spMkLst>
        </pc:spChg>
        <pc:spChg chg="del">
          <ac:chgData name="David Richards" userId="8a90462c-7eae-4dfc-8681-e46f9bdc0644" providerId="ADAL" clId="{E1E399E5-3169-4E07-9E1C-2B9186119723}" dt="2025-03-31T23:33:32.217" v="3" actId="478"/>
          <ac:spMkLst>
            <pc:docMk/>
            <pc:sldMk cId="357059836" sldId="261"/>
            <ac:spMk id="10" creationId="{4D2C1F62-40A4-D61B-7F20-B2F7E9B9C96E}"/>
          </ac:spMkLst>
        </pc:spChg>
      </pc:sldChg>
      <pc:sldChg chg="modSp">
        <pc:chgData name="David Richards" userId="8a90462c-7eae-4dfc-8681-e46f9bdc0644" providerId="ADAL" clId="{E1E399E5-3169-4E07-9E1C-2B9186119723}" dt="2025-03-31T23:34:09.478" v="14" actId="114"/>
        <pc:sldMkLst>
          <pc:docMk/>
          <pc:sldMk cId="3068087554" sldId="346"/>
        </pc:sldMkLst>
        <pc:spChg chg="mod">
          <ac:chgData name="David Richards" userId="8a90462c-7eae-4dfc-8681-e46f9bdc0644" providerId="ADAL" clId="{E1E399E5-3169-4E07-9E1C-2B9186119723}" dt="2025-03-31T23:34:09.478" v="14" actId="114"/>
          <ac:spMkLst>
            <pc:docMk/>
            <pc:sldMk cId="3068087554" sldId="346"/>
            <ac:spMk id="13" creationId="{7FBFD2B1-6AB7-4530-9079-8B059D046CA7}"/>
          </ac:spMkLst>
        </pc:spChg>
      </pc:sldChg>
      <pc:sldChg chg="modSp">
        <pc:chgData name="David Richards" userId="8a90462c-7eae-4dfc-8681-e46f9bdc0644" providerId="ADAL" clId="{E1E399E5-3169-4E07-9E1C-2B9186119723}" dt="2025-04-01T00:03:33.885" v="16" actId="20577"/>
        <pc:sldMkLst>
          <pc:docMk/>
          <pc:sldMk cId="1044279898" sldId="351"/>
        </pc:sldMkLst>
        <pc:spChg chg="mod">
          <ac:chgData name="David Richards" userId="8a90462c-7eae-4dfc-8681-e46f9bdc0644" providerId="ADAL" clId="{E1E399E5-3169-4E07-9E1C-2B9186119723}" dt="2025-04-01T00:03:33.885" v="16" actId="20577"/>
          <ac:spMkLst>
            <pc:docMk/>
            <pc:sldMk cId="1044279898" sldId="351"/>
            <ac:spMk id="3" creationId="{C585597E-7235-44B2-927C-87BAFA271873}"/>
          </ac:spMkLst>
        </pc:spChg>
      </pc:sldChg>
      <pc:sldChg chg="modSp">
        <pc:chgData name="David Richards" userId="8a90462c-7eae-4dfc-8681-e46f9bdc0644" providerId="ADAL" clId="{E1E399E5-3169-4E07-9E1C-2B9186119723}" dt="2025-04-01T00:15:38.229" v="18" actId="20577"/>
        <pc:sldMkLst>
          <pc:docMk/>
          <pc:sldMk cId="1988485126" sldId="354"/>
        </pc:sldMkLst>
        <pc:spChg chg="mod">
          <ac:chgData name="David Richards" userId="8a90462c-7eae-4dfc-8681-e46f9bdc0644" providerId="ADAL" clId="{E1E399E5-3169-4E07-9E1C-2B9186119723}" dt="2025-04-01T00:15:38.229" v="18" actId="20577"/>
          <ac:spMkLst>
            <pc:docMk/>
            <pc:sldMk cId="1988485126" sldId="354"/>
            <ac:spMk id="3" creationId="{C585597E-7235-44B2-927C-87BAFA27187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C00F1-1718-4925-A43A-175331727A83}"/>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46C4DA-E8E9-439A-AFBB-71B1FA85B9C5}"/>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95CF5198-13BD-4E71-A56E-DADFEA4013F7}" type="datetimeFigureOut">
              <a:rPr lang="en-US" smtClean="0"/>
              <a:t>4/1/2025</a:t>
            </a:fld>
            <a:endParaRPr lang="en-US"/>
          </a:p>
        </p:txBody>
      </p:sp>
      <p:sp>
        <p:nvSpPr>
          <p:cNvPr id="4" name="Footer Placeholder 3">
            <a:extLst>
              <a:ext uri="{FF2B5EF4-FFF2-40B4-BE49-F238E27FC236}">
                <a16:creationId xmlns:a16="http://schemas.microsoft.com/office/drawing/2014/main" id="{16877F23-B46D-4600-856F-446828C726E1}"/>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DDB845-9091-44C1-BB5A-012CFA80FFB2}"/>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BBB43135-408F-4918-93DC-4C4FABB8BA38}" type="slidenum">
              <a:rPr lang="en-US" smtClean="0"/>
              <a:t>‹#›</a:t>
            </a:fld>
            <a:endParaRPr lang="en-US"/>
          </a:p>
        </p:txBody>
      </p:sp>
    </p:spTree>
    <p:extLst>
      <p:ext uri="{BB962C8B-B14F-4D97-AF65-F5344CB8AC3E}">
        <p14:creationId xmlns:p14="http://schemas.microsoft.com/office/powerpoint/2010/main" val="349570519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A0D9DCAD-DE8F-4CDD-984A-DA4AA5EA435B}" type="datetimeFigureOut">
              <a:rPr lang="en-AU" smtClean="0"/>
              <a:t>1/04/2025</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C1C00294-AEF9-4034-8E81-4D594CB10C91}" type="slidenum">
              <a:rPr lang="en-AU" smtClean="0"/>
              <a:t>‹#›</a:t>
            </a:fld>
            <a:endParaRPr lang="en-AU"/>
          </a:p>
        </p:txBody>
      </p:sp>
    </p:spTree>
    <p:extLst>
      <p:ext uri="{BB962C8B-B14F-4D97-AF65-F5344CB8AC3E}">
        <p14:creationId xmlns:p14="http://schemas.microsoft.com/office/powerpoint/2010/main" val="1811991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BE2F-261A-488B-B93C-7BE08E26F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1D02DE-1CFE-4515-9E33-21EBC288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BA0201-588B-4FDC-B1A7-99525CBEE325}"/>
              </a:ext>
            </a:extLst>
          </p:cNvPr>
          <p:cNvSpPr>
            <a:spLocks noGrp="1"/>
          </p:cNvSpPr>
          <p:nvPr>
            <p:ph type="dt" sz="half" idx="10"/>
          </p:nvPr>
        </p:nvSpPr>
        <p:spPr/>
        <p:txBody>
          <a:bodyPr/>
          <a:lstStyle/>
          <a:p>
            <a:fld id="{6FF8AB16-CEA3-471F-8DD6-F4EB36AF83AE}" type="datetimeFigureOut">
              <a:rPr lang="en-US" smtClean="0"/>
              <a:t>4/1/2025</a:t>
            </a:fld>
            <a:endParaRPr lang="en-US"/>
          </a:p>
        </p:txBody>
      </p:sp>
      <p:sp>
        <p:nvSpPr>
          <p:cNvPr id="5" name="Footer Placeholder 4">
            <a:extLst>
              <a:ext uri="{FF2B5EF4-FFF2-40B4-BE49-F238E27FC236}">
                <a16:creationId xmlns:a16="http://schemas.microsoft.com/office/drawing/2014/main" id="{FD479FBC-E34E-463B-9581-0DBAF2C9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8FE7A-01BB-4021-8D2B-4591558BF158}"/>
              </a:ext>
            </a:extLst>
          </p:cNvPr>
          <p:cNvSpPr>
            <a:spLocks noGrp="1"/>
          </p:cNvSpPr>
          <p:nvPr>
            <p:ph type="sldNum" sz="quarter" idx="12"/>
          </p:nvPr>
        </p:nvSpPr>
        <p:spPr/>
        <p:txBody>
          <a:bodyPr/>
          <a:lstStyle/>
          <a:p>
            <a:fld id="{7420E577-446B-4DBC-A698-2A6B8DE6A948}" type="slidenum">
              <a:rPr lang="en-US" smtClean="0"/>
              <a:t>‹#›</a:t>
            </a:fld>
            <a:endParaRPr lang="en-US"/>
          </a:p>
        </p:txBody>
      </p:sp>
      <p:pic>
        <p:nvPicPr>
          <p:cNvPr id="7" name="Picture 6">
            <a:extLst>
              <a:ext uri="{FF2B5EF4-FFF2-40B4-BE49-F238E27FC236}">
                <a16:creationId xmlns:a16="http://schemas.microsoft.com/office/drawing/2014/main" id="{F9F5D431-79F7-473F-8B6E-B3955076C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2" y="6140610"/>
            <a:ext cx="1122769" cy="574290"/>
          </a:xfrm>
          <a:prstGeom prst="rect">
            <a:avLst/>
          </a:prstGeom>
        </p:spPr>
      </p:pic>
      <p:sp>
        <p:nvSpPr>
          <p:cNvPr id="8" name="TextBox 7">
            <a:extLst>
              <a:ext uri="{FF2B5EF4-FFF2-40B4-BE49-F238E27FC236}">
                <a16:creationId xmlns:a16="http://schemas.microsoft.com/office/drawing/2014/main" id="{C85D6FCD-D711-415C-BDDE-8F6DDE0408BE}"/>
              </a:ext>
            </a:extLst>
          </p:cNvPr>
          <p:cNvSpPr txBox="1"/>
          <p:nvPr userDrawn="1"/>
        </p:nvSpPr>
        <p:spPr>
          <a:xfrm>
            <a:off x="11443527" y="6227700"/>
            <a:ext cx="486030" cy="400110"/>
          </a:xfrm>
          <a:prstGeom prst="rect">
            <a:avLst/>
          </a:prstGeom>
          <a:noFill/>
        </p:spPr>
        <p:txBody>
          <a:bodyPr wrap="none" rtlCol="0">
            <a:spAutoFit/>
          </a:bodyPr>
          <a:lstStyle/>
          <a:p>
            <a:fld id="{B0E72E4E-4CBE-4D12-B6A9-8CB223CF8265}" type="slidenum">
              <a:rPr lang="en-AU" sz="2000" b="1" smtClean="0"/>
              <a:t>‹#›</a:t>
            </a:fld>
            <a:endParaRPr lang="en-AU" sz="2000" b="1" dirty="0"/>
          </a:p>
        </p:txBody>
      </p:sp>
    </p:spTree>
    <p:extLst>
      <p:ext uri="{BB962C8B-B14F-4D97-AF65-F5344CB8AC3E}">
        <p14:creationId xmlns:p14="http://schemas.microsoft.com/office/powerpoint/2010/main" val="349658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A2F9-7D55-40B9-B9F6-47CEB7F23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4E6F6-872B-4351-82CE-F6BDED6785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37C49-E28A-4BC7-B01F-46B9108294B4}"/>
              </a:ext>
            </a:extLst>
          </p:cNvPr>
          <p:cNvSpPr>
            <a:spLocks noGrp="1"/>
          </p:cNvSpPr>
          <p:nvPr>
            <p:ph type="dt" sz="half" idx="10"/>
          </p:nvPr>
        </p:nvSpPr>
        <p:spPr/>
        <p:txBody>
          <a:bodyPr/>
          <a:lstStyle/>
          <a:p>
            <a:fld id="{A2BBB18F-8376-4052-A4AC-9CEE87CB9347}" type="datetime1">
              <a:rPr lang="en-AU" smtClean="0"/>
              <a:t>1/04/2025</a:t>
            </a:fld>
            <a:endParaRPr lang="en-AU"/>
          </a:p>
        </p:txBody>
      </p:sp>
      <p:sp>
        <p:nvSpPr>
          <p:cNvPr id="5" name="Footer Placeholder 4">
            <a:extLst>
              <a:ext uri="{FF2B5EF4-FFF2-40B4-BE49-F238E27FC236}">
                <a16:creationId xmlns:a16="http://schemas.microsoft.com/office/drawing/2014/main" id="{CF8BD53B-FA02-45C3-B746-4698E5C7A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9585B1-EDCF-4B2C-AB51-34E6296E0D3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5367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CFC9-D1E8-4E90-A313-CE13BA34D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2CAFC9-3AAB-464E-BF70-473E57067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92BC8-6CF3-4155-A3AC-94AADADA0556}"/>
              </a:ext>
            </a:extLst>
          </p:cNvPr>
          <p:cNvSpPr>
            <a:spLocks noGrp="1"/>
          </p:cNvSpPr>
          <p:nvPr>
            <p:ph type="dt" sz="half" idx="10"/>
          </p:nvPr>
        </p:nvSpPr>
        <p:spPr/>
        <p:txBody>
          <a:bodyPr/>
          <a:lstStyle/>
          <a:p>
            <a:fld id="{EEBEFC66-FB02-44EA-BC04-6F096A7B7769}" type="datetime1">
              <a:rPr lang="en-AU" smtClean="0"/>
              <a:t>1/04/2025</a:t>
            </a:fld>
            <a:endParaRPr lang="en-AU"/>
          </a:p>
        </p:txBody>
      </p:sp>
      <p:sp>
        <p:nvSpPr>
          <p:cNvPr id="5" name="Footer Placeholder 4">
            <a:extLst>
              <a:ext uri="{FF2B5EF4-FFF2-40B4-BE49-F238E27FC236}">
                <a16:creationId xmlns:a16="http://schemas.microsoft.com/office/drawing/2014/main" id="{F1D31418-83C4-4996-B0E2-AABE17A110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6ECE1-87D5-4300-BACC-4A4EB5169CB0}"/>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32796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7873-C1A0-4FC9-9508-391EDD084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A00C2-E18A-49F2-813D-D096870601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FCC943-1A72-4568-B75B-790E77A35AE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6426C6-D368-434D-A76E-A08FE05B252C}"/>
              </a:ext>
            </a:extLst>
          </p:cNvPr>
          <p:cNvSpPr>
            <a:spLocks noGrp="1"/>
          </p:cNvSpPr>
          <p:nvPr>
            <p:ph type="dt" sz="half" idx="10"/>
          </p:nvPr>
        </p:nvSpPr>
        <p:spPr/>
        <p:txBody>
          <a:bodyPr/>
          <a:lstStyle/>
          <a:p>
            <a:fld id="{BE266C89-1765-4641-A2C2-0C255FF54FD1}" type="datetime1">
              <a:rPr lang="en-AU" smtClean="0"/>
              <a:t>1/04/2025</a:t>
            </a:fld>
            <a:endParaRPr lang="en-AU"/>
          </a:p>
        </p:txBody>
      </p:sp>
      <p:sp>
        <p:nvSpPr>
          <p:cNvPr id="6" name="Footer Placeholder 5">
            <a:extLst>
              <a:ext uri="{FF2B5EF4-FFF2-40B4-BE49-F238E27FC236}">
                <a16:creationId xmlns:a16="http://schemas.microsoft.com/office/drawing/2014/main" id="{A5F1A0D2-A40A-49C1-8234-B7D2E59752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D5590CF-5EB7-4621-AF70-49745B7E8CB1}"/>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44901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EC4E-7129-4DFE-A8BF-D2F4C51EB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868A7-B0A8-48B8-9C40-76D73A53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E52730-3A93-4774-B024-FF41D7ADBB4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1560C-643D-4E43-9F3C-1BAB21E1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AC2905-B67E-4FAA-969B-8323B9811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1CAE1-7796-4C1F-9BED-1A8C90ABA79C}"/>
              </a:ext>
            </a:extLst>
          </p:cNvPr>
          <p:cNvSpPr>
            <a:spLocks noGrp="1"/>
          </p:cNvSpPr>
          <p:nvPr>
            <p:ph type="dt" sz="half" idx="10"/>
          </p:nvPr>
        </p:nvSpPr>
        <p:spPr/>
        <p:txBody>
          <a:bodyPr/>
          <a:lstStyle/>
          <a:p>
            <a:fld id="{4A873857-A5A5-474E-9E58-C4E578787857}" type="datetime1">
              <a:rPr lang="en-AU" smtClean="0"/>
              <a:t>1/04/2025</a:t>
            </a:fld>
            <a:endParaRPr lang="en-AU"/>
          </a:p>
        </p:txBody>
      </p:sp>
      <p:sp>
        <p:nvSpPr>
          <p:cNvPr id="8" name="Footer Placeholder 7">
            <a:extLst>
              <a:ext uri="{FF2B5EF4-FFF2-40B4-BE49-F238E27FC236}">
                <a16:creationId xmlns:a16="http://schemas.microsoft.com/office/drawing/2014/main" id="{D0D73460-6DE1-4496-9257-1CF265A781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59E5745-5DC0-47E7-86B4-926C3EEB61DA}"/>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1098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0E46-5C93-447B-AA2A-FABDBC833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D545D-C4CE-4C13-933E-BB80F082B875}"/>
              </a:ext>
            </a:extLst>
          </p:cNvPr>
          <p:cNvSpPr>
            <a:spLocks noGrp="1"/>
          </p:cNvSpPr>
          <p:nvPr>
            <p:ph type="dt" sz="half" idx="10"/>
          </p:nvPr>
        </p:nvSpPr>
        <p:spPr/>
        <p:txBody>
          <a:bodyPr/>
          <a:lstStyle/>
          <a:p>
            <a:fld id="{4C4A7F37-9D1F-41EA-AAC5-1B6F73404883}" type="datetime1">
              <a:rPr lang="en-AU" smtClean="0"/>
              <a:t>1/04/2025</a:t>
            </a:fld>
            <a:endParaRPr lang="en-AU"/>
          </a:p>
        </p:txBody>
      </p:sp>
      <p:sp>
        <p:nvSpPr>
          <p:cNvPr id="4" name="Footer Placeholder 3">
            <a:extLst>
              <a:ext uri="{FF2B5EF4-FFF2-40B4-BE49-F238E27FC236}">
                <a16:creationId xmlns:a16="http://schemas.microsoft.com/office/drawing/2014/main" id="{F055F992-DE21-4FF8-9EC3-24F7AAB4599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FA18A99-A541-4FC4-8B0F-E2C0D8ED3C39}"/>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608956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9AF43-84E3-4B89-A20D-5AD12A924EFB}"/>
              </a:ext>
            </a:extLst>
          </p:cNvPr>
          <p:cNvSpPr>
            <a:spLocks noGrp="1"/>
          </p:cNvSpPr>
          <p:nvPr>
            <p:ph type="dt" sz="half" idx="10"/>
          </p:nvPr>
        </p:nvSpPr>
        <p:spPr/>
        <p:txBody>
          <a:bodyPr/>
          <a:lstStyle/>
          <a:p>
            <a:fld id="{4520FDF9-A986-4905-9508-247B7F4B200D}" type="datetime1">
              <a:rPr lang="en-AU" smtClean="0"/>
              <a:t>1/04/2025</a:t>
            </a:fld>
            <a:endParaRPr lang="en-AU"/>
          </a:p>
        </p:txBody>
      </p:sp>
      <p:sp>
        <p:nvSpPr>
          <p:cNvPr id="3" name="Footer Placeholder 2">
            <a:extLst>
              <a:ext uri="{FF2B5EF4-FFF2-40B4-BE49-F238E27FC236}">
                <a16:creationId xmlns:a16="http://schemas.microsoft.com/office/drawing/2014/main" id="{BC552FC8-6766-4AF6-AE1B-3E3E40DE160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198A401-3F10-4AB5-B56C-A44167EC985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23013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E79-7D0A-4913-9B9D-D14A14012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2F2BE-34D1-4394-A79C-56929CB7F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6DDC-E9A4-494D-8DA3-DF6FF0CB2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DC4CB1-DD02-4E14-8070-D529601AE306}"/>
              </a:ext>
            </a:extLst>
          </p:cNvPr>
          <p:cNvSpPr>
            <a:spLocks noGrp="1"/>
          </p:cNvSpPr>
          <p:nvPr>
            <p:ph type="dt" sz="half" idx="10"/>
          </p:nvPr>
        </p:nvSpPr>
        <p:spPr/>
        <p:txBody>
          <a:bodyPr/>
          <a:lstStyle/>
          <a:p>
            <a:fld id="{F0A57C78-DADF-4969-B242-4855E9F4C4D5}" type="datetime1">
              <a:rPr lang="en-AU" smtClean="0"/>
              <a:t>1/04/2025</a:t>
            </a:fld>
            <a:endParaRPr lang="en-AU"/>
          </a:p>
        </p:txBody>
      </p:sp>
      <p:sp>
        <p:nvSpPr>
          <p:cNvPr id="6" name="Footer Placeholder 5">
            <a:extLst>
              <a:ext uri="{FF2B5EF4-FFF2-40B4-BE49-F238E27FC236}">
                <a16:creationId xmlns:a16="http://schemas.microsoft.com/office/drawing/2014/main" id="{9998DCFE-E8EA-4807-BCD4-B175C0E2A2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24BDD04-DF59-476B-A2E1-B91A947D91FE}"/>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782135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D7C8-9040-4BEA-BDE3-ABA1A1C27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8E7C11-8D21-434A-A6FD-3E8617092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D949-D4DE-4581-87B3-C03FD4FD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6D51E2-1921-40F3-AC40-E142F785D206}"/>
              </a:ext>
            </a:extLst>
          </p:cNvPr>
          <p:cNvSpPr>
            <a:spLocks noGrp="1"/>
          </p:cNvSpPr>
          <p:nvPr>
            <p:ph type="dt" sz="half" idx="10"/>
          </p:nvPr>
        </p:nvSpPr>
        <p:spPr/>
        <p:txBody>
          <a:bodyPr/>
          <a:lstStyle/>
          <a:p>
            <a:fld id="{6E70D74D-1239-4392-A26B-B7E440CEC8CB}" type="datetime1">
              <a:rPr lang="en-AU" smtClean="0"/>
              <a:t>1/04/2025</a:t>
            </a:fld>
            <a:endParaRPr lang="en-AU"/>
          </a:p>
        </p:txBody>
      </p:sp>
      <p:sp>
        <p:nvSpPr>
          <p:cNvPr id="6" name="Footer Placeholder 5">
            <a:extLst>
              <a:ext uri="{FF2B5EF4-FFF2-40B4-BE49-F238E27FC236}">
                <a16:creationId xmlns:a16="http://schemas.microsoft.com/office/drawing/2014/main" id="{2D614FAF-0386-4409-8BFE-A413765B3E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31F7AEF-E743-4036-9326-1065E481120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23280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7700-60C9-4E9C-9852-C7B6C38A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8E9C5B-FA98-43FE-90F2-7DDE18ED865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FD572-AD9E-4D3B-8F7B-2BB536B5FD27}"/>
              </a:ext>
            </a:extLst>
          </p:cNvPr>
          <p:cNvSpPr>
            <a:spLocks noGrp="1"/>
          </p:cNvSpPr>
          <p:nvPr>
            <p:ph type="dt" sz="half" idx="10"/>
          </p:nvPr>
        </p:nvSpPr>
        <p:spPr/>
        <p:txBody>
          <a:bodyPr/>
          <a:lstStyle/>
          <a:p>
            <a:fld id="{2391578B-E5FA-490D-8208-9FBD9A867E75}" type="datetime1">
              <a:rPr lang="en-AU" smtClean="0"/>
              <a:t>1/04/2025</a:t>
            </a:fld>
            <a:endParaRPr lang="en-AU"/>
          </a:p>
        </p:txBody>
      </p:sp>
      <p:sp>
        <p:nvSpPr>
          <p:cNvPr id="5" name="Footer Placeholder 4">
            <a:extLst>
              <a:ext uri="{FF2B5EF4-FFF2-40B4-BE49-F238E27FC236}">
                <a16:creationId xmlns:a16="http://schemas.microsoft.com/office/drawing/2014/main" id="{7EA1E37F-1B21-4246-BA36-73956FFE9F7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CEDB52-5DFE-4447-91E2-9787D84DBB86}"/>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754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283C-E2F0-4A6F-9AD9-82CA902DE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E5EE6-7D9F-42B2-94B0-02A3E84F5E0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C19CB-43F8-4CC0-903E-C23803089474}"/>
              </a:ext>
            </a:extLst>
          </p:cNvPr>
          <p:cNvSpPr>
            <a:spLocks noGrp="1"/>
          </p:cNvSpPr>
          <p:nvPr>
            <p:ph type="dt" sz="half" idx="10"/>
          </p:nvPr>
        </p:nvSpPr>
        <p:spPr/>
        <p:txBody>
          <a:bodyPr/>
          <a:lstStyle/>
          <a:p>
            <a:fld id="{24F54018-37EC-481E-B7F2-FDEEBA0F84AF}" type="datetime1">
              <a:rPr lang="en-AU" smtClean="0"/>
              <a:t>1/04/2025</a:t>
            </a:fld>
            <a:endParaRPr lang="en-AU"/>
          </a:p>
        </p:txBody>
      </p:sp>
      <p:sp>
        <p:nvSpPr>
          <p:cNvPr id="5" name="Footer Placeholder 4">
            <a:extLst>
              <a:ext uri="{FF2B5EF4-FFF2-40B4-BE49-F238E27FC236}">
                <a16:creationId xmlns:a16="http://schemas.microsoft.com/office/drawing/2014/main" id="{D9F45F0E-7361-4676-B432-1D05B70CFB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84F4EB-1112-445C-96AB-93D5D84332BF}"/>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1924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2DA63-5604-4C8B-A185-3346EDDFF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5E662-E32E-4BF0-B3BA-15B99830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18C86-7471-4189-957D-1CEA3FBEE7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43812-AA3E-4766-916C-F1E5A438B57F}" type="datetime1">
              <a:rPr lang="en-AU" smtClean="0"/>
              <a:t>1/04/2025</a:t>
            </a:fld>
            <a:endParaRPr lang="en-AU"/>
          </a:p>
        </p:txBody>
      </p:sp>
      <p:sp>
        <p:nvSpPr>
          <p:cNvPr id="5" name="Footer Placeholder 4">
            <a:extLst>
              <a:ext uri="{FF2B5EF4-FFF2-40B4-BE49-F238E27FC236}">
                <a16:creationId xmlns:a16="http://schemas.microsoft.com/office/drawing/2014/main" id="{09B3008F-2F27-46E4-A82E-92541B128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76096A-7E11-4FA7-B795-CF89E7D09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F08E9-1735-422C-B5C5-130668B15985}" type="slidenum">
              <a:rPr lang="en-AU" smtClean="0"/>
              <a:t>‹#›</a:t>
            </a:fld>
            <a:endParaRPr lang="en-AU"/>
          </a:p>
        </p:txBody>
      </p:sp>
    </p:spTree>
    <p:extLst>
      <p:ext uri="{BB962C8B-B14F-4D97-AF65-F5344CB8AC3E}">
        <p14:creationId xmlns:p14="http://schemas.microsoft.com/office/powerpoint/2010/main" val="12188343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ObPg3ki9GOI" TargetMode="External"/><Relationship Id="rId2" Type="http://schemas.openxmlformats.org/officeDocument/2006/relationships/image" Target="../media/image120.png"/><Relationship Id="rId1" Type="http://schemas.openxmlformats.org/officeDocument/2006/relationships/slideLayout" Target="../slideLayouts/slideLayout1.xml"/><Relationship Id="rId4" Type="http://schemas.openxmlformats.org/officeDocument/2006/relationships/hyperlink" Target="https://www.youtube.com/watch?v=_Idra8rVS1I&amp;t=320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geogebra.org/m/p7qqucf9#:~:text=Author%3A%20Simona%20Riva,represents%20the%20independent%20variable%20increment." TargetMode="External"/><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A close up of text on a whiteboard&#10;&#10;Description automatically generated">
            <a:extLst>
              <a:ext uri="{FF2B5EF4-FFF2-40B4-BE49-F238E27FC236}">
                <a16:creationId xmlns:a16="http://schemas.microsoft.com/office/drawing/2014/main" id="{9CBF2271-6786-48D8-8625-48074A2F58E8}"/>
              </a:ext>
            </a:extLst>
          </p:cNvPr>
          <p:cNvPicPr>
            <a:picLocks noChangeAspect="1"/>
          </p:cNvPicPr>
          <p:nvPr/>
        </p:nvPicPr>
        <p:blipFill>
          <a:blip r:embed="rId2">
            <a:duotone>
              <a:prstClr val="black"/>
              <a:srgbClr val="D9C3A5">
                <a:tint val="50000"/>
                <a:satMod val="180000"/>
              </a:srgbClr>
            </a:duotone>
            <a:alphaModFix amt="35000"/>
            <a:extLst>
              <a:ext uri="{28A0092B-C50C-407E-A947-70E740481C1C}">
                <a14:useLocalDpi xmlns:a14="http://schemas.microsoft.com/office/drawing/2010/main" val="0"/>
              </a:ext>
            </a:extLst>
          </a:blip>
          <a:stretch>
            <a:fillRect/>
          </a:stretch>
        </p:blipFill>
        <p:spPr>
          <a:xfrm>
            <a:off x="0" y="0"/>
            <a:ext cx="12192000" cy="4591665"/>
          </a:xfrm>
          <a:prstGeom prst="rect">
            <a:avLst/>
          </a:prstGeom>
        </p:spPr>
      </p:pic>
      <p:sp>
        <p:nvSpPr>
          <p:cNvPr id="5" name="Title 1">
            <a:extLst>
              <a:ext uri="{FF2B5EF4-FFF2-40B4-BE49-F238E27FC236}">
                <a16:creationId xmlns:a16="http://schemas.microsoft.com/office/drawing/2014/main" id="{50029B91-E5FE-43A6-9535-58B2F4EBB5EE}"/>
              </a:ext>
            </a:extLst>
          </p:cNvPr>
          <p:cNvSpPr txBox="1">
            <a:spLocks/>
          </p:cNvSpPr>
          <p:nvPr/>
        </p:nvSpPr>
        <p:spPr>
          <a:xfrm>
            <a:off x="0" y="-2"/>
            <a:ext cx="12192000" cy="4591665"/>
          </a:xfrm>
          <a:prstGeom prst="rect">
            <a:avLst/>
          </a:prstGeom>
          <a:solidFill>
            <a:schemeClr val="accent4">
              <a:lumMod val="60000"/>
              <a:lumOff val="40000"/>
              <a:alpha val="40000"/>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sz="4400" b="1" dirty="0">
              <a:solidFill>
                <a:schemeClr val="accent4">
                  <a:lumMod val="75000"/>
                </a:schemeClr>
              </a:solidFill>
            </a:endParaRPr>
          </a:p>
        </p:txBody>
      </p:sp>
      <p:sp>
        <p:nvSpPr>
          <p:cNvPr id="6" name="Subtitle 2"/>
          <p:cNvSpPr txBox="1">
            <a:spLocks/>
          </p:cNvSpPr>
          <p:nvPr/>
        </p:nvSpPr>
        <p:spPr>
          <a:xfrm>
            <a:off x="1292225" y="4850229"/>
            <a:ext cx="9607550" cy="1475746"/>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latin typeface="+mj-lt"/>
              </a:rPr>
              <a:t>Week 5</a:t>
            </a:r>
          </a:p>
        </p:txBody>
      </p:sp>
      <p:sp>
        <p:nvSpPr>
          <p:cNvPr id="2" name="Title 1"/>
          <p:cNvSpPr>
            <a:spLocks noGrp="1"/>
          </p:cNvSpPr>
          <p:nvPr>
            <p:ph type="ctrTitle"/>
          </p:nvPr>
        </p:nvSpPr>
        <p:spPr>
          <a:xfrm>
            <a:off x="589935" y="2486361"/>
            <a:ext cx="11012129" cy="1518035"/>
          </a:xfrm>
        </p:spPr>
        <p:txBody>
          <a:bodyPr>
            <a:noAutofit/>
          </a:bodyPr>
          <a:lstStyle/>
          <a:p>
            <a:r>
              <a:rPr lang="en-AU" sz="5400" b="1" dirty="0">
                <a:solidFill>
                  <a:schemeClr val="accent4">
                    <a:lumMod val="75000"/>
                  </a:schemeClr>
                </a:solidFill>
                <a:effectLst>
                  <a:outerShdw blurRad="50800" dist="38100" dir="2700000" algn="tl" rotWithShape="0">
                    <a:prstClr val="black"/>
                  </a:outerShdw>
                </a:effectLst>
                <a:latin typeface="Times New Roman" panose="02020603050405020304" pitchFamily="18" charset="0"/>
                <a:cs typeface="Times New Roman" panose="02020603050405020304" pitchFamily="18" charset="0"/>
              </a:rPr>
              <a:t>Calculus and applications</a:t>
            </a:r>
          </a:p>
        </p:txBody>
      </p:sp>
      <p:sp>
        <p:nvSpPr>
          <p:cNvPr id="3" name="Subtitle 2"/>
          <p:cNvSpPr>
            <a:spLocks noGrp="1"/>
          </p:cNvSpPr>
          <p:nvPr>
            <p:ph type="subTitle" idx="1"/>
          </p:nvPr>
        </p:nvSpPr>
        <p:spPr>
          <a:xfrm>
            <a:off x="1524000" y="1923654"/>
            <a:ext cx="9144000" cy="562707"/>
          </a:xfrm>
        </p:spPr>
        <p:txBody>
          <a:bodyPr>
            <a:noAutofit/>
          </a:bodyPr>
          <a:lstStyle/>
          <a:p>
            <a:r>
              <a:rPr lang="en-AU" sz="3200" dirty="0">
                <a:latin typeface="+mj-lt"/>
              </a:rPr>
              <a:t>MTH10012</a:t>
            </a:r>
          </a:p>
        </p:txBody>
      </p:sp>
      <p:pic>
        <p:nvPicPr>
          <p:cNvPr id="7" name="Picture 6" descr="A close up of a logo&#10;&#10;Description automatically generated">
            <a:extLst>
              <a:ext uri="{FF2B5EF4-FFF2-40B4-BE49-F238E27FC236}">
                <a16:creationId xmlns:a16="http://schemas.microsoft.com/office/drawing/2014/main" id="{DCCAF879-A57E-4938-88B5-1CA526E0E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39" y="701528"/>
            <a:ext cx="1927122" cy="963561"/>
          </a:xfrm>
          <a:prstGeom prst="rect">
            <a:avLst/>
          </a:prstGeom>
        </p:spPr>
      </p:pic>
    </p:spTree>
    <p:extLst>
      <p:ext uri="{BB962C8B-B14F-4D97-AF65-F5344CB8AC3E}">
        <p14:creationId xmlns:p14="http://schemas.microsoft.com/office/powerpoint/2010/main" val="3477091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991443" cy="523220"/>
          </a:xfrm>
          <a:prstGeom prst="rect">
            <a:avLst/>
          </a:prstGeom>
          <a:noFill/>
        </p:spPr>
        <p:txBody>
          <a:bodyPr wrap="none" rtlCol="0">
            <a:spAutoFit/>
          </a:bodyPr>
          <a:lstStyle/>
          <a:p>
            <a:r>
              <a:rPr lang="en-AU" sz="2800" b="1" cap="small" dirty="0">
                <a:solidFill>
                  <a:schemeClr val="bg1"/>
                </a:solidFill>
                <a:latin typeface="+mj-lt"/>
              </a:rPr>
              <a:t>Introduction</a:t>
            </a:r>
            <a:endParaRPr lang="en-GB" sz="2800" b="1" cap="small" dirty="0">
              <a:solidFill>
                <a:schemeClr val="bg1"/>
              </a:solidFill>
              <a:latin typeface="+mj-lt"/>
            </a:endParaRPr>
          </a:p>
        </p:txBody>
      </p:sp>
      <p:sp>
        <p:nvSpPr>
          <p:cNvPr id="12" name="TextBox 11">
            <a:extLst>
              <a:ext uri="{FF2B5EF4-FFF2-40B4-BE49-F238E27FC236}">
                <a16:creationId xmlns:a16="http://schemas.microsoft.com/office/drawing/2014/main" id="{CAEC57D0-AC67-44EF-AAC1-EB45706D89C7}"/>
              </a:ext>
            </a:extLst>
          </p:cNvPr>
          <p:cNvSpPr txBox="1"/>
          <p:nvPr/>
        </p:nvSpPr>
        <p:spPr>
          <a:xfrm>
            <a:off x="1232187" y="1463905"/>
            <a:ext cx="10368142" cy="830997"/>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Standard limits comparing “speeds” and using the substitution technique</a:t>
            </a:r>
          </a:p>
          <a:p>
            <a:pPr marL="342900" indent="-342900">
              <a:buFont typeface="Arial" panose="020B0604020202020204" pitchFamily="34" charset="0"/>
              <a:buChar char="•"/>
            </a:pPr>
            <a:r>
              <a:rPr lang="en-AU" sz="2400" b="1" dirty="0">
                <a:latin typeface="+mj-lt"/>
              </a:rPr>
              <a:t>Sequences, limits (convergent, divergent, irregular), limit laws, standard limits</a:t>
            </a:r>
          </a:p>
        </p:txBody>
      </p:sp>
      <p:sp>
        <p:nvSpPr>
          <p:cNvPr id="11" name="TextBox 10">
            <a:extLst>
              <a:ext uri="{FF2B5EF4-FFF2-40B4-BE49-F238E27FC236}">
                <a16:creationId xmlns:a16="http://schemas.microsoft.com/office/drawing/2014/main" id="{A61EC46B-21B4-4C87-946C-3EAD91A29AA1}"/>
              </a:ext>
            </a:extLst>
          </p:cNvPr>
          <p:cNvSpPr txBox="1"/>
          <p:nvPr/>
        </p:nvSpPr>
        <p:spPr>
          <a:xfrm>
            <a:off x="307593" y="1036182"/>
            <a:ext cx="88838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4</a:t>
            </a:r>
            <a:endParaRPr lang="en-GB" sz="2000" b="1" cap="small" dirty="0">
              <a:latin typeface="+mj-lt"/>
            </a:endParaRPr>
          </a:p>
        </p:txBody>
      </p:sp>
      <p:sp>
        <p:nvSpPr>
          <p:cNvPr id="13" name="TextBox 12">
            <a:extLst>
              <a:ext uri="{FF2B5EF4-FFF2-40B4-BE49-F238E27FC236}">
                <a16:creationId xmlns:a16="http://schemas.microsoft.com/office/drawing/2014/main" id="{EDAF658E-4D46-438A-89D3-59C69A018DE7}"/>
              </a:ext>
            </a:extLst>
          </p:cNvPr>
          <p:cNvSpPr txBox="1"/>
          <p:nvPr/>
        </p:nvSpPr>
        <p:spPr>
          <a:xfrm>
            <a:off x="307593" y="2353463"/>
            <a:ext cx="88838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5</a:t>
            </a:r>
            <a:endParaRPr lang="en-GB" sz="2000" b="1" cap="small" dirty="0">
              <a:latin typeface="+mj-lt"/>
            </a:endParaRPr>
          </a:p>
        </p:txBody>
      </p:sp>
      <p:sp>
        <p:nvSpPr>
          <p:cNvPr id="15" name="TextBox 14">
            <a:extLst>
              <a:ext uri="{FF2B5EF4-FFF2-40B4-BE49-F238E27FC236}">
                <a16:creationId xmlns:a16="http://schemas.microsoft.com/office/drawing/2014/main" id="{898798BC-1968-4592-A84D-9889D441C7B0}"/>
              </a:ext>
            </a:extLst>
          </p:cNvPr>
          <p:cNvSpPr txBox="1"/>
          <p:nvPr/>
        </p:nvSpPr>
        <p:spPr>
          <a:xfrm>
            <a:off x="1195978" y="3283534"/>
            <a:ext cx="10097756" cy="830997"/>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The sandwich theorem for sequences</a:t>
            </a:r>
          </a:p>
          <a:p>
            <a:pPr marL="342900" indent="-342900">
              <a:buFont typeface="Arial" panose="020B0604020202020204" pitchFamily="34" charset="0"/>
              <a:buChar char="•"/>
            </a:pPr>
            <a:r>
              <a:rPr lang="en-AU" sz="2400" b="1" dirty="0">
                <a:latin typeface="+mj-lt"/>
              </a:rPr>
              <a:t>The relation between sequences and continuous functions</a:t>
            </a:r>
          </a:p>
        </p:txBody>
      </p:sp>
      <p:cxnSp>
        <p:nvCxnSpPr>
          <p:cNvPr id="3" name="Straight Connector 2">
            <a:extLst>
              <a:ext uri="{FF2B5EF4-FFF2-40B4-BE49-F238E27FC236}">
                <a16:creationId xmlns:a16="http://schemas.microsoft.com/office/drawing/2014/main" id="{CD60D396-44DB-4720-AA20-0FECBBC96907}"/>
              </a:ext>
            </a:extLst>
          </p:cNvPr>
          <p:cNvCxnSpPr>
            <a:stCxn id="13" idx="3"/>
          </p:cNvCxnSpPr>
          <p:nvPr/>
        </p:nvCxnSpPr>
        <p:spPr>
          <a:xfrm>
            <a:off x="1195978" y="2553518"/>
            <a:ext cx="10404351"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5D933F3-BDCD-41B7-8B70-5B047253E6FA}"/>
              </a:ext>
            </a:extLst>
          </p:cNvPr>
          <p:cNvCxnSpPr>
            <a:cxnSpLocks/>
          </p:cNvCxnSpPr>
          <p:nvPr/>
        </p:nvCxnSpPr>
        <p:spPr>
          <a:xfrm flipV="1">
            <a:off x="1195978" y="1211598"/>
            <a:ext cx="10404351" cy="23549"/>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B8815BF5-1815-494B-8C1F-8AB3E9CBAD1F}"/>
              </a:ext>
            </a:extLst>
          </p:cNvPr>
          <p:cNvSpPr txBox="1"/>
          <p:nvPr/>
        </p:nvSpPr>
        <p:spPr>
          <a:xfrm>
            <a:off x="525480" y="2871368"/>
            <a:ext cx="1072972" cy="338554"/>
          </a:xfrm>
          <a:prstGeom prst="rect">
            <a:avLst/>
          </a:prstGeom>
          <a:noFill/>
          <a:ln>
            <a:solidFill>
              <a:schemeClr val="accent2">
                <a:lumMod val="50000"/>
              </a:schemeClr>
            </a:solidFill>
          </a:ln>
        </p:spPr>
        <p:txBody>
          <a:bodyPr wrap="square" rtlCol="0">
            <a:spAutoFit/>
          </a:bodyPr>
          <a:lstStyle/>
          <a:p>
            <a:r>
              <a:rPr lang="en-AU" sz="1600" b="1" dirty="0">
                <a:latin typeface="+mj-lt"/>
              </a:rPr>
              <a:t>MODULE 3</a:t>
            </a:r>
            <a:endParaRPr lang="en-GB" sz="1600" b="1" dirty="0">
              <a:latin typeface="+mj-lt"/>
            </a:endParaRPr>
          </a:p>
        </p:txBody>
      </p:sp>
      <p:sp>
        <p:nvSpPr>
          <p:cNvPr id="17" name="TextBox 16">
            <a:extLst>
              <a:ext uri="{FF2B5EF4-FFF2-40B4-BE49-F238E27FC236}">
                <a16:creationId xmlns:a16="http://schemas.microsoft.com/office/drawing/2014/main" id="{87062F77-E487-4256-964F-D159628EC888}"/>
              </a:ext>
            </a:extLst>
          </p:cNvPr>
          <p:cNvSpPr txBox="1"/>
          <p:nvPr/>
        </p:nvSpPr>
        <p:spPr>
          <a:xfrm>
            <a:off x="525480" y="4417056"/>
            <a:ext cx="1072972" cy="338554"/>
          </a:xfrm>
          <a:prstGeom prst="rect">
            <a:avLst/>
          </a:prstGeom>
          <a:noFill/>
          <a:ln>
            <a:solidFill>
              <a:schemeClr val="accent2">
                <a:lumMod val="50000"/>
              </a:schemeClr>
            </a:solidFill>
          </a:ln>
        </p:spPr>
        <p:txBody>
          <a:bodyPr wrap="square" rtlCol="0">
            <a:spAutoFit/>
          </a:bodyPr>
          <a:lstStyle/>
          <a:p>
            <a:r>
              <a:rPr lang="en-AU" sz="1600" b="1" dirty="0">
                <a:latin typeface="+mj-lt"/>
              </a:rPr>
              <a:t>MODULE 4</a:t>
            </a:r>
            <a:endParaRPr lang="en-GB" sz="1600" b="1" dirty="0">
              <a:latin typeface="+mj-lt"/>
            </a:endParaRPr>
          </a:p>
        </p:txBody>
      </p:sp>
      <p:sp>
        <p:nvSpPr>
          <p:cNvPr id="18" name="TextBox 17">
            <a:extLst>
              <a:ext uri="{FF2B5EF4-FFF2-40B4-BE49-F238E27FC236}">
                <a16:creationId xmlns:a16="http://schemas.microsoft.com/office/drawing/2014/main" id="{2FC70749-9BBC-4C36-9100-A4B3DA0E0FF8}"/>
              </a:ext>
            </a:extLst>
          </p:cNvPr>
          <p:cNvSpPr txBox="1"/>
          <p:nvPr/>
        </p:nvSpPr>
        <p:spPr>
          <a:xfrm>
            <a:off x="1195978" y="4844546"/>
            <a:ext cx="10097756" cy="1200329"/>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Definition of derivative</a:t>
            </a:r>
          </a:p>
          <a:p>
            <a:pPr marL="342900" indent="-342900">
              <a:buFont typeface="Arial" panose="020B0604020202020204" pitchFamily="34" charset="0"/>
              <a:buChar char="•"/>
            </a:pPr>
            <a:r>
              <a:rPr lang="en-AU" sz="2400" b="1" dirty="0">
                <a:latin typeface="+mj-lt"/>
              </a:rPr>
              <a:t>Standard derivatives</a:t>
            </a:r>
          </a:p>
          <a:p>
            <a:pPr marL="342900" indent="-342900">
              <a:buFont typeface="Arial" panose="020B0604020202020204" pitchFamily="34" charset="0"/>
              <a:buChar char="•"/>
            </a:pPr>
            <a:r>
              <a:rPr lang="en-AU" sz="2400" b="1" dirty="0">
                <a:latin typeface="+mj-lt"/>
              </a:rPr>
              <a:t>Rules for differentiation</a:t>
            </a:r>
          </a:p>
        </p:txBody>
      </p:sp>
    </p:spTree>
    <p:extLst>
      <p:ext uri="{BB962C8B-B14F-4D97-AF65-F5344CB8AC3E}">
        <p14:creationId xmlns:p14="http://schemas.microsoft.com/office/powerpoint/2010/main" val="357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6" grpId="0" animBg="1"/>
      <p:bldP spid="17"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046603" cy="523220"/>
          </a:xfrm>
          <a:prstGeom prst="rect">
            <a:avLst/>
          </a:prstGeom>
          <a:noFill/>
        </p:spPr>
        <p:txBody>
          <a:bodyPr wrap="none" rtlCol="0">
            <a:spAutoFit/>
          </a:bodyPr>
          <a:lstStyle/>
          <a:p>
            <a:r>
              <a:rPr lang="en-AU" sz="2800" b="1" cap="small" dirty="0">
                <a:solidFill>
                  <a:schemeClr val="bg1"/>
                </a:solidFill>
                <a:latin typeface="+mj-lt"/>
              </a:rPr>
              <a:t>Test your knowledge</a:t>
            </a:r>
            <a:endParaRPr lang="en-GB" sz="2800" b="1" cap="small" dirty="0">
              <a:solidFill>
                <a:schemeClr val="bg1"/>
              </a:solidFill>
              <a:latin typeface="+mj-lt"/>
            </a:endParaRPr>
          </a:p>
        </p:txBody>
      </p:sp>
      <p:sp>
        <p:nvSpPr>
          <p:cNvPr id="15" name="TextBox 14">
            <a:extLst>
              <a:ext uri="{FF2B5EF4-FFF2-40B4-BE49-F238E27FC236}">
                <a16:creationId xmlns:a16="http://schemas.microsoft.com/office/drawing/2014/main" id="{3C208B46-0A4A-4B55-9CDE-7C9AA3159B1C}"/>
              </a:ext>
            </a:extLst>
          </p:cNvPr>
          <p:cNvSpPr txBox="1"/>
          <p:nvPr/>
        </p:nvSpPr>
        <p:spPr>
          <a:xfrm>
            <a:off x="240535" y="1128059"/>
            <a:ext cx="6760900" cy="1200329"/>
          </a:xfrm>
          <a:prstGeom prst="rect">
            <a:avLst/>
          </a:prstGeom>
          <a:noFill/>
        </p:spPr>
        <p:txBody>
          <a:bodyPr wrap="square">
            <a:spAutoFit/>
          </a:bodyPr>
          <a:lstStyle/>
          <a:p>
            <a:r>
              <a:rPr lang="en-AU" sz="2400" dirty="0">
                <a:latin typeface="+mj-lt"/>
              </a:rPr>
              <a:t>1. Can you guess, in general terms, what is the formula that describes the function represented by this graph?</a:t>
            </a:r>
            <a:endParaRPr lang="en-GB" sz="2400" dirty="0">
              <a:latin typeface="+mj-lt"/>
            </a:endParaRPr>
          </a:p>
        </p:txBody>
      </p:sp>
      <p:pic>
        <p:nvPicPr>
          <p:cNvPr id="3" name="Picture 2" descr="A picture containing photo, couple, sitting, light&#10;&#10;Description automatically generated">
            <a:extLst>
              <a:ext uri="{FF2B5EF4-FFF2-40B4-BE49-F238E27FC236}">
                <a16:creationId xmlns:a16="http://schemas.microsoft.com/office/drawing/2014/main" id="{397D650E-411E-4F21-8B6C-DDB17294CC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48624" y="1128059"/>
            <a:ext cx="4614582" cy="3076388"/>
          </a:xfrm>
          <a:prstGeom prst="rect">
            <a:avLst/>
          </a:prstGeom>
          <a:ln>
            <a:solidFill>
              <a:schemeClr val="tx1"/>
            </a:solid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DCE8F9-A94F-4F53-8BE5-8F1D05B7477B}"/>
                  </a:ext>
                </a:extLst>
              </p:cNvPr>
              <p:cNvSpPr txBox="1"/>
              <p:nvPr/>
            </p:nvSpPr>
            <p:spPr>
              <a:xfrm>
                <a:off x="2944005" y="2810689"/>
                <a:ext cx="1353960"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solidFill>
                            <a:srgbClr val="FF0000"/>
                          </a:solidFill>
                          <a:latin typeface="Cambria Math" panose="02040503050406030204" pitchFamily="18" charset="0"/>
                        </a:rPr>
                        <m:t>𝑓</m:t>
                      </m:r>
                      <m:d>
                        <m:dPr>
                          <m:ctrlPr>
                            <a:rPr lang="en-AU" b="0" i="1" smtClean="0">
                              <a:solidFill>
                                <a:srgbClr val="FF0000"/>
                              </a:solidFill>
                              <a:latin typeface="Cambria Math" panose="02040503050406030204" pitchFamily="18" charset="0"/>
                            </a:rPr>
                          </m:ctrlPr>
                        </m:dPr>
                        <m:e>
                          <m:r>
                            <a:rPr lang="en-AU" b="0" i="1" smtClean="0">
                              <a:solidFill>
                                <a:srgbClr val="FF0000"/>
                              </a:solidFill>
                              <a:latin typeface="Cambria Math" panose="02040503050406030204" pitchFamily="18" charset="0"/>
                            </a:rPr>
                            <m:t>𝑥</m:t>
                          </m:r>
                        </m:e>
                      </m:d>
                      <m:r>
                        <a:rPr lang="en-AU" b="0" i="1" smtClean="0">
                          <a:solidFill>
                            <a:srgbClr val="FF0000"/>
                          </a:solidFill>
                          <a:latin typeface="Cambria Math" panose="02040503050406030204" pitchFamily="18" charset="0"/>
                        </a:rPr>
                        <m:t>=</m:t>
                      </m:r>
                      <m:f>
                        <m:fPr>
                          <m:ctrlPr>
                            <a:rPr lang="en-AU" b="0" i="1" smtClean="0">
                              <a:solidFill>
                                <a:srgbClr val="FF0000"/>
                              </a:solidFill>
                              <a:latin typeface="Cambria Math" panose="02040503050406030204" pitchFamily="18" charset="0"/>
                            </a:rPr>
                          </m:ctrlPr>
                        </m:fPr>
                        <m:num>
                          <m:func>
                            <m:funcPr>
                              <m:ctrlPr>
                                <a:rPr lang="en-AU" b="0" i="1" smtClean="0">
                                  <a:solidFill>
                                    <a:srgbClr val="FF0000"/>
                                  </a:solidFill>
                                  <a:latin typeface="Cambria Math" panose="02040503050406030204" pitchFamily="18" charset="0"/>
                                </a:rPr>
                              </m:ctrlPr>
                            </m:funcPr>
                            <m:fName>
                              <m:r>
                                <m:rPr>
                                  <m:sty m:val="p"/>
                                </m:rPr>
                                <a:rPr lang="en-AU" b="0" i="0" smtClean="0">
                                  <a:solidFill>
                                    <a:srgbClr val="FF0000"/>
                                  </a:solidFill>
                                  <a:latin typeface="Cambria Math" panose="02040503050406030204" pitchFamily="18" charset="0"/>
                                </a:rPr>
                                <m:t>ln</m:t>
                              </m:r>
                            </m:fName>
                            <m:e>
                              <m:r>
                                <a:rPr lang="en-AU" b="0" i="1" smtClean="0">
                                  <a:solidFill>
                                    <a:srgbClr val="FF0000"/>
                                  </a:solidFill>
                                  <a:latin typeface="Cambria Math" panose="02040503050406030204" pitchFamily="18" charset="0"/>
                                </a:rPr>
                                <m:t>𝑥</m:t>
                              </m:r>
                            </m:e>
                          </m:func>
                        </m:num>
                        <m:den>
                          <m:sSup>
                            <m:sSupPr>
                              <m:ctrlPr>
                                <a:rPr lang="en-AU" b="0" i="1" smtClean="0">
                                  <a:solidFill>
                                    <a:srgbClr val="FF0000"/>
                                  </a:solidFill>
                                  <a:latin typeface="Cambria Math" panose="02040503050406030204" pitchFamily="18" charset="0"/>
                                </a:rPr>
                              </m:ctrlPr>
                            </m:sSupPr>
                            <m:e>
                              <m:r>
                                <a:rPr lang="en-AU" b="0" i="1" smtClean="0">
                                  <a:solidFill>
                                    <a:srgbClr val="FF0000"/>
                                  </a:solidFill>
                                  <a:latin typeface="Cambria Math" panose="02040503050406030204" pitchFamily="18" charset="0"/>
                                </a:rPr>
                                <m:t>𝑥</m:t>
                              </m:r>
                            </m:e>
                            <m:sup>
                              <m:r>
                                <a:rPr lang="en-AU" b="0" i="1" smtClean="0">
                                  <a:solidFill>
                                    <a:srgbClr val="FF0000"/>
                                  </a:solidFill>
                                  <a:latin typeface="Cambria Math" panose="02040503050406030204" pitchFamily="18" charset="0"/>
                                </a:rPr>
                                <m:t>3</m:t>
                              </m:r>
                            </m:sup>
                          </m:sSup>
                        </m:den>
                      </m:f>
                    </m:oMath>
                  </m:oMathPara>
                </a14:m>
                <a:endParaRPr lang="en-GB" dirty="0">
                  <a:solidFill>
                    <a:srgbClr val="FF0000"/>
                  </a:solidFill>
                </a:endParaRPr>
              </a:p>
            </p:txBody>
          </p:sp>
        </mc:Choice>
        <mc:Fallback xmlns="">
          <p:sp>
            <p:nvSpPr>
              <p:cNvPr id="5" name="TextBox 4">
                <a:extLst>
                  <a:ext uri="{FF2B5EF4-FFF2-40B4-BE49-F238E27FC236}">
                    <a16:creationId xmlns:a16="http://schemas.microsoft.com/office/drawing/2014/main" id="{BCDCE8F9-A94F-4F53-8BE5-8F1D05B7477B}"/>
                  </a:ext>
                </a:extLst>
              </p:cNvPr>
              <p:cNvSpPr txBox="1">
                <a:spLocks noRot="1" noChangeAspect="1" noMove="1" noResize="1" noEditPoints="1" noAdjustHandles="1" noChangeArrowheads="1" noChangeShapeType="1" noTextEdit="1"/>
              </p:cNvSpPr>
              <p:nvPr/>
            </p:nvSpPr>
            <p:spPr>
              <a:xfrm>
                <a:off x="2944005" y="2810689"/>
                <a:ext cx="1353960" cy="61831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FBFD2B1-6AB7-4530-9079-8B059D046CA7}"/>
                  </a:ext>
                </a:extLst>
              </p:cNvPr>
              <p:cNvSpPr txBox="1"/>
              <p:nvPr/>
            </p:nvSpPr>
            <p:spPr>
              <a:xfrm>
                <a:off x="240535" y="4204447"/>
                <a:ext cx="6760900" cy="1230658"/>
              </a:xfrm>
              <a:prstGeom prst="rect">
                <a:avLst/>
              </a:prstGeom>
              <a:noFill/>
            </p:spPr>
            <p:txBody>
              <a:bodyPr wrap="square">
                <a:spAutoFit/>
              </a:bodyPr>
              <a:lstStyle/>
              <a:p>
                <a:r>
                  <a:rPr lang="en-AU" sz="2400" dirty="0">
                    <a:latin typeface="+mj-lt"/>
                  </a:rPr>
                  <a:t>2. Evaluate the limit </a:t>
                </a:r>
                <a:r>
                  <a:rPr lang="en-AU" sz="2400" i="1" dirty="0">
                    <a:latin typeface="+mj-lt"/>
                  </a:rPr>
                  <a:t>n</a:t>
                </a:r>
                <a14:m>
                  <m:oMath xmlns:m="http://schemas.openxmlformats.org/officeDocument/2006/math">
                    <m:r>
                      <a:rPr lang="en-AU" sz="2400" b="0" i="1" smtClean="0">
                        <a:latin typeface="Cambria Math" panose="02040503050406030204" pitchFamily="18" charset="0"/>
                      </a:rPr>
                      <m:t>→∞</m:t>
                    </m:r>
                  </m:oMath>
                </a14:m>
                <a:r>
                  <a:rPr lang="en-GB" sz="2400" dirty="0">
                    <a:latin typeface="+mj-lt"/>
                  </a:rPr>
                  <a:t> of the following sequence:</a:t>
                </a:r>
              </a:p>
              <a:p>
                <a:pPr/>
                <a14:m>
                  <m:oMathPara xmlns:m="http://schemas.openxmlformats.org/officeDocument/2006/math">
                    <m:oMathParaPr>
                      <m:jc m:val="centerGroup"/>
                    </m:oMathParaPr>
                    <m:oMath xmlns:m="http://schemas.openxmlformats.org/officeDocument/2006/math">
                      <m:func>
                        <m:funcPr>
                          <m:ctrlPr>
                            <a:rPr lang="en-GB" sz="2400" i="1" smtClean="0">
                              <a:latin typeface="Cambria Math" panose="02040503050406030204" pitchFamily="18" charset="0"/>
                            </a:rPr>
                          </m:ctrlPr>
                        </m:funcPr>
                        <m:fName>
                          <m:limLow>
                            <m:limLowPr>
                              <m:ctrlPr>
                                <a:rPr lang="en-GB" sz="2400" i="1" smtClean="0">
                                  <a:latin typeface="Cambria Math" panose="02040503050406030204" pitchFamily="18" charset="0"/>
                                </a:rPr>
                              </m:ctrlPr>
                            </m:limLowPr>
                            <m:e>
                              <m:r>
                                <m:rPr>
                                  <m:sty m:val="p"/>
                                </m:rPr>
                                <a:rPr lang="en-GB"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r>
                            <a:rPr lang="en-AU" sz="2400" b="0" i="1" smtClean="0">
                              <a:latin typeface="Cambria Math" panose="02040503050406030204" pitchFamily="18" charset="0"/>
                            </a:rPr>
                            <m:t> </m:t>
                          </m:r>
                          <m:f>
                            <m:fPr>
                              <m:ctrlPr>
                                <a:rPr lang="en-GB" sz="2400" i="1" smtClean="0">
                                  <a:latin typeface="Cambria Math" panose="02040503050406030204" pitchFamily="18" charset="0"/>
                                </a:rPr>
                              </m:ctrlPr>
                            </m:fPr>
                            <m:num>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𝑛</m:t>
                                  </m:r>
                                  <m:r>
                                    <a:rPr lang="en-AU" sz="2400" b="0" i="1" smtClean="0">
                                      <a:latin typeface="Cambria Math" panose="02040503050406030204" pitchFamily="18" charset="0"/>
                                    </a:rPr>
                                    <m:t>+1</m:t>
                                  </m:r>
                                </m:e>
                              </m:d>
                              <m:r>
                                <a:rPr lang="en-AU" sz="2400" b="0" i="1" smtClean="0">
                                  <a:latin typeface="Cambria Math" panose="02040503050406030204" pitchFamily="18" charset="0"/>
                                </a:rPr>
                                <m:t>!</m:t>
                              </m:r>
                            </m:num>
                            <m:den>
                              <m:r>
                                <a:rPr lang="en-AU" sz="2400" b="0" i="1" smtClean="0">
                                  <a:latin typeface="Cambria Math" panose="02040503050406030204" pitchFamily="18" charset="0"/>
                                </a:rPr>
                                <m:t>𝑛</m:t>
                              </m:r>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𝑛</m:t>
                                  </m:r>
                                  <m:r>
                                    <a:rPr lang="en-AU" sz="2400" b="0" i="1" smtClean="0">
                                      <a:latin typeface="Cambria Math" panose="02040503050406030204" pitchFamily="18" charset="0"/>
                                    </a:rPr>
                                    <m:t>+1</m:t>
                                  </m:r>
                                </m:e>
                              </m:d>
                              <m:r>
                                <a:rPr lang="en-AU" sz="2400" b="0" i="1" smtClean="0">
                                  <a:latin typeface="Cambria Math" panose="02040503050406030204" pitchFamily="18" charset="0"/>
                                </a:rPr>
                                <m:t>!</m:t>
                              </m:r>
                            </m:den>
                          </m:f>
                        </m:e>
                      </m:func>
                    </m:oMath>
                  </m:oMathPara>
                </a14:m>
                <a:endParaRPr lang="en-GB" sz="2400" dirty="0">
                  <a:latin typeface="+mj-lt"/>
                </a:endParaRPr>
              </a:p>
            </p:txBody>
          </p:sp>
        </mc:Choice>
        <mc:Fallback>
          <p:sp>
            <p:nvSpPr>
              <p:cNvPr id="13" name="TextBox 12">
                <a:extLst>
                  <a:ext uri="{FF2B5EF4-FFF2-40B4-BE49-F238E27FC236}">
                    <a16:creationId xmlns:a16="http://schemas.microsoft.com/office/drawing/2014/main" id="{7FBFD2B1-6AB7-4530-9079-8B059D046CA7}"/>
                  </a:ext>
                </a:extLst>
              </p:cNvPr>
              <p:cNvSpPr txBox="1">
                <a:spLocks noRot="1" noChangeAspect="1" noMove="1" noResize="1" noEditPoints="1" noAdjustHandles="1" noChangeArrowheads="1" noChangeShapeType="1" noTextEdit="1"/>
              </p:cNvSpPr>
              <p:nvPr/>
            </p:nvSpPr>
            <p:spPr>
              <a:xfrm>
                <a:off x="240535" y="4204447"/>
                <a:ext cx="6760900" cy="1230658"/>
              </a:xfrm>
              <a:prstGeom prst="rect">
                <a:avLst/>
              </a:prstGeom>
              <a:blipFill>
                <a:blip r:embed="rId4"/>
                <a:stretch>
                  <a:fillRect l="-1351" t="-3960" r="-72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6EC5C72-6275-4DCE-9E39-D0145C03FE13}"/>
                  </a:ext>
                </a:extLst>
              </p:cNvPr>
              <p:cNvSpPr txBox="1"/>
              <p:nvPr/>
            </p:nvSpPr>
            <p:spPr>
              <a:xfrm>
                <a:off x="4805082" y="5199529"/>
                <a:ext cx="7761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solidFill>
                            <a:srgbClr val="FF0000"/>
                          </a:solidFill>
                          <a:latin typeface="Cambria Math" panose="02040503050406030204" pitchFamily="18" charset="0"/>
                        </a:rPr>
                        <m:t>=−1</m:t>
                      </m:r>
                    </m:oMath>
                  </m:oMathPara>
                </a14:m>
                <a:endParaRPr lang="en-GB" dirty="0">
                  <a:solidFill>
                    <a:srgbClr val="FF0000"/>
                  </a:solidFill>
                </a:endParaRPr>
              </a:p>
            </p:txBody>
          </p:sp>
        </mc:Choice>
        <mc:Fallback xmlns="">
          <p:sp>
            <p:nvSpPr>
              <p:cNvPr id="10" name="TextBox 9">
                <a:extLst>
                  <a:ext uri="{FF2B5EF4-FFF2-40B4-BE49-F238E27FC236}">
                    <a16:creationId xmlns:a16="http://schemas.microsoft.com/office/drawing/2014/main" id="{A6EC5C72-6275-4DCE-9E39-D0145C03FE13}"/>
                  </a:ext>
                </a:extLst>
              </p:cNvPr>
              <p:cNvSpPr txBox="1">
                <a:spLocks noRot="1" noChangeAspect="1" noMove="1" noResize="1" noEditPoints="1" noAdjustHandles="1" noChangeArrowheads="1" noChangeShapeType="1" noTextEdit="1"/>
              </p:cNvSpPr>
              <p:nvPr/>
            </p:nvSpPr>
            <p:spPr>
              <a:xfrm>
                <a:off x="4805082" y="5199529"/>
                <a:ext cx="776175" cy="369332"/>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06808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765424" cy="523220"/>
          </a:xfrm>
          <a:prstGeom prst="rect">
            <a:avLst/>
          </a:prstGeom>
          <a:noFill/>
        </p:spPr>
        <p:txBody>
          <a:bodyPr wrap="none" rtlCol="0">
            <a:spAutoFit/>
          </a:bodyPr>
          <a:lstStyle/>
          <a:p>
            <a:r>
              <a:rPr lang="en-AU" sz="2800" b="1" cap="small" dirty="0">
                <a:solidFill>
                  <a:schemeClr val="bg1"/>
                </a:solidFill>
                <a:latin typeface="+mj-lt"/>
              </a:rPr>
              <a:t>3.5 The sandwich theorem for sequences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20336" y="953300"/>
                <a:ext cx="11710929" cy="4716419"/>
              </a:xfrm>
              <a:prstGeom prst="rect">
                <a:avLst/>
              </a:prstGeom>
              <a:noFill/>
            </p:spPr>
            <p:txBody>
              <a:bodyPr wrap="square" rtlCol="0">
                <a:spAutoFit/>
              </a:bodyPr>
              <a:lstStyle/>
              <a:p>
                <a:pPr>
                  <a:spcAft>
                    <a:spcPts val="1200"/>
                  </a:spcAft>
                </a:pPr>
                <a:r>
                  <a:rPr lang="en-AU" sz="2400" dirty="0">
                    <a:latin typeface="+mj-lt"/>
                  </a:rPr>
                  <a:t>Theorem (The sandwich theorem for sequences). Given </a:t>
                </a:r>
                <a14:m>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and three sequences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 </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𝑏</m:t>
                        </m:r>
                      </m:e>
                      <m:sub>
                        <m:r>
                          <a:rPr lang="en-AU" sz="2400" b="0" i="1" smtClean="0">
                            <a:latin typeface="Cambria Math" panose="02040503050406030204" pitchFamily="18" charset="0"/>
                          </a:rPr>
                          <m:t>𝑛</m:t>
                        </m:r>
                      </m:sub>
                    </m:sSub>
                  </m:oMath>
                </a14:m>
                <a:r>
                  <a:rPr lang="en-GB" sz="2400" dirty="0">
                    <a:latin typeface="+mj-lt"/>
                  </a:rPr>
                  <a:t> and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𝑛</m:t>
                        </m:r>
                      </m:sub>
                    </m:sSub>
                  </m:oMath>
                </a14:m>
                <a:r>
                  <a:rPr lang="en-GB" sz="2400" dirty="0">
                    <a:latin typeface="+mj-lt"/>
                  </a:rPr>
                  <a:t>. If for every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larger than a number </a:t>
                </a:r>
                <a14:m>
                  <m:oMath xmlns:m="http://schemas.openxmlformats.org/officeDocument/2006/math">
                    <m:r>
                      <a:rPr lang="en-AU" sz="2400" b="0" i="1" smtClean="0">
                        <a:latin typeface="Cambria Math" panose="02040503050406030204" pitchFamily="18" charset="0"/>
                      </a:rPr>
                      <m:t>𝑁</m:t>
                    </m:r>
                  </m:oMath>
                </a14:m>
                <a:r>
                  <a:rPr lang="en-GB" sz="2400" dirty="0">
                    <a:latin typeface="+mj-lt"/>
                  </a:rPr>
                  <a:t>, we have</a:t>
                </a:r>
              </a:p>
              <a:p>
                <a:pPr>
                  <a:spcAft>
                    <a:spcPts val="1200"/>
                  </a:spcAft>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𝑏</m:t>
                          </m:r>
                        </m:e>
                        <m:sub>
                          <m:r>
                            <a:rPr lang="en-AU" sz="2400" b="0" i="1" smtClean="0">
                              <a:latin typeface="Cambria Math" panose="02040503050406030204" pitchFamily="18" charset="0"/>
                            </a:rPr>
                            <m:t>𝑛</m:t>
                          </m:r>
                        </m:sub>
                      </m:sSub>
                      <m:r>
                        <a:rPr lang="en-GB" sz="2400" i="1" smtClean="0">
                          <a:latin typeface="Cambria Math" panose="02040503050406030204" pitchFamily="18" charset="0"/>
                          <a:ea typeface="Cambria Math" panose="02040503050406030204" pitchFamily="18" charset="0"/>
                        </a:rPr>
                        <m:t>≤</m:t>
                      </m:r>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r>
                        <a:rPr lang="en-GB" sz="2400" i="1" smtClean="0">
                          <a:latin typeface="Cambria Math" panose="02040503050406030204" pitchFamily="18" charset="0"/>
                          <a:ea typeface="Cambria Math" panose="02040503050406030204" pitchFamily="18" charset="0"/>
                        </a:rPr>
                        <m:t>≤</m:t>
                      </m:r>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𝑛</m:t>
                          </m:r>
                        </m:sub>
                      </m:sSub>
                    </m:oMath>
                  </m:oMathPara>
                </a14:m>
                <a:endParaRPr lang="en-GB" sz="2400" dirty="0">
                  <a:latin typeface="+mj-lt"/>
                </a:endParaRPr>
              </a:p>
              <a:p>
                <a:pPr>
                  <a:spcAft>
                    <a:spcPts val="1200"/>
                  </a:spcAft>
                </a:pPr>
                <a:r>
                  <a:rPr lang="en-GB" sz="2400" dirty="0">
                    <a:latin typeface="+mj-lt"/>
                  </a:rPr>
                  <a:t>and </a:t>
                </a:r>
              </a:p>
              <a:p>
                <a:pPr>
                  <a:spcAft>
                    <a:spcPts val="1200"/>
                  </a:spcAft>
                </a:pPr>
                <a14:m>
                  <m:oMathPara xmlns:m="http://schemas.openxmlformats.org/officeDocument/2006/math">
                    <m:oMathParaPr>
                      <m:jc m:val="centerGroup"/>
                    </m:oMathParaPr>
                    <m:oMath xmlns:m="http://schemas.openxmlformats.org/officeDocument/2006/math">
                      <m:func>
                        <m:funcPr>
                          <m:ctrlPr>
                            <a:rPr lang="en-GB" sz="2400" i="1" smtClean="0">
                              <a:latin typeface="Cambria Math" panose="02040503050406030204" pitchFamily="18" charset="0"/>
                            </a:rPr>
                          </m:ctrlPr>
                        </m:funcPr>
                        <m:fName>
                          <m:limLow>
                            <m:limLowPr>
                              <m:ctrlPr>
                                <a:rPr lang="en-GB" sz="2400" i="1" smtClean="0">
                                  <a:latin typeface="Cambria Math" panose="02040503050406030204" pitchFamily="18" charset="0"/>
                                </a:rPr>
                              </m:ctrlPr>
                            </m:limLowPr>
                            <m:e>
                              <m:r>
                                <m:rPr>
                                  <m:sty m:val="p"/>
                                </m:rPr>
                                <a:rPr lang="en-GB"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𝑏</m:t>
                              </m:r>
                            </m:e>
                            <m:sub>
                              <m:r>
                                <a:rPr lang="en-AU" sz="2400" b="0" i="1" smtClean="0">
                                  <a:latin typeface="Cambria Math" panose="02040503050406030204" pitchFamily="18" charset="0"/>
                                </a:rPr>
                                <m:t>𝑛</m:t>
                              </m:r>
                            </m:sub>
                          </m:sSub>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𝑛</m:t>
                              </m:r>
                            </m:sub>
                          </m:sSub>
                        </m:e>
                      </m:func>
                      <m:r>
                        <a:rPr lang="en-AU" sz="2400" b="0" i="1" smtClean="0">
                          <a:latin typeface="Cambria Math" panose="02040503050406030204" pitchFamily="18" charset="0"/>
                        </a:rPr>
                        <m:t>=</m:t>
                      </m:r>
                      <m:r>
                        <a:rPr lang="en-AU" sz="2400" b="0" i="1" smtClean="0">
                          <a:latin typeface="Cambria Math" panose="02040503050406030204" pitchFamily="18" charset="0"/>
                        </a:rPr>
                        <m:t>𝐿</m:t>
                      </m:r>
                    </m:oMath>
                  </m:oMathPara>
                </a14:m>
                <a:endParaRPr lang="en-GB" sz="2400" dirty="0">
                  <a:latin typeface="+mj-lt"/>
                </a:endParaRPr>
              </a:p>
              <a:p>
                <a:pPr>
                  <a:spcAft>
                    <a:spcPts val="1200"/>
                  </a:spcAft>
                </a:pPr>
                <a:r>
                  <a:rPr lang="en-GB" sz="2400" dirty="0">
                    <a:latin typeface="+mj-lt"/>
                  </a:rPr>
                  <a:t>then </a:t>
                </a:r>
              </a:p>
              <a:p>
                <a:pPr>
                  <a:spcAft>
                    <a:spcPts val="1200"/>
                  </a:spcAft>
                </a:pPr>
                <a14:m>
                  <m:oMathPara xmlns:m="http://schemas.openxmlformats.org/officeDocument/2006/math">
                    <m:oMathParaPr>
                      <m:jc m:val="centerGroup"/>
                    </m:oMathParaPr>
                    <m:oMath xmlns:m="http://schemas.openxmlformats.org/officeDocument/2006/math">
                      <m:func>
                        <m:funcPr>
                          <m:ctrlPr>
                            <a:rPr lang="en-GB" sz="2400" i="1" smtClean="0">
                              <a:latin typeface="Cambria Math" panose="02040503050406030204" pitchFamily="18" charset="0"/>
                            </a:rPr>
                          </m:ctrlPr>
                        </m:funcPr>
                        <m:fName>
                          <m:limLow>
                            <m:limLowPr>
                              <m:ctrlPr>
                                <a:rPr lang="en-GB" sz="2400" i="1" smtClean="0">
                                  <a:latin typeface="Cambria Math" panose="02040503050406030204" pitchFamily="18" charset="0"/>
                                </a:rPr>
                              </m:ctrlPr>
                            </m:limLowPr>
                            <m:e>
                              <m:r>
                                <m:rPr>
                                  <m:sty m:val="p"/>
                                </m:rPr>
                                <a:rPr lang="en-GB"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e>
                      </m:func>
                      <m:r>
                        <a:rPr lang="en-AU" sz="2400" b="0" i="1" smtClean="0">
                          <a:latin typeface="Cambria Math" panose="02040503050406030204" pitchFamily="18" charset="0"/>
                        </a:rPr>
                        <m:t>=</m:t>
                      </m:r>
                      <m:r>
                        <a:rPr lang="en-AU" sz="2400" b="0" i="1" smtClean="0">
                          <a:latin typeface="Cambria Math" panose="02040503050406030204" pitchFamily="18" charset="0"/>
                        </a:rPr>
                        <m:t>𝐿</m:t>
                      </m:r>
                    </m:oMath>
                  </m:oMathPara>
                </a14:m>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Note that we are only interested in the trend of the sequences for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m:t>
                    </m:r>
                  </m:oMath>
                </a14:m>
                <a:r>
                  <a:rPr lang="en-GB" sz="2400" dirty="0">
                    <a:latin typeface="+mj-lt"/>
                  </a:rPr>
                  <a:t>.</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20336" y="953300"/>
                <a:ext cx="11710929" cy="4716419"/>
              </a:xfrm>
              <a:prstGeom prst="rect">
                <a:avLst/>
              </a:prstGeom>
              <a:blipFill>
                <a:blip r:embed="rId2"/>
                <a:stretch>
                  <a:fillRect l="-781" t="-1034" b="-1938"/>
                </a:stretch>
              </a:blipFill>
            </p:spPr>
            <p:txBody>
              <a:bodyPr/>
              <a:lstStyle/>
              <a:p>
                <a:r>
                  <a:rPr lang="en-GB">
                    <a:noFill/>
                  </a:rPr>
                  <a:t> </a:t>
                </a:r>
              </a:p>
            </p:txBody>
          </p:sp>
        </mc:Fallback>
      </mc:AlternateContent>
    </p:spTree>
    <p:extLst>
      <p:ext uri="{BB962C8B-B14F-4D97-AF65-F5344CB8AC3E}">
        <p14:creationId xmlns:p14="http://schemas.microsoft.com/office/powerpoint/2010/main" val="411232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765424" cy="523220"/>
          </a:xfrm>
          <a:prstGeom prst="rect">
            <a:avLst/>
          </a:prstGeom>
          <a:noFill/>
        </p:spPr>
        <p:txBody>
          <a:bodyPr wrap="none" rtlCol="0">
            <a:spAutoFit/>
          </a:bodyPr>
          <a:lstStyle/>
          <a:p>
            <a:r>
              <a:rPr lang="en-AU" sz="2800" b="1" cap="small" dirty="0">
                <a:solidFill>
                  <a:schemeClr val="bg1"/>
                </a:solidFill>
                <a:latin typeface="+mj-lt"/>
              </a:rPr>
              <a:t>3.5 The sandwich theorem for sequences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20336" y="953300"/>
                <a:ext cx="11710929" cy="3427477"/>
              </a:xfrm>
              <a:prstGeom prst="rect">
                <a:avLst/>
              </a:prstGeom>
              <a:noFill/>
            </p:spPr>
            <p:txBody>
              <a:bodyPr wrap="square" rtlCol="0">
                <a:spAutoFit/>
              </a:bodyPr>
              <a:lstStyle/>
              <a:p>
                <a:pPr>
                  <a:spcAft>
                    <a:spcPts val="1200"/>
                  </a:spcAft>
                </a:pPr>
                <a:r>
                  <a:rPr lang="en-AU" sz="2400" dirty="0">
                    <a:latin typeface="+mj-lt"/>
                  </a:rPr>
                  <a:t>Evaluate the following limits using the sandwich theorem.</a:t>
                </a:r>
              </a:p>
              <a:p>
                <a:pPr>
                  <a:spcAft>
                    <a:spcPts val="1200"/>
                  </a:spcAft>
                </a:pPr>
                <a:r>
                  <a:rPr lang="en-AU" sz="2400" dirty="0">
                    <a:latin typeface="+mj-lt"/>
                  </a:rPr>
                  <a:t>1. </a:t>
                </a:r>
                <a14:m>
                  <m:oMath xmlns:m="http://schemas.openxmlformats.org/officeDocument/2006/math">
                    <m:func>
                      <m:funcPr>
                        <m:ctrlPr>
                          <a:rPr lang="en-GB" sz="2400" i="1" smtClean="0">
                            <a:latin typeface="Cambria Math" panose="02040503050406030204" pitchFamily="18" charset="0"/>
                          </a:rPr>
                        </m:ctrlPr>
                      </m:funcPr>
                      <m:fName>
                        <m:limLow>
                          <m:limLowPr>
                            <m:ctrlPr>
                              <a:rPr lang="en-GB" sz="2400" i="1" smtClean="0">
                                <a:latin typeface="Cambria Math" panose="02040503050406030204" pitchFamily="18" charset="0"/>
                              </a:rPr>
                            </m:ctrlPr>
                          </m:limLowPr>
                          <m:e>
                            <m:r>
                              <m:rPr>
                                <m:sty m:val="p"/>
                              </m:rPr>
                              <a:rPr lang="en-GB"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−1</m:t>
                                </m:r>
                              </m:e>
                            </m:d>
                          </m:e>
                          <m:sup>
                            <m:r>
                              <a:rPr lang="en-AU" sz="2400" b="0" i="1" smtClean="0">
                                <a:latin typeface="Cambria Math" panose="02040503050406030204" pitchFamily="18" charset="0"/>
                              </a:rPr>
                              <m:t>𝑛</m:t>
                            </m:r>
                          </m:sup>
                        </m:sSup>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m:t>
                            </m:r>
                            <m:r>
                              <a:rPr lang="en-AU" sz="2400" b="0" i="1" smtClean="0">
                                <a:latin typeface="Cambria Math" panose="02040503050406030204" pitchFamily="18" charset="0"/>
                              </a:rPr>
                              <m:t>𝑛</m:t>
                            </m:r>
                          </m:sup>
                        </m:sSup>
                      </m:e>
                    </m:func>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2.</a:t>
                </a:r>
                <a14:m>
                  <m:oMath xmlns:m="http://schemas.openxmlformats.org/officeDocument/2006/math">
                    <m:func>
                      <m:funcPr>
                        <m:ctrlPr>
                          <a:rPr lang="en-GB" sz="2400" i="1">
                            <a:latin typeface="Cambria Math" panose="02040503050406030204" pitchFamily="18" charset="0"/>
                          </a:rPr>
                        </m:ctrlPr>
                      </m:funcPr>
                      <m:fName>
                        <m:limLow>
                          <m:limLowPr>
                            <m:ctrlPr>
                              <a:rPr lang="en-GB" sz="2400" i="1">
                                <a:latin typeface="Cambria Math" panose="02040503050406030204" pitchFamily="18" charset="0"/>
                              </a:rPr>
                            </m:ctrlPr>
                          </m:limLowPr>
                          <m:e>
                            <m:r>
                              <m:rPr>
                                <m:sty m:val="p"/>
                              </m:rPr>
                              <a:rPr lang="en-GB" sz="2400">
                                <a:latin typeface="Cambria Math" panose="02040503050406030204" pitchFamily="18" charset="0"/>
                              </a:rPr>
                              <m:t>lim</m:t>
                            </m:r>
                          </m:e>
                          <m:lim>
                            <m:r>
                              <a:rPr lang="en-AU" sz="2400" i="1">
                                <a:latin typeface="Cambria Math" panose="02040503050406030204" pitchFamily="18" charset="0"/>
                              </a:rPr>
                              <m:t>𝑛</m:t>
                            </m:r>
                            <m:r>
                              <a:rPr lang="en-AU" sz="2400" i="1">
                                <a:latin typeface="Cambria Math" panose="02040503050406030204" pitchFamily="18" charset="0"/>
                              </a:rPr>
                              <m:t>→∞</m:t>
                            </m:r>
                          </m:lim>
                        </m:limLow>
                      </m:fName>
                      <m:e>
                        <m:f>
                          <m:fPr>
                            <m:ctrlPr>
                              <a:rPr lang="en-AU" sz="2400" i="1" smtClean="0">
                                <a:latin typeface="Cambria Math" panose="02040503050406030204" pitchFamily="18" charset="0"/>
                              </a:rPr>
                            </m:ctrlPr>
                          </m:fPr>
                          <m:num>
                            <m:r>
                              <a:rPr lang="en-AU" sz="2400" b="0" i="1" smtClean="0">
                                <a:latin typeface="Cambria Math" panose="02040503050406030204" pitchFamily="18" charset="0"/>
                              </a:rPr>
                              <m:t>𝑛</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𝑛</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e>
                            </m:func>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𝑛</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+1</m:t>
                            </m:r>
                          </m:den>
                        </m:f>
                      </m:e>
                    </m:func>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20336" y="953300"/>
                <a:ext cx="11710929" cy="3427477"/>
              </a:xfrm>
              <a:prstGeom prst="rect">
                <a:avLst/>
              </a:prstGeom>
              <a:blipFill>
                <a:blip r:embed="rId2"/>
                <a:stretch>
                  <a:fillRect l="-781" t="-1421"/>
                </a:stretch>
              </a:blipFill>
            </p:spPr>
            <p:txBody>
              <a:bodyPr/>
              <a:lstStyle/>
              <a:p>
                <a:r>
                  <a:rPr lang="en-GB">
                    <a:noFill/>
                  </a:rPr>
                  <a:t> </a:t>
                </a:r>
              </a:p>
            </p:txBody>
          </p:sp>
        </mc:Fallback>
      </mc:AlternateContent>
    </p:spTree>
    <p:extLst>
      <p:ext uri="{BB962C8B-B14F-4D97-AF65-F5344CB8AC3E}">
        <p14:creationId xmlns:p14="http://schemas.microsoft.com/office/powerpoint/2010/main" val="2687036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688148" cy="523220"/>
          </a:xfrm>
          <a:prstGeom prst="rect">
            <a:avLst/>
          </a:prstGeom>
          <a:noFill/>
        </p:spPr>
        <p:txBody>
          <a:bodyPr wrap="none" rtlCol="0">
            <a:spAutoFit/>
          </a:bodyPr>
          <a:lstStyle/>
          <a:p>
            <a:r>
              <a:rPr lang="en-AU" sz="2800" b="1" cap="small" dirty="0">
                <a:solidFill>
                  <a:schemeClr val="bg1"/>
                </a:solidFill>
                <a:latin typeface="+mj-lt"/>
              </a:rPr>
              <a:t>3.6 The relation between sequences and continuous functions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20336" y="953300"/>
                <a:ext cx="11710929" cy="4656852"/>
              </a:xfrm>
              <a:prstGeom prst="rect">
                <a:avLst/>
              </a:prstGeom>
              <a:noFill/>
            </p:spPr>
            <p:txBody>
              <a:bodyPr wrap="square" rtlCol="0">
                <a:spAutoFit/>
              </a:bodyPr>
              <a:lstStyle/>
              <a:p>
                <a:pPr>
                  <a:spcAft>
                    <a:spcPts val="1200"/>
                  </a:spcAft>
                </a:pPr>
                <a:r>
                  <a:rPr lang="en-AU" sz="2400" dirty="0">
                    <a:latin typeface="+mj-lt"/>
                  </a:rPr>
                  <a:t>Theorem (Limits of sequences and continuity)</a:t>
                </a:r>
              </a:p>
              <a:p>
                <a:pPr>
                  <a:spcAft>
                    <a:spcPts val="1200"/>
                  </a:spcAft>
                </a:pPr>
                <a:r>
                  <a:rPr lang="en-AU" sz="2400" dirty="0">
                    <a:latin typeface="+mj-lt"/>
                  </a:rPr>
                  <a:t>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AU" sz="2400" dirty="0">
                    <a:latin typeface="+mj-lt"/>
                  </a:rPr>
                  <a:t> continuous at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oMath>
                </a14:m>
                <a:r>
                  <a:rPr lang="en-AU" sz="2400" dirty="0">
                    <a:latin typeface="+mj-lt"/>
                  </a:rPr>
                  <a:t> and given a sequence </a:t>
                </a:r>
                <a14:m>
                  <m:oMath xmlns:m="http://schemas.openxmlformats.org/officeDocument/2006/math">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oMath>
                </a14:m>
                <a:r>
                  <a:rPr lang="en-AU" sz="2400" dirty="0">
                    <a:latin typeface="+mj-lt"/>
                  </a:rPr>
                  <a:t> such that</a:t>
                </a:r>
              </a:p>
              <a:p>
                <a:pPr>
                  <a:spcAft>
                    <a:spcPts val="1200"/>
                  </a:spcAft>
                </a:pPr>
                <a14:m>
                  <m:oMathPara xmlns:m="http://schemas.openxmlformats.org/officeDocument/2006/math">
                    <m:oMathParaPr>
                      <m:jc m:val="centerGroup"/>
                    </m:oMathParaPr>
                    <m:oMath xmlns:m="http://schemas.openxmlformats.org/officeDocument/2006/math">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e>
                      </m:func>
                      <m:r>
                        <a:rPr lang="en-AU" sz="2400" b="0" i="1" smtClean="0">
                          <a:latin typeface="Cambria Math" panose="02040503050406030204" pitchFamily="18" charset="0"/>
                        </a:rPr>
                        <m:t>=</m:t>
                      </m:r>
                      <m:r>
                        <a:rPr lang="en-AU" sz="2400" b="0" i="1" smtClean="0">
                          <a:latin typeface="Cambria Math" panose="02040503050406030204" pitchFamily="18" charset="0"/>
                        </a:rPr>
                        <m:t>𝑎</m:t>
                      </m:r>
                    </m:oMath>
                  </m:oMathPara>
                </a14:m>
                <a:endParaRPr lang="en-AU" sz="2400" dirty="0">
                  <a:latin typeface="+mj-lt"/>
                </a:endParaRPr>
              </a:p>
              <a:p>
                <a:pPr>
                  <a:spcAft>
                    <a:spcPts val="1200"/>
                  </a:spcAft>
                </a:pPr>
                <a:r>
                  <a:rPr lang="en-AU" sz="2400" dirty="0">
                    <a:latin typeface="+mj-lt"/>
                  </a:rPr>
                  <a:t>then</a:t>
                </a:r>
              </a:p>
              <a:p>
                <a:pPr>
                  <a:spcAft>
                    <a:spcPts val="1200"/>
                  </a:spcAft>
                </a:pPr>
                <a14:m>
                  <m:oMathPara xmlns:m="http://schemas.openxmlformats.org/officeDocument/2006/math">
                    <m:oMathParaPr>
                      <m:jc m:val="centerGroup"/>
                    </m:oMathParaPr>
                    <m:oMath xmlns:m="http://schemas.openxmlformats.org/officeDocument/2006/math">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e>
                      </m:func>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e>
                          </m:func>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oMath>
                  </m:oMathPara>
                </a14:m>
                <a:endParaRPr lang="en-AU" sz="2400" dirty="0">
                  <a:latin typeface="+mj-lt"/>
                </a:endParaRPr>
              </a:p>
              <a:p>
                <a:pPr>
                  <a:spcAft>
                    <a:spcPts val="1200"/>
                  </a:spcAft>
                </a:pPr>
                <a:endParaRPr lang="en-AU" sz="2400" dirty="0">
                  <a:latin typeface="+mj-lt"/>
                </a:endParaRPr>
              </a:p>
              <a:p>
                <a:pPr>
                  <a:spcAft>
                    <a:spcPts val="1200"/>
                  </a:spcAft>
                </a:pPr>
                <a:r>
                  <a:rPr lang="en-AU" sz="2400" dirty="0">
                    <a:latin typeface="+mj-lt"/>
                  </a:rPr>
                  <a:t>This theorem allows us to take the limit operation inside any sequence that contains standard continuous functions, i.e. any sequence that is “built” with polynomials, rational, trigonometric, hyperbolic, power, logarithmic and exponential expressions.</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20336" y="953300"/>
                <a:ext cx="11710929" cy="4656852"/>
              </a:xfrm>
              <a:prstGeom prst="rect">
                <a:avLst/>
              </a:prstGeom>
              <a:blipFill>
                <a:blip r:embed="rId2"/>
                <a:stretch>
                  <a:fillRect l="-781" t="-1047" r="-104" b="-1963"/>
                </a:stretch>
              </a:blipFill>
            </p:spPr>
            <p:txBody>
              <a:bodyPr/>
              <a:lstStyle/>
              <a:p>
                <a:r>
                  <a:rPr lang="en-GB">
                    <a:noFill/>
                  </a:rPr>
                  <a:t> </a:t>
                </a:r>
              </a:p>
            </p:txBody>
          </p:sp>
        </mc:Fallback>
      </mc:AlternateContent>
    </p:spTree>
    <p:extLst>
      <p:ext uri="{BB962C8B-B14F-4D97-AF65-F5344CB8AC3E}">
        <p14:creationId xmlns:p14="http://schemas.microsoft.com/office/powerpoint/2010/main" val="914918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688148" cy="523220"/>
          </a:xfrm>
          <a:prstGeom prst="rect">
            <a:avLst/>
          </a:prstGeom>
          <a:noFill/>
        </p:spPr>
        <p:txBody>
          <a:bodyPr wrap="none" rtlCol="0">
            <a:spAutoFit/>
          </a:bodyPr>
          <a:lstStyle/>
          <a:p>
            <a:r>
              <a:rPr lang="en-AU" sz="2800" b="1" cap="small" dirty="0">
                <a:solidFill>
                  <a:schemeClr val="bg1"/>
                </a:solidFill>
                <a:latin typeface="+mj-lt"/>
              </a:rPr>
              <a:t>3.6 The relation between sequences and continuous functions</a:t>
            </a:r>
            <a:endParaRPr lang="en-GB" sz="2800" b="1" cap="small" dirty="0">
              <a:solidFill>
                <a:schemeClr val="bg1"/>
              </a:solidFill>
              <a:latin typeface="+mj-lt"/>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585597E-7235-44B2-927C-87BAFA271873}"/>
                  </a:ext>
                </a:extLst>
              </p:cNvPr>
              <p:cNvSpPr txBox="1"/>
              <p:nvPr/>
            </p:nvSpPr>
            <p:spPr>
              <a:xfrm>
                <a:off x="240535" y="953300"/>
                <a:ext cx="11710929" cy="4462375"/>
              </a:xfrm>
              <a:prstGeom prst="rect">
                <a:avLst/>
              </a:prstGeom>
              <a:noFill/>
            </p:spPr>
            <p:txBody>
              <a:bodyPr wrap="square" rtlCol="0">
                <a:spAutoFit/>
              </a:bodyPr>
              <a:lstStyle/>
              <a:p>
                <a:pPr>
                  <a:spcAft>
                    <a:spcPts val="1200"/>
                  </a:spcAft>
                </a:pPr>
                <a:r>
                  <a:rPr lang="en-AU" sz="2400" dirty="0">
                    <a:latin typeface="+mj-lt"/>
                  </a:rPr>
                  <a:t>Evaluate the following limits.</a:t>
                </a:r>
              </a:p>
              <a:p>
                <a:pPr>
                  <a:spcAft>
                    <a:spcPts val="1200"/>
                  </a:spcAft>
                </a:pPr>
                <a:r>
                  <a:rPr lang="en-AU" sz="2400" dirty="0">
                    <a:latin typeface="+mj-lt"/>
                  </a:rPr>
                  <a:t>1. </a:t>
                </a:r>
                <a14:m>
                  <m:oMath xmlns:m="http://schemas.openxmlformats.org/officeDocument/2006/math">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m:t>
                            </m:r>
                          </m:fName>
                          <m:e>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m:t>
                                </m:r>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m:t>
                                    </m:r>
                                    <m:r>
                                      <a:rPr lang="en-AU" sz="2400" b="0" i="1" smtClean="0">
                                        <a:latin typeface="Cambria Math" panose="02040503050406030204" pitchFamily="18" charset="0"/>
                                      </a:rPr>
                                      <m:t>𝑛</m:t>
                                    </m:r>
                                  </m:sup>
                                </m:sSup>
                              </m:e>
                            </m:rad>
                            <m:r>
                              <a:rPr lang="en-AU" sz="2400" b="0" i="1" smtClean="0">
                                <a:latin typeface="Cambria Math" panose="02040503050406030204" pitchFamily="18" charset="0"/>
                              </a:rPr>
                              <m:t>)</m:t>
                            </m:r>
                          </m:e>
                        </m:func>
                      </m:e>
                    </m:func>
                  </m:oMath>
                </a14:m>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r>
                  <a:rPr lang="en-AU" sz="2400" dirty="0">
                    <a:latin typeface="+mj-lt"/>
                  </a:rPr>
                  <a:t>2. </a:t>
                </a:r>
                <a14:m>
                  <m:oMath xmlns:m="http://schemas.openxmlformats.org/officeDocument/2006/math">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𝑛</m:t>
                            </m:r>
                            <m:r>
                              <a:rPr lang="en-AU" sz="2400" b="0" i="1" smtClean="0">
                                <a:latin typeface="Cambria Math" panose="02040503050406030204" pitchFamily="18" charset="0"/>
                              </a:rPr>
                              <m:t>→∞</m:t>
                            </m:r>
                          </m:lim>
                        </m:limLow>
                      </m:fName>
                      <m:e>
                        <m:d>
                          <m:dPr>
                            <m:ctrlPr>
                              <a:rPr lang="en-AU" sz="2400" i="1">
                                <a:latin typeface="Cambria Math" panose="02040503050406030204" pitchFamily="18" charset="0"/>
                              </a:rPr>
                            </m:ctrlPr>
                          </m:dPr>
                          <m:e>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arctan</m:t>
                                </m:r>
                              </m:fName>
                              <m:e>
                                <m:d>
                                  <m:dPr>
                                    <m:ctrlPr>
                                      <a:rPr lang="en-AU" sz="2400" i="1">
                                        <a:latin typeface="Cambria Math" panose="02040503050406030204" pitchFamily="18" charset="0"/>
                                      </a:rPr>
                                    </m:ctrlPr>
                                  </m:dPr>
                                  <m:e>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2</m:t>
                                        </m:r>
                                      </m:num>
                                      <m:den>
                                        <m:sSup>
                                          <m:sSupPr>
                                            <m:ctrlPr>
                                              <a:rPr lang="en-AU" sz="2400" i="1">
                                                <a:latin typeface="Cambria Math" panose="02040503050406030204" pitchFamily="18" charset="0"/>
                                              </a:rPr>
                                            </m:ctrlPr>
                                          </m:sSupPr>
                                          <m:e>
                                            <m:r>
                                              <a:rPr lang="en-AU" sz="2400" i="1">
                                                <a:latin typeface="Cambria Math" panose="02040503050406030204" pitchFamily="18" charset="0"/>
                                              </a:rPr>
                                              <m:t>𝑛</m:t>
                                            </m:r>
                                          </m:e>
                                          <m:sup>
                                            <m:r>
                                              <a:rPr lang="en-AU" sz="2400" i="1">
                                                <a:latin typeface="Cambria Math" panose="02040503050406030204" pitchFamily="18" charset="0"/>
                                              </a:rPr>
                                              <m:t>2</m:t>
                                            </m:r>
                                          </m:sup>
                                        </m:sSup>
                                      </m:den>
                                    </m:f>
                                  </m:e>
                                </m:d>
                                <m:r>
                                  <a:rPr lang="en-AU" sz="2400" i="1">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exp</m:t>
                                    </m:r>
                                  </m:fName>
                                  <m:e>
                                    <m:d>
                                      <m:dPr>
                                        <m:ctrlPr>
                                          <a:rPr lang="en-AU" sz="2400" i="1">
                                            <a:latin typeface="Cambria Math" panose="02040503050406030204" pitchFamily="18" charset="0"/>
                                          </a:rPr>
                                        </m:ctrlPr>
                                      </m:dPr>
                                      <m:e>
                                        <m:f>
                                          <m:fPr>
                                            <m:ctrlPr>
                                              <a:rPr lang="en-AU" sz="2400" i="1">
                                                <a:latin typeface="Cambria Math" panose="02040503050406030204" pitchFamily="18" charset="0"/>
                                              </a:rPr>
                                            </m:ctrlPr>
                                          </m:fPr>
                                          <m:num>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fName>
                                              <m:e>
                                                <m:r>
                                                  <a:rPr lang="en-AU" sz="2400" i="1">
                                                    <a:latin typeface="Cambria Math" panose="02040503050406030204" pitchFamily="18" charset="0"/>
                                                  </a:rPr>
                                                  <m:t>𝑛</m:t>
                                                </m:r>
                                              </m:e>
                                            </m:func>
                                          </m:num>
                                          <m:den>
                                            <m:r>
                                              <a:rPr lang="en-AU" sz="2400" i="1">
                                                <a:latin typeface="Cambria Math" panose="02040503050406030204" pitchFamily="18" charset="0"/>
                                              </a:rPr>
                                              <m:t>𝑛</m:t>
                                            </m:r>
                                          </m:den>
                                        </m:f>
                                      </m:e>
                                    </m:d>
                                  </m:e>
                                </m:func>
                              </m:e>
                            </m:func>
                          </m:e>
                        </m:d>
                      </m:e>
                    </m:func>
                  </m:oMath>
                </a14:m>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p:txBody>
          </p:sp>
        </mc:Choice>
        <mc:Fallback>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53300"/>
                <a:ext cx="11710929" cy="4462375"/>
              </a:xfrm>
              <a:prstGeom prst="rect">
                <a:avLst/>
              </a:prstGeom>
              <a:blipFill>
                <a:blip r:embed="rId2"/>
                <a:stretch>
                  <a:fillRect l="-780" t="-1093"/>
                </a:stretch>
              </a:blipFill>
            </p:spPr>
            <p:txBody>
              <a:bodyPr/>
              <a:lstStyle/>
              <a:p>
                <a:r>
                  <a:rPr lang="en-AU">
                    <a:noFill/>
                  </a:rPr>
                  <a:t> </a:t>
                </a:r>
              </a:p>
            </p:txBody>
          </p:sp>
        </mc:Fallback>
      </mc:AlternateContent>
    </p:spTree>
    <p:extLst>
      <p:ext uri="{BB962C8B-B14F-4D97-AF65-F5344CB8AC3E}">
        <p14:creationId xmlns:p14="http://schemas.microsoft.com/office/powerpoint/2010/main" val="1044279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978385" cy="523220"/>
          </a:xfrm>
          <a:prstGeom prst="rect">
            <a:avLst/>
          </a:prstGeom>
          <a:noFill/>
        </p:spPr>
        <p:txBody>
          <a:bodyPr wrap="none" rtlCol="0">
            <a:spAutoFit/>
          </a:bodyPr>
          <a:lstStyle/>
          <a:p>
            <a:r>
              <a:rPr lang="en-AU" sz="2800" b="1" cap="small" dirty="0">
                <a:solidFill>
                  <a:schemeClr val="bg1"/>
                </a:solidFill>
                <a:latin typeface="+mj-lt"/>
              </a:rPr>
              <a:t>4.1 Definition and interpretation of the derivative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1845748"/>
                <a:ext cx="11710929" cy="4665123"/>
              </a:xfrm>
              <a:prstGeom prst="rect">
                <a:avLst/>
              </a:prstGeom>
              <a:noFill/>
            </p:spPr>
            <p:txBody>
              <a:bodyPr wrap="square" rtlCol="0">
                <a:spAutoFit/>
              </a:bodyPr>
              <a:lstStyle/>
              <a:p>
                <a:pPr>
                  <a:spcAft>
                    <a:spcPts val="1200"/>
                  </a:spcAft>
                </a:pPr>
                <a:r>
                  <a:rPr lang="en-AU" sz="2400" dirty="0">
                    <a:latin typeface="+mj-lt"/>
                  </a:rPr>
                  <a:t>Definition (Derivative).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the following limit</a:t>
                </a:r>
              </a:p>
              <a:p>
                <a:pPr>
                  <a:spcAft>
                    <a:spcPts val="1200"/>
                  </a:spcAft>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r>
                        <a:rPr lang="en-AU" sz="2400" b="0" i="1" smtClean="0">
                          <a:latin typeface="Cambria Math" panose="02040503050406030204" pitchFamily="18" charset="0"/>
                        </a:rPr>
                        <m:t>=</m:t>
                      </m:r>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h</m:t>
                              </m:r>
                              <m:r>
                                <a:rPr lang="en-AU" sz="2400" b="0" i="1" smtClean="0">
                                  <a:latin typeface="Cambria Math" panose="02040503050406030204" pitchFamily="18" charset="0"/>
                                </a:rPr>
                                <m:t>→0</m:t>
                              </m:r>
                            </m:lim>
                          </m:limLow>
                        </m:fName>
                        <m:e>
                          <m:f>
                            <m:fPr>
                              <m:ctrlPr>
                                <a:rPr lang="en-AU" sz="2400" i="1" smtClean="0">
                                  <a:latin typeface="Cambria Math" panose="02040503050406030204" pitchFamily="18" charset="0"/>
                                </a:rPr>
                              </m:ctrlPr>
                            </m:fPr>
                            <m:num>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h</m:t>
                                  </m:r>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num>
                            <m:den>
                              <m:r>
                                <a:rPr lang="en-AU" sz="2400" b="0" i="1" smtClean="0">
                                  <a:latin typeface="Cambria Math" panose="02040503050406030204" pitchFamily="18" charset="0"/>
                                </a:rPr>
                                <m:t>h</m:t>
                              </m:r>
                            </m:den>
                          </m:f>
                        </m:e>
                      </m:func>
                    </m:oMath>
                  </m:oMathPara>
                </a14:m>
                <a:endParaRPr lang="en-AU" sz="2400" dirty="0">
                  <a:latin typeface="+mj-lt"/>
                </a:endParaRPr>
              </a:p>
              <a:p>
                <a:pPr>
                  <a:spcAft>
                    <a:spcPts val="1200"/>
                  </a:spcAft>
                </a:pPr>
                <a:r>
                  <a:rPr lang="en-AU" sz="2400" dirty="0">
                    <a:latin typeface="+mj-lt"/>
                  </a:rPr>
                  <a:t>is called the (first) derivative of </a:t>
                </a:r>
                <a14:m>
                  <m:oMath xmlns:m="http://schemas.openxmlformats.org/officeDocument/2006/math">
                    <m:r>
                      <a:rPr lang="en-AU" sz="2400" b="0" i="1" smtClean="0">
                        <a:latin typeface="Cambria Math" panose="02040503050406030204" pitchFamily="18" charset="0"/>
                      </a:rPr>
                      <m:t>𝑓</m:t>
                    </m:r>
                  </m:oMath>
                </a14:m>
                <a:r>
                  <a:rPr lang="en-AU" sz="2400" dirty="0">
                    <a:latin typeface="+mj-lt"/>
                  </a:rPr>
                  <a:t> at </a:t>
                </a:r>
                <a14:m>
                  <m:oMath xmlns:m="http://schemas.openxmlformats.org/officeDocument/2006/math">
                    <m:r>
                      <a:rPr lang="en-AU" sz="2400" b="0" i="1" smtClean="0">
                        <a:latin typeface="Cambria Math" panose="02040503050406030204" pitchFamily="18" charset="0"/>
                      </a:rPr>
                      <m:t>𝑎</m:t>
                    </m:r>
                  </m:oMath>
                </a14:m>
                <a:r>
                  <a:rPr lang="en-AU" sz="2400" dirty="0">
                    <a:latin typeface="+mj-lt"/>
                  </a:rPr>
                  <a:t>.</a:t>
                </a:r>
              </a:p>
              <a:p>
                <a:pPr>
                  <a:spcAft>
                    <a:spcPts val="1200"/>
                  </a:spcAft>
                </a:pPr>
                <a:r>
                  <a:rPr lang="en-AU" sz="2400" dirty="0">
                    <a:latin typeface="+mj-lt"/>
                  </a:rPr>
                  <a:t>The ratio</a:t>
                </a:r>
              </a:p>
              <a:p>
                <a:pPr>
                  <a:spcAft>
                    <a:spcPts val="1200"/>
                  </a:spcAft>
                </a:pPr>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rPr>
                          </m:ctrlPr>
                        </m:fPr>
                        <m:num>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h</m:t>
                              </m:r>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num>
                        <m:den>
                          <m:r>
                            <a:rPr lang="en-AU" sz="2400" b="0" i="1" smtClean="0">
                              <a:latin typeface="Cambria Math" panose="02040503050406030204" pitchFamily="18" charset="0"/>
                            </a:rPr>
                            <m:t>h</m:t>
                          </m:r>
                        </m:den>
                      </m:f>
                    </m:oMath>
                  </m:oMathPara>
                </a14:m>
                <a:endParaRPr lang="en-AU" sz="2400" dirty="0">
                  <a:latin typeface="+mj-lt"/>
                </a:endParaRPr>
              </a:p>
              <a:p>
                <a:pPr>
                  <a:spcAft>
                    <a:spcPts val="1200"/>
                  </a:spcAft>
                </a:pPr>
                <a:r>
                  <a:rPr lang="en-AU" sz="2400" dirty="0">
                    <a:latin typeface="+mj-lt"/>
                  </a:rPr>
                  <a:t>is called the “incremental ratio” and </a:t>
                </a:r>
                <a14:m>
                  <m:oMath xmlns:m="http://schemas.openxmlformats.org/officeDocument/2006/math">
                    <m:r>
                      <a:rPr lang="en-AU" sz="2400" b="0" i="1" smtClean="0">
                        <a:latin typeface="Cambria Math" panose="02040503050406030204" pitchFamily="18" charset="0"/>
                      </a:rPr>
                      <m:t>h</m:t>
                    </m:r>
                  </m:oMath>
                </a14:m>
                <a:r>
                  <a:rPr lang="en-AU" sz="2400" dirty="0">
                    <a:latin typeface="+mj-lt"/>
                  </a:rPr>
                  <a:t> is a small, finite, positive increment that tends to zero. Differentiability, like continuity, is a local property, i.e. defined at a value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oMath>
                </a14:m>
                <a:r>
                  <a:rPr lang="en-AU" sz="2400" dirty="0">
                    <a:latin typeface="+mj-lt"/>
                  </a:rPr>
                  <a:t> only.</a:t>
                </a:r>
              </a:p>
              <a:p>
                <a:pPr>
                  <a:spcAft>
                    <a:spcPts val="1200"/>
                  </a:spcAft>
                </a:pPr>
                <a:endParaRPr lang="en-AU"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1845748"/>
                <a:ext cx="11710929" cy="4665123"/>
              </a:xfrm>
              <a:prstGeom prst="rect">
                <a:avLst/>
              </a:prstGeom>
              <a:blipFill>
                <a:blip r:embed="rId2"/>
                <a:stretch>
                  <a:fillRect l="-780" t="-1046"/>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ED647D3D-7B9F-47AF-A95F-7CEFEA7CE358}"/>
              </a:ext>
            </a:extLst>
          </p:cNvPr>
          <p:cNvSpPr txBox="1"/>
          <p:nvPr/>
        </p:nvSpPr>
        <p:spPr>
          <a:xfrm>
            <a:off x="240535" y="941950"/>
            <a:ext cx="1525512" cy="461665"/>
          </a:xfrm>
          <a:prstGeom prst="rect">
            <a:avLst/>
          </a:prstGeom>
          <a:noFill/>
          <a:ln>
            <a:solidFill>
              <a:schemeClr val="accent2">
                <a:lumMod val="50000"/>
              </a:schemeClr>
            </a:solidFill>
          </a:ln>
        </p:spPr>
        <p:txBody>
          <a:bodyPr wrap="square" rtlCol="0">
            <a:spAutoFit/>
          </a:bodyPr>
          <a:lstStyle/>
          <a:p>
            <a:r>
              <a:rPr lang="en-AU" sz="2400" b="1" dirty="0">
                <a:latin typeface="+mj-lt"/>
              </a:rPr>
              <a:t>MODULE 4</a:t>
            </a:r>
            <a:endParaRPr lang="en-GB" sz="2400" b="1" dirty="0">
              <a:latin typeface="+mj-lt"/>
            </a:endParaRPr>
          </a:p>
        </p:txBody>
      </p:sp>
      <p:sp>
        <p:nvSpPr>
          <p:cNvPr id="11" name="TextBox 10">
            <a:extLst>
              <a:ext uri="{FF2B5EF4-FFF2-40B4-BE49-F238E27FC236}">
                <a16:creationId xmlns:a16="http://schemas.microsoft.com/office/drawing/2014/main" id="{F7F13889-FD92-4841-97EF-A927E3CE99F8}"/>
              </a:ext>
            </a:extLst>
          </p:cNvPr>
          <p:cNvSpPr txBox="1"/>
          <p:nvPr/>
        </p:nvSpPr>
        <p:spPr>
          <a:xfrm>
            <a:off x="5793440" y="1344940"/>
            <a:ext cx="4901454" cy="369332"/>
          </a:xfrm>
          <a:prstGeom prst="rect">
            <a:avLst/>
          </a:prstGeom>
          <a:noFill/>
        </p:spPr>
        <p:txBody>
          <a:bodyPr wrap="square">
            <a:spAutoFit/>
          </a:bodyPr>
          <a:lstStyle/>
          <a:p>
            <a:r>
              <a:rPr lang="en-GB" dirty="0">
                <a:hlinkClick r:id="rId3"/>
              </a:rPr>
              <a:t>https://www.youtube.com/watch?v=ObPg3ki9GOI</a:t>
            </a:r>
            <a:endParaRPr lang="en-GB" dirty="0"/>
          </a:p>
        </p:txBody>
      </p:sp>
      <p:sp>
        <p:nvSpPr>
          <p:cNvPr id="12" name="TextBox 11">
            <a:extLst>
              <a:ext uri="{FF2B5EF4-FFF2-40B4-BE49-F238E27FC236}">
                <a16:creationId xmlns:a16="http://schemas.microsoft.com/office/drawing/2014/main" id="{245D4288-C745-4AA1-BAB4-D1515AF3F960}"/>
              </a:ext>
            </a:extLst>
          </p:cNvPr>
          <p:cNvSpPr txBox="1"/>
          <p:nvPr/>
        </p:nvSpPr>
        <p:spPr>
          <a:xfrm>
            <a:off x="5488641" y="977273"/>
            <a:ext cx="5511053" cy="369332"/>
          </a:xfrm>
          <a:prstGeom prst="rect">
            <a:avLst/>
          </a:prstGeom>
          <a:noFill/>
        </p:spPr>
        <p:txBody>
          <a:bodyPr wrap="square">
            <a:spAutoFit/>
          </a:bodyPr>
          <a:lstStyle/>
          <a:p>
            <a:r>
              <a:rPr lang="en-GB" dirty="0">
                <a:hlinkClick r:id="rId4"/>
              </a:rPr>
              <a:t>https://www.youtube.com/watch?v=_Idra8rVS1I&amp;t=320s</a:t>
            </a:r>
            <a:endParaRPr lang="en-GB" dirty="0"/>
          </a:p>
        </p:txBody>
      </p:sp>
    </p:spTree>
    <p:extLst>
      <p:ext uri="{BB962C8B-B14F-4D97-AF65-F5344CB8AC3E}">
        <p14:creationId xmlns:p14="http://schemas.microsoft.com/office/powerpoint/2010/main" val="302821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978385" cy="523220"/>
          </a:xfrm>
          <a:prstGeom prst="rect">
            <a:avLst/>
          </a:prstGeom>
          <a:noFill/>
        </p:spPr>
        <p:txBody>
          <a:bodyPr wrap="none" rtlCol="0">
            <a:spAutoFit/>
          </a:bodyPr>
          <a:lstStyle/>
          <a:p>
            <a:r>
              <a:rPr lang="en-AU" sz="2800" b="1" cap="small" dirty="0">
                <a:solidFill>
                  <a:schemeClr val="bg1"/>
                </a:solidFill>
                <a:latin typeface="+mj-lt"/>
              </a:rPr>
              <a:t>4.1 Definition and interpretation of the derivative</a:t>
            </a:r>
            <a:endParaRPr lang="en-GB" sz="2800" b="1" cap="small" dirty="0">
              <a:solidFill>
                <a:schemeClr val="bg1"/>
              </a:solidFill>
              <a:latin typeface="+mj-lt"/>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585597E-7235-44B2-927C-87BAFA271873}"/>
                  </a:ext>
                </a:extLst>
              </p:cNvPr>
              <p:cNvSpPr txBox="1"/>
              <p:nvPr/>
            </p:nvSpPr>
            <p:spPr>
              <a:xfrm>
                <a:off x="240535" y="1012030"/>
                <a:ext cx="11710929" cy="2224840"/>
              </a:xfrm>
              <a:prstGeom prst="rect">
                <a:avLst/>
              </a:prstGeom>
              <a:noFill/>
            </p:spPr>
            <p:txBody>
              <a:bodyPr wrap="square" rtlCol="0">
                <a:spAutoFit/>
              </a:bodyPr>
              <a:lstStyle/>
              <a:p>
                <a:pPr>
                  <a:spcAft>
                    <a:spcPts val="1200"/>
                  </a:spcAft>
                </a:pPr>
                <a:r>
                  <a:rPr lang="en-AU" sz="2400" dirty="0">
                    <a:latin typeface="+mj-lt"/>
                  </a:rPr>
                  <a:t>Definition (Differentiability at a value </a:t>
                </a:r>
                <a14:m>
                  <m:oMath xmlns:m="http://schemas.openxmlformats.org/officeDocument/2006/math">
                    <m:r>
                      <a:rPr lang="en-AU" sz="2400" i="1">
                        <a:latin typeface="Cambria Math" panose="02040503050406030204" pitchFamily="18" charset="0"/>
                      </a:rPr>
                      <m:t>𝑎</m:t>
                    </m:r>
                  </m:oMath>
                </a14:m>
                <a:r>
                  <a:rPr lang="en-AU" sz="2400" dirty="0">
                    <a:latin typeface="+mj-lt"/>
                  </a:rPr>
                  <a:t>).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we say that </a:t>
                </a:r>
                <a14:m>
                  <m:oMath xmlns:m="http://schemas.openxmlformats.org/officeDocument/2006/math">
                    <m:r>
                      <a:rPr lang="en-AU" sz="2400" b="0" i="1" smtClean="0">
                        <a:latin typeface="Cambria Math" panose="02040503050406030204" pitchFamily="18" charset="0"/>
                      </a:rPr>
                      <m:t>𝑓</m:t>
                    </m:r>
                  </m:oMath>
                </a14:m>
                <a:r>
                  <a:rPr lang="en-AU" sz="2400" dirty="0">
                    <a:latin typeface="+mj-lt"/>
                  </a:rPr>
                  <a:t> is differentiable at </a:t>
                </a:r>
                <a14:m>
                  <m:oMath xmlns:m="http://schemas.openxmlformats.org/officeDocument/2006/math">
                    <m:r>
                      <a:rPr lang="en-AU" sz="2400" i="1">
                        <a:latin typeface="Cambria Math" panose="02040503050406030204" pitchFamily="18" charset="0"/>
                      </a:rPr>
                      <m:t>𝑎</m:t>
                    </m:r>
                  </m:oMath>
                </a14:m>
                <a:r>
                  <a:rPr lang="en-AU" sz="2400" dirty="0">
                    <a:latin typeface="+mj-lt"/>
                  </a:rPr>
                  <a:t>, if </a:t>
                </a:r>
              </a:p>
              <a:p>
                <a:pPr>
                  <a:spcAft>
                    <a:spcPts val="1200"/>
                  </a:spcAft>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r>
                        <a:rPr lang="en-AU" sz="2400" b="0" i="1" smtClean="0">
                          <a:latin typeface="Cambria Math" panose="02040503050406030204" pitchFamily="18" charset="0"/>
                        </a:rPr>
                        <m:t>=</m:t>
                      </m:r>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h</m:t>
                              </m:r>
                              <m:r>
                                <a:rPr lang="en-AU" sz="2400" b="0" i="1" smtClean="0">
                                  <a:latin typeface="Cambria Math" panose="02040503050406030204" pitchFamily="18" charset="0"/>
                                </a:rPr>
                                <m:t>→0</m:t>
                              </m:r>
                            </m:lim>
                          </m:limLow>
                        </m:fName>
                        <m:e>
                          <m:f>
                            <m:fPr>
                              <m:ctrlPr>
                                <a:rPr lang="en-AU" sz="2400" i="1" smtClean="0">
                                  <a:latin typeface="Cambria Math" panose="02040503050406030204" pitchFamily="18" charset="0"/>
                                </a:rPr>
                              </m:ctrlPr>
                            </m:fPr>
                            <m:num>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h</m:t>
                                  </m:r>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num>
                            <m:den>
                              <m:r>
                                <a:rPr lang="en-AU" sz="2400" b="0" i="1" smtClean="0">
                                  <a:latin typeface="Cambria Math" panose="02040503050406030204" pitchFamily="18" charset="0"/>
                                </a:rPr>
                                <m:t>h</m:t>
                              </m:r>
                            </m:den>
                          </m:f>
                        </m:e>
                      </m:func>
                    </m:oMath>
                  </m:oMathPara>
                </a14:m>
                <a:endParaRPr lang="en-AU" sz="2400" dirty="0">
                  <a:latin typeface="+mj-lt"/>
                </a:endParaRPr>
              </a:p>
              <a:p>
                <a:pPr>
                  <a:spcAft>
                    <a:spcPts val="1200"/>
                  </a:spcAft>
                </a:pPr>
                <a:r>
                  <a:rPr lang="en-AU" sz="2400" dirty="0">
                    <a:latin typeface="+mj-lt"/>
                  </a:rPr>
                  <a:t>exists and is finite, i.e. </a:t>
                </a:r>
                <a14:m>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a:t>
                </a:r>
              </a:p>
            </p:txBody>
          </p:sp>
        </mc:Choice>
        <mc:Fallback>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1012030"/>
                <a:ext cx="11710929" cy="2224840"/>
              </a:xfrm>
              <a:prstGeom prst="rect">
                <a:avLst/>
              </a:prstGeom>
              <a:blipFill>
                <a:blip r:embed="rId2"/>
                <a:stretch>
                  <a:fillRect l="-780" t="-2192" r="-1093" b="-5205"/>
                </a:stretch>
              </a:blipFill>
            </p:spPr>
            <p:txBody>
              <a:bodyPr/>
              <a:lstStyle/>
              <a:p>
                <a:r>
                  <a:rPr lang="en-AU">
                    <a:noFill/>
                  </a:rPr>
                  <a:t> </a:t>
                </a:r>
              </a:p>
            </p:txBody>
          </p:sp>
        </mc:Fallback>
      </mc:AlternateContent>
      <p:sp>
        <p:nvSpPr>
          <p:cNvPr id="13" name="TextBox 12">
            <a:extLst>
              <a:ext uri="{FF2B5EF4-FFF2-40B4-BE49-F238E27FC236}">
                <a16:creationId xmlns:a16="http://schemas.microsoft.com/office/drawing/2014/main" id="{0C1B09C1-90A9-4235-ABC7-1EEC1DE3A1F5}"/>
              </a:ext>
            </a:extLst>
          </p:cNvPr>
          <p:cNvSpPr txBox="1"/>
          <p:nvPr/>
        </p:nvSpPr>
        <p:spPr>
          <a:xfrm>
            <a:off x="1284194" y="4039599"/>
            <a:ext cx="6127376" cy="923330"/>
          </a:xfrm>
          <a:prstGeom prst="rect">
            <a:avLst/>
          </a:prstGeom>
          <a:noFill/>
        </p:spPr>
        <p:txBody>
          <a:bodyPr wrap="square">
            <a:spAutoFit/>
          </a:bodyPr>
          <a:lstStyle/>
          <a:p>
            <a:r>
              <a:rPr lang="en-GB" dirty="0">
                <a:hlinkClick r:id="rId3"/>
              </a:rPr>
              <a:t>https://www.geogebra.org/m/p7qqucf9#:~:text=Author%3A%20Simona%20Riva,represents%20the%20independent%20variable%20increment.</a:t>
            </a:r>
            <a:endParaRPr lang="en-GB"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19074A9-7752-4BD7-ACED-FC8F294EF2AC}"/>
                  </a:ext>
                </a:extLst>
              </p:cNvPr>
              <p:cNvSpPr txBox="1"/>
              <p:nvPr/>
            </p:nvSpPr>
            <p:spPr>
              <a:xfrm>
                <a:off x="8014448" y="3621131"/>
                <a:ext cx="3684494" cy="175432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AU" dirty="0">
                    <a:latin typeface="+mj-lt"/>
                  </a:rPr>
                  <a:t>Interpretations of the derivative:</a:t>
                </a:r>
              </a:p>
              <a:p>
                <a:pPr marL="285750" indent="-285750">
                  <a:buFont typeface="Arial" panose="020B0604020202020204" pitchFamily="34" charset="0"/>
                  <a:buChar char="•"/>
                </a:pPr>
                <a:r>
                  <a:rPr lang="en-AU" dirty="0">
                    <a:latin typeface="+mj-lt"/>
                  </a:rPr>
                  <a:t>The slope of the tangent line to the curve at </a:t>
                </a:r>
                <a14:m>
                  <m:oMath xmlns:m="http://schemas.openxmlformats.org/officeDocument/2006/math">
                    <m:r>
                      <a:rPr lang="en-AU" b="0" i="1" smtClean="0">
                        <a:latin typeface="Cambria Math" panose="02040503050406030204" pitchFamily="18" charset="0"/>
                      </a:rPr>
                      <m:t>𝑥</m:t>
                    </m:r>
                  </m:oMath>
                </a14:m>
                <a:endParaRPr lang="en-GB" dirty="0">
                  <a:latin typeface="+mj-lt"/>
                </a:endParaRPr>
              </a:p>
              <a:p>
                <a:pPr marL="285750" indent="-285750">
                  <a:buFont typeface="Arial" panose="020B0604020202020204" pitchFamily="34" charset="0"/>
                  <a:buChar char="•"/>
                </a:pPr>
                <a:r>
                  <a:rPr lang="en-GB" dirty="0">
                    <a:latin typeface="+mj-lt"/>
                  </a:rPr>
                  <a:t>The (instantaneous) rate of change of the function </a:t>
                </a:r>
                <a14:m>
                  <m:oMath xmlns:m="http://schemas.openxmlformats.org/officeDocument/2006/math">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oMath>
                </a14:m>
                <a:r>
                  <a:rPr lang="en-GB" dirty="0">
                    <a:latin typeface="+mj-lt"/>
                  </a:rPr>
                  <a:t> with respect to </a:t>
                </a:r>
                <a14:m>
                  <m:oMath xmlns:m="http://schemas.openxmlformats.org/officeDocument/2006/math">
                    <m:r>
                      <a:rPr lang="en-AU" i="1">
                        <a:latin typeface="Cambria Math" panose="02040503050406030204" pitchFamily="18" charset="0"/>
                      </a:rPr>
                      <m:t>𝑥</m:t>
                    </m:r>
                  </m:oMath>
                </a14:m>
                <a:endParaRPr lang="en-GB" dirty="0">
                  <a:latin typeface="+mj-lt"/>
                </a:endParaRPr>
              </a:p>
            </p:txBody>
          </p:sp>
        </mc:Choice>
        <mc:Fallback xmlns="">
          <p:sp>
            <p:nvSpPr>
              <p:cNvPr id="2" name="TextBox 1">
                <a:extLst>
                  <a:ext uri="{FF2B5EF4-FFF2-40B4-BE49-F238E27FC236}">
                    <a16:creationId xmlns:a16="http://schemas.microsoft.com/office/drawing/2014/main" id="{C19074A9-7752-4BD7-ACED-FC8F294EF2AC}"/>
                  </a:ext>
                </a:extLst>
              </p:cNvPr>
              <p:cNvSpPr txBox="1">
                <a:spLocks noRot="1" noChangeAspect="1" noMove="1" noResize="1" noEditPoints="1" noAdjustHandles="1" noChangeArrowheads="1" noChangeShapeType="1" noTextEdit="1"/>
              </p:cNvSpPr>
              <p:nvPr/>
            </p:nvSpPr>
            <p:spPr>
              <a:xfrm>
                <a:off x="8014448" y="3621131"/>
                <a:ext cx="3684494" cy="1754326"/>
              </a:xfrm>
              <a:prstGeom prst="rect">
                <a:avLst/>
              </a:prstGeom>
              <a:blipFill>
                <a:blip r:embed="rId4"/>
                <a:stretch>
                  <a:fillRect l="-1320" t="-1379" r="-990" b="-4138"/>
                </a:stretch>
              </a:blipFill>
            </p:spPr>
            <p:txBody>
              <a:bodyPr/>
              <a:lstStyle/>
              <a:p>
                <a:r>
                  <a:rPr lang="en-GB">
                    <a:noFill/>
                  </a:rPr>
                  <a:t> </a:t>
                </a:r>
              </a:p>
            </p:txBody>
          </p:sp>
        </mc:Fallback>
      </mc:AlternateContent>
    </p:spTree>
    <p:extLst>
      <p:ext uri="{BB962C8B-B14F-4D97-AF65-F5344CB8AC3E}">
        <p14:creationId xmlns:p14="http://schemas.microsoft.com/office/powerpoint/2010/main" val="198848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978385" cy="523220"/>
          </a:xfrm>
          <a:prstGeom prst="rect">
            <a:avLst/>
          </a:prstGeom>
          <a:noFill/>
        </p:spPr>
        <p:txBody>
          <a:bodyPr wrap="none" rtlCol="0">
            <a:spAutoFit/>
          </a:bodyPr>
          <a:lstStyle/>
          <a:p>
            <a:r>
              <a:rPr lang="en-AU" sz="2800" b="1" cap="small" dirty="0">
                <a:solidFill>
                  <a:schemeClr val="bg1"/>
                </a:solidFill>
                <a:latin typeface="+mj-lt"/>
              </a:rPr>
              <a:t>4.1 Definition and interpretation of the derivative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1012030"/>
                <a:ext cx="11710929" cy="4721357"/>
              </a:xfrm>
              <a:prstGeom prst="rect">
                <a:avLst/>
              </a:prstGeom>
              <a:noFill/>
            </p:spPr>
            <p:txBody>
              <a:bodyPr wrap="square" rtlCol="0">
                <a:spAutoFit/>
              </a:bodyPr>
              <a:lstStyle/>
              <a:p>
                <a:pPr>
                  <a:spcAft>
                    <a:spcPts val="1200"/>
                  </a:spcAft>
                </a:pPr>
                <a:r>
                  <a:rPr lang="en-AU" sz="2400" dirty="0">
                    <a:latin typeface="+mj-lt"/>
                  </a:rPr>
                  <a:t>Definition (Differentiability in a set or interval).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is said to be differentiable in a subset </a:t>
                </a:r>
                <a14:m>
                  <m:oMath xmlns:m="http://schemas.openxmlformats.org/officeDocument/2006/math">
                    <m:r>
                      <a:rPr lang="en-AU" sz="2400" b="0" i="1" smtClean="0">
                        <a:latin typeface="Cambria Math" panose="02040503050406030204" pitchFamily="18" charset="0"/>
                      </a:rPr>
                      <m:t>𝐴</m:t>
                    </m:r>
                  </m:oMath>
                </a14:m>
                <a:r>
                  <a:rPr lang="en-AU" sz="2400" dirty="0">
                    <a:latin typeface="+mj-lt"/>
                  </a:rPr>
                  <a:t> of its domain </a:t>
                </a:r>
                <a14:m>
                  <m:oMath xmlns:m="http://schemas.openxmlformats.org/officeDocument/2006/math">
                    <m:r>
                      <a:rPr lang="en-AU" sz="2400" i="1">
                        <a:latin typeface="Cambria Math" panose="02040503050406030204" pitchFamily="18" charset="0"/>
                      </a:rPr>
                      <m:t>𝑋</m:t>
                    </m:r>
                  </m:oMath>
                </a14:m>
                <a:r>
                  <a:rPr lang="en-AU" sz="2400" dirty="0">
                    <a:latin typeface="+mj-lt"/>
                  </a:rPr>
                  <a:t>, if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dirty="0">
                    <a:latin typeface="+mj-lt"/>
                  </a:rPr>
                  <a:t> is differentiable at all values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m:t>
                    </m:r>
                  </m:oMath>
                </a14:m>
                <a:r>
                  <a:rPr lang="en-AU" sz="2400" dirty="0">
                    <a:latin typeface="+mj-lt"/>
                  </a:rPr>
                  <a:t>. </a:t>
                </a:r>
              </a:p>
              <a:p>
                <a:pPr>
                  <a:spcAft>
                    <a:spcPts val="1200"/>
                  </a:spcAft>
                </a:pPr>
                <a:r>
                  <a:rPr lang="en-AU" sz="2400" dirty="0">
                    <a:latin typeface="+mj-lt"/>
                  </a:rPr>
                  <a:t>Notes.</a:t>
                </a:r>
              </a:p>
              <a:p>
                <a:pPr>
                  <a:spcAft>
                    <a:spcPts val="1200"/>
                  </a:spcAft>
                </a:pPr>
                <a:r>
                  <a:rPr lang="en-AU" sz="2400" dirty="0">
                    <a:latin typeface="+mj-lt"/>
                  </a:rPr>
                  <a:t>1. If the derivative of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dirty="0">
                    <a:latin typeface="+mj-lt"/>
                  </a:rPr>
                  <a:t> exists for all values in a certain interval or in all </a:t>
                </a:r>
                <a14:m>
                  <m:oMath xmlns:m="http://schemas.openxmlformats.org/officeDocument/2006/math">
                    <m:r>
                      <a:rPr lang="en-AU" sz="2400" i="1">
                        <a:latin typeface="Cambria Math" panose="02040503050406030204" pitchFamily="18" charset="0"/>
                        <a:ea typeface="Cambria Math" panose="02040503050406030204" pitchFamily="18" charset="0"/>
                      </a:rPr>
                      <m:t>ℝ</m:t>
                    </m:r>
                  </m:oMath>
                </a14:m>
                <a:r>
                  <a:rPr lang="en-AU" sz="2400" dirty="0">
                    <a:latin typeface="+mj-lt"/>
                  </a:rPr>
                  <a:t>, we will indicate this function using one of these notations: </a:t>
                </a:r>
                <a14:m>
                  <m:oMath xmlns:m="http://schemas.openxmlformats.org/officeDocument/2006/math">
                    <m:sSup>
                      <m:sSupPr>
                        <m:ctrlPr>
                          <a:rPr lang="en-AU" sz="2400" b="0" i="1" smtClean="0">
                            <a:latin typeface="Cambria Math" panose="02040503050406030204" pitchFamily="18" charset="0"/>
                          </a:rPr>
                        </m:ctrlPr>
                      </m:sSupPr>
                      <m:e>
                        <m:r>
                          <a:rPr lang="en-AU" sz="2400" i="1">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i="1">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  </m:t>
                    </m:r>
                    <m:r>
                      <m:rPr>
                        <m:sty m:val="p"/>
                      </m:rPr>
                      <a:rPr lang="en-AU" sz="2400" b="0" i="0" smtClean="0">
                        <a:latin typeface="Cambria Math" panose="02040503050406030204" pitchFamily="18" charset="0"/>
                      </a:rPr>
                      <m:t>or</m:t>
                    </m:r>
                    <m:r>
                      <a:rPr lang="en-AU" sz="2400" b="0" i="1" smtClean="0">
                        <a:latin typeface="Cambria Math" panose="02040503050406030204" pitchFamily="18" charset="0"/>
                      </a:rPr>
                      <m:t> </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𝑑𝑓</m:t>
                        </m:r>
                      </m:num>
                      <m:den>
                        <m:r>
                          <a:rPr lang="en-AU" sz="2400" b="0" i="1" smtClean="0">
                            <a:latin typeface="Cambria Math" panose="02040503050406030204" pitchFamily="18" charset="0"/>
                          </a:rPr>
                          <m:t>𝑑𝑥</m:t>
                        </m:r>
                      </m:den>
                    </m:f>
                  </m:oMath>
                </a14:m>
                <a:r>
                  <a:rPr lang="en-AU" sz="2400" dirty="0"/>
                  <a:t>.</a:t>
                </a:r>
              </a:p>
              <a:p>
                <a:pPr>
                  <a:spcAft>
                    <a:spcPts val="1200"/>
                  </a:spcAft>
                </a:pPr>
                <a:r>
                  <a:rPr lang="en-AU" sz="2400" dirty="0">
                    <a:latin typeface="+mj-lt"/>
                  </a:rPr>
                  <a:t>2. If </a:t>
                </a:r>
                <a14:m>
                  <m:oMath xmlns:m="http://schemas.openxmlformats.org/officeDocument/2006/math">
                    <m:r>
                      <a:rPr lang="en-AU" sz="2400" b="0" i="1" smtClean="0">
                        <a:latin typeface="Cambria Math" panose="02040503050406030204" pitchFamily="18" charset="0"/>
                      </a:rPr>
                      <m:t>𝑓</m:t>
                    </m:r>
                  </m:oMath>
                </a14:m>
                <a:r>
                  <a:rPr lang="en-AU" sz="2400" dirty="0">
                    <a:latin typeface="+mj-lt"/>
                  </a:rPr>
                  <a:t> is differentiable in the whole of </a:t>
                </a:r>
                <a:r>
                  <a:rPr lang="en-AU" sz="2400" dirty="0" err="1">
                    <a:latin typeface="+mj-lt"/>
                  </a:rPr>
                  <a:t>dom</a:t>
                </a:r>
                <a:r>
                  <a:rPr lang="en-AU" sz="2400" dirty="0">
                    <a:latin typeface="+mj-lt"/>
                  </a:rPr>
                  <a:t>(</a:t>
                </a:r>
                <a14:m>
                  <m:oMath xmlns:m="http://schemas.openxmlformats.org/officeDocument/2006/math">
                    <m:r>
                      <a:rPr lang="en-AU" sz="2400" i="1">
                        <a:latin typeface="Cambria Math" panose="02040503050406030204" pitchFamily="18" charset="0"/>
                      </a:rPr>
                      <m:t>𝑓</m:t>
                    </m:r>
                  </m:oMath>
                </a14:m>
                <a:r>
                  <a:rPr lang="en-AU" sz="2400" dirty="0">
                    <a:latin typeface="+mj-lt"/>
                  </a:rPr>
                  <a:t>), we simply say that </a:t>
                </a:r>
                <a14:m>
                  <m:oMath xmlns:m="http://schemas.openxmlformats.org/officeDocument/2006/math">
                    <m:r>
                      <a:rPr lang="en-AU" sz="2400" i="1">
                        <a:latin typeface="Cambria Math" panose="02040503050406030204" pitchFamily="18" charset="0"/>
                      </a:rPr>
                      <m:t>𝑓</m:t>
                    </m:r>
                  </m:oMath>
                </a14:m>
                <a:r>
                  <a:rPr lang="en-AU" sz="2400" dirty="0">
                    <a:latin typeface="+mj-lt"/>
                  </a:rPr>
                  <a:t> is differentiable (or everywhere differentiable).</a:t>
                </a:r>
              </a:p>
              <a:p>
                <a:pPr>
                  <a:spcAft>
                    <a:spcPts val="1200"/>
                  </a:spcAft>
                </a:pPr>
                <a:r>
                  <a:rPr lang="en-AU" sz="2400" dirty="0">
                    <a:latin typeface="+mj-lt"/>
                  </a:rPr>
                  <a:t>3. The expressions </a:t>
                </a:r>
                <a14:m>
                  <m:oMath xmlns:m="http://schemas.openxmlformats.org/officeDocument/2006/math">
                    <m:r>
                      <a:rPr lang="en-AU" sz="2400" b="0" i="1" smtClean="0">
                        <a:latin typeface="Cambria Math" panose="02040503050406030204" pitchFamily="18" charset="0"/>
                      </a:rPr>
                      <m:t>𝑑𝑦</m:t>
                    </m:r>
                    <m:r>
                      <a:rPr lang="en-AU" sz="2400" b="0" i="1" smtClean="0">
                        <a:latin typeface="Cambria Math" panose="02040503050406030204" pitchFamily="18" charset="0"/>
                      </a:rPr>
                      <m:t>,</m:t>
                    </m:r>
                    <m:r>
                      <a:rPr lang="en-AU" sz="2400" b="0" i="1" smtClean="0">
                        <a:latin typeface="Cambria Math" panose="02040503050406030204" pitchFamily="18" charset="0"/>
                      </a:rPr>
                      <m:t>𝑑𝑥</m:t>
                    </m:r>
                    <m:r>
                      <a:rPr lang="en-AU" sz="2400" b="0" i="1" smtClean="0">
                        <a:latin typeface="Cambria Math" panose="02040503050406030204" pitchFamily="18" charset="0"/>
                      </a:rPr>
                      <m:t>,</m:t>
                    </m:r>
                    <m:r>
                      <a:rPr lang="en-AU" sz="2400" b="0" i="1" smtClean="0">
                        <a:latin typeface="Cambria Math" panose="02040503050406030204" pitchFamily="18" charset="0"/>
                      </a:rPr>
                      <m:t>𝑑𝑓</m:t>
                    </m:r>
                  </m:oMath>
                </a14:m>
                <a:r>
                  <a:rPr lang="en-AU" sz="2400" dirty="0">
                    <a:latin typeface="+mj-lt"/>
                  </a:rPr>
                  <a:t> are called “differentials” and have a specific meaning which we will see later.</a:t>
                </a:r>
              </a:p>
              <a:p>
                <a:pPr>
                  <a:spcAft>
                    <a:spcPts val="1200"/>
                  </a:spcAft>
                </a:pPr>
                <a:endParaRPr lang="en-AU"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1012030"/>
                <a:ext cx="11710929" cy="4721357"/>
              </a:xfrm>
              <a:prstGeom prst="rect">
                <a:avLst/>
              </a:prstGeom>
              <a:blipFill>
                <a:blip r:embed="rId2"/>
                <a:stretch>
                  <a:fillRect l="-780" t="-1032" r="-572"/>
                </a:stretch>
              </a:blipFill>
            </p:spPr>
            <p:txBody>
              <a:bodyPr/>
              <a:lstStyle/>
              <a:p>
                <a:r>
                  <a:rPr lang="en-GB">
                    <a:noFill/>
                  </a:rPr>
                  <a:t> </a:t>
                </a:r>
              </a:p>
            </p:txBody>
          </p:sp>
        </mc:Fallback>
      </mc:AlternateContent>
    </p:spTree>
    <p:extLst>
      <p:ext uri="{BB962C8B-B14F-4D97-AF65-F5344CB8AC3E}">
        <p14:creationId xmlns:p14="http://schemas.microsoft.com/office/powerpoint/2010/main" val="2065372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479671" cy="523220"/>
          </a:xfrm>
          <a:prstGeom prst="rect">
            <a:avLst/>
          </a:prstGeom>
          <a:noFill/>
        </p:spPr>
        <p:txBody>
          <a:bodyPr wrap="none" rtlCol="0">
            <a:spAutoFit/>
          </a:bodyPr>
          <a:lstStyle/>
          <a:p>
            <a:r>
              <a:rPr lang="en-AU" sz="2800" b="1" cap="small" dirty="0">
                <a:solidFill>
                  <a:schemeClr val="bg1"/>
                </a:solidFill>
                <a:latin typeface="+mj-lt"/>
              </a:rPr>
              <a:t>4.2 Standard derivatives</a:t>
            </a:r>
            <a:endParaRPr lang="en-GB" sz="2800" b="1" cap="small" dirty="0">
              <a:solidFill>
                <a:schemeClr val="bg1"/>
              </a:solidFill>
              <a:latin typeface="+mj-lt"/>
            </a:endParaRPr>
          </a:p>
        </p:txBody>
      </p:sp>
      <p:pic>
        <p:nvPicPr>
          <p:cNvPr id="4" name="Picture 3">
            <a:extLst>
              <a:ext uri="{FF2B5EF4-FFF2-40B4-BE49-F238E27FC236}">
                <a16:creationId xmlns:a16="http://schemas.microsoft.com/office/drawing/2014/main" id="{04A0BB12-4341-476C-AF24-ECCA514AA6F8}"/>
              </a:ext>
            </a:extLst>
          </p:cNvPr>
          <p:cNvPicPr>
            <a:picLocks noChangeAspect="1"/>
          </p:cNvPicPr>
          <p:nvPr/>
        </p:nvPicPr>
        <p:blipFill>
          <a:blip r:embed="rId2">
            <a:duotone>
              <a:prstClr val="black"/>
              <a:schemeClr val="accent2">
                <a:tint val="45000"/>
                <a:satMod val="400000"/>
              </a:schemeClr>
            </a:duotone>
          </a:blip>
          <a:stretch>
            <a:fillRect/>
          </a:stretch>
        </p:blipFill>
        <p:spPr>
          <a:xfrm>
            <a:off x="633647" y="1352697"/>
            <a:ext cx="2344865" cy="4422485"/>
          </a:xfrm>
          <a:prstGeom prst="rect">
            <a:avLst/>
          </a:prstGeom>
          <a:ln>
            <a:solidFill>
              <a:schemeClr val="tx1"/>
            </a:solidFill>
          </a:ln>
        </p:spPr>
      </p:pic>
      <p:sp>
        <p:nvSpPr>
          <p:cNvPr id="5" name="TextBox 4">
            <a:extLst>
              <a:ext uri="{FF2B5EF4-FFF2-40B4-BE49-F238E27FC236}">
                <a16:creationId xmlns:a16="http://schemas.microsoft.com/office/drawing/2014/main" id="{8055652A-6EC4-48A9-98D3-00D81FCAFB3A}"/>
              </a:ext>
            </a:extLst>
          </p:cNvPr>
          <p:cNvSpPr txBox="1"/>
          <p:nvPr/>
        </p:nvSpPr>
        <p:spPr>
          <a:xfrm>
            <a:off x="3191436" y="2440554"/>
            <a:ext cx="8525435" cy="2246769"/>
          </a:xfrm>
          <a:prstGeom prst="rect">
            <a:avLst/>
          </a:prstGeom>
          <a:noFill/>
        </p:spPr>
        <p:txBody>
          <a:bodyPr wrap="square" rtlCol="0">
            <a:spAutoFit/>
          </a:bodyPr>
          <a:lstStyle/>
          <a:p>
            <a:pPr>
              <a:spcAft>
                <a:spcPts val="1200"/>
              </a:spcAft>
            </a:pPr>
            <a:r>
              <a:rPr lang="en-AU" sz="2400" dirty="0">
                <a:latin typeface="+mj-lt"/>
              </a:rPr>
              <a:t>These are the basic derivatives, the “building blocks” of any expression that bears some interest for engineering or science.</a:t>
            </a:r>
          </a:p>
          <a:p>
            <a:pPr>
              <a:spcAft>
                <a:spcPts val="1200"/>
              </a:spcAft>
            </a:pPr>
            <a:endParaRPr lang="en-AU" sz="2400" dirty="0">
              <a:latin typeface="+mj-lt"/>
            </a:endParaRPr>
          </a:p>
          <a:p>
            <a:pPr>
              <a:spcAft>
                <a:spcPts val="1200"/>
              </a:spcAft>
            </a:pPr>
            <a:r>
              <a:rPr lang="en-AU" sz="2400" dirty="0">
                <a:latin typeface="+mj-lt"/>
              </a:rPr>
              <a:t>Using the definition or as is commonly named, from “first principles”, we will calculate some of these derivatives.</a:t>
            </a:r>
          </a:p>
        </p:txBody>
      </p:sp>
    </p:spTree>
    <p:extLst>
      <p:ext uri="{BB962C8B-B14F-4D97-AF65-F5344CB8AC3E}">
        <p14:creationId xmlns:p14="http://schemas.microsoft.com/office/powerpoint/2010/main" val="89237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479671" cy="523220"/>
          </a:xfrm>
          <a:prstGeom prst="rect">
            <a:avLst/>
          </a:prstGeom>
          <a:noFill/>
        </p:spPr>
        <p:txBody>
          <a:bodyPr wrap="none" rtlCol="0">
            <a:spAutoFit/>
          </a:bodyPr>
          <a:lstStyle/>
          <a:p>
            <a:r>
              <a:rPr lang="en-AU" sz="2800" b="1" cap="small" dirty="0">
                <a:solidFill>
                  <a:schemeClr val="bg1"/>
                </a:solidFill>
                <a:latin typeface="+mj-lt"/>
              </a:rPr>
              <a:t>4.2 Standard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3600986"/>
              </a:xfrm>
              <a:prstGeom prst="rect">
                <a:avLst/>
              </a:prstGeom>
              <a:noFill/>
            </p:spPr>
            <p:txBody>
              <a:bodyPr wrap="square" rtlCol="0">
                <a:spAutoFit/>
              </a:bodyPr>
              <a:lstStyle/>
              <a:p>
                <a:pPr marL="342900" indent="-342900">
                  <a:spcAft>
                    <a:spcPts val="1200"/>
                  </a:spcAft>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𝑐</m:t>
                    </m:r>
                  </m:oMath>
                </a14:m>
                <a:endParaRPr lang="en-AU" sz="2400" dirty="0">
                  <a:latin typeface="+mj-lt"/>
                </a:endParaRPr>
              </a:p>
              <a:p>
                <a:pPr marL="342900" indent="-342900">
                  <a:spcAft>
                    <a:spcPts val="1200"/>
                  </a:spcAft>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𝑥</m:t>
                    </m:r>
                  </m:oMath>
                </a14:m>
                <a:endParaRPr lang="en-AU" sz="2400" dirty="0">
                  <a:latin typeface="+mj-lt"/>
                </a:endParaRPr>
              </a:p>
              <a:p>
                <a:pPr marL="342900" indent="-342900">
                  <a:spcAft>
                    <a:spcPts val="1200"/>
                  </a:spcAft>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oMath>
                </a14:m>
                <a:endParaRPr lang="en-AU" sz="2400" dirty="0">
                  <a:latin typeface="+mj-lt"/>
                </a:endParaRPr>
              </a:p>
              <a:p>
                <a:pPr marL="342900" indent="-342900">
                  <a:spcAft>
                    <a:spcPts val="1200"/>
                  </a:spcAft>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oMath>
                </a14:m>
                <a:endParaRPr lang="en-AU" sz="2400" b="0" dirty="0">
                  <a:latin typeface="+mj-lt"/>
                </a:endParaRPr>
              </a:p>
              <a:p>
                <a:pPr marL="342900" indent="-342900">
                  <a:spcAft>
                    <a:spcPts val="1200"/>
                  </a:spcAft>
                  <a:buFont typeface="Arial" panose="020B0604020202020204" pitchFamily="34" charset="0"/>
                  <a:buChar char="•"/>
                </a:pPr>
                <a:endParaRPr lang="en-AU" sz="2400" dirty="0">
                  <a:latin typeface="+mj-lt"/>
                </a:endParaRPr>
              </a:p>
              <a:p>
                <a:pPr marL="342900" indent="-342900">
                  <a:spcAft>
                    <a:spcPts val="1200"/>
                  </a:spcAft>
                  <a:buFont typeface="Arial" panose="020B0604020202020204" pitchFamily="34" charset="0"/>
                  <a:buChar char="•"/>
                </a:pPr>
                <a:endParaRPr lang="en-AU" sz="2400" dirty="0">
                  <a:latin typeface="+mj-lt"/>
                </a:endParaRPr>
              </a:p>
              <a:p>
                <a:pPr marL="342900" indent="-342900">
                  <a:spcAft>
                    <a:spcPts val="1200"/>
                  </a:spcAft>
                  <a:buFont typeface="Arial" panose="020B0604020202020204" pitchFamily="34" charset="0"/>
                  <a:buChar char="•"/>
                </a:pPr>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3600986"/>
              </a:xfrm>
              <a:prstGeom prst="rect">
                <a:avLst/>
              </a:prstGeom>
              <a:blipFill>
                <a:blip r:embed="rId2"/>
                <a:stretch>
                  <a:fillRect l="-743" t="-846"/>
                </a:stretch>
              </a:blipFill>
            </p:spPr>
            <p:txBody>
              <a:bodyPr/>
              <a:lstStyle/>
              <a:p>
                <a:r>
                  <a:rPr lang="en-GB">
                    <a:noFill/>
                  </a:rPr>
                  <a:t> </a:t>
                </a:r>
              </a:p>
            </p:txBody>
          </p:sp>
        </mc:Fallback>
      </mc:AlternateContent>
    </p:spTree>
    <p:extLst>
      <p:ext uri="{BB962C8B-B14F-4D97-AF65-F5344CB8AC3E}">
        <p14:creationId xmlns:p14="http://schemas.microsoft.com/office/powerpoint/2010/main" val="2509959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479671" cy="523220"/>
          </a:xfrm>
          <a:prstGeom prst="rect">
            <a:avLst/>
          </a:prstGeom>
          <a:noFill/>
        </p:spPr>
        <p:txBody>
          <a:bodyPr wrap="none" rtlCol="0">
            <a:spAutoFit/>
          </a:bodyPr>
          <a:lstStyle/>
          <a:p>
            <a:r>
              <a:rPr lang="en-AU" sz="2800" b="1" cap="small" dirty="0">
                <a:solidFill>
                  <a:schemeClr val="bg1"/>
                </a:solidFill>
                <a:latin typeface="+mj-lt"/>
              </a:rPr>
              <a:t>4.2 Standard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2554545"/>
              </a:xfrm>
              <a:prstGeom prst="rect">
                <a:avLst/>
              </a:prstGeom>
              <a:noFill/>
            </p:spPr>
            <p:txBody>
              <a:bodyPr wrap="square" rtlCol="0">
                <a:spAutoFit/>
              </a:bodyPr>
              <a:lstStyle/>
              <a:p>
                <a:pPr marL="342900" indent="-342900">
                  <a:spcAft>
                    <a:spcPts val="1200"/>
                  </a:spcAft>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oMath>
                </a14:m>
                <a:endParaRPr lang="en-AU" sz="2400" b="0" dirty="0">
                  <a:latin typeface="+mj-lt"/>
                </a:endParaRPr>
              </a:p>
              <a:p>
                <a:pPr marL="342900" indent="-342900">
                  <a:spcAft>
                    <a:spcPts val="1200"/>
                  </a:spcAft>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oMath>
                </a14:m>
                <a:endParaRPr lang="en-AU" sz="2400" dirty="0">
                  <a:latin typeface="+mj-lt"/>
                </a:endParaRPr>
              </a:p>
              <a:p>
                <a:pPr marL="342900" indent="-342900">
                  <a:spcAft>
                    <a:spcPts val="1200"/>
                  </a:spcAft>
                  <a:buFont typeface="Arial" panose="020B0604020202020204" pitchFamily="34" charset="0"/>
                  <a:buChar char="•"/>
                </a:pPr>
                <a:endParaRPr lang="en-AU" sz="2400" dirty="0">
                  <a:latin typeface="+mj-lt"/>
                </a:endParaRPr>
              </a:p>
              <a:p>
                <a:pPr marL="342900" indent="-342900">
                  <a:spcAft>
                    <a:spcPts val="1200"/>
                  </a:spcAft>
                  <a:buFont typeface="Arial" panose="020B0604020202020204" pitchFamily="34" charset="0"/>
                  <a:buChar char="•"/>
                </a:pPr>
                <a:endParaRPr lang="en-AU" sz="2400" dirty="0">
                  <a:latin typeface="+mj-lt"/>
                </a:endParaRPr>
              </a:p>
              <a:p>
                <a:pPr marL="342900" indent="-342900">
                  <a:spcAft>
                    <a:spcPts val="1200"/>
                  </a:spcAft>
                  <a:buFont typeface="Arial" panose="020B0604020202020204" pitchFamily="34" charset="0"/>
                  <a:buChar char="•"/>
                </a:pPr>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2554545"/>
              </a:xfrm>
              <a:prstGeom prst="rect">
                <a:avLst/>
              </a:prstGeom>
              <a:blipFill>
                <a:blip r:embed="rId2"/>
                <a:stretch>
                  <a:fillRect l="-743" t="-1193"/>
                </a:stretch>
              </a:blipFill>
            </p:spPr>
            <p:txBody>
              <a:bodyPr/>
              <a:lstStyle/>
              <a:p>
                <a:r>
                  <a:rPr lang="en-GB">
                    <a:noFill/>
                  </a:rPr>
                  <a:t> </a:t>
                </a:r>
              </a:p>
            </p:txBody>
          </p:sp>
        </mc:Fallback>
      </mc:AlternateContent>
    </p:spTree>
    <p:extLst>
      <p:ext uri="{BB962C8B-B14F-4D97-AF65-F5344CB8AC3E}">
        <p14:creationId xmlns:p14="http://schemas.microsoft.com/office/powerpoint/2010/main" val="2558673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095160" cy="523220"/>
          </a:xfrm>
          <a:prstGeom prst="rect">
            <a:avLst/>
          </a:prstGeom>
          <a:noFill/>
        </p:spPr>
        <p:txBody>
          <a:bodyPr wrap="none" rtlCol="0">
            <a:spAutoFit/>
          </a:bodyPr>
          <a:lstStyle/>
          <a:p>
            <a:r>
              <a:rPr lang="en-AU" sz="2800" b="1" cap="small" dirty="0">
                <a:solidFill>
                  <a:schemeClr val="bg1"/>
                </a:solidFill>
                <a:latin typeface="+mj-lt"/>
              </a:rPr>
              <a:t>4.3 Rules for differentiation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5344540"/>
              </a:xfrm>
              <a:prstGeom prst="rect">
                <a:avLst/>
              </a:prstGeom>
              <a:noFill/>
            </p:spPr>
            <p:txBody>
              <a:bodyPr wrap="square" rtlCol="0">
                <a:spAutoFit/>
              </a:bodyPr>
              <a:lstStyle/>
              <a:p>
                <a:pPr>
                  <a:spcAft>
                    <a:spcPts val="1200"/>
                  </a:spcAft>
                </a:pPr>
                <a:r>
                  <a:rPr lang="en-AU" sz="2400" dirty="0">
                    <a:latin typeface="+mj-lt"/>
                  </a:rPr>
                  <a:t>Theorem. Given two functions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𝑔</m:t>
                    </m:r>
                  </m:oMath>
                </a14:m>
                <a:r>
                  <a:rPr lang="en-AU" sz="2400" dirty="0">
                    <a:latin typeface="+mj-lt"/>
                  </a:rPr>
                  <a:t> differentiable at a value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the following rules for differentiation exist:</a:t>
                </a:r>
              </a:p>
              <a:p>
                <a:pPr>
                  <a:spcAft>
                    <a:spcPts val="1200"/>
                  </a:spcAft>
                </a:pPr>
                <a:r>
                  <a:rPr lang="en-AU" sz="2400" dirty="0">
                    <a:latin typeface="+mj-lt"/>
                  </a:rPr>
                  <a:t>1. Linearity of differentiation:</a:t>
                </a:r>
              </a:p>
              <a:p>
                <a:pPr>
                  <a:spcAft>
                    <a:spcPts val="1200"/>
                  </a:spcAft>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𝑏𝑓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𝑐𝑔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e>
                          </m:d>
                        </m:e>
                        <m:sup>
                          <m:r>
                            <a:rPr lang="en-AU" sz="2400" b="0" i="1" smtClean="0">
                              <a:latin typeface="Cambria Math" panose="02040503050406030204" pitchFamily="18" charset="0"/>
                            </a:rPr>
                            <m:t>′</m:t>
                          </m:r>
                        </m:sup>
                      </m:sSup>
                      <m:r>
                        <a:rPr lang="en-AU" sz="2400" b="0" i="1" smtClean="0">
                          <a:latin typeface="Cambria Math" panose="02040503050406030204" pitchFamily="18" charset="0"/>
                        </a:rPr>
                        <m:t>=</m:t>
                      </m:r>
                      <m:r>
                        <a:rPr lang="en-AU" sz="2400" b="0" i="1" smtClean="0">
                          <a:latin typeface="Cambria Math" panose="02040503050406030204" pitchFamily="18" charset="0"/>
                        </a:rPr>
                        <m:t>𝑏</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𝑐𝑔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m:oMathPara>
                </a14:m>
                <a:endParaRPr lang="en-AU" sz="2400" dirty="0">
                  <a:latin typeface="+mj-lt"/>
                </a:endParaRPr>
              </a:p>
              <a:p>
                <a:pPr>
                  <a:spcAft>
                    <a:spcPts val="1200"/>
                  </a:spcAft>
                </a:pPr>
                <a:r>
                  <a:rPr lang="en-AU" sz="2400" dirty="0">
                    <a:latin typeface="+mj-lt"/>
                  </a:rPr>
                  <a:t>     where </a:t>
                </a:r>
                <a14:m>
                  <m:oMath xmlns:m="http://schemas.openxmlformats.org/officeDocument/2006/math">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a:t>
                </a:r>
              </a:p>
              <a:p>
                <a:pPr>
                  <a:spcAft>
                    <a:spcPts val="1200"/>
                  </a:spcAft>
                </a:pPr>
                <a:r>
                  <a:rPr lang="en-AU" sz="2400" dirty="0">
                    <a:latin typeface="+mj-lt"/>
                  </a:rPr>
                  <a:t>2. Derivative of a product (product rule):</a:t>
                </a:r>
              </a:p>
              <a:p>
                <a:pPr>
                  <a:spcAft>
                    <a:spcPts val="1200"/>
                  </a:spcAft>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e>
                          </m:d>
                        </m:e>
                        <m:sup>
                          <m:r>
                            <a:rPr lang="en-AU" sz="2400" b="0" i="1" smtClean="0">
                              <a:latin typeface="Cambria Math" panose="02040503050406030204" pitchFamily="18" charset="0"/>
                            </a:rPr>
                            <m:t>′</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𝑔</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m:oMathPara>
                </a14:m>
                <a:endParaRPr lang="en-AU" sz="2400" b="0" dirty="0">
                  <a:latin typeface="+mj-lt"/>
                </a:endParaRPr>
              </a:p>
              <a:p>
                <a:pPr>
                  <a:spcAft>
                    <a:spcPts val="1200"/>
                  </a:spcAft>
                </a:pPr>
                <a:r>
                  <a:rPr lang="en-AU" sz="2400" dirty="0">
                    <a:latin typeface="+mj-lt"/>
                  </a:rPr>
                  <a:t>3. Derivative of a ratio (quotient rule):</a:t>
                </a:r>
              </a:p>
              <a:p>
                <a:pPr>
                  <a:spcAft>
                    <a:spcPts val="1200"/>
                  </a:spcAft>
                </a:pPr>
                <a14:m>
                  <m:oMathPara xmlns:m="http://schemas.openxmlformats.org/officeDocument/2006/math">
                    <m:oMathParaPr>
                      <m:jc m:val="centerGroup"/>
                    </m:oMathParaPr>
                    <m:oMath xmlns:m="http://schemas.openxmlformats.org/officeDocument/2006/math">
                      <m:sSup>
                        <m:sSupPr>
                          <m:ctrlPr>
                            <a:rPr lang="en-AU" sz="2400" i="1" smtClean="0">
                              <a:latin typeface="Cambria Math" panose="02040503050406030204" pitchFamily="18" charset="0"/>
                            </a:rPr>
                          </m:ctrlPr>
                        </m:sSupPr>
                        <m:e>
                          <m:d>
                            <m:dPr>
                              <m:ctrlPr>
                                <a:rPr lang="en-AU" sz="2400" i="1">
                                  <a:latin typeface="Cambria Math" panose="02040503050406030204" pitchFamily="18" charset="0"/>
                                </a:rPr>
                              </m:ctrlPr>
                            </m:dPr>
                            <m:e>
                              <m:f>
                                <m:fPr>
                                  <m:ctrlPr>
                                    <a:rPr lang="en-AU" sz="2400" i="1">
                                      <a:latin typeface="Cambria Math" panose="02040503050406030204" pitchFamily="18" charset="0"/>
                                    </a:rPr>
                                  </m:ctrlPr>
                                </m:fPr>
                                <m:num>
                                  <m:r>
                                    <a:rPr lang="en-AU" sz="2400" i="1">
                                      <a:latin typeface="Cambria Math" panose="02040503050406030204" pitchFamily="18" charset="0"/>
                                    </a:rPr>
                                    <m:t>𝑓</m:t>
                                  </m:r>
                                  <m:d>
                                    <m:dPr>
                                      <m:ctrlPr>
                                        <a:rPr lang="en-AU" sz="2400" i="1">
                                          <a:latin typeface="Cambria Math" panose="02040503050406030204" pitchFamily="18" charset="0"/>
                                        </a:rPr>
                                      </m:ctrlPr>
                                    </m:dPr>
                                    <m:e>
                                      <m:r>
                                        <a:rPr lang="en-AU" sz="2400" i="1">
                                          <a:latin typeface="Cambria Math" panose="02040503050406030204" pitchFamily="18" charset="0"/>
                                        </a:rPr>
                                        <m:t>𝑥</m:t>
                                      </m:r>
                                    </m:e>
                                  </m:d>
                                </m:num>
                                <m:den>
                                  <m:r>
                                    <a:rPr lang="en-AU" sz="2400" i="1">
                                      <a:latin typeface="Cambria Math" panose="02040503050406030204" pitchFamily="18" charset="0"/>
                                    </a:rPr>
                                    <m:t>𝑔</m:t>
                                  </m:r>
                                  <m:d>
                                    <m:dPr>
                                      <m:ctrlPr>
                                        <a:rPr lang="en-AU" sz="2400" i="1">
                                          <a:latin typeface="Cambria Math" panose="02040503050406030204" pitchFamily="18" charset="0"/>
                                        </a:rPr>
                                      </m:ctrlPr>
                                    </m:dPr>
                                    <m:e>
                                      <m:r>
                                        <a:rPr lang="en-AU" sz="2400" i="1">
                                          <a:latin typeface="Cambria Math" panose="02040503050406030204" pitchFamily="18" charset="0"/>
                                        </a:rPr>
                                        <m:t>𝑥</m:t>
                                      </m:r>
                                    </m:e>
                                  </m:d>
                                </m:den>
                              </m:f>
                            </m:e>
                          </m:d>
                        </m:e>
                        <m:sup>
                          <m:r>
                            <a:rPr lang="en-AU" sz="2400" b="0" i="1" smtClean="0">
                              <a:latin typeface="Cambria Math" panose="02040503050406030204" pitchFamily="18" charset="0"/>
                            </a:rPr>
                            <m:t>′</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num>
                        <m:den>
                          <m:sSup>
                            <m:sSupPr>
                              <m:ctrlPr>
                                <a:rPr lang="en-AU" sz="2400" b="0" i="1" smtClean="0">
                                  <a:latin typeface="Cambria Math" panose="02040503050406030204" pitchFamily="18" charset="0"/>
                                </a:rPr>
                              </m:ctrlPr>
                            </m:sSupPr>
                            <m:e>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e>
                              </m:d>
                            </m:e>
                            <m:sup>
                              <m:r>
                                <a:rPr lang="en-AU" sz="2400" b="0" i="1" smtClean="0">
                                  <a:latin typeface="Cambria Math" panose="02040503050406030204" pitchFamily="18" charset="0"/>
                                </a:rPr>
                                <m:t>2</m:t>
                              </m:r>
                            </m:sup>
                          </m:sSup>
                        </m:den>
                      </m:f>
                    </m:oMath>
                  </m:oMathPara>
                </a14:m>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5344540"/>
              </a:xfrm>
              <a:prstGeom prst="rect">
                <a:avLst/>
              </a:prstGeom>
              <a:blipFill>
                <a:blip r:embed="rId2"/>
                <a:stretch>
                  <a:fillRect l="-849" t="-912"/>
                </a:stretch>
              </a:blipFill>
            </p:spPr>
            <p:txBody>
              <a:bodyPr/>
              <a:lstStyle/>
              <a:p>
                <a:r>
                  <a:rPr lang="en-GB">
                    <a:noFill/>
                  </a:rPr>
                  <a:t> </a:t>
                </a:r>
              </a:p>
            </p:txBody>
          </p:sp>
        </mc:Fallback>
      </mc:AlternateContent>
    </p:spTree>
    <p:extLst>
      <p:ext uri="{BB962C8B-B14F-4D97-AF65-F5344CB8AC3E}">
        <p14:creationId xmlns:p14="http://schemas.microsoft.com/office/powerpoint/2010/main" val="2472828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095160" cy="523220"/>
          </a:xfrm>
          <a:prstGeom prst="rect">
            <a:avLst/>
          </a:prstGeom>
          <a:noFill/>
        </p:spPr>
        <p:txBody>
          <a:bodyPr wrap="none" rtlCol="0">
            <a:spAutoFit/>
          </a:bodyPr>
          <a:lstStyle/>
          <a:p>
            <a:r>
              <a:rPr lang="en-AU" sz="2800" b="1" cap="small" dirty="0">
                <a:solidFill>
                  <a:schemeClr val="bg1"/>
                </a:solidFill>
                <a:latin typeface="+mj-lt"/>
              </a:rPr>
              <a:t>4.3 Rules for differentiation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1138773"/>
              </a:xfrm>
              <a:prstGeom prst="rect">
                <a:avLst/>
              </a:prstGeom>
              <a:noFill/>
            </p:spPr>
            <p:txBody>
              <a:bodyPr wrap="square" rtlCol="0">
                <a:spAutoFit/>
              </a:bodyPr>
              <a:lstStyle/>
              <a:p>
                <a:pPr>
                  <a:spcAft>
                    <a:spcPts val="1200"/>
                  </a:spcAft>
                </a:pPr>
                <a:r>
                  <a:rPr lang="en-AU" sz="2400" dirty="0">
                    <a:latin typeface="+mj-lt"/>
                  </a:rPr>
                  <a:t>4. Derivative of a composition (chain rule):</a:t>
                </a:r>
              </a:p>
              <a:p>
                <a:pPr>
                  <a:spcAft>
                    <a:spcPts val="1200"/>
                  </a:spcAft>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e>
                        <m:sup>
                          <m:r>
                            <a:rPr lang="en-AU" sz="2400" b="0" i="1" smtClean="0">
                              <a:latin typeface="Cambria Math" panose="02040503050406030204" pitchFamily="18" charset="0"/>
                            </a:rPr>
                            <m:t>′</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e>
                      </m:d>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m:oMathPara>
                </a14:m>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1138773"/>
              </a:xfrm>
              <a:prstGeom prst="rect">
                <a:avLst/>
              </a:prstGeom>
              <a:blipFill>
                <a:blip r:embed="rId2"/>
                <a:stretch>
                  <a:fillRect l="-849" t="-4278"/>
                </a:stretch>
              </a:blipFill>
            </p:spPr>
            <p:txBody>
              <a:bodyPr/>
              <a:lstStyle/>
              <a:p>
                <a:r>
                  <a:rPr lang="en-GB">
                    <a:noFill/>
                  </a:rPr>
                  <a:t> </a:t>
                </a:r>
              </a:p>
            </p:txBody>
          </p:sp>
        </mc:Fallback>
      </mc:AlternateContent>
      <p:pic>
        <p:nvPicPr>
          <p:cNvPr id="1026" name="Picture 2" descr="The Chain Rule | Teaching Calculus">
            <a:extLst>
              <a:ext uri="{FF2B5EF4-FFF2-40B4-BE49-F238E27FC236}">
                <a16:creationId xmlns:a16="http://schemas.microsoft.com/office/drawing/2014/main" id="{9452DF73-10F8-4290-A57C-320AF35787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0283" y="1236008"/>
            <a:ext cx="3305175"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25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095160" cy="523220"/>
          </a:xfrm>
          <a:prstGeom prst="rect">
            <a:avLst/>
          </a:prstGeom>
          <a:noFill/>
        </p:spPr>
        <p:txBody>
          <a:bodyPr wrap="none" rtlCol="0">
            <a:spAutoFit/>
          </a:bodyPr>
          <a:lstStyle/>
          <a:p>
            <a:r>
              <a:rPr lang="en-AU" sz="2800" b="1" cap="small" dirty="0">
                <a:solidFill>
                  <a:schemeClr val="bg1"/>
                </a:solidFill>
                <a:latin typeface="+mj-lt"/>
              </a:rPr>
              <a:t>4.3 Rules for differentiation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3374514"/>
              </a:xfrm>
              <a:prstGeom prst="rect">
                <a:avLst/>
              </a:prstGeom>
              <a:noFill/>
            </p:spPr>
            <p:txBody>
              <a:bodyPr wrap="square" rtlCol="0">
                <a:spAutoFit/>
              </a:bodyPr>
              <a:lstStyle/>
              <a:p>
                <a:pPr>
                  <a:spcAft>
                    <a:spcPts val="1200"/>
                  </a:spcAft>
                </a:pPr>
                <a:r>
                  <a:rPr lang="en-AU" sz="2400" dirty="0">
                    <a:latin typeface="+mj-lt"/>
                  </a:rPr>
                  <a:t>Find the derivative of the following functions:</a:t>
                </a:r>
              </a:p>
              <a:p>
                <a:pPr>
                  <a:spcAft>
                    <a:spcPts val="1200"/>
                  </a:spcAft>
                </a:pPr>
                <a:r>
                  <a:rPr lang="en-AU" sz="2400" dirty="0">
                    <a:latin typeface="+mj-lt"/>
                  </a:rPr>
                  <a:t>1.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=3</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𝑥</m:t>
                        </m:r>
                      </m:e>
                    </m:rad>
                    <m:r>
                      <a:rPr lang="en-AU" sz="2400" b="0" i="1" smtClean="0">
                        <a:latin typeface="Cambria Math" panose="02040503050406030204" pitchFamily="18" charset="0"/>
                      </a:rPr>
                      <m:t>+4</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2</m:t>
                        </m:r>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den>
                    </m:f>
                    <m:r>
                      <a:rPr lang="en-AU" sz="2400" b="0" i="1" smtClean="0">
                        <a:latin typeface="Cambria Math" panose="02040503050406030204" pitchFamily="18" charset="0"/>
                      </a:rPr>
                      <m:t>+5</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ln</m:t>
                        </m:r>
                      </m:fName>
                      <m:e>
                        <m:r>
                          <a:rPr lang="en-AU" sz="2400" b="0" i="1" smtClean="0">
                            <a:latin typeface="Cambria Math" panose="02040503050406030204" pitchFamily="18" charset="0"/>
                          </a:rPr>
                          <m:t>𝑥</m:t>
                        </m:r>
                      </m:e>
                    </m:func>
                  </m:oMath>
                </a14:m>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r>
                  <a:rPr lang="en-AU" sz="2400" dirty="0">
                    <a:latin typeface="+mj-lt"/>
                  </a:rPr>
                  <a:t>2.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5</m:t>
                            </m:r>
                          </m:num>
                          <m:den>
                            <m:r>
                              <a:rPr lang="en-AU" sz="2400" b="0" i="1" smtClean="0">
                                <a:latin typeface="Cambria Math" panose="02040503050406030204" pitchFamily="18" charset="0"/>
                              </a:rPr>
                              <m:t>3</m:t>
                            </m:r>
                          </m:den>
                        </m:f>
                      </m:sup>
                    </m:sSup>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tanh</m:t>
                        </m:r>
                      </m:fName>
                      <m:e>
                        <m:r>
                          <a:rPr lang="en-AU" sz="2400" b="0" i="1" smtClean="0">
                            <a:latin typeface="Cambria Math" panose="02040503050406030204" pitchFamily="18" charset="0"/>
                          </a:rPr>
                          <m:t>𝑥</m:t>
                        </m:r>
                      </m:e>
                    </m:func>
                  </m:oMath>
                </a14:m>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3374514"/>
              </a:xfrm>
              <a:prstGeom prst="rect">
                <a:avLst/>
              </a:prstGeom>
              <a:blipFill>
                <a:blip r:embed="rId2"/>
                <a:stretch>
                  <a:fillRect l="-849" t="-1444" b="-3069"/>
                </a:stretch>
              </a:blipFill>
            </p:spPr>
            <p:txBody>
              <a:bodyPr/>
              <a:lstStyle/>
              <a:p>
                <a:r>
                  <a:rPr lang="en-GB">
                    <a:noFill/>
                  </a:rPr>
                  <a:t> </a:t>
                </a:r>
              </a:p>
            </p:txBody>
          </p:sp>
        </mc:Fallback>
      </mc:AlternateContent>
    </p:spTree>
    <p:extLst>
      <p:ext uri="{BB962C8B-B14F-4D97-AF65-F5344CB8AC3E}">
        <p14:creationId xmlns:p14="http://schemas.microsoft.com/office/powerpoint/2010/main" val="1990113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095160" cy="523220"/>
          </a:xfrm>
          <a:prstGeom prst="rect">
            <a:avLst/>
          </a:prstGeom>
          <a:noFill/>
        </p:spPr>
        <p:txBody>
          <a:bodyPr wrap="none" rtlCol="0">
            <a:spAutoFit/>
          </a:bodyPr>
          <a:lstStyle/>
          <a:p>
            <a:r>
              <a:rPr lang="en-AU" sz="2800" b="1" cap="small" dirty="0">
                <a:solidFill>
                  <a:schemeClr val="bg1"/>
                </a:solidFill>
                <a:latin typeface="+mj-lt"/>
              </a:rPr>
              <a:t>4.3 Rules for differentiation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3417667"/>
              </a:xfrm>
              <a:prstGeom prst="rect">
                <a:avLst/>
              </a:prstGeom>
              <a:noFill/>
            </p:spPr>
            <p:txBody>
              <a:bodyPr wrap="square" rtlCol="0">
                <a:spAutoFit/>
              </a:bodyPr>
              <a:lstStyle/>
              <a:p>
                <a:pPr>
                  <a:spcAft>
                    <a:spcPts val="1200"/>
                  </a:spcAft>
                </a:pPr>
                <a:r>
                  <a:rPr lang="en-AU" sz="2400" dirty="0">
                    <a:latin typeface="+mj-lt"/>
                  </a:rPr>
                  <a:t>Find the derivative of the following functions:</a:t>
                </a:r>
              </a:p>
              <a:p>
                <a:pPr>
                  <a:spcAft>
                    <a:spcPts val="1200"/>
                  </a:spcAft>
                </a:pPr>
                <a:r>
                  <a:rPr lang="en-AU" sz="2400" dirty="0">
                    <a:latin typeface="+mj-lt"/>
                  </a:rPr>
                  <a:t>3.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 −1</m:t>
                        </m:r>
                      </m:num>
                      <m:den>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sinh</m:t>
                            </m:r>
                          </m:fName>
                          <m:e>
                            <m:r>
                              <a:rPr lang="en-AU" sz="2400" b="0" i="1" smtClean="0">
                                <a:latin typeface="Cambria Math" panose="02040503050406030204" pitchFamily="18" charset="0"/>
                              </a:rPr>
                              <m:t>𝑥</m:t>
                            </m:r>
                          </m:e>
                        </m:func>
                      </m:den>
                    </m:f>
                  </m:oMath>
                </a14:m>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r>
                  <a:rPr lang="en-AU" sz="2400" dirty="0">
                    <a:latin typeface="+mj-lt"/>
                  </a:rPr>
                  <a:t>4.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−2</m:t>
                        </m:r>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+2</m:t>
                        </m:r>
                      </m:den>
                    </m:f>
                  </m:oMath>
                </a14:m>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3417667"/>
              </a:xfrm>
              <a:prstGeom prst="rect">
                <a:avLst/>
              </a:prstGeom>
              <a:blipFill>
                <a:blip r:embed="rId2"/>
                <a:stretch>
                  <a:fillRect l="-849" t="-1426" b="-1426"/>
                </a:stretch>
              </a:blipFill>
            </p:spPr>
            <p:txBody>
              <a:bodyPr/>
              <a:lstStyle/>
              <a:p>
                <a:r>
                  <a:rPr lang="en-GB">
                    <a:noFill/>
                  </a:rPr>
                  <a:t> </a:t>
                </a:r>
              </a:p>
            </p:txBody>
          </p:sp>
        </mc:Fallback>
      </mc:AlternateContent>
    </p:spTree>
    <p:extLst>
      <p:ext uri="{BB962C8B-B14F-4D97-AF65-F5344CB8AC3E}">
        <p14:creationId xmlns:p14="http://schemas.microsoft.com/office/powerpoint/2010/main" val="442325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095160" cy="523220"/>
          </a:xfrm>
          <a:prstGeom prst="rect">
            <a:avLst/>
          </a:prstGeom>
          <a:noFill/>
        </p:spPr>
        <p:txBody>
          <a:bodyPr wrap="none" rtlCol="0">
            <a:spAutoFit/>
          </a:bodyPr>
          <a:lstStyle/>
          <a:p>
            <a:r>
              <a:rPr lang="en-AU" sz="2800" b="1" cap="small" dirty="0">
                <a:solidFill>
                  <a:schemeClr val="bg1"/>
                </a:solidFill>
                <a:latin typeface="+mj-lt"/>
              </a:rPr>
              <a:t>4.3 Rules for differentiation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3077766"/>
              </a:xfrm>
              <a:prstGeom prst="rect">
                <a:avLst/>
              </a:prstGeom>
              <a:noFill/>
            </p:spPr>
            <p:txBody>
              <a:bodyPr wrap="square" rtlCol="0">
                <a:spAutoFit/>
              </a:bodyPr>
              <a:lstStyle/>
              <a:p>
                <a:pPr>
                  <a:spcAft>
                    <a:spcPts val="1200"/>
                  </a:spcAft>
                </a:pPr>
                <a:r>
                  <a:rPr lang="en-AU" sz="2400" dirty="0">
                    <a:latin typeface="+mj-lt"/>
                  </a:rPr>
                  <a:t>Find the derivative of the following functions:</a:t>
                </a:r>
              </a:p>
              <a:p>
                <a:pPr>
                  <a:spcAft>
                    <a:spcPts val="1200"/>
                  </a:spcAft>
                </a:pPr>
                <a:r>
                  <a:rPr lang="en-AU" sz="2400" dirty="0">
                    <a:latin typeface="+mj-lt"/>
                  </a:rPr>
                  <a:t>5.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+1)</m:t>
                        </m:r>
                      </m:e>
                    </m:func>
                  </m:oMath>
                </a14:m>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r>
                  <a:rPr lang="en-AU" sz="2400" dirty="0">
                    <a:latin typeface="+mj-lt"/>
                  </a:rPr>
                  <a:t>6.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−3</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r>
                          <a:rPr lang="en-AU" sz="2400" b="0" i="1" smtClean="0">
                            <a:latin typeface="Cambria Math" panose="02040503050406030204" pitchFamily="18" charset="0"/>
                          </a:rPr>
                          <m:t>)</m:t>
                        </m:r>
                      </m:e>
                    </m:func>
                  </m:oMath>
                </a14:m>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3077766"/>
              </a:xfrm>
              <a:prstGeom prst="rect">
                <a:avLst/>
              </a:prstGeom>
              <a:blipFill>
                <a:blip r:embed="rId2"/>
                <a:stretch>
                  <a:fillRect l="-849" t="-1584" b="-3564"/>
                </a:stretch>
              </a:blipFill>
            </p:spPr>
            <p:txBody>
              <a:bodyPr/>
              <a:lstStyle/>
              <a:p>
                <a:r>
                  <a:rPr lang="en-GB">
                    <a:noFill/>
                  </a:rPr>
                  <a:t> </a:t>
                </a:r>
              </a:p>
            </p:txBody>
          </p:sp>
        </mc:Fallback>
      </mc:AlternateContent>
    </p:spTree>
    <p:extLst>
      <p:ext uri="{BB962C8B-B14F-4D97-AF65-F5344CB8AC3E}">
        <p14:creationId xmlns:p14="http://schemas.microsoft.com/office/powerpoint/2010/main" val="3687122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095160" cy="523220"/>
          </a:xfrm>
          <a:prstGeom prst="rect">
            <a:avLst/>
          </a:prstGeom>
          <a:noFill/>
        </p:spPr>
        <p:txBody>
          <a:bodyPr wrap="none" rtlCol="0">
            <a:spAutoFit/>
          </a:bodyPr>
          <a:lstStyle/>
          <a:p>
            <a:r>
              <a:rPr lang="en-AU" sz="2800" b="1" cap="small" dirty="0">
                <a:solidFill>
                  <a:schemeClr val="bg1"/>
                </a:solidFill>
                <a:latin typeface="+mj-lt"/>
              </a:rPr>
              <a:t>4.3 Rules for differentiation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3244863"/>
              </a:xfrm>
              <a:prstGeom prst="rect">
                <a:avLst/>
              </a:prstGeom>
              <a:noFill/>
            </p:spPr>
            <p:txBody>
              <a:bodyPr wrap="square" rtlCol="0">
                <a:spAutoFit/>
              </a:bodyPr>
              <a:lstStyle/>
              <a:p>
                <a:pPr>
                  <a:spcAft>
                    <a:spcPts val="1200"/>
                  </a:spcAft>
                </a:pPr>
                <a:r>
                  <a:rPr lang="en-AU" sz="2400" dirty="0">
                    <a:latin typeface="+mj-lt"/>
                  </a:rPr>
                  <a:t>Find the derivative of the following functions:</a:t>
                </a:r>
              </a:p>
              <a:p>
                <a:pPr>
                  <a:spcAft>
                    <a:spcPts val="1200"/>
                  </a:spcAft>
                </a:pPr>
                <a:r>
                  <a:rPr lang="en-AU" sz="2400" dirty="0">
                    <a:latin typeface="+mj-lt"/>
                  </a:rPr>
                  <a:t>7.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ln</m:t>
                            </m:r>
                          </m:fName>
                          <m:e>
                            <m:d>
                              <m:dPr>
                                <m:ctrlPr>
                                  <a:rPr lang="en-AU" sz="2400" b="0" i="1" smtClean="0">
                                    <a:latin typeface="Cambria Math" panose="02040503050406030204" pitchFamily="18" charset="0"/>
                                  </a:rPr>
                                </m:ctrlPr>
                              </m:dP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+1</m:t>
                                </m:r>
                              </m:e>
                            </m:d>
                            <m:r>
                              <a:rPr lang="en-AU" sz="2400" b="0" i="1" smtClean="0">
                                <a:latin typeface="Cambria Math" panose="02040503050406030204" pitchFamily="18" charset="0"/>
                              </a:rPr>
                              <m:t>+3</m:t>
                            </m:r>
                          </m:e>
                        </m:func>
                      </m:e>
                    </m:rad>
                  </m:oMath>
                </a14:m>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r>
                  <a:rPr lang="en-AU" sz="2400" dirty="0">
                    <a:latin typeface="+mj-lt"/>
                  </a:rPr>
                  <a:t>8.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sinh</m:t>
                        </m:r>
                      </m:e>
                      <m:sup>
                        <m:r>
                          <a:rPr lang="en-AU" sz="2400" b="0" i="1" smtClean="0">
                            <a:latin typeface="Cambria Math" panose="02040503050406030204" pitchFamily="18" charset="0"/>
                          </a:rPr>
                          <m:t>4</m:t>
                        </m:r>
                      </m:sup>
                    </m:sSup>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𝑥</m:t>
                        </m:r>
                      </m:e>
                    </m:ra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r>
                          <a:rPr lang="en-AU" sz="2400" b="0" i="1" smtClean="0">
                            <a:latin typeface="Cambria Math" panose="02040503050406030204" pitchFamily="18" charset="0"/>
                          </a:rPr>
                          <m:t>)</m:t>
                        </m:r>
                      </m:e>
                    </m:func>
                  </m:oMath>
                </a14:m>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3244863"/>
              </a:xfrm>
              <a:prstGeom prst="rect">
                <a:avLst/>
              </a:prstGeom>
              <a:blipFill>
                <a:blip r:embed="rId2"/>
                <a:stretch>
                  <a:fillRect l="-849" t="-1501" b="-750"/>
                </a:stretch>
              </a:blipFill>
            </p:spPr>
            <p:txBody>
              <a:bodyPr/>
              <a:lstStyle/>
              <a:p>
                <a:r>
                  <a:rPr lang="en-GB">
                    <a:noFill/>
                  </a:rPr>
                  <a:t> </a:t>
                </a:r>
              </a:p>
            </p:txBody>
          </p:sp>
        </mc:Fallback>
      </mc:AlternateContent>
    </p:spTree>
    <p:extLst>
      <p:ext uri="{BB962C8B-B14F-4D97-AF65-F5344CB8AC3E}">
        <p14:creationId xmlns:p14="http://schemas.microsoft.com/office/powerpoint/2010/main" val="2820081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095160" cy="523220"/>
          </a:xfrm>
          <a:prstGeom prst="rect">
            <a:avLst/>
          </a:prstGeom>
          <a:noFill/>
        </p:spPr>
        <p:txBody>
          <a:bodyPr wrap="none" rtlCol="0">
            <a:spAutoFit/>
          </a:bodyPr>
          <a:lstStyle/>
          <a:p>
            <a:r>
              <a:rPr lang="en-AU" sz="2800" b="1" cap="small" dirty="0">
                <a:solidFill>
                  <a:schemeClr val="bg1"/>
                </a:solidFill>
                <a:latin typeface="+mj-lt"/>
              </a:rPr>
              <a:t>4.3 Rules for differentiation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5652A-6EC4-48A9-98D3-00D81FCAFB3A}"/>
                  </a:ext>
                </a:extLst>
              </p:cNvPr>
              <p:cNvSpPr txBox="1"/>
              <p:nvPr/>
            </p:nvSpPr>
            <p:spPr>
              <a:xfrm>
                <a:off x="277907" y="1068954"/>
                <a:ext cx="11492752" cy="2936766"/>
              </a:xfrm>
              <a:prstGeom prst="rect">
                <a:avLst/>
              </a:prstGeom>
              <a:noFill/>
            </p:spPr>
            <p:txBody>
              <a:bodyPr wrap="square" rtlCol="0">
                <a:spAutoFit/>
              </a:bodyPr>
              <a:lstStyle/>
              <a:p>
                <a:pPr>
                  <a:spcAft>
                    <a:spcPts val="1200"/>
                  </a:spcAft>
                </a:pPr>
                <a:r>
                  <a:rPr lang="en-AU" sz="2400" dirty="0">
                    <a:latin typeface="+mj-lt"/>
                  </a:rPr>
                  <a:t>Find the derivative of the following functions:</a:t>
                </a:r>
              </a:p>
              <a:p>
                <a:pPr>
                  <a:spcAft>
                    <a:spcPts val="1200"/>
                  </a:spcAft>
                </a:pPr>
                <a:r>
                  <a:rPr lang="en-AU" sz="2400" dirty="0">
                    <a:latin typeface="+mj-lt"/>
                  </a:rPr>
                  <a:t>9. </a:t>
                </a:r>
                <a14:m>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sup>
                    </m:sSup>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num>
                          <m:den>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e>
                    </m:rad>
                  </m:oMath>
                </a14:m>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a:p>
                <a:pPr>
                  <a:spcAft>
                    <a:spcPts val="1200"/>
                  </a:spcAft>
                </a:pPr>
                <a:endParaRPr lang="en-AU" sz="2400" dirty="0">
                  <a:latin typeface="+mj-lt"/>
                </a:endParaRPr>
              </a:p>
            </p:txBody>
          </p:sp>
        </mc:Choice>
        <mc:Fallback xmlns="">
          <p:sp>
            <p:nvSpPr>
              <p:cNvPr id="5" name="TextBox 4">
                <a:extLst>
                  <a:ext uri="{FF2B5EF4-FFF2-40B4-BE49-F238E27FC236}">
                    <a16:creationId xmlns:a16="http://schemas.microsoft.com/office/drawing/2014/main" id="{8055652A-6EC4-48A9-98D3-00D81FCAFB3A}"/>
                  </a:ext>
                </a:extLst>
              </p:cNvPr>
              <p:cNvSpPr txBox="1">
                <a:spLocks noRot="1" noChangeAspect="1" noMove="1" noResize="1" noEditPoints="1" noAdjustHandles="1" noChangeArrowheads="1" noChangeShapeType="1" noTextEdit="1"/>
              </p:cNvSpPr>
              <p:nvPr/>
            </p:nvSpPr>
            <p:spPr>
              <a:xfrm>
                <a:off x="277907" y="1068954"/>
                <a:ext cx="11492752" cy="2936766"/>
              </a:xfrm>
              <a:prstGeom prst="rect">
                <a:avLst/>
              </a:prstGeom>
              <a:blipFill>
                <a:blip r:embed="rId2"/>
                <a:stretch>
                  <a:fillRect l="-849" t="-1660"/>
                </a:stretch>
              </a:blipFill>
            </p:spPr>
            <p:txBody>
              <a:bodyPr/>
              <a:lstStyle/>
              <a:p>
                <a:r>
                  <a:rPr lang="en-GB">
                    <a:noFill/>
                  </a:rPr>
                  <a:t> </a:t>
                </a:r>
              </a:p>
            </p:txBody>
          </p:sp>
        </mc:Fallback>
      </mc:AlternateContent>
    </p:spTree>
    <p:extLst>
      <p:ext uri="{BB962C8B-B14F-4D97-AF65-F5344CB8AC3E}">
        <p14:creationId xmlns:p14="http://schemas.microsoft.com/office/powerpoint/2010/main" val="2044732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FE63619-80A3-4A89-960D-0F91C6BB0AAA}"/>
              </a:ext>
            </a:extLst>
          </p:cNvPr>
          <p:cNvGrpSpPr/>
          <p:nvPr/>
        </p:nvGrpSpPr>
        <p:grpSpPr>
          <a:xfrm>
            <a:off x="0" y="361"/>
            <a:ext cx="12192000" cy="825314"/>
            <a:chOff x="0" y="213019"/>
            <a:chExt cx="12192000" cy="825314"/>
          </a:xfrm>
          <a:solidFill>
            <a:schemeClr val="accent2">
              <a:lumMod val="50000"/>
            </a:schemeClr>
          </a:solidFill>
        </p:grpSpPr>
        <p:sp>
          <p:nvSpPr>
            <p:cNvPr id="4" name="Rectangle 3">
              <a:extLst>
                <a:ext uri="{FF2B5EF4-FFF2-40B4-BE49-F238E27FC236}">
                  <a16:creationId xmlns:a16="http://schemas.microsoft.com/office/drawing/2014/main" id="{0F605405-8240-4BCC-AF89-B810229A04DC}"/>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9556E24-176E-4E21-ACB9-FCE58612884D}"/>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20AD420-227D-44EE-A46A-95E968DB579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3833D331-C78A-418D-9AFF-6E3587061322}"/>
              </a:ext>
            </a:extLst>
          </p:cNvPr>
          <p:cNvSpPr txBox="1"/>
          <p:nvPr/>
        </p:nvSpPr>
        <p:spPr>
          <a:xfrm>
            <a:off x="66245" y="124632"/>
            <a:ext cx="2220673" cy="523220"/>
          </a:xfrm>
          <a:prstGeom prst="rect">
            <a:avLst/>
          </a:prstGeom>
          <a:noFill/>
        </p:spPr>
        <p:txBody>
          <a:bodyPr wrap="none" rtlCol="0">
            <a:spAutoFit/>
          </a:bodyPr>
          <a:lstStyle/>
          <a:p>
            <a:r>
              <a:rPr lang="en-AU" sz="2800" b="1" cap="small" dirty="0">
                <a:solidFill>
                  <a:schemeClr val="bg1"/>
                </a:solidFill>
                <a:latin typeface="+mj-lt"/>
              </a:rPr>
              <a:t>End of Lecture</a:t>
            </a:r>
            <a:endParaRPr lang="en-GB" sz="2800" b="1" cap="small" dirty="0">
              <a:solidFill>
                <a:schemeClr val="bg1"/>
              </a:solidFill>
              <a:latin typeface="+mj-lt"/>
            </a:endParaRPr>
          </a:p>
        </p:txBody>
      </p:sp>
    </p:spTree>
    <p:extLst>
      <p:ext uri="{BB962C8B-B14F-4D97-AF65-F5344CB8AC3E}">
        <p14:creationId xmlns:p14="http://schemas.microsoft.com/office/powerpoint/2010/main" val="3677207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f7f7579-3e9c-4a7e-b844-420280f53859}" enabled="0" method="" siteId="{df7f7579-3e9c-4a7e-b844-420280f53859}" removed="1"/>
</clbl:labelList>
</file>

<file path=docProps/app.xml><?xml version="1.0" encoding="utf-8"?>
<Properties xmlns="http://schemas.openxmlformats.org/officeDocument/2006/extended-properties" xmlns:vt="http://schemas.openxmlformats.org/officeDocument/2006/docPropsVTypes">
  <TotalTime>6249</TotalTime>
  <Words>1019</Words>
  <Application>Microsoft Office PowerPoint</Application>
  <PresentationFormat>Widescreen</PresentationFormat>
  <Paragraphs>135</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Cambria Math</vt:lpstr>
      <vt:lpstr>Times New Roman</vt:lpstr>
      <vt:lpstr>Office Theme</vt:lpstr>
      <vt:lpstr>Calculus and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MATHEMATICS</dc:title>
  <dc:creator>David</dc:creator>
  <cp:lastModifiedBy>David Richards</cp:lastModifiedBy>
  <cp:revision>376</cp:revision>
  <dcterms:created xsi:type="dcterms:W3CDTF">2018-11-23T00:41:45Z</dcterms:created>
  <dcterms:modified xsi:type="dcterms:W3CDTF">2025-04-01T04:16:25Z</dcterms:modified>
</cp:coreProperties>
</file>