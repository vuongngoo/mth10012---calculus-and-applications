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3"/>
  </p:notesMasterIdLst>
  <p:handoutMasterIdLst>
    <p:handoutMasterId r:id="rId34"/>
  </p:handoutMasterIdLst>
  <p:sldIdLst>
    <p:sldId id="256" r:id="rId2"/>
    <p:sldId id="261" r:id="rId3"/>
    <p:sldId id="387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399" r:id="rId16"/>
    <p:sldId id="400" r:id="rId17"/>
    <p:sldId id="401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15" r:id="rId31"/>
    <p:sldId id="337" r:id="rId32"/>
  </p:sldIdLst>
  <p:sldSz cx="12192000" cy="6858000"/>
  <p:notesSz cx="6805613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C0000"/>
    <a:srgbClr val="E050C5"/>
    <a:srgbClr val="FFF2CC"/>
    <a:srgbClr val="FFEBB3"/>
    <a:srgbClr val="75F8FF"/>
    <a:srgbClr val="A1FFE2"/>
    <a:srgbClr val="9AFFBF"/>
    <a:srgbClr val="00FF99"/>
    <a:srgbClr val="FFC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56" autoAdjust="0"/>
    <p:restoredTop sz="96625" autoAdjust="0"/>
  </p:normalViewPr>
  <p:slideViewPr>
    <p:cSldViewPr snapToGrid="0">
      <p:cViewPr varScale="1">
        <p:scale>
          <a:sx n="107" d="100"/>
          <a:sy n="107" d="100"/>
        </p:scale>
        <p:origin x="120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7C00F1-1718-4925-A43A-175331727A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6C4DA-E8E9-439A-AFBB-71B1FA85B9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F5198-13BD-4E71-A56E-DADFEA4013F7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77F23-B46D-4600-856F-446828C726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DB845-9091-44C1-BB5A-012CFA80FF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43135-408F-4918-93DC-4C4FABB8B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05199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9DCAD-DE8F-4CDD-984A-DA4AA5EA435B}" type="datetimeFigureOut">
              <a:rPr lang="en-AU" smtClean="0"/>
              <a:t>4/10/2024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C00294-AEF9-4034-8E81-4D594CB10C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199127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BE2F-261A-488B-B93C-7BE08E26F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D02DE-1CFE-4515-9E33-21EBC2882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A0201-588B-4FDC-B1A7-99525CBE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8AB16-CEA3-471F-8DD6-F4EB36AF83AE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79FBC-E34E-463B-9581-0DBAF2C9A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8FE7A-01BB-4021-8D2B-4591558B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0E577-446B-4DBC-A698-2A6B8DE6A94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F5D431-79F7-473F-8B6E-B3955076CD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2" y="6140610"/>
            <a:ext cx="1122769" cy="5742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5D6FCD-D711-415C-BDDE-8F6DDE0408BE}"/>
              </a:ext>
            </a:extLst>
          </p:cNvPr>
          <p:cNvSpPr txBox="1"/>
          <p:nvPr userDrawn="1"/>
        </p:nvSpPr>
        <p:spPr>
          <a:xfrm>
            <a:off x="11443527" y="6227700"/>
            <a:ext cx="486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B0E72E4E-4CBE-4D12-B6A9-8CB223CF8265}" type="slidenum">
              <a:rPr lang="en-AU" sz="2000" b="1" smtClean="0"/>
              <a:t>‹#›</a:t>
            </a:fld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3496589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A2F9-7D55-40B9-B9F6-47CEB7F2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4E6F6-872B-4351-82CE-F6BDED67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37C49-E28A-4BC7-B01F-46B910829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BB18F-8376-4052-A4AC-9CEE87CB9347}" type="datetime1">
              <a:rPr lang="en-AU" smtClean="0"/>
              <a:t>4/10/2024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BD53B-FA02-45C3-B746-4698E5C7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585B1-EDCF-4B2C-AB51-34E6296E0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367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CFC9-D1E8-4E90-A313-CE13BA34D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CAFC9-3AAB-464E-BF70-473E57067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92BC8-6CF3-4155-A3AC-94AADADA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EFC66-FB02-44EA-BC04-6F096A7B7769}" type="datetime1">
              <a:rPr lang="en-AU" smtClean="0"/>
              <a:t>4/10/2024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31418-83C4-4996-B0E2-AABE17A1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6ECE1-87D5-4300-BACC-4A4EB516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6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A7873-C1A0-4FC9-9508-391EDD08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A00C2-E18A-49F2-813D-D09687060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CC943-1A72-4568-B75B-790E77A35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6426C6-D368-434D-A76E-A08FE05B2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66C89-1765-4641-A2C2-0C255FF54FD1}" type="datetime1">
              <a:rPr lang="en-AU" smtClean="0"/>
              <a:t>4/10/2024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1A0D2-A40A-49C1-8234-B7D2E597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590CF-5EB7-4621-AF70-49745B7E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9012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5EC4E-7129-4DFE-A8BF-D2F4C51EB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868A7-B0A8-48B8-9C40-76D73A53E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52730-3A93-4774-B024-FF41D7ADB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1560C-643D-4E43-9F3C-1BAB21E15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C2905-B67E-4FAA-969B-8323B9811F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91CAE1-7796-4C1F-9BED-1A8C90ABA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73857-A5A5-474E-9E58-C4E578787857}" type="datetime1">
              <a:rPr lang="en-AU" smtClean="0"/>
              <a:t>4/10/2024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73460-6DE1-4496-9257-1CF265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E5745-5DC0-47E7-86B4-926C3EEB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098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30E46-5C93-447B-AA2A-FABDBC83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D545D-C4CE-4C13-933E-BB80F082B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A7F37-9D1F-41EA-AAC5-1B6F73404883}" type="datetime1">
              <a:rPr lang="en-AU" smtClean="0"/>
              <a:t>4/10/2024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55F992-DE21-4FF8-9EC3-24F7AAB4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18A99-A541-4FC4-8B0F-E2C0D8ED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8956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9AF43-84E3-4B89-A20D-5AD12A92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0FDF9-A986-4905-9508-247B7F4B200D}" type="datetime1">
              <a:rPr lang="en-AU" smtClean="0"/>
              <a:t>4/10/2024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552FC8-6766-4AF6-AE1B-3E3E40DE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8A401-3F10-4AB5-B56C-A44167EC9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13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0E79-7D0A-4913-9B9D-D14A14012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2F2BE-34D1-4394-A79C-56929CB7F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486DDC-E9A4-494D-8DA3-DF6FF0CB21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C4CB1-DD02-4E14-8070-D529601A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57C78-DADF-4969-B242-4855E9F4C4D5}" type="datetime1">
              <a:rPr lang="en-AU" smtClean="0"/>
              <a:t>4/10/2024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8DCFE-E8EA-4807-BCD4-B175C0E2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BDD04-DF59-476B-A2E1-B91A947D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213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8D7C8-9040-4BEA-BDE3-ABA1A1C27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8E7C11-8D21-434A-A6FD-3E8617092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6ED949-D4DE-4581-87B3-C03FD4FD1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D51E2-1921-40F3-AC40-E142F785D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0D74D-1239-4392-A26B-B7E440CEC8CB}" type="datetime1">
              <a:rPr lang="en-AU" smtClean="0"/>
              <a:t>4/10/2024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614FAF-0386-4409-8BFE-A413765B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F7AEF-E743-4036-9326-1065E481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280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E7700-60C9-4E9C-9852-C7B6C38A0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8E9C5B-FA98-43FE-90F2-7DDE18ED8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FD572-AD9E-4D3B-8F7B-2BB536B5F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578B-E5FA-490D-8208-9FBD9A867E75}" type="datetime1">
              <a:rPr lang="en-AU" smtClean="0"/>
              <a:t>4/10/2024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1E37F-1B21-4246-BA36-73956FFE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EDB52-5DFE-4447-91E2-9787D84DB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440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0283C-E2F0-4A6F-9AD9-82CA902DE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E5EE6-7D9F-42B2-94B0-02A3E84F5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C19CB-43F8-4CC0-903E-C23803089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54018-37EC-481E-B7F2-FDEEBA0F84AF}" type="datetime1">
              <a:rPr lang="en-AU" smtClean="0"/>
              <a:t>4/10/2024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45F0E-7361-4676-B432-1D05B70C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4F4EB-1112-445C-96AB-93D5D843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249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2DA63-5604-4C8B-A185-3346EDDFF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5E662-E32E-4BF0-B3BA-15B99830E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8C86-7471-4189-957D-1CEA3FBEE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43812-AA3E-4766-916C-F1E5A438B57F}" type="datetime1">
              <a:rPr lang="en-AU" smtClean="0"/>
              <a:t>4/10/2024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3008F-2F27-46E4-A82E-92541B128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6096A-7E11-4FA7-B795-CF89E7D09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F08E9-1735-422C-B5C5-130668B159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883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text on a whiteboard&#10;&#10;Description automatically generated">
            <a:extLst>
              <a:ext uri="{FF2B5EF4-FFF2-40B4-BE49-F238E27FC236}">
                <a16:creationId xmlns:a16="http://schemas.microsoft.com/office/drawing/2014/main" id="{9CBF2271-6786-48D8-8625-48074A2F58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59166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0029B91-E5FE-43A6-9535-58B2F4EBB5EE}"/>
              </a:ext>
            </a:extLst>
          </p:cNvPr>
          <p:cNvSpPr txBox="1">
            <a:spLocks/>
          </p:cNvSpPr>
          <p:nvPr/>
        </p:nvSpPr>
        <p:spPr>
          <a:xfrm>
            <a:off x="0" y="-2"/>
            <a:ext cx="12192000" cy="4591665"/>
          </a:xfrm>
          <a:prstGeom prst="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 sz="44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292225" y="4850229"/>
            <a:ext cx="9607550" cy="14757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4000" dirty="0">
                <a:latin typeface="+mj-lt"/>
              </a:rPr>
              <a:t>Week 9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9935" y="2486361"/>
            <a:ext cx="11012129" cy="1518035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4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Calculus and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23654"/>
            <a:ext cx="9144000" cy="562707"/>
          </a:xfrm>
        </p:spPr>
        <p:txBody>
          <a:bodyPr>
            <a:noAutofit/>
          </a:bodyPr>
          <a:lstStyle/>
          <a:p>
            <a:r>
              <a:rPr lang="en-AU" sz="3200" dirty="0">
                <a:latin typeface="+mj-lt"/>
              </a:rPr>
              <a:t>MTH10012</a:t>
            </a: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DCCAF879-A57E-4938-88B5-1CA526E0E8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439" y="701528"/>
            <a:ext cx="1927122" cy="96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91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991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Introduction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EC57D0-AC67-44EF-AAC1-EB45706D89C7}"/>
              </a:ext>
            </a:extLst>
          </p:cNvPr>
          <p:cNvSpPr txBox="1"/>
          <p:nvPr/>
        </p:nvSpPr>
        <p:spPr>
          <a:xfrm>
            <a:off x="1232187" y="1582735"/>
            <a:ext cx="10368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Integration of products of trig/</a:t>
            </a:r>
            <a:r>
              <a:rPr lang="en-AU" sz="2400" b="1" dirty="0" err="1">
                <a:latin typeface="+mj-lt"/>
              </a:rPr>
              <a:t>hyp</a:t>
            </a:r>
            <a:r>
              <a:rPr lang="en-AU" sz="2400" b="1" dirty="0">
                <a:latin typeface="+mj-lt"/>
              </a:rPr>
              <a:t>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Method of partial fractions, trigonometric and hyperbolic substitutions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Integration by parts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EC46B-21B4-4C87-946C-3EAD91A29AA1}"/>
              </a:ext>
            </a:extLst>
          </p:cNvPr>
          <p:cNvSpPr txBox="1"/>
          <p:nvPr/>
        </p:nvSpPr>
        <p:spPr>
          <a:xfrm>
            <a:off x="307593" y="1036182"/>
            <a:ext cx="888385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000" b="1" cap="small" dirty="0">
                <a:latin typeface="+mj-lt"/>
              </a:rPr>
              <a:t>Week 8</a:t>
            </a:r>
            <a:endParaRPr lang="en-GB" sz="2000" b="1" cap="small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F658E-4D46-438A-89D3-59C69A018DE7}"/>
              </a:ext>
            </a:extLst>
          </p:cNvPr>
          <p:cNvSpPr txBox="1"/>
          <p:nvPr/>
        </p:nvSpPr>
        <p:spPr>
          <a:xfrm>
            <a:off x="307593" y="3059799"/>
            <a:ext cx="888385" cy="40011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AU" sz="2000" b="1" cap="small" dirty="0">
                <a:latin typeface="+mj-lt"/>
              </a:rPr>
              <a:t>Week 9</a:t>
            </a:r>
            <a:endParaRPr lang="en-GB" sz="2000" b="1" cap="small" dirty="0">
              <a:latin typeface="+mj-lt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D60D396-44DB-4720-AA20-0FECBBC96907}"/>
              </a:ext>
            </a:extLst>
          </p:cNvPr>
          <p:cNvCxnSpPr>
            <a:stCxn id="13" idx="3"/>
          </p:cNvCxnSpPr>
          <p:nvPr/>
        </p:nvCxnSpPr>
        <p:spPr>
          <a:xfrm>
            <a:off x="1195978" y="3259854"/>
            <a:ext cx="104043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D933F3-BDCD-41B7-8B70-5B047253E6FA}"/>
              </a:ext>
            </a:extLst>
          </p:cNvPr>
          <p:cNvCxnSpPr>
            <a:cxnSpLocks/>
          </p:cNvCxnSpPr>
          <p:nvPr/>
        </p:nvCxnSpPr>
        <p:spPr>
          <a:xfrm flipV="1">
            <a:off x="1195978" y="1211598"/>
            <a:ext cx="10404351" cy="235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75F0327-FC2D-4943-8211-A27F72BBEB38}"/>
              </a:ext>
            </a:extLst>
          </p:cNvPr>
          <p:cNvSpPr txBox="1"/>
          <p:nvPr/>
        </p:nvSpPr>
        <p:spPr>
          <a:xfrm>
            <a:off x="159215" y="5001527"/>
            <a:ext cx="1072972" cy="33855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latin typeface="+mj-lt"/>
              </a:rPr>
              <a:t>MODULE 6</a:t>
            </a:r>
            <a:endParaRPr lang="en-GB" sz="1600" b="1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F34354-4086-4731-BD25-91F233A36B56}"/>
              </a:ext>
            </a:extLst>
          </p:cNvPr>
          <p:cNvSpPr txBox="1"/>
          <p:nvPr/>
        </p:nvSpPr>
        <p:spPr>
          <a:xfrm>
            <a:off x="1232187" y="4976522"/>
            <a:ext cx="10216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Differential equations: definition, classification, 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Elementary and separable first order ODEs and initial value problems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727196-6550-8839-5ADB-C831D12B8564}"/>
              </a:ext>
            </a:extLst>
          </p:cNvPr>
          <p:cNvSpPr txBox="1"/>
          <p:nvPr/>
        </p:nvSpPr>
        <p:spPr>
          <a:xfrm>
            <a:off x="1232187" y="3683296"/>
            <a:ext cx="103681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Definite integration and a version of the Fundamental Theorem of Calculus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dirty="0">
                <a:latin typeface="+mj-lt"/>
              </a:rPr>
              <a:t>Areas between two curves and arc lengths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9DE566F-DB51-D49A-C7F6-1A5AB12F3D7F}"/>
              </a:ext>
            </a:extLst>
          </p:cNvPr>
          <p:cNvSpPr/>
          <p:nvPr/>
        </p:nvSpPr>
        <p:spPr>
          <a:xfrm>
            <a:off x="456079" y="4259276"/>
            <a:ext cx="11144250" cy="504825"/>
          </a:xfrm>
          <a:custGeom>
            <a:avLst/>
            <a:gdLst>
              <a:gd name="connsiteX0" fmla="*/ 0 w 11144250"/>
              <a:gd name="connsiteY0" fmla="*/ 0 h 504825"/>
              <a:gd name="connsiteX1" fmla="*/ 0 w 11144250"/>
              <a:gd name="connsiteY1" fmla="*/ 504825 h 504825"/>
              <a:gd name="connsiteX2" fmla="*/ 11144250 w 11144250"/>
              <a:gd name="connsiteY2" fmla="*/ 504825 h 504825"/>
              <a:gd name="connsiteX3" fmla="*/ 11144250 w 11144250"/>
              <a:gd name="connsiteY3" fmla="*/ 1905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0" h="504825">
                <a:moveTo>
                  <a:pt x="0" y="0"/>
                </a:moveTo>
                <a:lnTo>
                  <a:pt x="0" y="504825"/>
                </a:lnTo>
                <a:lnTo>
                  <a:pt x="11144250" y="504825"/>
                </a:lnTo>
                <a:lnTo>
                  <a:pt x="11144250" y="19050"/>
                </a:lnTo>
              </a:path>
            </a:pathLst>
          </a:custGeom>
          <a:noFill/>
          <a:ln w="28575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572B18-5B90-F4D5-F7F8-C536C637F49F}"/>
              </a:ext>
            </a:extLst>
          </p:cNvPr>
          <p:cNvSpPr txBox="1"/>
          <p:nvPr/>
        </p:nvSpPr>
        <p:spPr>
          <a:xfrm>
            <a:off x="10813907" y="3551717"/>
            <a:ext cx="1268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TEST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F07FB8-AC48-0F4A-67C3-BDF186282C16}"/>
              </a:ext>
            </a:extLst>
          </p:cNvPr>
          <p:cNvSpPr txBox="1"/>
          <p:nvPr/>
        </p:nvSpPr>
        <p:spPr>
          <a:xfrm>
            <a:off x="10806537" y="3943174"/>
            <a:ext cx="13025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(In week 10)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A869D2-6700-BE1B-6DFC-B4D2DBABF265}"/>
              </a:ext>
            </a:extLst>
          </p:cNvPr>
          <p:cNvSpPr txBox="1"/>
          <p:nvPr/>
        </p:nvSpPr>
        <p:spPr>
          <a:xfrm>
            <a:off x="159215" y="3709919"/>
            <a:ext cx="1072972" cy="338554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b="1" dirty="0">
                <a:latin typeface="+mj-lt"/>
              </a:rPr>
              <a:t>MODULE 5</a:t>
            </a:r>
            <a:endParaRPr lang="en-GB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7059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 animBg="1"/>
      <p:bldP spid="18" grpId="0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504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5.8 The definite integral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4D0E4-F5A1-4299-AEDC-C56C1F48D3B1}"/>
              </a:ext>
            </a:extLst>
          </p:cNvPr>
          <p:cNvSpPr txBox="1"/>
          <p:nvPr/>
        </p:nvSpPr>
        <p:spPr>
          <a:xfrm>
            <a:off x="838201" y="1233926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latin typeface="+mj-lt"/>
              </a:rPr>
              <a:t>Eudoxus</a:t>
            </a:r>
            <a:r>
              <a:rPr lang="en-GB" dirty="0">
                <a:latin typeface="+mj-lt"/>
              </a:rPr>
              <a:t> (c.408-355 BC) and Archimedes (c.285-212 BC) use the method of exhaustion to compute the area of a circle.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10D460-165E-4409-936A-AFFDC42883F2}"/>
              </a:ext>
            </a:extLst>
          </p:cNvPr>
          <p:cNvSpPr/>
          <p:nvPr/>
        </p:nvSpPr>
        <p:spPr>
          <a:xfrm>
            <a:off x="1013254" y="2077522"/>
            <a:ext cx="1688757" cy="1688757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C6445DDF-7C98-4FFD-95D7-BD9F47D8B7CC}"/>
              </a:ext>
            </a:extLst>
          </p:cNvPr>
          <p:cNvSpPr/>
          <p:nvPr/>
        </p:nvSpPr>
        <p:spPr>
          <a:xfrm>
            <a:off x="1136822" y="2086462"/>
            <a:ext cx="1451990" cy="1251715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F12290B-43DB-4FD2-BC75-2B30DF002792}"/>
              </a:ext>
            </a:extLst>
          </p:cNvPr>
          <p:cNvSpPr/>
          <p:nvPr/>
        </p:nvSpPr>
        <p:spPr>
          <a:xfrm>
            <a:off x="3146854" y="2086462"/>
            <a:ext cx="1688757" cy="1688757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412F490-6370-44FD-924B-237CC6FC3CD3}"/>
              </a:ext>
            </a:extLst>
          </p:cNvPr>
          <p:cNvSpPr/>
          <p:nvPr/>
        </p:nvSpPr>
        <p:spPr>
          <a:xfrm>
            <a:off x="5280454" y="2077522"/>
            <a:ext cx="1688757" cy="1688757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8ABAB0-EE0A-4A75-9351-C09FBDA51E58}"/>
              </a:ext>
            </a:extLst>
          </p:cNvPr>
          <p:cNvSpPr/>
          <p:nvPr/>
        </p:nvSpPr>
        <p:spPr>
          <a:xfrm>
            <a:off x="7414054" y="2077521"/>
            <a:ext cx="1688757" cy="1688757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F1B6C73-9195-4A4C-9A12-29EAEB1BC7BC}"/>
              </a:ext>
            </a:extLst>
          </p:cNvPr>
          <p:cNvSpPr/>
          <p:nvPr/>
        </p:nvSpPr>
        <p:spPr>
          <a:xfrm>
            <a:off x="9547654" y="2077520"/>
            <a:ext cx="1688757" cy="1688757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994660-0191-478B-982F-6F5692A715FE}"/>
              </a:ext>
            </a:extLst>
          </p:cNvPr>
          <p:cNvSpPr/>
          <p:nvPr/>
        </p:nvSpPr>
        <p:spPr>
          <a:xfrm>
            <a:off x="3398106" y="2331628"/>
            <a:ext cx="1180545" cy="118054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C405D373-3871-4F01-9FAC-CBFA84FB1B20}"/>
              </a:ext>
            </a:extLst>
          </p:cNvPr>
          <p:cNvSpPr/>
          <p:nvPr/>
        </p:nvSpPr>
        <p:spPr>
          <a:xfrm>
            <a:off x="5332885" y="2094068"/>
            <a:ext cx="1583894" cy="1508470"/>
          </a:xfrm>
          <a:prstGeom prst="pentago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870F9D3A-BBE1-4922-A313-C5A400E36F60}"/>
              </a:ext>
            </a:extLst>
          </p:cNvPr>
          <p:cNvSpPr/>
          <p:nvPr/>
        </p:nvSpPr>
        <p:spPr>
          <a:xfrm>
            <a:off x="7465774" y="2228282"/>
            <a:ext cx="1612323" cy="1389934"/>
          </a:xfrm>
          <a:prstGeom prst="hexago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Heptagon 22">
            <a:extLst>
              <a:ext uri="{FF2B5EF4-FFF2-40B4-BE49-F238E27FC236}">
                <a16:creationId xmlns:a16="http://schemas.microsoft.com/office/drawing/2014/main" id="{7ACE830A-4318-4DEB-B288-2D623F4BC4E8}"/>
              </a:ext>
            </a:extLst>
          </p:cNvPr>
          <p:cNvSpPr/>
          <p:nvPr/>
        </p:nvSpPr>
        <p:spPr>
          <a:xfrm>
            <a:off x="9590621" y="2078224"/>
            <a:ext cx="1612328" cy="1612328"/>
          </a:xfrm>
          <a:prstGeom prst="heptago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A614A29-57A0-4BC0-8ADF-D00D50AF563C}"/>
              </a:ext>
            </a:extLst>
          </p:cNvPr>
          <p:cNvSpPr/>
          <p:nvPr/>
        </p:nvSpPr>
        <p:spPr>
          <a:xfrm>
            <a:off x="1023623" y="3963544"/>
            <a:ext cx="1688757" cy="1688757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D662F04-0E4E-4B16-89B3-5D2A0E9A80F3}"/>
              </a:ext>
            </a:extLst>
          </p:cNvPr>
          <p:cNvSpPr/>
          <p:nvPr/>
        </p:nvSpPr>
        <p:spPr>
          <a:xfrm>
            <a:off x="3143999" y="3963544"/>
            <a:ext cx="1688757" cy="1688757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ctagon 25">
            <a:extLst>
              <a:ext uri="{FF2B5EF4-FFF2-40B4-BE49-F238E27FC236}">
                <a16:creationId xmlns:a16="http://schemas.microsoft.com/office/drawing/2014/main" id="{D09036FF-B596-400F-90C6-671855C55060}"/>
              </a:ext>
            </a:extLst>
          </p:cNvPr>
          <p:cNvSpPr/>
          <p:nvPr/>
        </p:nvSpPr>
        <p:spPr>
          <a:xfrm>
            <a:off x="1092607" y="4034659"/>
            <a:ext cx="1546525" cy="1546525"/>
          </a:xfrm>
          <a:prstGeom prst="octago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Decagon 26">
            <a:extLst>
              <a:ext uri="{FF2B5EF4-FFF2-40B4-BE49-F238E27FC236}">
                <a16:creationId xmlns:a16="http://schemas.microsoft.com/office/drawing/2014/main" id="{65DE1C44-6F38-4704-9003-2CFC99FA3C02}"/>
              </a:ext>
            </a:extLst>
          </p:cNvPr>
          <p:cNvSpPr/>
          <p:nvPr/>
        </p:nvSpPr>
        <p:spPr>
          <a:xfrm>
            <a:off x="3168092" y="4003909"/>
            <a:ext cx="1648187" cy="1607616"/>
          </a:xfrm>
          <a:prstGeom prst="decago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1E3221-D88C-4655-8FFD-D5AA6C083F8A}"/>
              </a:ext>
            </a:extLst>
          </p:cNvPr>
          <p:cNvSpPr txBox="1"/>
          <p:nvPr/>
        </p:nvSpPr>
        <p:spPr>
          <a:xfrm>
            <a:off x="5574681" y="4462012"/>
            <a:ext cx="550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7914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504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5.8 The definite integral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858166-CDF6-4A1A-9663-766D0C82A5B7}"/>
              </a:ext>
            </a:extLst>
          </p:cNvPr>
          <p:cNvSpPr txBox="1"/>
          <p:nvPr/>
        </p:nvSpPr>
        <p:spPr>
          <a:xfrm>
            <a:off x="3555023" y="1801726"/>
            <a:ext cx="50819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+mj-lt"/>
              </a:rPr>
              <a:t>https://www.geogebra.org/m/Fv6t696j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D2FCB1-D96D-4BFD-AF61-864244715F42}"/>
              </a:ext>
            </a:extLst>
          </p:cNvPr>
          <p:cNvSpPr txBox="1"/>
          <p:nvPr/>
        </p:nvSpPr>
        <p:spPr>
          <a:xfrm>
            <a:off x="371454" y="963042"/>
            <a:ext cx="114490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+mj-lt"/>
              </a:rPr>
              <a:t>The problem of finding the area below a curve began with Cavalieri (1630s), who developed the idea of </a:t>
            </a:r>
            <a:r>
              <a:rPr lang="en-GB" sz="2400" b="1" i="1" dirty="0">
                <a:latin typeface="+mj-lt"/>
              </a:rPr>
              <a:t>indivisibles.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7A28F5-43BC-4ADB-93CC-CC4E70386CC7}"/>
                  </a:ext>
                </a:extLst>
              </p:cNvPr>
              <p:cNvSpPr txBox="1"/>
              <p:nvPr/>
            </p:nvSpPr>
            <p:spPr>
              <a:xfrm>
                <a:off x="371454" y="2271078"/>
                <a:ext cx="11449092" cy="379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+mj-lt"/>
                  </a:rPr>
                  <a:t>Riemann sums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GB" sz="2400" b="1" i="1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If we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=overestimation,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=underestimation, then the true area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400" dirty="0">
                    <a:latin typeface="+mj-lt"/>
                  </a:rPr>
                  <a:t> must be between these two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400" i="1" dirty="0">
                    <a:latin typeface="+mj-lt"/>
                  </a:rPr>
                  <a:t>. </a:t>
                </a:r>
                <a:r>
                  <a:rPr lang="en-GB" sz="2400" dirty="0">
                    <a:latin typeface="+mj-lt"/>
                  </a:rPr>
                  <a:t>If we take limits, and if the function is sufficiently regular, then we have that: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GB" sz="2400" i="1" dirty="0">
                  <a:latin typeface="+mj-lt"/>
                </a:endParaRPr>
              </a:p>
              <a:p>
                <a:r>
                  <a:rPr lang="en-GB" sz="2400" i="1" dirty="0">
                    <a:latin typeface="+mj-lt"/>
                  </a:rPr>
                  <a:t>Not all functions are integrable, only those for which the result above is true.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7A28F5-43BC-4ADB-93CC-CC4E70386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54" y="2271078"/>
                <a:ext cx="11449092" cy="3792128"/>
              </a:xfrm>
              <a:prstGeom prst="rect">
                <a:avLst/>
              </a:prstGeom>
              <a:blipFill>
                <a:blip r:embed="rId2"/>
                <a:stretch>
                  <a:fillRect l="-852" t="-1286" b="-27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5914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504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5.8 The definite integral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286870" y="1079583"/>
                <a:ext cx="11672047" cy="16687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+mj-lt"/>
                  </a:rPr>
                  <a:t>Definition (Definite integral). Given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, continuous on an interval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]⊂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+mj-lt"/>
                  </a:rPr>
                  <a:t>, the following quantity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70" y="1079583"/>
                <a:ext cx="11672047" cy="1668727"/>
              </a:xfrm>
              <a:prstGeom prst="rect">
                <a:avLst/>
              </a:prstGeom>
              <a:blipFill>
                <a:blip r:embed="rId2"/>
                <a:stretch>
                  <a:fillRect l="-783" t="-2920" r="-9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7AF155-0778-4A07-86BD-B4746E36F468}"/>
                  </a:ext>
                </a:extLst>
              </p:cNvPr>
              <p:cNvSpPr txBox="1"/>
              <p:nvPr/>
            </p:nvSpPr>
            <p:spPr>
              <a:xfrm>
                <a:off x="286870" y="3105834"/>
                <a:ext cx="7082117" cy="3146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dirty="0">
                    <a:latin typeface="+mj-lt"/>
                  </a:rPr>
                  <a:t>is the area, with a positive or negative sign, below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in the interval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400" dirty="0">
                    <a:latin typeface="+mj-lt"/>
                  </a:rPr>
                  <a:t> are called “limits” or “extremes” of integration. We can subdivide the integration interval: given a value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>
                    <a:latin typeface="+mj-lt"/>
                  </a:rPr>
                  <a:t>, with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400" dirty="0">
                    <a:latin typeface="+mj-lt"/>
                  </a:rPr>
                  <a:t>, we have:</a:t>
                </a:r>
              </a:p>
              <a:p>
                <a:endParaRPr lang="en-GB" sz="24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D7AF155-0778-4A07-86BD-B4746E36F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70" y="3105834"/>
                <a:ext cx="7082117" cy="3146054"/>
              </a:xfrm>
              <a:prstGeom prst="rect">
                <a:avLst/>
              </a:prstGeom>
              <a:blipFill>
                <a:blip r:embed="rId3"/>
                <a:stretch>
                  <a:fillRect l="-1291" t="-15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Chart, histogram&#10;&#10;Description automatically generated">
            <a:extLst>
              <a:ext uri="{FF2B5EF4-FFF2-40B4-BE49-F238E27FC236}">
                <a16:creationId xmlns:a16="http://schemas.microsoft.com/office/drawing/2014/main" id="{571C9D12-A6F5-40CE-B769-FFEBAEBE5C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987" y="1686690"/>
            <a:ext cx="4500281" cy="45002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47595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504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5.8 The definite integral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98901"/>
                <a:ext cx="11883708" cy="6042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+mj-lt"/>
                  </a:rPr>
                  <a:t>Theorem (A weaker version of the Fundamental Theorem of Calculus). Let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 be a continuous function on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]⊂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+mj-lt"/>
                  </a:rPr>
                  <a:t>. Let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be a primitive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in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>
                    <a:latin typeface="+mj-lt"/>
                  </a:rPr>
                  <a:t>,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. Then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The theorem connects antidifferentiation with Riemann integration: the difference between the values of the antiderivative at the integration limits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>
                    <a:latin typeface="+mj-lt"/>
                  </a:rPr>
                  <a:t>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>
                    <a:latin typeface="+mj-lt"/>
                  </a:rPr>
                  <a:t>is the area below the graph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400" dirty="0">
                    <a:latin typeface="+mj-lt"/>
                  </a:rPr>
                  <a:t> in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There are two equivalent notations used to indicate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:</a:t>
                </a:r>
              </a:p>
              <a:p>
                <a:endParaRPr lang="en-GB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AU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98901"/>
                <a:ext cx="11883708" cy="6042744"/>
              </a:xfrm>
              <a:prstGeom prst="rect">
                <a:avLst/>
              </a:prstGeom>
              <a:blipFill>
                <a:blip r:embed="rId2"/>
                <a:stretch>
                  <a:fillRect l="-769" t="-807" r="-11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785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35048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5.8 The definite integral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98901"/>
                <a:ext cx="11883708" cy="2970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+mj-lt"/>
                  </a:rPr>
                  <a:t>Evaluate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𝑥𝑑𝑥</m:t>
                        </m:r>
                      </m:e>
                    </m:nary>
                  </m:oMath>
                </a14:m>
                <a:endParaRPr lang="en-GB" sz="2400" b="1" i="1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Evaluate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AU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98901"/>
                <a:ext cx="11883708" cy="2970300"/>
              </a:xfrm>
              <a:prstGeom prst="rect">
                <a:avLst/>
              </a:prstGeom>
              <a:blipFill>
                <a:blip r:embed="rId2"/>
                <a:stretch>
                  <a:fillRect l="-769" b="-16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9DD28C7A-A292-4649-A9B0-A363C21A93F8}"/>
              </a:ext>
            </a:extLst>
          </p:cNvPr>
          <p:cNvSpPr/>
          <p:nvPr/>
        </p:nvSpPr>
        <p:spPr>
          <a:xfrm>
            <a:off x="11734800" y="6400800"/>
            <a:ext cx="71718" cy="896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2249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355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5.9 Applications: areas between two curves and arc lengths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98901"/>
                <a:ext cx="1188370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Definition (Region between two curves). Consider two functions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 and an interval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>
                    <a:latin typeface="+mj-lt"/>
                  </a:rPr>
                  <a:t> common to the two domains. Let us also suppose that, for every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>
                    <a:latin typeface="+mj-lt"/>
                  </a:rPr>
                  <a:t>, we have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. Then, the region between the two curves is the following set of points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in the Cartesian plane: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98901"/>
                <a:ext cx="11883708" cy="1938992"/>
              </a:xfrm>
              <a:prstGeom prst="rect">
                <a:avLst/>
              </a:prstGeom>
              <a:blipFill>
                <a:blip r:embed="rId2"/>
                <a:stretch>
                  <a:fillRect l="-769" t="-2516" r="-1282" b="-34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95A47F-E089-45A6-B6F5-3B0164BF59A8}"/>
                  </a:ext>
                </a:extLst>
              </p:cNvPr>
              <p:cNvSpPr txBox="1"/>
              <p:nvPr/>
            </p:nvSpPr>
            <p:spPr>
              <a:xfrm>
                <a:off x="154145" y="2937893"/>
                <a:ext cx="7932019" cy="31879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400" dirty="0">
                    <a:latin typeface="+mj-lt"/>
                  </a:rPr>
                  <a:t>Definition (Area between two curves). </a:t>
                </a:r>
                <a:r>
                  <a:rPr lang="en-AU" sz="2400" dirty="0">
                    <a:latin typeface="+mj-lt"/>
                  </a:rPr>
                  <a:t>Consider two functions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AU" sz="2400" dirty="0">
                    <a:latin typeface="+mj-lt"/>
                  </a:rPr>
                  <a:t> and an interval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>
                    <a:latin typeface="+mj-lt"/>
                  </a:rPr>
                  <a:t> common to the two domains. Let us also suppose that, for every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>
                    <a:latin typeface="+mj-lt"/>
                  </a:rPr>
                  <a:t>, we have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. Then, the area of the region between the two curves is given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It is clear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. Since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, the area is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95A47F-E089-45A6-B6F5-3B0164BF5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5" y="2937893"/>
                <a:ext cx="7932019" cy="3187989"/>
              </a:xfrm>
              <a:prstGeom prst="rect">
                <a:avLst/>
              </a:prstGeom>
              <a:blipFill>
                <a:blip r:embed="rId3"/>
                <a:stretch>
                  <a:fillRect l="-1153" t="-1530" r="-999" b="-24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BFAAF86-3E68-4FCD-B954-1852DE8C1383}"/>
              </a:ext>
            </a:extLst>
          </p:cNvPr>
          <p:cNvSpPr txBox="1"/>
          <p:nvPr/>
        </p:nvSpPr>
        <p:spPr>
          <a:xfrm>
            <a:off x="1602441" y="6009341"/>
            <a:ext cx="1257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+mj-lt"/>
              </a:rPr>
              <a:t>positive.</a:t>
            </a:r>
          </a:p>
        </p:txBody>
      </p:sp>
      <p:pic>
        <p:nvPicPr>
          <p:cNvPr id="12" name="Picture 11" descr="Chart&#10;&#10;Description automatically generated">
            <a:extLst>
              <a:ext uri="{FF2B5EF4-FFF2-40B4-BE49-F238E27FC236}">
                <a16:creationId xmlns:a16="http://schemas.microsoft.com/office/drawing/2014/main" id="{FBD92BC7-7BA5-4E2A-8456-4F26F1936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164" y="2937893"/>
            <a:ext cx="3713918" cy="37139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0650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355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5.9 Applications: areas between two curves and arc lengths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98901"/>
                <a:ext cx="118837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Find the area of the region bounded by the graphs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98901"/>
                <a:ext cx="11883708" cy="461665"/>
              </a:xfrm>
              <a:prstGeom prst="rect">
                <a:avLst/>
              </a:prstGeom>
              <a:blipFill>
                <a:blip r:embed="rId2"/>
                <a:stretch>
                  <a:fillRect l="-769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2047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355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5.9 Applications: areas between two curves and arc lengths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98901"/>
                <a:ext cx="118837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Find the area of the region bounded by the graphs of the Y-axis,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98901"/>
                <a:ext cx="11883708" cy="830997"/>
              </a:xfrm>
              <a:prstGeom prst="rect">
                <a:avLst/>
              </a:prstGeom>
              <a:blipFill>
                <a:blip r:embed="rId2"/>
                <a:stretch>
                  <a:fillRect l="-769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3610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355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5.9 Applications: areas between two curves and arc lengths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1502740"/>
                <a:ext cx="11883708" cy="4690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Theorem (Arc length of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). Consider a function </a:t>
                </a:r>
                <a14:m>
                  <m:oMath xmlns:m="http://schemas.openxmlformats.org/officeDocument/2006/math">
                    <m:r>
                      <a:rPr lang="en-AU" sz="240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 continuous and differentiable over an interval </a:t>
                </a:r>
                <a14:m>
                  <m:oMath xmlns:m="http://schemas.openxmlformats.org/officeDocument/2006/math">
                    <m:r>
                      <a:rPr lang="en-AU" sz="24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]⊂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2400" dirty="0">
                    <a:latin typeface="+mj-lt"/>
                  </a:rPr>
                  <a:t>. Let us indicate the graph of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𝑔𝑟𝑎𝑝h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The length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 in the interval </a:t>
                </a:r>
                <a14:m>
                  <m:oMath xmlns:m="http://schemas.openxmlformats.org/officeDocument/2006/math">
                    <m:r>
                      <a:rPr lang="en-AU" sz="24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>
                    <a:latin typeface="+mj-lt"/>
                  </a:rPr>
                  <a:t> is indicated by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and is given by</a:t>
                </a:r>
              </a:p>
              <a:p>
                <a:endParaRPr lang="en-GB" sz="24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AU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AU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en-AU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AU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AU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This length is also called the arc length of the function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in the interval </a:t>
                </a:r>
                <a14:m>
                  <m:oMath xmlns:m="http://schemas.openxmlformats.org/officeDocument/2006/math">
                    <m:r>
                      <a:rPr lang="en-AU" sz="24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  <a:p>
                <a:endParaRPr lang="en-GB" sz="2400" dirty="0">
                  <a:latin typeface="+mj-lt"/>
                </a:endParaRPr>
              </a:p>
              <a:p>
                <a:pPr algn="ctr"/>
                <a:r>
                  <a:rPr lang="en-GB" sz="2400" dirty="0">
                    <a:latin typeface="+mj-lt"/>
                  </a:rPr>
                  <a:t>https://www.geogebra.org/m/GrTpNKnJ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1502740"/>
                <a:ext cx="11883708" cy="4690771"/>
              </a:xfrm>
              <a:prstGeom prst="rect">
                <a:avLst/>
              </a:prstGeom>
              <a:blipFill>
                <a:blip r:embed="rId2"/>
                <a:stretch>
                  <a:fillRect l="-769" t="-1040" b="-20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ECFE9F5-9C6B-4600-AC80-DD3382E942DA}"/>
              </a:ext>
            </a:extLst>
          </p:cNvPr>
          <p:cNvSpPr txBox="1"/>
          <p:nvPr/>
        </p:nvSpPr>
        <p:spPr>
          <a:xfrm>
            <a:off x="154146" y="933375"/>
            <a:ext cx="2705595" cy="46166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+mj-lt"/>
              </a:rPr>
              <a:t>Arc length of a curve</a:t>
            </a:r>
            <a:endParaRPr lang="en-GB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4862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355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5.9 Applications: areas between two curves and arc lengths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98901"/>
                <a:ext cx="7332272" cy="5848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Suppose that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𝑑𝑦</m:t>
                    </m:r>
                  </m:oMath>
                </a14:m>
                <a:r>
                  <a:rPr lang="en-GB" sz="2400" dirty="0">
                    <a:latin typeface="+mj-lt"/>
                  </a:rPr>
                  <a:t> are infinitesimal increments in the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>
                    <a:latin typeface="+mj-lt"/>
                  </a:rPr>
                  <a:t> directions, respectively. When we consider the infinitesimal triangle that has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𝑑𝑦</m:t>
                    </m:r>
                  </m:oMath>
                </a14:m>
                <a:r>
                  <a:rPr lang="en-GB" sz="2400" dirty="0">
                    <a:latin typeface="+mj-lt"/>
                  </a:rPr>
                  <a:t> as sides,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𝑑𝑠</m:t>
                    </m:r>
                  </m:oMath>
                </a14:m>
                <a:r>
                  <a:rPr lang="en-GB" sz="2400" dirty="0">
                    <a:latin typeface="+mj-lt"/>
                  </a:rPr>
                  <a:t> is the hypothenuse, and from Pythagoras’ theorem we have: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𝑑𝑠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</m:e>
                              </m:d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Summing up all the little increments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𝑑𝑠</m:t>
                    </m:r>
                  </m:oMath>
                </a14:m>
                <a:r>
                  <a:rPr lang="en-GB" sz="2400" dirty="0">
                    <a:latin typeface="+mj-lt"/>
                  </a:rPr>
                  <a:t> from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>
                    <a:latin typeface="+mj-lt"/>
                  </a:rPr>
                  <a:t>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400" dirty="0">
                    <a:latin typeface="+mj-lt"/>
                  </a:rPr>
                  <a:t> will give us the length of the graph from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latin typeface="+mj-lt"/>
                  </a:rPr>
                  <a:t>to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2400" dirty="0"/>
                  <a:t>, </a:t>
                </a:r>
                <a:r>
                  <a:rPr lang="en-GB" sz="2400" dirty="0">
                    <a:latin typeface="+mj-lt"/>
                  </a:rPr>
                  <a:t>which can be written as: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nary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Then,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𝑑𝑠</m:t>
                            </m:r>
                          </m:e>
                        </m:d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d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e>
                        </m:d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   → 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𝑑𝑠</m:t>
                                </m:r>
                              </m:e>
                            </m:d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d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d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d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𝑑𝑦</m:t>
                                </m:r>
                              </m:e>
                            </m:d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e>
                            </m:d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→  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𝑑𝑠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=1+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=1+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98901"/>
                <a:ext cx="7332272" cy="5848781"/>
              </a:xfrm>
              <a:prstGeom prst="rect">
                <a:avLst/>
              </a:prstGeom>
              <a:blipFill>
                <a:blip r:embed="rId2"/>
                <a:stretch>
                  <a:fillRect l="-1247" t="-834" r="-17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1644FBB3-ACB3-4D2E-B7D2-260E718AA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404" y="998901"/>
            <a:ext cx="4254417" cy="4254417"/>
          </a:xfrm>
          <a:prstGeom prst="rect">
            <a:avLst/>
          </a:prstGeom>
        </p:spPr>
      </p:pic>
      <p:sp>
        <p:nvSpPr>
          <p:cNvPr id="5" name="Right Triangle 4">
            <a:extLst>
              <a:ext uri="{FF2B5EF4-FFF2-40B4-BE49-F238E27FC236}">
                <a16:creationId xmlns:a16="http://schemas.microsoft.com/office/drawing/2014/main" id="{3FCA203E-BF93-4567-B44D-835620056603}"/>
              </a:ext>
            </a:extLst>
          </p:cNvPr>
          <p:cNvSpPr/>
          <p:nvPr/>
        </p:nvSpPr>
        <p:spPr>
          <a:xfrm flipH="1">
            <a:off x="9064920" y="1882588"/>
            <a:ext cx="796256" cy="503804"/>
          </a:xfrm>
          <a:prstGeom prst="rtTriangl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256CE3-13E7-4BBF-B7D2-F6C5D0B5C021}"/>
                  </a:ext>
                </a:extLst>
              </p:cNvPr>
              <p:cNvSpPr txBox="1"/>
              <p:nvPr/>
            </p:nvSpPr>
            <p:spPr>
              <a:xfrm>
                <a:off x="9267496" y="2346510"/>
                <a:ext cx="5196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𝒅𝒙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256CE3-13E7-4BBF-B7D2-F6C5D0B5C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7496" y="2346510"/>
                <a:ext cx="51969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91D601-C6E9-48C6-BCBB-C5D154A3A0DE}"/>
                  </a:ext>
                </a:extLst>
              </p:cNvPr>
              <p:cNvSpPr txBox="1"/>
              <p:nvPr/>
            </p:nvSpPr>
            <p:spPr>
              <a:xfrm>
                <a:off x="9773033" y="1943893"/>
                <a:ext cx="5245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𝒅𝒚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691D601-C6E9-48C6-BCBB-C5D154A3A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033" y="1943893"/>
                <a:ext cx="524503" cy="369332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0F9E15-4E18-4A26-8371-8C0889CF9440}"/>
                  </a:ext>
                </a:extLst>
              </p:cNvPr>
              <p:cNvSpPr txBox="1"/>
              <p:nvPr/>
            </p:nvSpPr>
            <p:spPr>
              <a:xfrm>
                <a:off x="9150016" y="1805499"/>
                <a:ext cx="5020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𝒅𝒔</m:t>
                      </m:r>
                    </m:oMath>
                  </m:oMathPara>
                </a14:m>
                <a:endParaRPr lang="en-GB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0F9E15-4E18-4A26-8371-8C0889CF9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0016" y="1805499"/>
                <a:ext cx="50206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1691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8355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5.9 Applications: areas between two curves and arc lengths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98901"/>
                <a:ext cx="11883708" cy="685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Find the length of the curve for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GB" sz="2400" dirty="0">
                    <a:latin typeface="+mj-lt"/>
                  </a:rPr>
                  <a:t> between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98901"/>
                <a:ext cx="11883708" cy="685957"/>
              </a:xfrm>
              <a:prstGeom prst="rect">
                <a:avLst/>
              </a:prstGeom>
              <a:blipFill>
                <a:blip r:embed="rId2"/>
                <a:stretch>
                  <a:fillRect l="-769" b="-89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44B7CADF-518D-460E-B410-237536766DFD}"/>
              </a:ext>
            </a:extLst>
          </p:cNvPr>
          <p:cNvSpPr/>
          <p:nvPr/>
        </p:nvSpPr>
        <p:spPr>
          <a:xfrm>
            <a:off x="11824445" y="6400800"/>
            <a:ext cx="71718" cy="896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804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922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6.1 Differential Equations: definition, classification and solutions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1502740"/>
                <a:ext cx="11883708" cy="4460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Generally speaking, a differential equation (DE) is an equation involving derivatives of a function.</a:t>
                </a:r>
              </a:p>
              <a:p>
                <a:r>
                  <a:rPr lang="en-AU" sz="2400" dirty="0">
                    <a:latin typeface="+mj-lt"/>
                  </a:rPr>
                  <a:t>Definition (Ordinary differential equation). An ordinary differential equation (ODE) of order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dirty="0">
                    <a:latin typeface="+mj-lt"/>
                  </a:rPr>
                  <a:t> is a equation of the form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AU" sz="2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,…,</m:t>
                          </m:r>
                          <m:f>
                            <m:f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where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400" dirty="0">
                    <a:latin typeface="+mj-lt"/>
                  </a:rPr>
                  <a:t> is a given function,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 is the independent variable,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is the dependent variable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GB" sz="2400" dirty="0">
                    <a:latin typeface="+mj-lt"/>
                  </a:rPr>
                  <a:t> are the derivatives of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The order of the ODE is the same as that of the highest order derivative present in the expression.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1502740"/>
                <a:ext cx="11883708" cy="4460388"/>
              </a:xfrm>
              <a:prstGeom prst="rect">
                <a:avLst/>
              </a:prstGeom>
              <a:blipFill>
                <a:blip r:embed="rId2"/>
                <a:stretch>
                  <a:fillRect l="-769" t="-1094" r="-51" b="-21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2731354-9BD6-441A-9390-FE6C11CEED50}"/>
              </a:ext>
            </a:extLst>
          </p:cNvPr>
          <p:cNvSpPr txBox="1"/>
          <p:nvPr/>
        </p:nvSpPr>
        <p:spPr>
          <a:xfrm>
            <a:off x="154147" y="933375"/>
            <a:ext cx="1522254" cy="46166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+mj-lt"/>
              </a:rPr>
              <a:t>MODULE 6</a:t>
            </a:r>
            <a:endParaRPr lang="en-GB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575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922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6.1 Differential Equations: definition, classification and solutions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28999"/>
                <a:ext cx="11883708" cy="5043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Definition (Degree of an ODE and linear ODE). The degree of an ODE is given by the highest power to which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or one of its derivative(s) is raised. An ODE of degree one is also known as a linear ODE.</a:t>
                </a:r>
              </a:p>
              <a:p>
                <a:r>
                  <a:rPr lang="en-GB" sz="2400" dirty="0">
                    <a:latin typeface="+mj-lt"/>
                  </a:rPr>
                  <a:t>Examples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>
                    <a:latin typeface="+mj-lt"/>
                  </a:rPr>
                  <a:t> is a first order, first degree (i.e. linear) ODE.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400" dirty="0">
                    <a:latin typeface="+mj-lt"/>
                  </a:rPr>
                  <a:t> is a second order, linear ODE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rad>
                  </m:oMath>
                </a14:m>
                <a:r>
                  <a:rPr lang="en-GB" sz="2400" dirty="0">
                    <a:latin typeface="+mj-lt"/>
                  </a:rPr>
                  <a:t> is a first order, third degree ODE (notice that the quadratic expression inside the square root reduces the degree to 1. Then the cube raises it to degree 3.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AU" sz="2400" b="0" i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sSup>
                                  <m:sSup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unc>
                          <m:func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AU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e>
                            </m:d>
                          </m:e>
                        </m:func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=1+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>
                    <a:latin typeface="+mj-lt"/>
                  </a:rPr>
                  <a:t> is a fourth order, third degree ODE (notice that the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can be inside a nonlinear function as well (e.g.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GB" sz="2400" dirty="0">
                    <a:latin typeface="+mj-lt"/>
                  </a:rPr>
                  <a:t> in this case).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28999"/>
                <a:ext cx="11883708" cy="5043688"/>
              </a:xfrm>
              <a:prstGeom prst="rect">
                <a:avLst/>
              </a:prstGeom>
              <a:blipFill>
                <a:blip r:embed="rId2"/>
                <a:stretch>
                  <a:fillRect l="-769" t="-966" r="-564" b="-16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6184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9225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6.1 Differential Equations: definition, classification and solutions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28999"/>
                <a:ext cx="11883708" cy="286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Definition (Solution of a DE). A solution of a differential equation is a function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which satisfies the differential equation in some region of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. There are cases where a solution exists in a region that is not the full region for which the differential equation is valid.</a:t>
                </a: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Example. Show that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2400" dirty="0">
                    <a:latin typeface="+mj-lt"/>
                  </a:rPr>
                  <a:t> satisfies the following linear, first order ODE: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28999"/>
                <a:ext cx="11883708" cy="2865015"/>
              </a:xfrm>
              <a:prstGeom prst="rect">
                <a:avLst/>
              </a:prstGeom>
              <a:blipFill>
                <a:blip r:embed="rId2"/>
                <a:stretch>
                  <a:fillRect l="-769" t="-1702" r="-10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1824809-2406-4757-8E87-8F50D149A0C2}"/>
              </a:ext>
            </a:extLst>
          </p:cNvPr>
          <p:cNvSpPr/>
          <p:nvPr/>
        </p:nvSpPr>
        <p:spPr>
          <a:xfrm>
            <a:off x="11824445" y="6400800"/>
            <a:ext cx="71718" cy="896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47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28999"/>
                <a:ext cx="11883708" cy="5455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There are three types of first order ODEs that will interest us: (</a:t>
                </a:r>
                <a:r>
                  <a:rPr lang="en-AU" sz="2400" dirty="0" err="1">
                    <a:latin typeface="+mj-lt"/>
                  </a:rPr>
                  <a:t>i</a:t>
                </a:r>
                <a:r>
                  <a:rPr lang="en-AU" sz="2400" dirty="0">
                    <a:latin typeface="+mj-lt"/>
                  </a:rPr>
                  <a:t>) elementary DEs, i.e. immediately solvable equations, (ii) separable DEs, where terms on the RHS can be rearranged in such a way that a solution is possible, and (iii) general, linear first order ODE, where a tool known as an “integrating factor” will be used to find solutions.</a:t>
                </a:r>
              </a:p>
              <a:p>
                <a:endParaRPr lang="en-AU" sz="2400" dirty="0">
                  <a:latin typeface="+mj-lt"/>
                </a:endParaRPr>
              </a:p>
              <a:p>
                <a:r>
                  <a:rPr lang="en-AU" sz="2400" dirty="0">
                    <a:latin typeface="+mj-lt"/>
                  </a:rPr>
                  <a:t>Definition (Elementary first order ODEs). Given a function </a:t>
                </a:r>
                <a14:m>
                  <m:oMath xmlns:m="http://schemas.openxmlformats.org/officeDocument/2006/math">
                    <m:r>
                      <a:rPr lang="en-AU" sz="240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AU" sz="240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 an elementary first order ODE is a differential equation that can be written in the following form: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The equation can be solved by integrating both sides with respect to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400" dirty="0">
                    <a:latin typeface="+mj-lt"/>
                  </a:rPr>
                  <a:t>, when this is possible. The solution is given by the family of curves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                  where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+mj-lt"/>
                  </a:rPr>
                  <a:t> is a primitive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28999"/>
                <a:ext cx="11883708" cy="5455661"/>
              </a:xfrm>
              <a:prstGeom prst="rect">
                <a:avLst/>
              </a:prstGeom>
              <a:blipFill>
                <a:blip r:embed="rId2"/>
                <a:stretch>
                  <a:fillRect l="-769" t="-894" b="-15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864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28999"/>
                <a:ext cx="11883708" cy="1162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Example. Find the solution to the following first order ODE: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−3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28999"/>
                <a:ext cx="11883708" cy="1162947"/>
              </a:xfrm>
              <a:prstGeom prst="rect">
                <a:avLst/>
              </a:prstGeom>
              <a:blipFill>
                <a:blip r:embed="rId2"/>
                <a:stretch>
                  <a:fillRect l="-769" t="-41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80DA9EB-C1F3-4859-96CA-2166C0EFE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042" y="2480721"/>
            <a:ext cx="5001658" cy="344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7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28999"/>
                <a:ext cx="11883708" cy="1162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Example. Find the solution to the following first order ODE: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−3=0</m:t>
                      </m:r>
                    </m:oMath>
                  </m:oMathPara>
                </a14:m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28999"/>
                <a:ext cx="11883708" cy="1162947"/>
              </a:xfrm>
              <a:prstGeom prst="rect">
                <a:avLst/>
              </a:prstGeom>
              <a:blipFill>
                <a:blip r:embed="rId2"/>
                <a:stretch>
                  <a:fillRect l="-769" t="-41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560A87A-B913-4FB4-A036-FA02A8C68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095" y="2717818"/>
            <a:ext cx="5067759" cy="246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6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28999"/>
                <a:ext cx="11883708" cy="5794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Definition (Initial value problem for a first order ODE). An initial value problem (IVP) consisting of</a:t>
                </a:r>
              </a:p>
              <a:p>
                <a:r>
                  <a:rPr lang="en-AU" sz="2400" dirty="0">
                    <a:latin typeface="+mj-lt"/>
                  </a:rPr>
                  <a:t>1. An elementary, first order ODE of the form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2. subject to a so-called initial condition.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GB" sz="2400" dirty="0">
                    <a:latin typeface="+mj-lt"/>
                  </a:rPr>
                  <a:t>, the initial condition is generally given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This condition assigns a specific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 of the solution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>
                    <a:latin typeface="+mj-lt"/>
                  </a:rPr>
                  <a:t> at a given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>
                    <a:latin typeface="+mj-lt"/>
                  </a:rPr>
                  <a:t>.</a:t>
                </a:r>
              </a:p>
              <a:p>
                <a:endParaRPr lang="en-GB" sz="2400" dirty="0">
                  <a:latin typeface="+mj-lt"/>
                </a:endParaRPr>
              </a:p>
              <a:p>
                <a:r>
                  <a:rPr lang="en-GB" sz="2400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</a:t>
                </a:r>
                <a:r>
                  <a:rPr lang="en-GB" sz="2400" dirty="0">
                    <a:latin typeface="+mj-lt"/>
                  </a:rPr>
                  <a:t>is sufficiently regular, the solution of the IVP is no longer a family of curves, but the one, single curve that satisfies the initial condition. In other words, from all possible values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2400" dirty="0">
                    <a:latin typeface="+mj-lt"/>
                  </a:rPr>
                  <a:t> of the integration constant, the initial condition selects one curve whose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2400" dirty="0">
                    <a:latin typeface="+mj-lt"/>
                  </a:rPr>
                  <a:t> satisfies the condition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AU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AU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/>
                  <a:t>.</a:t>
                </a:r>
              </a:p>
              <a:p>
                <a:endParaRPr lang="en-GB" sz="2400" dirty="0">
                  <a:latin typeface="+mj-lt"/>
                </a:endParaRPr>
              </a:p>
              <a:p>
                <a:endParaRPr lang="en-GB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28999"/>
                <a:ext cx="11883708" cy="5794920"/>
              </a:xfrm>
              <a:prstGeom prst="rect">
                <a:avLst/>
              </a:prstGeom>
              <a:blipFill>
                <a:blip r:embed="rId2"/>
                <a:stretch>
                  <a:fillRect l="-769" t="-841" r="-46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30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28999"/>
                <a:ext cx="11883708" cy="1640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Solve the following IVP: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rad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d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=21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28999"/>
                <a:ext cx="11883708" cy="1640770"/>
              </a:xfrm>
              <a:prstGeom prst="rect">
                <a:avLst/>
              </a:prstGeom>
              <a:blipFill>
                <a:blip r:embed="rId2"/>
                <a:stretch>
                  <a:fillRect l="-769" t="-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4902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28999"/>
                <a:ext cx="11883708" cy="1640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Solve the following IVP: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brk m:alnAt="7"/>
                                      </m:r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AU" sz="24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⁡(2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AU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AU" sz="2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28999"/>
                <a:ext cx="11883708" cy="1640770"/>
              </a:xfrm>
              <a:prstGeom prst="rect">
                <a:avLst/>
              </a:prstGeom>
              <a:blipFill>
                <a:blip r:embed="rId2"/>
                <a:stretch>
                  <a:fillRect l="-769" t="-29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7022500-D629-47A3-971B-8748D1C515E6}"/>
              </a:ext>
            </a:extLst>
          </p:cNvPr>
          <p:cNvSpPr/>
          <p:nvPr/>
        </p:nvSpPr>
        <p:spPr>
          <a:xfrm>
            <a:off x="11824445" y="6400800"/>
            <a:ext cx="71718" cy="8964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59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1395040"/>
                <a:ext cx="11883708" cy="4543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Definition (separable equations). A first order differential equation is said to be separable if it can be written in the form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400" dirty="0">
                  <a:latin typeface="+mj-lt"/>
                </a:endParaRPr>
              </a:p>
              <a:p>
                <a:endParaRPr lang="en-AU" sz="2400" dirty="0">
                  <a:latin typeface="+mj-lt"/>
                </a:endParaRPr>
              </a:p>
              <a:p>
                <a:r>
                  <a:rPr lang="en-AU" sz="2400" dirty="0">
                    <a:latin typeface="+mj-lt"/>
                  </a:rPr>
                  <a:t>where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2400" dirty="0">
                    <a:latin typeface="+mj-lt"/>
                  </a:rPr>
                  <a:t> are two arbitrary functions of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24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sz="2400" dirty="0">
                    <a:latin typeface="+mj-lt"/>
                  </a:rPr>
                  <a:t> respectively.</a:t>
                </a:r>
              </a:p>
              <a:p>
                <a:r>
                  <a:rPr lang="en-AU" sz="2400" dirty="0">
                    <a:latin typeface="+mj-lt"/>
                  </a:rPr>
                  <a:t>Examples</a:t>
                </a: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endParaRPr lang="en-AU" sz="2400" dirty="0">
                  <a:latin typeface="+mj-lt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AU" sz="2400" dirty="0">
                  <a:latin typeface="+mj-lt"/>
                </a:endParaRPr>
              </a:p>
              <a:p>
                <a:pPr marL="342900" indent="-342900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func>
                      <m:func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sz="24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1395040"/>
                <a:ext cx="11883708" cy="4543873"/>
              </a:xfrm>
              <a:prstGeom prst="rect">
                <a:avLst/>
              </a:prstGeom>
              <a:blipFill>
                <a:blip r:embed="rId2"/>
                <a:stretch>
                  <a:fillRect l="-769" t="-1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59128E6-897C-4E84-8957-5E258664B388}"/>
              </a:ext>
            </a:extLst>
          </p:cNvPr>
          <p:cNvSpPr txBox="1"/>
          <p:nvPr/>
        </p:nvSpPr>
        <p:spPr>
          <a:xfrm>
            <a:off x="154146" y="933375"/>
            <a:ext cx="4095125" cy="461665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+mj-lt"/>
              </a:rPr>
              <a:t>Separable differential equations</a:t>
            </a:r>
            <a:endParaRPr lang="en-GB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4722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37840"/>
                <a:ext cx="11883708" cy="3115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There are two simple cases:</a:t>
                </a:r>
              </a:p>
              <a:p>
                <a:r>
                  <a:rPr lang="en-AU" sz="2400" dirty="0">
                    <a:latin typeface="+mj-lt"/>
                  </a:rPr>
                  <a:t>1. When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 ⟹ 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⟹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⟹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𝒩</m:t>
                            </m:r>
                            <m:d>
                              <m:dPr>
                                <m:ctrlP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A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dirty="0"/>
              </a:p>
              <a:p>
                <a:r>
                  <a:rPr lang="en-AU" sz="2400" dirty="0">
                    <a:latin typeface="+mj-lt"/>
                  </a:rPr>
                  <a:t>2. When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   ⟹  </m:t>
                    </m:r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⟹ 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d>
                      <m:dPr>
                        <m:ctrlP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⟹  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  <m:d>
                          <m:dPr>
                            <m:ctrlP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A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AU" sz="2400" dirty="0">
                  <a:latin typeface="+mj-lt"/>
                </a:endParaRPr>
              </a:p>
              <a:p>
                <a:endParaRPr lang="en-AU" sz="2400" dirty="0">
                  <a:latin typeface="+mj-lt"/>
                </a:endParaRPr>
              </a:p>
              <a:p>
                <a:r>
                  <a:rPr lang="en-AU" sz="2400" dirty="0">
                    <a:latin typeface="+mj-lt"/>
                  </a:rPr>
                  <a:t>Example. Solve the IVP: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𝑛𝑦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37840"/>
                <a:ext cx="11883708" cy="3115212"/>
              </a:xfrm>
              <a:prstGeom prst="rect">
                <a:avLst/>
              </a:prstGeom>
              <a:blipFill>
                <a:blip r:embed="rId2"/>
                <a:stretch>
                  <a:fillRect l="-769" t="-15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790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37840"/>
                <a:ext cx="11883708" cy="1271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Example. Solve the IVP: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𝑛𝑦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</m:d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37840"/>
                <a:ext cx="11883708" cy="1271438"/>
              </a:xfrm>
              <a:prstGeom prst="rect">
                <a:avLst/>
              </a:prstGeom>
              <a:blipFill>
                <a:blip r:embed="rId2"/>
                <a:stretch>
                  <a:fillRect l="-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E77CA1B-5300-4682-AF18-786A6FFC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729" y="2209278"/>
            <a:ext cx="5008246" cy="344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11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37840"/>
                <a:ext cx="11883708" cy="3646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Theorem (Solution for a generic separable ODE). Given a generic separable ODE, its solution is the family of curves obtained by separate integration of the LHS and RHS of the equation, after manipulation of the terms</a:t>
                </a:r>
              </a:p>
              <a:p>
                <a:endParaRPr lang="en-AU" sz="2400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d>
                        <m:dPr>
                          <m:ctrlP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⟹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𝒩</m:t>
                          </m:r>
                          <m:d>
                            <m:dPr>
                              <m:ctrlP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A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ℳ</m:t>
                      </m:r>
                      <m:d>
                        <m:dPr>
                          <m:ctrlP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⟹ 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𝒩</m:t>
                              </m:r>
                              <m:d>
                                <m:d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den>
                          </m:f>
                        </m:e>
                      </m:nary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  <m:d>
                            <m:dPr>
                              <m:ctrlP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A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AU" sz="2400" dirty="0"/>
              </a:p>
              <a:p>
                <a:endParaRPr lang="en-AU" sz="2400" dirty="0">
                  <a:latin typeface="+mj-lt"/>
                </a:endParaRPr>
              </a:p>
              <a:p>
                <a:r>
                  <a:rPr lang="en-AU" sz="2400" dirty="0">
                    <a:latin typeface="+mj-lt"/>
                  </a:rPr>
                  <a:t>When possible, after the integrations have been performed, it is always preferable to express the solution in the form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AU" sz="2400" dirty="0">
                    <a:latin typeface="+mj-lt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37840"/>
                <a:ext cx="11883708" cy="3646383"/>
              </a:xfrm>
              <a:prstGeom prst="rect">
                <a:avLst/>
              </a:prstGeom>
              <a:blipFill>
                <a:blip r:embed="rId2"/>
                <a:stretch>
                  <a:fillRect l="-769" t="-1338" b="-2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6191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37840"/>
                <a:ext cx="11883708" cy="12854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Example. Find the general solution of the following ODE: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37840"/>
                <a:ext cx="11883708" cy="1285416"/>
              </a:xfrm>
              <a:prstGeom prst="rect">
                <a:avLst/>
              </a:prstGeom>
              <a:blipFill>
                <a:blip r:embed="rId2"/>
                <a:stretch>
                  <a:fillRect l="-769" t="-37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9F25E9F-CCDE-4CCA-9AAA-EB6D37BB7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415" y="2665341"/>
            <a:ext cx="4500067" cy="325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29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37840"/>
                <a:ext cx="11883708" cy="1162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Example. Find the general solution of the following ODE: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37840"/>
                <a:ext cx="11883708" cy="1162947"/>
              </a:xfrm>
              <a:prstGeom prst="rect">
                <a:avLst/>
              </a:prstGeom>
              <a:blipFill>
                <a:blip r:embed="rId2"/>
                <a:stretch>
                  <a:fillRect l="-769" t="-41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648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37840"/>
                <a:ext cx="11883708" cy="1271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Example. Find the solution of the following IVP: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AU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brk m:alnAt="7"/>
                                </m:r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AU" sz="2400" b="0" i="0" smtClean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AU" sz="2400" b="0" i="0" smtClean="0">
                                          <a:latin typeface="Cambria Math" panose="02040503050406030204" pitchFamily="18" charset="0"/>
                                        </a:rPr>
                                        <m:t>in</m:t>
                                      </m:r>
                                    </m:fName>
                                    <m:e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func>
                                    <m:funcPr>
                                      <m:ctrlP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  <m:brk m:alnAt="7"/>
                                        </m:rPr>
                                        <a:rPr lang="en-AU" sz="2400" b="0" i="0" smtClean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AU" sz="2400" b="0" i="0" smtClean="0">
                                          <a:latin typeface="Cambria Math" panose="02040503050406030204" pitchFamily="18" charset="0"/>
                                        </a:rPr>
                                        <m:t>os</m:t>
                                      </m:r>
                                    </m:fName>
                                    <m:e>
                                      <m:r>
                                        <a:rPr lang="en-AU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  <m:t>=2</m:t>
                              </m:r>
                              <m:r>
                                <a:rPr lang="en-AU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37840"/>
                <a:ext cx="11883708" cy="1271438"/>
              </a:xfrm>
              <a:prstGeom prst="rect">
                <a:avLst/>
              </a:prstGeom>
              <a:blipFill>
                <a:blip r:embed="rId2"/>
                <a:stretch>
                  <a:fillRect l="-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8FAC749-8B06-4F4F-8956-4C1467232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670" y="2671413"/>
            <a:ext cx="4878636" cy="290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88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BFC5591-E61A-4EE5-BB1C-8E45CBAED73D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43834FE-C17C-471B-A4C7-F2D5B7B52639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2D8A11-C241-42D6-992D-BFA9580DEA76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01A5F-0239-4FAA-B606-1BDC2875208E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142420B-320B-4AC2-B607-EDEF1BB01BAE}"/>
              </a:ext>
            </a:extLst>
          </p:cNvPr>
          <p:cNvSpPr txBox="1"/>
          <p:nvPr/>
        </p:nvSpPr>
        <p:spPr>
          <a:xfrm>
            <a:off x="66245" y="124632"/>
            <a:ext cx="10043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6.2 Elementary and separable first order ODE and initial value problems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/>
              <p:nvPr/>
            </p:nvSpPr>
            <p:spPr>
              <a:xfrm>
                <a:off x="154146" y="937840"/>
                <a:ext cx="11883708" cy="6242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latin typeface="+mj-lt"/>
                  </a:rPr>
                  <a:t>Example. Find the general solution of the DE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A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4D2FCB1-D96D-4BFD-AF61-864244715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46" y="937840"/>
                <a:ext cx="11883708" cy="624273"/>
              </a:xfrm>
              <a:prstGeom prst="rect">
                <a:avLst/>
              </a:prstGeom>
              <a:blipFill>
                <a:blip r:embed="rId2"/>
                <a:stretch>
                  <a:fillRect l="-769" b="-98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8779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E63619-80A3-4A89-960D-0F91C6BB0AAA}"/>
              </a:ext>
            </a:extLst>
          </p:cNvPr>
          <p:cNvGrpSpPr/>
          <p:nvPr/>
        </p:nvGrpSpPr>
        <p:grpSpPr>
          <a:xfrm>
            <a:off x="0" y="361"/>
            <a:ext cx="12192000" cy="825314"/>
            <a:chOff x="0" y="213019"/>
            <a:chExt cx="12192000" cy="825314"/>
          </a:xfrm>
          <a:solidFill>
            <a:schemeClr val="accent2">
              <a:lumMod val="50000"/>
            </a:schemeClr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F605405-8240-4BCC-AF89-B810229A04DC}"/>
                </a:ext>
              </a:extLst>
            </p:cNvPr>
            <p:cNvSpPr/>
            <p:nvPr/>
          </p:nvSpPr>
          <p:spPr>
            <a:xfrm>
              <a:off x="0" y="276447"/>
              <a:ext cx="12192000" cy="69456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9556E24-176E-4E21-ACB9-FCE58612884D}"/>
                </a:ext>
              </a:extLst>
            </p:cNvPr>
            <p:cNvSpPr/>
            <p:nvPr/>
          </p:nvSpPr>
          <p:spPr>
            <a:xfrm>
              <a:off x="0" y="992614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20AD420-227D-44EE-A46A-95E968DB5793}"/>
                </a:ext>
              </a:extLst>
            </p:cNvPr>
            <p:cNvSpPr/>
            <p:nvPr/>
          </p:nvSpPr>
          <p:spPr>
            <a:xfrm>
              <a:off x="0" y="213019"/>
              <a:ext cx="12192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833D331-C78A-418D-9AFF-6E3587061322}"/>
              </a:ext>
            </a:extLst>
          </p:cNvPr>
          <p:cNvSpPr txBox="1"/>
          <p:nvPr/>
        </p:nvSpPr>
        <p:spPr>
          <a:xfrm>
            <a:off x="66245" y="124632"/>
            <a:ext cx="2220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cap="small" dirty="0">
                <a:solidFill>
                  <a:schemeClr val="bg1"/>
                </a:solidFill>
                <a:latin typeface="+mj-lt"/>
              </a:rPr>
              <a:t>End of Lecture</a:t>
            </a:r>
            <a:endParaRPr lang="en-GB" sz="2800" b="1" cap="small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720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9136</TotalTime>
  <Words>2209</Words>
  <Application>Microsoft Office PowerPoint</Application>
  <PresentationFormat>Widescreen</PresentationFormat>
  <Paragraphs>171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Cambria</vt:lpstr>
      <vt:lpstr>Cambria Math</vt:lpstr>
      <vt:lpstr>Times New Roman</vt:lpstr>
      <vt:lpstr>Office Theme</vt:lpstr>
      <vt:lpstr>Calculus and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PRELIMINARY MATHEMATICS</dc:title>
  <dc:creator>David</dc:creator>
  <cp:lastModifiedBy>Paul Hernandez Martinez</cp:lastModifiedBy>
  <cp:revision>514</cp:revision>
  <dcterms:created xsi:type="dcterms:W3CDTF">2018-11-23T00:41:45Z</dcterms:created>
  <dcterms:modified xsi:type="dcterms:W3CDTF">2024-10-03T23:10:13Z</dcterms:modified>
</cp:coreProperties>
</file>