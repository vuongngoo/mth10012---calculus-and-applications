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34"/>
  </p:notesMasterIdLst>
  <p:handoutMasterIdLst>
    <p:handoutMasterId r:id="rId35"/>
  </p:handoutMasterIdLst>
  <p:sldIdLst>
    <p:sldId id="256" r:id="rId2"/>
    <p:sldId id="261" r:id="rId3"/>
    <p:sldId id="346" r:id="rId4"/>
    <p:sldId id="400" r:id="rId5"/>
    <p:sldId id="401" r:id="rId6"/>
    <p:sldId id="402" r:id="rId7"/>
    <p:sldId id="403" r:id="rId8"/>
    <p:sldId id="378" r:id="rId9"/>
    <p:sldId id="404" r:id="rId10"/>
    <p:sldId id="405" r:id="rId11"/>
    <p:sldId id="379" r:id="rId12"/>
    <p:sldId id="406" r:id="rId13"/>
    <p:sldId id="407" r:id="rId14"/>
    <p:sldId id="380" r:id="rId15"/>
    <p:sldId id="408" r:id="rId16"/>
    <p:sldId id="409" r:id="rId17"/>
    <p:sldId id="414" r:id="rId18"/>
    <p:sldId id="410" r:id="rId19"/>
    <p:sldId id="411" r:id="rId20"/>
    <p:sldId id="412" r:id="rId21"/>
    <p:sldId id="413" r:id="rId22"/>
    <p:sldId id="381" r:id="rId23"/>
    <p:sldId id="415" r:id="rId24"/>
    <p:sldId id="416" r:id="rId25"/>
    <p:sldId id="417" r:id="rId26"/>
    <p:sldId id="382" r:id="rId27"/>
    <p:sldId id="383" r:id="rId28"/>
    <p:sldId id="418" r:id="rId29"/>
    <p:sldId id="419" r:id="rId30"/>
    <p:sldId id="420" r:id="rId31"/>
    <p:sldId id="421" r:id="rId32"/>
    <p:sldId id="337" r:id="rId33"/>
  </p:sldIdLst>
  <p:sldSz cx="12192000" cy="6858000"/>
  <p:notesSz cx="6805613" cy="99393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E050C5"/>
    <a:srgbClr val="FFF2CC"/>
    <a:srgbClr val="FFEBB3"/>
    <a:srgbClr val="6C0000"/>
    <a:srgbClr val="75F8FF"/>
    <a:srgbClr val="A1FFE2"/>
    <a:srgbClr val="9AFFBF"/>
    <a:srgbClr val="00FF99"/>
    <a:srgbClr val="FFCCC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4556" autoAdjust="0"/>
    <p:restoredTop sz="96625" autoAdjust="0"/>
  </p:normalViewPr>
  <p:slideViewPr>
    <p:cSldViewPr snapToGrid="0">
      <p:cViewPr varScale="1">
        <p:scale>
          <a:sx n="107" d="100"/>
          <a:sy n="107" d="100"/>
        </p:scale>
        <p:origin x="120" y="294"/>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B7C00F1-1718-4925-A43A-175331727A83}"/>
              </a:ext>
            </a:extLst>
          </p:cNvPr>
          <p:cNvSpPr>
            <a:spLocks noGrp="1"/>
          </p:cNvSpPr>
          <p:nvPr>
            <p:ph type="hdr" sz="quarter"/>
          </p:nvPr>
        </p:nvSpPr>
        <p:spPr>
          <a:xfrm>
            <a:off x="0" y="0"/>
            <a:ext cx="2949575" cy="4984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246C4DA-E8E9-439A-AFBB-71B1FA85B9C5}"/>
              </a:ext>
            </a:extLst>
          </p:cNvPr>
          <p:cNvSpPr>
            <a:spLocks noGrp="1"/>
          </p:cNvSpPr>
          <p:nvPr>
            <p:ph type="dt" sz="quarter" idx="1"/>
          </p:nvPr>
        </p:nvSpPr>
        <p:spPr>
          <a:xfrm>
            <a:off x="3854450" y="0"/>
            <a:ext cx="2949575" cy="498475"/>
          </a:xfrm>
          <a:prstGeom prst="rect">
            <a:avLst/>
          </a:prstGeom>
        </p:spPr>
        <p:txBody>
          <a:bodyPr vert="horz" lIns="91440" tIns="45720" rIns="91440" bIns="45720" rtlCol="0"/>
          <a:lstStyle>
            <a:lvl1pPr algn="r">
              <a:defRPr sz="1200"/>
            </a:lvl1pPr>
          </a:lstStyle>
          <a:p>
            <a:fld id="{95CF5198-13BD-4E71-A56E-DADFEA4013F7}" type="datetimeFigureOut">
              <a:rPr lang="en-US" smtClean="0"/>
              <a:t>8/2/2024</a:t>
            </a:fld>
            <a:endParaRPr lang="en-US"/>
          </a:p>
        </p:txBody>
      </p:sp>
      <p:sp>
        <p:nvSpPr>
          <p:cNvPr id="4" name="Footer Placeholder 3">
            <a:extLst>
              <a:ext uri="{FF2B5EF4-FFF2-40B4-BE49-F238E27FC236}">
                <a16:creationId xmlns:a16="http://schemas.microsoft.com/office/drawing/2014/main" id="{16877F23-B46D-4600-856F-446828C726E1}"/>
              </a:ext>
            </a:extLst>
          </p:cNvPr>
          <p:cNvSpPr>
            <a:spLocks noGrp="1"/>
          </p:cNvSpPr>
          <p:nvPr>
            <p:ph type="ftr" sz="quarter" idx="2"/>
          </p:nvPr>
        </p:nvSpPr>
        <p:spPr>
          <a:xfrm>
            <a:off x="0" y="9440863"/>
            <a:ext cx="2949575" cy="49847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75DDB845-9091-44C1-BB5A-012CFA80FFB2}"/>
              </a:ext>
            </a:extLst>
          </p:cNvPr>
          <p:cNvSpPr>
            <a:spLocks noGrp="1"/>
          </p:cNvSpPr>
          <p:nvPr>
            <p:ph type="sldNum" sz="quarter" idx="3"/>
          </p:nvPr>
        </p:nvSpPr>
        <p:spPr>
          <a:xfrm>
            <a:off x="3854450" y="9440863"/>
            <a:ext cx="2949575" cy="498475"/>
          </a:xfrm>
          <a:prstGeom prst="rect">
            <a:avLst/>
          </a:prstGeom>
        </p:spPr>
        <p:txBody>
          <a:bodyPr vert="horz" lIns="91440" tIns="45720" rIns="91440" bIns="45720" rtlCol="0" anchor="b"/>
          <a:lstStyle>
            <a:lvl1pPr algn="r">
              <a:defRPr sz="1200"/>
            </a:lvl1pPr>
          </a:lstStyle>
          <a:p>
            <a:fld id="{BBB43135-408F-4918-93DC-4C4FABB8BA38}" type="slidenum">
              <a:rPr lang="en-US" smtClean="0"/>
              <a:t>‹#›</a:t>
            </a:fld>
            <a:endParaRPr lang="en-US"/>
          </a:p>
        </p:txBody>
      </p:sp>
    </p:spTree>
    <p:extLst>
      <p:ext uri="{BB962C8B-B14F-4D97-AF65-F5344CB8AC3E}">
        <p14:creationId xmlns:p14="http://schemas.microsoft.com/office/powerpoint/2010/main" val="3495705199"/>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9099" cy="498693"/>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54939" y="0"/>
            <a:ext cx="2949099" cy="498693"/>
          </a:xfrm>
          <a:prstGeom prst="rect">
            <a:avLst/>
          </a:prstGeom>
        </p:spPr>
        <p:txBody>
          <a:bodyPr vert="horz" lIns="91440" tIns="45720" rIns="91440" bIns="45720" rtlCol="0"/>
          <a:lstStyle>
            <a:lvl1pPr algn="r">
              <a:defRPr sz="1200"/>
            </a:lvl1pPr>
          </a:lstStyle>
          <a:p>
            <a:fld id="{A0D9DCAD-DE8F-4CDD-984A-DA4AA5EA435B}" type="datetimeFigureOut">
              <a:rPr lang="en-AU" smtClean="0"/>
              <a:t>2/08/2024</a:t>
            </a:fld>
            <a:endParaRPr lang="en-AU"/>
          </a:p>
        </p:txBody>
      </p:sp>
      <p:sp>
        <p:nvSpPr>
          <p:cNvPr id="4" name="Slide Image Placeholder 3"/>
          <p:cNvSpPr>
            <a:spLocks noGrp="1" noRot="1" noChangeAspect="1"/>
          </p:cNvSpPr>
          <p:nvPr>
            <p:ph type="sldImg" idx="2"/>
          </p:nvPr>
        </p:nvSpPr>
        <p:spPr>
          <a:xfrm>
            <a:off x="422275" y="1243013"/>
            <a:ext cx="5961063" cy="3354387"/>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0562" y="4783307"/>
            <a:ext cx="5444490" cy="3913614"/>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9440647"/>
            <a:ext cx="2949099" cy="498692"/>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54939" y="9440647"/>
            <a:ext cx="2949099" cy="498692"/>
          </a:xfrm>
          <a:prstGeom prst="rect">
            <a:avLst/>
          </a:prstGeom>
        </p:spPr>
        <p:txBody>
          <a:bodyPr vert="horz" lIns="91440" tIns="45720" rIns="91440" bIns="45720" rtlCol="0" anchor="b"/>
          <a:lstStyle>
            <a:lvl1pPr algn="r">
              <a:defRPr sz="1200"/>
            </a:lvl1pPr>
          </a:lstStyle>
          <a:p>
            <a:fld id="{C1C00294-AEF9-4034-8E81-4D594CB10C91}" type="slidenum">
              <a:rPr lang="en-AU" smtClean="0"/>
              <a:t>‹#›</a:t>
            </a:fld>
            <a:endParaRPr lang="en-AU"/>
          </a:p>
        </p:txBody>
      </p:sp>
    </p:spTree>
    <p:extLst>
      <p:ext uri="{BB962C8B-B14F-4D97-AF65-F5344CB8AC3E}">
        <p14:creationId xmlns:p14="http://schemas.microsoft.com/office/powerpoint/2010/main" val="181199127"/>
      </p:ext>
    </p:extLst>
  </p:cSld>
  <p:clrMap bg1="lt1" tx1="dk1" bg2="lt2" tx2="dk2" accent1="accent1" accent2="accent2" accent3="accent3" accent4="accent4" accent5="accent5" accent6="accent6" hlink="hlink" folHlink="folHlink"/>
  <p:hf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B6BE2F-261A-488B-B93C-7BE08E26FBF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31D02DE-1CFE-4515-9E33-21EBC288251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8BA0201-588B-4FDC-B1A7-99525CBEE325}"/>
              </a:ext>
            </a:extLst>
          </p:cNvPr>
          <p:cNvSpPr>
            <a:spLocks noGrp="1"/>
          </p:cNvSpPr>
          <p:nvPr>
            <p:ph type="dt" sz="half" idx="10"/>
          </p:nvPr>
        </p:nvSpPr>
        <p:spPr/>
        <p:txBody>
          <a:bodyPr/>
          <a:lstStyle/>
          <a:p>
            <a:fld id="{6FF8AB16-CEA3-471F-8DD6-F4EB36AF83AE}" type="datetimeFigureOut">
              <a:rPr lang="en-US" smtClean="0"/>
              <a:t>8/2/2024</a:t>
            </a:fld>
            <a:endParaRPr lang="en-US"/>
          </a:p>
        </p:txBody>
      </p:sp>
      <p:sp>
        <p:nvSpPr>
          <p:cNvPr id="5" name="Footer Placeholder 4">
            <a:extLst>
              <a:ext uri="{FF2B5EF4-FFF2-40B4-BE49-F238E27FC236}">
                <a16:creationId xmlns:a16="http://schemas.microsoft.com/office/drawing/2014/main" id="{FD479FBC-E34E-463B-9581-0DBAF2C9A4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9E8FE7A-01BB-4021-8D2B-4591558BF158}"/>
              </a:ext>
            </a:extLst>
          </p:cNvPr>
          <p:cNvSpPr>
            <a:spLocks noGrp="1"/>
          </p:cNvSpPr>
          <p:nvPr>
            <p:ph type="sldNum" sz="quarter" idx="12"/>
          </p:nvPr>
        </p:nvSpPr>
        <p:spPr/>
        <p:txBody>
          <a:bodyPr/>
          <a:lstStyle/>
          <a:p>
            <a:fld id="{7420E577-446B-4DBC-A698-2A6B8DE6A948}" type="slidenum">
              <a:rPr lang="en-US" smtClean="0"/>
              <a:t>‹#›</a:t>
            </a:fld>
            <a:endParaRPr lang="en-US"/>
          </a:p>
        </p:txBody>
      </p:sp>
      <p:pic>
        <p:nvPicPr>
          <p:cNvPr id="7" name="Picture 6">
            <a:extLst>
              <a:ext uri="{FF2B5EF4-FFF2-40B4-BE49-F238E27FC236}">
                <a16:creationId xmlns:a16="http://schemas.microsoft.com/office/drawing/2014/main" id="{F9F5D431-79F7-473F-8B6E-B3955076CD8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19072" y="6140610"/>
            <a:ext cx="1122769" cy="574290"/>
          </a:xfrm>
          <a:prstGeom prst="rect">
            <a:avLst/>
          </a:prstGeom>
        </p:spPr>
      </p:pic>
      <p:sp>
        <p:nvSpPr>
          <p:cNvPr id="8" name="TextBox 7">
            <a:extLst>
              <a:ext uri="{FF2B5EF4-FFF2-40B4-BE49-F238E27FC236}">
                <a16:creationId xmlns:a16="http://schemas.microsoft.com/office/drawing/2014/main" id="{C85D6FCD-D711-415C-BDDE-8F6DDE0408BE}"/>
              </a:ext>
            </a:extLst>
          </p:cNvPr>
          <p:cNvSpPr txBox="1"/>
          <p:nvPr userDrawn="1"/>
        </p:nvSpPr>
        <p:spPr>
          <a:xfrm>
            <a:off x="11443527" y="6227700"/>
            <a:ext cx="486030" cy="400110"/>
          </a:xfrm>
          <a:prstGeom prst="rect">
            <a:avLst/>
          </a:prstGeom>
          <a:noFill/>
        </p:spPr>
        <p:txBody>
          <a:bodyPr wrap="none" rtlCol="0">
            <a:spAutoFit/>
          </a:bodyPr>
          <a:lstStyle/>
          <a:p>
            <a:fld id="{B0E72E4E-4CBE-4D12-B6A9-8CB223CF8265}" type="slidenum">
              <a:rPr lang="en-AU" sz="2000" b="1" smtClean="0"/>
              <a:t>‹#›</a:t>
            </a:fld>
            <a:endParaRPr lang="en-AU" sz="2000" b="1" dirty="0"/>
          </a:p>
        </p:txBody>
      </p:sp>
    </p:spTree>
    <p:extLst>
      <p:ext uri="{BB962C8B-B14F-4D97-AF65-F5344CB8AC3E}">
        <p14:creationId xmlns:p14="http://schemas.microsoft.com/office/powerpoint/2010/main" val="34965899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2A2F9-7D55-40B9-B9F6-47CEB7F233F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9C4E6F6-872B-4351-82CE-F6BDED678591}"/>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BE37C49-E28A-4BC7-B01F-46B9108294B4}"/>
              </a:ext>
            </a:extLst>
          </p:cNvPr>
          <p:cNvSpPr>
            <a:spLocks noGrp="1"/>
          </p:cNvSpPr>
          <p:nvPr>
            <p:ph type="dt" sz="half" idx="10"/>
          </p:nvPr>
        </p:nvSpPr>
        <p:spPr/>
        <p:txBody>
          <a:bodyPr/>
          <a:lstStyle/>
          <a:p>
            <a:fld id="{A2BBB18F-8376-4052-A4AC-9CEE87CB9347}" type="datetime1">
              <a:rPr lang="en-AU" smtClean="0"/>
              <a:t>2/08/2024</a:t>
            </a:fld>
            <a:endParaRPr lang="en-AU"/>
          </a:p>
        </p:txBody>
      </p:sp>
      <p:sp>
        <p:nvSpPr>
          <p:cNvPr id="5" name="Footer Placeholder 4">
            <a:extLst>
              <a:ext uri="{FF2B5EF4-FFF2-40B4-BE49-F238E27FC236}">
                <a16:creationId xmlns:a16="http://schemas.microsoft.com/office/drawing/2014/main" id="{CF8BD53B-FA02-45C3-B746-4698E5C7A9AB}"/>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EF9585B1-EDCF-4B2C-AB51-34E6296E0D35}"/>
              </a:ext>
            </a:extLst>
          </p:cNvPr>
          <p:cNvSpPr>
            <a:spLocks noGrp="1"/>
          </p:cNvSpPr>
          <p:nvPr>
            <p:ph type="sldNum" sz="quarter" idx="12"/>
          </p:nvPr>
        </p:nvSpPr>
        <p:spPr/>
        <p:txBody>
          <a:bodyPr/>
          <a:lstStyle/>
          <a:p>
            <a:fld id="{529F08E9-1735-422C-B5C5-130668B15985}" type="slidenum">
              <a:rPr lang="en-AU" smtClean="0"/>
              <a:t>‹#›</a:t>
            </a:fld>
            <a:endParaRPr lang="en-AU"/>
          </a:p>
        </p:txBody>
      </p:sp>
    </p:spTree>
    <p:extLst>
      <p:ext uri="{BB962C8B-B14F-4D97-AF65-F5344CB8AC3E}">
        <p14:creationId xmlns:p14="http://schemas.microsoft.com/office/powerpoint/2010/main" val="5536751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CACFC9-D1E8-4E90-A313-CE13BA34D50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02CAFC9-3AAB-464E-BF70-473E57067ED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32992BC8-6CF3-4155-A3AC-94AADADA0556}"/>
              </a:ext>
            </a:extLst>
          </p:cNvPr>
          <p:cNvSpPr>
            <a:spLocks noGrp="1"/>
          </p:cNvSpPr>
          <p:nvPr>
            <p:ph type="dt" sz="half" idx="10"/>
          </p:nvPr>
        </p:nvSpPr>
        <p:spPr/>
        <p:txBody>
          <a:bodyPr/>
          <a:lstStyle/>
          <a:p>
            <a:fld id="{EEBEFC66-FB02-44EA-BC04-6F096A7B7769}" type="datetime1">
              <a:rPr lang="en-AU" smtClean="0"/>
              <a:t>2/08/2024</a:t>
            </a:fld>
            <a:endParaRPr lang="en-AU"/>
          </a:p>
        </p:txBody>
      </p:sp>
      <p:sp>
        <p:nvSpPr>
          <p:cNvPr id="5" name="Footer Placeholder 4">
            <a:extLst>
              <a:ext uri="{FF2B5EF4-FFF2-40B4-BE49-F238E27FC236}">
                <a16:creationId xmlns:a16="http://schemas.microsoft.com/office/drawing/2014/main" id="{F1D31418-83C4-4996-B0E2-AABE17A11069}"/>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D56ECE1-87D5-4300-BACC-4A4EB5169CB0}"/>
              </a:ext>
            </a:extLst>
          </p:cNvPr>
          <p:cNvSpPr>
            <a:spLocks noGrp="1"/>
          </p:cNvSpPr>
          <p:nvPr>
            <p:ph type="sldNum" sz="quarter" idx="12"/>
          </p:nvPr>
        </p:nvSpPr>
        <p:spPr/>
        <p:txBody>
          <a:bodyPr/>
          <a:lstStyle/>
          <a:p>
            <a:fld id="{529F08E9-1735-422C-B5C5-130668B15985}" type="slidenum">
              <a:rPr lang="en-AU" smtClean="0"/>
              <a:t>‹#›</a:t>
            </a:fld>
            <a:endParaRPr lang="en-AU"/>
          </a:p>
        </p:txBody>
      </p:sp>
    </p:spTree>
    <p:extLst>
      <p:ext uri="{BB962C8B-B14F-4D97-AF65-F5344CB8AC3E}">
        <p14:creationId xmlns:p14="http://schemas.microsoft.com/office/powerpoint/2010/main" val="23279611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6A7873-C1A0-4FC9-9508-391EDD084E5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80A00C2-E18A-49F2-813D-D0968706018E}"/>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AFCC943-1A72-4568-B75B-790E77A35AE7}"/>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E6426C6-D368-434D-A76E-A08FE05B252C}"/>
              </a:ext>
            </a:extLst>
          </p:cNvPr>
          <p:cNvSpPr>
            <a:spLocks noGrp="1"/>
          </p:cNvSpPr>
          <p:nvPr>
            <p:ph type="dt" sz="half" idx="10"/>
          </p:nvPr>
        </p:nvSpPr>
        <p:spPr/>
        <p:txBody>
          <a:bodyPr/>
          <a:lstStyle/>
          <a:p>
            <a:fld id="{BE266C89-1765-4641-A2C2-0C255FF54FD1}" type="datetime1">
              <a:rPr lang="en-AU" smtClean="0"/>
              <a:t>2/08/2024</a:t>
            </a:fld>
            <a:endParaRPr lang="en-AU"/>
          </a:p>
        </p:txBody>
      </p:sp>
      <p:sp>
        <p:nvSpPr>
          <p:cNvPr id="6" name="Footer Placeholder 5">
            <a:extLst>
              <a:ext uri="{FF2B5EF4-FFF2-40B4-BE49-F238E27FC236}">
                <a16:creationId xmlns:a16="http://schemas.microsoft.com/office/drawing/2014/main" id="{A5F1A0D2-A40A-49C1-8234-B7D2E59752D0}"/>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AD5590CF-5EB7-4621-AF70-49745B7E8CB1}"/>
              </a:ext>
            </a:extLst>
          </p:cNvPr>
          <p:cNvSpPr>
            <a:spLocks noGrp="1"/>
          </p:cNvSpPr>
          <p:nvPr>
            <p:ph type="sldNum" sz="quarter" idx="12"/>
          </p:nvPr>
        </p:nvSpPr>
        <p:spPr/>
        <p:txBody>
          <a:bodyPr/>
          <a:lstStyle/>
          <a:p>
            <a:fld id="{529F08E9-1735-422C-B5C5-130668B15985}" type="slidenum">
              <a:rPr lang="en-AU" smtClean="0"/>
              <a:t>‹#›</a:t>
            </a:fld>
            <a:endParaRPr lang="en-AU"/>
          </a:p>
        </p:txBody>
      </p:sp>
    </p:spTree>
    <p:extLst>
      <p:ext uri="{BB962C8B-B14F-4D97-AF65-F5344CB8AC3E}">
        <p14:creationId xmlns:p14="http://schemas.microsoft.com/office/powerpoint/2010/main" val="34490125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5EC4E-7129-4DFE-A8BF-D2F4C51EB3E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6A868A7-B0A8-48B8-9C40-76D73A53EE0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55E52730-3A93-4774-B024-FF41D7ADBB47}"/>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551560C-643D-4E43-9F3C-1BAB21E151F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F9AC2905-B67E-4FAA-969B-8323B9811FD2}"/>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191CAE1-7796-4C1F-9BED-1A8C90ABA79C}"/>
              </a:ext>
            </a:extLst>
          </p:cNvPr>
          <p:cNvSpPr>
            <a:spLocks noGrp="1"/>
          </p:cNvSpPr>
          <p:nvPr>
            <p:ph type="dt" sz="half" idx="10"/>
          </p:nvPr>
        </p:nvSpPr>
        <p:spPr/>
        <p:txBody>
          <a:bodyPr/>
          <a:lstStyle/>
          <a:p>
            <a:fld id="{4A873857-A5A5-474E-9E58-C4E578787857}" type="datetime1">
              <a:rPr lang="en-AU" smtClean="0"/>
              <a:t>2/08/2024</a:t>
            </a:fld>
            <a:endParaRPr lang="en-AU"/>
          </a:p>
        </p:txBody>
      </p:sp>
      <p:sp>
        <p:nvSpPr>
          <p:cNvPr id="8" name="Footer Placeholder 7">
            <a:extLst>
              <a:ext uri="{FF2B5EF4-FFF2-40B4-BE49-F238E27FC236}">
                <a16:creationId xmlns:a16="http://schemas.microsoft.com/office/drawing/2014/main" id="{D0D73460-6DE1-4496-9257-1CF265A78120}"/>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C59E5745-5DC0-47E7-86B4-926C3EEB61DA}"/>
              </a:ext>
            </a:extLst>
          </p:cNvPr>
          <p:cNvSpPr>
            <a:spLocks noGrp="1"/>
          </p:cNvSpPr>
          <p:nvPr>
            <p:ph type="sldNum" sz="quarter" idx="12"/>
          </p:nvPr>
        </p:nvSpPr>
        <p:spPr/>
        <p:txBody>
          <a:bodyPr/>
          <a:lstStyle/>
          <a:p>
            <a:fld id="{529F08E9-1735-422C-B5C5-130668B15985}" type="slidenum">
              <a:rPr lang="en-AU" smtClean="0"/>
              <a:t>‹#›</a:t>
            </a:fld>
            <a:endParaRPr lang="en-AU"/>
          </a:p>
        </p:txBody>
      </p:sp>
    </p:spTree>
    <p:extLst>
      <p:ext uri="{BB962C8B-B14F-4D97-AF65-F5344CB8AC3E}">
        <p14:creationId xmlns:p14="http://schemas.microsoft.com/office/powerpoint/2010/main" val="5109838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630E46-5C93-447B-AA2A-FABDBC83330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B5D545D-C4CE-4C13-933E-BB80F082B875}"/>
              </a:ext>
            </a:extLst>
          </p:cNvPr>
          <p:cNvSpPr>
            <a:spLocks noGrp="1"/>
          </p:cNvSpPr>
          <p:nvPr>
            <p:ph type="dt" sz="half" idx="10"/>
          </p:nvPr>
        </p:nvSpPr>
        <p:spPr/>
        <p:txBody>
          <a:bodyPr/>
          <a:lstStyle/>
          <a:p>
            <a:fld id="{4C4A7F37-9D1F-41EA-AAC5-1B6F73404883}" type="datetime1">
              <a:rPr lang="en-AU" smtClean="0"/>
              <a:t>2/08/2024</a:t>
            </a:fld>
            <a:endParaRPr lang="en-AU"/>
          </a:p>
        </p:txBody>
      </p:sp>
      <p:sp>
        <p:nvSpPr>
          <p:cNvPr id="4" name="Footer Placeholder 3">
            <a:extLst>
              <a:ext uri="{FF2B5EF4-FFF2-40B4-BE49-F238E27FC236}">
                <a16:creationId xmlns:a16="http://schemas.microsoft.com/office/drawing/2014/main" id="{F055F992-DE21-4FF8-9EC3-24F7AAB4599B}"/>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5FA18A99-A541-4FC4-8B0F-E2C0D8ED3C39}"/>
              </a:ext>
            </a:extLst>
          </p:cNvPr>
          <p:cNvSpPr>
            <a:spLocks noGrp="1"/>
          </p:cNvSpPr>
          <p:nvPr>
            <p:ph type="sldNum" sz="quarter" idx="12"/>
          </p:nvPr>
        </p:nvSpPr>
        <p:spPr/>
        <p:txBody>
          <a:bodyPr/>
          <a:lstStyle/>
          <a:p>
            <a:fld id="{529F08E9-1735-422C-B5C5-130668B15985}" type="slidenum">
              <a:rPr lang="en-AU" smtClean="0"/>
              <a:t>‹#›</a:t>
            </a:fld>
            <a:endParaRPr lang="en-AU"/>
          </a:p>
        </p:txBody>
      </p:sp>
    </p:spTree>
    <p:extLst>
      <p:ext uri="{BB962C8B-B14F-4D97-AF65-F5344CB8AC3E}">
        <p14:creationId xmlns:p14="http://schemas.microsoft.com/office/powerpoint/2010/main" val="16089560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B39AF43-84E3-4B89-A20D-5AD12A924EFB}"/>
              </a:ext>
            </a:extLst>
          </p:cNvPr>
          <p:cNvSpPr>
            <a:spLocks noGrp="1"/>
          </p:cNvSpPr>
          <p:nvPr>
            <p:ph type="dt" sz="half" idx="10"/>
          </p:nvPr>
        </p:nvSpPr>
        <p:spPr/>
        <p:txBody>
          <a:bodyPr/>
          <a:lstStyle/>
          <a:p>
            <a:fld id="{4520FDF9-A986-4905-9508-247B7F4B200D}" type="datetime1">
              <a:rPr lang="en-AU" smtClean="0"/>
              <a:t>2/08/2024</a:t>
            </a:fld>
            <a:endParaRPr lang="en-AU"/>
          </a:p>
        </p:txBody>
      </p:sp>
      <p:sp>
        <p:nvSpPr>
          <p:cNvPr id="3" name="Footer Placeholder 2">
            <a:extLst>
              <a:ext uri="{FF2B5EF4-FFF2-40B4-BE49-F238E27FC236}">
                <a16:creationId xmlns:a16="http://schemas.microsoft.com/office/drawing/2014/main" id="{BC552FC8-6766-4AF6-AE1B-3E3E40DE1606}"/>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C198A401-3F10-4AB5-B56C-A44167EC9855}"/>
              </a:ext>
            </a:extLst>
          </p:cNvPr>
          <p:cNvSpPr>
            <a:spLocks noGrp="1"/>
          </p:cNvSpPr>
          <p:nvPr>
            <p:ph type="sldNum" sz="quarter" idx="12"/>
          </p:nvPr>
        </p:nvSpPr>
        <p:spPr/>
        <p:txBody>
          <a:bodyPr/>
          <a:lstStyle/>
          <a:p>
            <a:fld id="{529F08E9-1735-422C-B5C5-130668B15985}" type="slidenum">
              <a:rPr lang="en-AU" smtClean="0"/>
              <a:t>‹#›</a:t>
            </a:fld>
            <a:endParaRPr lang="en-AU"/>
          </a:p>
        </p:txBody>
      </p:sp>
    </p:spTree>
    <p:extLst>
      <p:ext uri="{BB962C8B-B14F-4D97-AF65-F5344CB8AC3E}">
        <p14:creationId xmlns:p14="http://schemas.microsoft.com/office/powerpoint/2010/main" val="22301369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50E79-7D0A-4913-9B9D-D14A14012B1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F02F2BE-34D1-4394-A79C-56929CB7F94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B486DDC-E9A4-494D-8DA3-DF6FF0CB21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61DC4CB1-DD02-4E14-8070-D529601AE306}"/>
              </a:ext>
            </a:extLst>
          </p:cNvPr>
          <p:cNvSpPr>
            <a:spLocks noGrp="1"/>
          </p:cNvSpPr>
          <p:nvPr>
            <p:ph type="dt" sz="half" idx="10"/>
          </p:nvPr>
        </p:nvSpPr>
        <p:spPr/>
        <p:txBody>
          <a:bodyPr/>
          <a:lstStyle/>
          <a:p>
            <a:fld id="{F0A57C78-DADF-4969-B242-4855E9F4C4D5}" type="datetime1">
              <a:rPr lang="en-AU" smtClean="0"/>
              <a:t>2/08/2024</a:t>
            </a:fld>
            <a:endParaRPr lang="en-AU"/>
          </a:p>
        </p:txBody>
      </p:sp>
      <p:sp>
        <p:nvSpPr>
          <p:cNvPr id="6" name="Footer Placeholder 5">
            <a:extLst>
              <a:ext uri="{FF2B5EF4-FFF2-40B4-BE49-F238E27FC236}">
                <a16:creationId xmlns:a16="http://schemas.microsoft.com/office/drawing/2014/main" id="{9998DCFE-E8EA-4807-BCD4-B175C0E2A251}"/>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824BDD04-DF59-476B-A2E1-B91A947D91FE}"/>
              </a:ext>
            </a:extLst>
          </p:cNvPr>
          <p:cNvSpPr>
            <a:spLocks noGrp="1"/>
          </p:cNvSpPr>
          <p:nvPr>
            <p:ph type="sldNum" sz="quarter" idx="12"/>
          </p:nvPr>
        </p:nvSpPr>
        <p:spPr/>
        <p:txBody>
          <a:bodyPr/>
          <a:lstStyle/>
          <a:p>
            <a:fld id="{529F08E9-1735-422C-B5C5-130668B15985}" type="slidenum">
              <a:rPr lang="en-AU" smtClean="0"/>
              <a:t>‹#›</a:t>
            </a:fld>
            <a:endParaRPr lang="en-AU"/>
          </a:p>
        </p:txBody>
      </p:sp>
    </p:spTree>
    <p:extLst>
      <p:ext uri="{BB962C8B-B14F-4D97-AF65-F5344CB8AC3E}">
        <p14:creationId xmlns:p14="http://schemas.microsoft.com/office/powerpoint/2010/main" val="17821354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B8D7C8-9040-4BEA-BDE3-ABA1A1C276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08E7C11-8D21-434A-A6FD-3E8617092C1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E6ED949-D4DE-4581-87B3-C03FD4FD11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306D51E2-1921-40F3-AC40-E142F785D206}"/>
              </a:ext>
            </a:extLst>
          </p:cNvPr>
          <p:cNvSpPr>
            <a:spLocks noGrp="1"/>
          </p:cNvSpPr>
          <p:nvPr>
            <p:ph type="dt" sz="half" idx="10"/>
          </p:nvPr>
        </p:nvSpPr>
        <p:spPr/>
        <p:txBody>
          <a:bodyPr/>
          <a:lstStyle/>
          <a:p>
            <a:fld id="{6E70D74D-1239-4392-A26B-B7E440CEC8CB}" type="datetime1">
              <a:rPr lang="en-AU" smtClean="0"/>
              <a:t>2/08/2024</a:t>
            </a:fld>
            <a:endParaRPr lang="en-AU"/>
          </a:p>
        </p:txBody>
      </p:sp>
      <p:sp>
        <p:nvSpPr>
          <p:cNvPr id="6" name="Footer Placeholder 5">
            <a:extLst>
              <a:ext uri="{FF2B5EF4-FFF2-40B4-BE49-F238E27FC236}">
                <a16:creationId xmlns:a16="http://schemas.microsoft.com/office/drawing/2014/main" id="{2D614FAF-0386-4409-8BFE-A413765B3E19}"/>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E31F7AEF-E743-4036-9326-1065E4811205}"/>
              </a:ext>
            </a:extLst>
          </p:cNvPr>
          <p:cNvSpPr>
            <a:spLocks noGrp="1"/>
          </p:cNvSpPr>
          <p:nvPr>
            <p:ph type="sldNum" sz="quarter" idx="12"/>
          </p:nvPr>
        </p:nvSpPr>
        <p:spPr/>
        <p:txBody>
          <a:bodyPr/>
          <a:lstStyle/>
          <a:p>
            <a:fld id="{529F08E9-1735-422C-B5C5-130668B15985}" type="slidenum">
              <a:rPr lang="en-AU" smtClean="0"/>
              <a:t>‹#›</a:t>
            </a:fld>
            <a:endParaRPr lang="en-AU"/>
          </a:p>
        </p:txBody>
      </p:sp>
    </p:spTree>
    <p:extLst>
      <p:ext uri="{BB962C8B-B14F-4D97-AF65-F5344CB8AC3E}">
        <p14:creationId xmlns:p14="http://schemas.microsoft.com/office/powerpoint/2010/main" val="32328007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CE7700-60C9-4E9C-9852-C7B6C38A0B1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A8E9C5B-FA98-43FE-90F2-7DDE18ED865B}"/>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5FD572-AD9E-4D3B-8F7B-2BB536B5FD27}"/>
              </a:ext>
            </a:extLst>
          </p:cNvPr>
          <p:cNvSpPr>
            <a:spLocks noGrp="1"/>
          </p:cNvSpPr>
          <p:nvPr>
            <p:ph type="dt" sz="half" idx="10"/>
          </p:nvPr>
        </p:nvSpPr>
        <p:spPr/>
        <p:txBody>
          <a:bodyPr/>
          <a:lstStyle/>
          <a:p>
            <a:fld id="{2391578B-E5FA-490D-8208-9FBD9A867E75}" type="datetime1">
              <a:rPr lang="en-AU" smtClean="0"/>
              <a:t>2/08/2024</a:t>
            </a:fld>
            <a:endParaRPr lang="en-AU"/>
          </a:p>
        </p:txBody>
      </p:sp>
      <p:sp>
        <p:nvSpPr>
          <p:cNvPr id="5" name="Footer Placeholder 4">
            <a:extLst>
              <a:ext uri="{FF2B5EF4-FFF2-40B4-BE49-F238E27FC236}">
                <a16:creationId xmlns:a16="http://schemas.microsoft.com/office/drawing/2014/main" id="{7EA1E37F-1B21-4246-BA36-73956FFE9F7E}"/>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4FCEDB52-5DFE-4447-91E2-9787D84DBB86}"/>
              </a:ext>
            </a:extLst>
          </p:cNvPr>
          <p:cNvSpPr>
            <a:spLocks noGrp="1"/>
          </p:cNvSpPr>
          <p:nvPr>
            <p:ph type="sldNum" sz="quarter" idx="12"/>
          </p:nvPr>
        </p:nvSpPr>
        <p:spPr/>
        <p:txBody>
          <a:bodyPr/>
          <a:lstStyle/>
          <a:p>
            <a:fld id="{529F08E9-1735-422C-B5C5-130668B15985}" type="slidenum">
              <a:rPr lang="en-AU" smtClean="0"/>
              <a:t>‹#›</a:t>
            </a:fld>
            <a:endParaRPr lang="en-AU"/>
          </a:p>
        </p:txBody>
      </p:sp>
    </p:spTree>
    <p:extLst>
      <p:ext uri="{BB962C8B-B14F-4D97-AF65-F5344CB8AC3E}">
        <p14:creationId xmlns:p14="http://schemas.microsoft.com/office/powerpoint/2010/main" val="27544015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CF0283C-E2F0-4A6F-9AD9-82CA902DEF2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DBE5EE6-7D9F-42B2-94B0-02A3E84F5E0A}"/>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CDC19CB-43F8-4CC0-903E-C23803089474}"/>
              </a:ext>
            </a:extLst>
          </p:cNvPr>
          <p:cNvSpPr>
            <a:spLocks noGrp="1"/>
          </p:cNvSpPr>
          <p:nvPr>
            <p:ph type="dt" sz="half" idx="10"/>
          </p:nvPr>
        </p:nvSpPr>
        <p:spPr/>
        <p:txBody>
          <a:bodyPr/>
          <a:lstStyle/>
          <a:p>
            <a:fld id="{24F54018-37EC-481E-B7F2-FDEEBA0F84AF}" type="datetime1">
              <a:rPr lang="en-AU" smtClean="0"/>
              <a:t>2/08/2024</a:t>
            </a:fld>
            <a:endParaRPr lang="en-AU"/>
          </a:p>
        </p:txBody>
      </p:sp>
      <p:sp>
        <p:nvSpPr>
          <p:cNvPr id="5" name="Footer Placeholder 4">
            <a:extLst>
              <a:ext uri="{FF2B5EF4-FFF2-40B4-BE49-F238E27FC236}">
                <a16:creationId xmlns:a16="http://schemas.microsoft.com/office/drawing/2014/main" id="{D9F45F0E-7361-4676-B432-1D05B70CFB63}"/>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8E84F4EB-1112-445C-96AB-93D5D84332BF}"/>
              </a:ext>
            </a:extLst>
          </p:cNvPr>
          <p:cNvSpPr>
            <a:spLocks noGrp="1"/>
          </p:cNvSpPr>
          <p:nvPr>
            <p:ph type="sldNum" sz="quarter" idx="12"/>
          </p:nvPr>
        </p:nvSpPr>
        <p:spPr/>
        <p:txBody>
          <a:bodyPr/>
          <a:lstStyle/>
          <a:p>
            <a:fld id="{529F08E9-1735-422C-B5C5-130668B15985}" type="slidenum">
              <a:rPr lang="en-AU" smtClean="0"/>
              <a:t>‹#›</a:t>
            </a:fld>
            <a:endParaRPr lang="en-AU"/>
          </a:p>
        </p:txBody>
      </p:sp>
    </p:spTree>
    <p:extLst>
      <p:ext uri="{BB962C8B-B14F-4D97-AF65-F5344CB8AC3E}">
        <p14:creationId xmlns:p14="http://schemas.microsoft.com/office/powerpoint/2010/main" val="31924946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2C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472DA63-5604-4C8B-A185-3346EDDFF45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E25E662-E32E-4BF0-B3BA-15B99830EC1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5018C86-7471-4189-957D-1CEA3FBEE78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7143812-AA3E-4766-916C-F1E5A438B57F}" type="datetime1">
              <a:rPr lang="en-AU" smtClean="0"/>
              <a:t>2/08/2024</a:t>
            </a:fld>
            <a:endParaRPr lang="en-AU"/>
          </a:p>
        </p:txBody>
      </p:sp>
      <p:sp>
        <p:nvSpPr>
          <p:cNvPr id="5" name="Footer Placeholder 4">
            <a:extLst>
              <a:ext uri="{FF2B5EF4-FFF2-40B4-BE49-F238E27FC236}">
                <a16:creationId xmlns:a16="http://schemas.microsoft.com/office/drawing/2014/main" id="{09B3008F-2F27-46E4-A82E-92541B128E4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a:extLst>
              <a:ext uri="{FF2B5EF4-FFF2-40B4-BE49-F238E27FC236}">
                <a16:creationId xmlns:a16="http://schemas.microsoft.com/office/drawing/2014/main" id="{3676096A-7E11-4FA7-B795-CF89E7D09C2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29F08E9-1735-422C-B5C5-130668B15985}" type="slidenum">
              <a:rPr lang="en-AU" smtClean="0"/>
              <a:t>‹#›</a:t>
            </a:fld>
            <a:endParaRPr lang="en-AU"/>
          </a:p>
        </p:txBody>
      </p:sp>
    </p:spTree>
    <p:extLst>
      <p:ext uri="{BB962C8B-B14F-4D97-AF65-F5344CB8AC3E}">
        <p14:creationId xmlns:p14="http://schemas.microsoft.com/office/powerpoint/2010/main" val="1218834386"/>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4.emf"/></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 Id="rId5" Type="http://schemas.openxmlformats.org/officeDocument/2006/relationships/image" Target="../media/image6.emf"/><Relationship Id="rId4" Type="http://schemas.openxmlformats.org/officeDocument/2006/relationships/image" Target="../media/image5.emf"/></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 Id="rId5" Type="http://schemas.openxmlformats.org/officeDocument/2006/relationships/image" Target="../media/image8.emf"/><Relationship Id="rId4" Type="http://schemas.openxmlformats.org/officeDocument/2006/relationships/image" Target="../media/image7.emf"/></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28.png"/><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1.png"/><Relationship Id="rId1" Type="http://schemas.openxmlformats.org/officeDocument/2006/relationships/slideLayout" Target="../slideLayouts/slideLayout1.xml"/><Relationship Id="rId4" Type="http://schemas.openxmlformats.org/officeDocument/2006/relationships/image" Target="../media/image140.png"/></Relationships>
</file>

<file path=ppt/slides/_rels/slide16.xml.rels><?xml version="1.0" encoding="UTF-8" standalone="yes"?>
<Relationships xmlns="http://schemas.openxmlformats.org/package/2006/relationships"><Relationship Id="rId3" Type="http://schemas.openxmlformats.org/officeDocument/2006/relationships/hyperlink" Target="https://www.geogebra.org/m/Cb2jWUPS" TargetMode="External"/><Relationship Id="rId2" Type="http://schemas.openxmlformats.org/officeDocument/2006/relationships/image" Target="../media/image220.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290.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xml"/><Relationship Id="rId5" Type="http://schemas.openxmlformats.org/officeDocument/2006/relationships/image" Target="../media/image34.png"/><Relationship Id="rId4" Type="http://schemas.openxmlformats.org/officeDocument/2006/relationships/hyperlink" Target="https://www.geogebra.org/m/RvXAnYR5"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370.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380.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390.png"/><Relationship Id="rId1" Type="http://schemas.openxmlformats.org/officeDocument/2006/relationships/slideLayout" Target="../slideLayouts/slideLayout1.xml"/><Relationship Id="rId5" Type="http://schemas.openxmlformats.org/officeDocument/2006/relationships/image" Target="../media/image16.jpeg"/><Relationship Id="rId4" Type="http://schemas.openxmlformats.org/officeDocument/2006/relationships/image" Target="../media/image15.jpeg"/></Relationships>
</file>

<file path=ppt/slides/_rels/slide2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hyperlink" Target="https://www.geogebra.org/m/D4HRCmnH" TargetMode="External"/><Relationship Id="rId2" Type="http://schemas.openxmlformats.org/officeDocument/2006/relationships/image" Target="../media/image44.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450.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hyperlink" Target="https://www.geogebra.org/m/Jf7rP6uK" TargetMode="External"/><Relationship Id="rId2" Type="http://schemas.openxmlformats.org/officeDocument/2006/relationships/image" Target="../media/image46.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0.png"/><Relationship Id="rId7" Type="http://schemas.openxmlformats.org/officeDocument/2006/relationships/image" Target="../media/image54.png"/><Relationship Id="rId12" Type="http://schemas.openxmlformats.org/officeDocument/2006/relationships/image" Target="../media/image59.png"/><Relationship Id="rId2" Type="http://schemas.openxmlformats.org/officeDocument/2006/relationships/image" Target="../media/image49.png"/><Relationship Id="rId1" Type="http://schemas.openxmlformats.org/officeDocument/2006/relationships/slideLayout" Target="../slideLayouts/slideLayout1.xml"/><Relationship Id="rId6" Type="http://schemas.openxmlformats.org/officeDocument/2006/relationships/image" Target="../media/image23.png"/><Relationship Id="rId11" Type="http://schemas.openxmlformats.org/officeDocument/2006/relationships/image" Target="../media/image58.png"/><Relationship Id="rId5" Type="http://schemas.openxmlformats.org/officeDocument/2006/relationships/image" Target="../media/image22.png"/><Relationship Id="rId10" Type="http://schemas.openxmlformats.org/officeDocument/2006/relationships/image" Target="../media/image57.png"/><Relationship Id="rId4" Type="http://schemas.openxmlformats.org/officeDocument/2006/relationships/image" Target="../media/image51.png"/><Relationship Id="rId9" Type="http://schemas.openxmlformats.org/officeDocument/2006/relationships/image" Target="../media/image25.png"/></Relationships>
</file>

<file path=ppt/slides/_rels/slide30.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8" name="Picture 7" descr="A close up of text on a whiteboard&#10;&#10;Description automatically generated">
            <a:extLst>
              <a:ext uri="{FF2B5EF4-FFF2-40B4-BE49-F238E27FC236}">
                <a16:creationId xmlns:a16="http://schemas.microsoft.com/office/drawing/2014/main" id="{9CBF2271-6786-48D8-8625-48074A2F58E8}"/>
              </a:ext>
            </a:extLst>
          </p:cNvPr>
          <p:cNvPicPr>
            <a:picLocks noChangeAspect="1"/>
          </p:cNvPicPr>
          <p:nvPr/>
        </p:nvPicPr>
        <p:blipFill>
          <a:blip r:embed="rId2">
            <a:duotone>
              <a:prstClr val="black"/>
              <a:srgbClr val="D9C3A5">
                <a:tint val="50000"/>
                <a:satMod val="180000"/>
              </a:srgbClr>
            </a:duotone>
            <a:alphaModFix amt="35000"/>
            <a:extLst>
              <a:ext uri="{28A0092B-C50C-407E-A947-70E740481C1C}">
                <a14:useLocalDpi xmlns:a14="http://schemas.microsoft.com/office/drawing/2010/main" val="0"/>
              </a:ext>
            </a:extLst>
          </a:blip>
          <a:stretch>
            <a:fillRect/>
          </a:stretch>
        </p:blipFill>
        <p:spPr>
          <a:xfrm>
            <a:off x="0" y="0"/>
            <a:ext cx="12192000" cy="4591665"/>
          </a:xfrm>
          <a:prstGeom prst="rect">
            <a:avLst/>
          </a:prstGeom>
        </p:spPr>
      </p:pic>
      <p:sp>
        <p:nvSpPr>
          <p:cNvPr id="5" name="Title 1">
            <a:extLst>
              <a:ext uri="{FF2B5EF4-FFF2-40B4-BE49-F238E27FC236}">
                <a16:creationId xmlns:a16="http://schemas.microsoft.com/office/drawing/2014/main" id="{50029B91-E5FE-43A6-9535-58B2F4EBB5EE}"/>
              </a:ext>
            </a:extLst>
          </p:cNvPr>
          <p:cNvSpPr txBox="1">
            <a:spLocks/>
          </p:cNvSpPr>
          <p:nvPr/>
        </p:nvSpPr>
        <p:spPr>
          <a:xfrm>
            <a:off x="0" y="-2"/>
            <a:ext cx="12192000" cy="4591665"/>
          </a:xfrm>
          <a:prstGeom prst="rect">
            <a:avLst/>
          </a:prstGeom>
          <a:solidFill>
            <a:schemeClr val="accent4">
              <a:lumMod val="60000"/>
              <a:lumOff val="40000"/>
              <a:alpha val="40000"/>
            </a:schemeClr>
          </a:solidFill>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en-AU" sz="4400" b="1" dirty="0">
              <a:solidFill>
                <a:schemeClr val="accent4">
                  <a:lumMod val="75000"/>
                </a:schemeClr>
              </a:solidFill>
            </a:endParaRPr>
          </a:p>
        </p:txBody>
      </p:sp>
      <p:sp>
        <p:nvSpPr>
          <p:cNvPr id="6" name="Subtitle 2"/>
          <p:cNvSpPr txBox="1">
            <a:spLocks/>
          </p:cNvSpPr>
          <p:nvPr/>
        </p:nvSpPr>
        <p:spPr>
          <a:xfrm>
            <a:off x="1292225" y="4850229"/>
            <a:ext cx="9607550" cy="1475746"/>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AU" sz="4000" dirty="0">
                <a:latin typeface="+mj-lt"/>
              </a:rPr>
              <a:t>Week 2</a:t>
            </a:r>
          </a:p>
        </p:txBody>
      </p:sp>
      <p:sp>
        <p:nvSpPr>
          <p:cNvPr id="2" name="Title 1"/>
          <p:cNvSpPr>
            <a:spLocks noGrp="1"/>
          </p:cNvSpPr>
          <p:nvPr>
            <p:ph type="ctrTitle"/>
          </p:nvPr>
        </p:nvSpPr>
        <p:spPr>
          <a:xfrm>
            <a:off x="589935" y="2486361"/>
            <a:ext cx="11012129" cy="1518035"/>
          </a:xfrm>
        </p:spPr>
        <p:txBody>
          <a:bodyPr>
            <a:noAutofit/>
          </a:bodyPr>
          <a:lstStyle/>
          <a:p>
            <a:r>
              <a:rPr lang="en-AU" sz="5400" b="1" dirty="0">
                <a:solidFill>
                  <a:schemeClr val="accent4">
                    <a:lumMod val="75000"/>
                  </a:schemeClr>
                </a:solidFill>
                <a:effectLst>
                  <a:outerShdw blurRad="50800" dist="38100" dir="2700000" algn="tl" rotWithShape="0">
                    <a:prstClr val="black"/>
                  </a:outerShdw>
                </a:effectLst>
                <a:latin typeface="Times New Roman" panose="02020603050405020304" pitchFamily="18" charset="0"/>
                <a:cs typeface="Times New Roman" panose="02020603050405020304" pitchFamily="18" charset="0"/>
              </a:rPr>
              <a:t>Calculus and applications</a:t>
            </a:r>
          </a:p>
        </p:txBody>
      </p:sp>
      <p:sp>
        <p:nvSpPr>
          <p:cNvPr id="3" name="Subtitle 2"/>
          <p:cNvSpPr>
            <a:spLocks noGrp="1"/>
          </p:cNvSpPr>
          <p:nvPr>
            <p:ph type="subTitle" idx="1"/>
          </p:nvPr>
        </p:nvSpPr>
        <p:spPr>
          <a:xfrm>
            <a:off x="1524000" y="1923654"/>
            <a:ext cx="9144000" cy="562707"/>
          </a:xfrm>
        </p:spPr>
        <p:txBody>
          <a:bodyPr>
            <a:noAutofit/>
          </a:bodyPr>
          <a:lstStyle/>
          <a:p>
            <a:r>
              <a:rPr lang="en-AU" sz="3200" dirty="0">
                <a:latin typeface="+mj-lt"/>
              </a:rPr>
              <a:t>MTH10012</a:t>
            </a:r>
          </a:p>
        </p:txBody>
      </p:sp>
      <p:pic>
        <p:nvPicPr>
          <p:cNvPr id="7" name="Picture 6" descr="A close up of a logo&#10;&#10;Description automatically generated">
            <a:extLst>
              <a:ext uri="{FF2B5EF4-FFF2-40B4-BE49-F238E27FC236}">
                <a16:creationId xmlns:a16="http://schemas.microsoft.com/office/drawing/2014/main" id="{DCCAF879-A57E-4938-88B5-1CA526E0E8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32439" y="701528"/>
            <a:ext cx="1927122" cy="963561"/>
          </a:xfrm>
          <a:prstGeom prst="rect">
            <a:avLst/>
          </a:prstGeom>
        </p:spPr>
      </p:pic>
    </p:spTree>
    <p:extLst>
      <p:ext uri="{BB962C8B-B14F-4D97-AF65-F5344CB8AC3E}">
        <p14:creationId xmlns:p14="http://schemas.microsoft.com/office/powerpoint/2010/main" val="34770911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1991443" cy="523220"/>
          </a:xfrm>
          <a:prstGeom prst="rect">
            <a:avLst/>
          </a:prstGeom>
          <a:noFill/>
        </p:spPr>
        <p:txBody>
          <a:bodyPr wrap="none" rtlCol="0">
            <a:spAutoFit/>
          </a:bodyPr>
          <a:lstStyle/>
          <a:p>
            <a:r>
              <a:rPr lang="en-AU" sz="2800" b="1" cap="small" dirty="0">
                <a:solidFill>
                  <a:schemeClr val="bg1"/>
                </a:solidFill>
                <a:latin typeface="+mj-lt"/>
              </a:rPr>
              <a:t>Introduction</a:t>
            </a:r>
            <a:endParaRPr lang="en-GB" sz="2800" b="1" cap="small" dirty="0">
              <a:solidFill>
                <a:schemeClr val="bg1"/>
              </a:solidFill>
              <a:latin typeface="+mj-lt"/>
            </a:endParaRPr>
          </a:p>
        </p:txBody>
      </p:sp>
      <p:sp>
        <p:nvSpPr>
          <p:cNvPr id="10" name="TextBox 9">
            <a:extLst>
              <a:ext uri="{FF2B5EF4-FFF2-40B4-BE49-F238E27FC236}">
                <a16:creationId xmlns:a16="http://schemas.microsoft.com/office/drawing/2014/main" id="{26DFD1E0-E30E-4A41-9A5D-72A8EFAA21AB}"/>
              </a:ext>
            </a:extLst>
          </p:cNvPr>
          <p:cNvSpPr txBox="1"/>
          <p:nvPr/>
        </p:nvSpPr>
        <p:spPr>
          <a:xfrm>
            <a:off x="675146" y="992125"/>
            <a:ext cx="1508746" cy="461665"/>
          </a:xfrm>
          <a:prstGeom prst="rect">
            <a:avLst/>
          </a:prstGeom>
          <a:noFill/>
          <a:ln>
            <a:solidFill>
              <a:schemeClr val="accent2">
                <a:lumMod val="50000"/>
              </a:schemeClr>
            </a:solidFill>
          </a:ln>
        </p:spPr>
        <p:txBody>
          <a:bodyPr wrap="none" rtlCol="0">
            <a:spAutoFit/>
          </a:bodyPr>
          <a:lstStyle/>
          <a:p>
            <a:r>
              <a:rPr lang="en-AU" sz="2400" b="1" dirty="0">
                <a:latin typeface="+mj-lt"/>
              </a:rPr>
              <a:t>MODULE 1</a:t>
            </a:r>
            <a:endParaRPr lang="en-GB" sz="2400" b="1" dirty="0">
              <a:latin typeface="+mj-lt"/>
            </a:endParaRPr>
          </a:p>
        </p:txBody>
      </p:sp>
      <p:sp>
        <p:nvSpPr>
          <p:cNvPr id="12" name="TextBox 11">
            <a:extLst>
              <a:ext uri="{FF2B5EF4-FFF2-40B4-BE49-F238E27FC236}">
                <a16:creationId xmlns:a16="http://schemas.microsoft.com/office/drawing/2014/main" id="{CAEC57D0-AC67-44EF-AAC1-EB45706D89C7}"/>
              </a:ext>
            </a:extLst>
          </p:cNvPr>
          <p:cNvSpPr txBox="1"/>
          <p:nvPr/>
        </p:nvSpPr>
        <p:spPr>
          <a:xfrm>
            <a:off x="1502572" y="1861450"/>
            <a:ext cx="8389541" cy="830997"/>
          </a:xfrm>
          <a:prstGeom prst="rect">
            <a:avLst/>
          </a:prstGeom>
          <a:noFill/>
        </p:spPr>
        <p:txBody>
          <a:bodyPr wrap="none" rtlCol="0">
            <a:spAutoFit/>
          </a:bodyPr>
          <a:lstStyle/>
          <a:p>
            <a:pPr marL="342900" indent="-342900">
              <a:buFont typeface="Arial" panose="020B0604020202020204" pitchFamily="34" charset="0"/>
              <a:buChar char="•"/>
            </a:pPr>
            <a:r>
              <a:rPr lang="en-AU" sz="2400" b="1" dirty="0">
                <a:latin typeface="+mj-lt"/>
              </a:rPr>
              <a:t>Sets of numbers, set operations, induction principle</a:t>
            </a:r>
          </a:p>
          <a:p>
            <a:pPr marL="342900" indent="-342900">
              <a:buFont typeface="Arial" panose="020B0604020202020204" pitchFamily="34" charset="0"/>
              <a:buChar char="•"/>
            </a:pPr>
            <a:r>
              <a:rPr lang="en-AU" sz="2400" b="1" dirty="0">
                <a:latin typeface="+mj-lt"/>
              </a:rPr>
              <a:t>Functions and their properties, composition and inverse function</a:t>
            </a:r>
          </a:p>
        </p:txBody>
      </p:sp>
      <p:sp>
        <p:nvSpPr>
          <p:cNvPr id="11" name="TextBox 10">
            <a:extLst>
              <a:ext uri="{FF2B5EF4-FFF2-40B4-BE49-F238E27FC236}">
                <a16:creationId xmlns:a16="http://schemas.microsoft.com/office/drawing/2014/main" id="{A61EC46B-21B4-4C87-946C-3EAD91A29AA1}"/>
              </a:ext>
            </a:extLst>
          </p:cNvPr>
          <p:cNvSpPr txBox="1"/>
          <p:nvPr/>
        </p:nvSpPr>
        <p:spPr>
          <a:xfrm>
            <a:off x="307593" y="1550998"/>
            <a:ext cx="888385" cy="400110"/>
          </a:xfrm>
          <a:prstGeom prst="rect">
            <a:avLst/>
          </a:prstGeom>
          <a:noFill/>
          <a:ln>
            <a:solidFill>
              <a:schemeClr val="accent2">
                <a:lumMod val="50000"/>
              </a:schemeClr>
            </a:solidFill>
          </a:ln>
        </p:spPr>
        <p:txBody>
          <a:bodyPr wrap="none" rtlCol="0">
            <a:spAutoFit/>
          </a:bodyPr>
          <a:lstStyle/>
          <a:p>
            <a:r>
              <a:rPr lang="en-AU" sz="2000" b="1" cap="small" dirty="0">
                <a:latin typeface="+mj-lt"/>
              </a:rPr>
              <a:t>Week 1</a:t>
            </a:r>
            <a:endParaRPr lang="en-GB" sz="2000" b="1" cap="small" dirty="0">
              <a:latin typeface="+mj-lt"/>
            </a:endParaRPr>
          </a:p>
        </p:txBody>
      </p:sp>
      <p:sp>
        <p:nvSpPr>
          <p:cNvPr id="13" name="TextBox 12">
            <a:extLst>
              <a:ext uri="{FF2B5EF4-FFF2-40B4-BE49-F238E27FC236}">
                <a16:creationId xmlns:a16="http://schemas.microsoft.com/office/drawing/2014/main" id="{EDAF658E-4D46-438A-89D3-59C69A018DE7}"/>
              </a:ext>
            </a:extLst>
          </p:cNvPr>
          <p:cNvSpPr txBox="1"/>
          <p:nvPr/>
        </p:nvSpPr>
        <p:spPr>
          <a:xfrm>
            <a:off x="307593" y="2608833"/>
            <a:ext cx="888385" cy="400110"/>
          </a:xfrm>
          <a:prstGeom prst="rect">
            <a:avLst/>
          </a:prstGeom>
          <a:noFill/>
          <a:ln>
            <a:solidFill>
              <a:schemeClr val="accent2">
                <a:lumMod val="50000"/>
              </a:schemeClr>
            </a:solidFill>
          </a:ln>
        </p:spPr>
        <p:txBody>
          <a:bodyPr wrap="none" rtlCol="0">
            <a:spAutoFit/>
          </a:bodyPr>
          <a:lstStyle/>
          <a:p>
            <a:r>
              <a:rPr lang="en-AU" sz="2000" b="1" cap="small" dirty="0">
                <a:latin typeface="+mj-lt"/>
              </a:rPr>
              <a:t>Week 2</a:t>
            </a:r>
            <a:endParaRPr lang="en-GB" sz="2000" b="1" cap="small" dirty="0">
              <a:latin typeface="+mj-lt"/>
            </a:endParaRPr>
          </a:p>
        </p:txBody>
      </p:sp>
      <p:sp>
        <p:nvSpPr>
          <p:cNvPr id="15" name="TextBox 14">
            <a:extLst>
              <a:ext uri="{FF2B5EF4-FFF2-40B4-BE49-F238E27FC236}">
                <a16:creationId xmlns:a16="http://schemas.microsoft.com/office/drawing/2014/main" id="{898798BC-1968-4592-A84D-9889D441C7B0}"/>
              </a:ext>
            </a:extLst>
          </p:cNvPr>
          <p:cNvSpPr txBox="1"/>
          <p:nvPr/>
        </p:nvSpPr>
        <p:spPr>
          <a:xfrm>
            <a:off x="1502574" y="2922598"/>
            <a:ext cx="10097756" cy="1938992"/>
          </a:xfrm>
          <a:prstGeom prst="rect">
            <a:avLst/>
          </a:prstGeom>
          <a:noFill/>
        </p:spPr>
        <p:txBody>
          <a:bodyPr wrap="square" rtlCol="0">
            <a:spAutoFit/>
          </a:bodyPr>
          <a:lstStyle/>
          <a:p>
            <a:pPr marL="342900" indent="-342900">
              <a:buFont typeface="Arial" panose="020B0604020202020204" pitchFamily="34" charset="0"/>
              <a:buChar char="•"/>
            </a:pPr>
            <a:r>
              <a:rPr lang="en-AU" sz="2400" b="1" dirty="0">
                <a:latin typeface="+mj-lt"/>
              </a:rPr>
              <a:t>Elementary functions and their graphs</a:t>
            </a:r>
          </a:p>
          <a:p>
            <a:pPr marL="800100" lvl="1" indent="-342900">
              <a:buFont typeface="Arial" panose="020B0604020202020204" pitchFamily="34" charset="0"/>
              <a:buChar char="•"/>
            </a:pPr>
            <a:r>
              <a:rPr lang="en-AU" sz="2400" b="1" dirty="0">
                <a:latin typeface="+mj-lt"/>
              </a:rPr>
              <a:t>Dirichlet, absolute value, sign and Heaviside, integer and fractional part, linear, power (odd and even), polynomial, rational, algebraic, exponential and logarithmic, trigonometric, inverse trigonometric, hyperbolic and inverse hyperbolic</a:t>
            </a:r>
          </a:p>
        </p:txBody>
      </p:sp>
      <p:cxnSp>
        <p:nvCxnSpPr>
          <p:cNvPr id="3" name="Straight Connector 2">
            <a:extLst>
              <a:ext uri="{FF2B5EF4-FFF2-40B4-BE49-F238E27FC236}">
                <a16:creationId xmlns:a16="http://schemas.microsoft.com/office/drawing/2014/main" id="{CD60D396-44DB-4720-AA20-0FECBBC96907}"/>
              </a:ext>
            </a:extLst>
          </p:cNvPr>
          <p:cNvCxnSpPr>
            <a:stCxn id="13" idx="3"/>
          </p:cNvCxnSpPr>
          <p:nvPr/>
        </p:nvCxnSpPr>
        <p:spPr>
          <a:xfrm>
            <a:off x="1195978" y="2808888"/>
            <a:ext cx="10404351" cy="0"/>
          </a:xfrm>
          <a:prstGeom prst="line">
            <a:avLst/>
          </a:prstGeom>
        </p:spPr>
        <p:style>
          <a:lnRef idx="1">
            <a:schemeClr val="dk1"/>
          </a:lnRef>
          <a:fillRef idx="0">
            <a:schemeClr val="dk1"/>
          </a:fillRef>
          <a:effectRef idx="0">
            <a:schemeClr val="dk1"/>
          </a:effectRef>
          <a:fontRef idx="minor">
            <a:schemeClr val="tx1"/>
          </a:fontRef>
        </p:style>
      </p:cxnSp>
      <p:cxnSp>
        <p:nvCxnSpPr>
          <p:cNvPr id="5" name="Straight Connector 4">
            <a:extLst>
              <a:ext uri="{FF2B5EF4-FFF2-40B4-BE49-F238E27FC236}">
                <a16:creationId xmlns:a16="http://schemas.microsoft.com/office/drawing/2014/main" id="{25D933F3-BDCD-41B7-8B70-5B047253E6FA}"/>
              </a:ext>
            </a:extLst>
          </p:cNvPr>
          <p:cNvCxnSpPr>
            <a:stCxn id="11" idx="3"/>
          </p:cNvCxnSpPr>
          <p:nvPr/>
        </p:nvCxnSpPr>
        <p:spPr>
          <a:xfrm flipV="1">
            <a:off x="1195978" y="1727504"/>
            <a:ext cx="10404351" cy="23549"/>
          </a:xfrm>
          <a:prstGeom prst="line">
            <a:avLst/>
          </a:prstGeom>
        </p:spPr>
        <p:style>
          <a:lnRef idx="1">
            <a:schemeClr val="dk1"/>
          </a:lnRef>
          <a:fillRef idx="0">
            <a:schemeClr val="dk1"/>
          </a:fillRef>
          <a:effectRef idx="0">
            <a:schemeClr val="dk1"/>
          </a:effectRef>
          <a:fontRef idx="minor">
            <a:schemeClr val="tx1"/>
          </a:fontRef>
        </p:style>
      </p:cxnSp>
      <p:sp>
        <p:nvSpPr>
          <p:cNvPr id="16" name="TextBox 15">
            <a:extLst>
              <a:ext uri="{FF2B5EF4-FFF2-40B4-BE49-F238E27FC236}">
                <a16:creationId xmlns:a16="http://schemas.microsoft.com/office/drawing/2014/main" id="{B8815BF5-1815-494B-8C1F-8AB3E9CBAD1F}"/>
              </a:ext>
            </a:extLst>
          </p:cNvPr>
          <p:cNvSpPr txBox="1"/>
          <p:nvPr/>
        </p:nvSpPr>
        <p:spPr>
          <a:xfrm>
            <a:off x="675146" y="4861590"/>
            <a:ext cx="1508746" cy="461665"/>
          </a:xfrm>
          <a:prstGeom prst="rect">
            <a:avLst/>
          </a:prstGeom>
          <a:noFill/>
          <a:ln>
            <a:solidFill>
              <a:schemeClr val="accent2">
                <a:lumMod val="50000"/>
              </a:schemeClr>
            </a:solidFill>
          </a:ln>
        </p:spPr>
        <p:txBody>
          <a:bodyPr wrap="none" rtlCol="0">
            <a:spAutoFit/>
          </a:bodyPr>
          <a:lstStyle/>
          <a:p>
            <a:r>
              <a:rPr lang="en-AU" sz="2400" b="1" dirty="0">
                <a:latin typeface="+mj-lt"/>
              </a:rPr>
              <a:t>MODULE 2</a:t>
            </a:r>
            <a:endParaRPr lang="en-GB" sz="2400" b="1" dirty="0">
              <a:latin typeface="+mj-lt"/>
            </a:endParaRPr>
          </a:p>
        </p:txBody>
      </p:sp>
      <p:sp>
        <p:nvSpPr>
          <p:cNvPr id="17" name="TextBox 16">
            <a:extLst>
              <a:ext uri="{FF2B5EF4-FFF2-40B4-BE49-F238E27FC236}">
                <a16:creationId xmlns:a16="http://schemas.microsoft.com/office/drawing/2014/main" id="{FCF7741D-1F2F-415F-8731-3E1FDDD0C776}"/>
              </a:ext>
            </a:extLst>
          </p:cNvPr>
          <p:cNvSpPr txBox="1"/>
          <p:nvPr/>
        </p:nvSpPr>
        <p:spPr>
          <a:xfrm>
            <a:off x="1502572" y="5436964"/>
            <a:ext cx="10097756" cy="830997"/>
          </a:xfrm>
          <a:prstGeom prst="rect">
            <a:avLst/>
          </a:prstGeom>
          <a:noFill/>
        </p:spPr>
        <p:txBody>
          <a:bodyPr wrap="square" rtlCol="0">
            <a:spAutoFit/>
          </a:bodyPr>
          <a:lstStyle/>
          <a:p>
            <a:pPr marL="342900" indent="-342900">
              <a:buFont typeface="Arial" panose="020B0604020202020204" pitchFamily="34" charset="0"/>
              <a:buChar char="•"/>
            </a:pPr>
            <a:r>
              <a:rPr lang="en-AU" sz="2400" b="1" dirty="0">
                <a:latin typeface="+mj-lt"/>
              </a:rPr>
              <a:t>Limit of a function, one-sided limits</a:t>
            </a:r>
          </a:p>
          <a:p>
            <a:pPr marL="342900" indent="-342900">
              <a:buFont typeface="Arial" panose="020B0604020202020204" pitchFamily="34" charset="0"/>
              <a:buChar char="•"/>
            </a:pPr>
            <a:r>
              <a:rPr lang="en-AU" sz="2400" b="1" dirty="0">
                <a:latin typeface="+mj-lt"/>
              </a:rPr>
              <a:t>Limit laws</a:t>
            </a:r>
          </a:p>
        </p:txBody>
      </p:sp>
    </p:spTree>
    <p:extLst>
      <p:ext uri="{BB962C8B-B14F-4D97-AF65-F5344CB8AC3E}">
        <p14:creationId xmlns:p14="http://schemas.microsoft.com/office/powerpoint/2010/main" val="357059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5" grpId="0"/>
      <p:bldP spid="16" grpId="0" animBg="1"/>
      <p:bldP spid="1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3693127" cy="523220"/>
          </a:xfrm>
          <a:prstGeom prst="rect">
            <a:avLst/>
          </a:prstGeom>
          <a:noFill/>
        </p:spPr>
        <p:txBody>
          <a:bodyPr wrap="none" rtlCol="0">
            <a:spAutoFit/>
          </a:bodyPr>
          <a:lstStyle/>
          <a:p>
            <a:r>
              <a:rPr lang="en-AU" sz="2800" b="1" cap="small" dirty="0">
                <a:solidFill>
                  <a:schemeClr val="bg1"/>
                </a:solidFill>
                <a:latin typeface="+mj-lt"/>
              </a:rPr>
              <a:t>1.5 Elementary Functions</a:t>
            </a:r>
            <a:endParaRPr lang="en-GB" sz="2800" b="1" cap="small" dirty="0">
              <a:solidFill>
                <a:schemeClr val="bg1"/>
              </a:solidFill>
              <a:latin typeface="+mj-lt"/>
            </a:endParaRPr>
          </a:p>
        </p:txBody>
      </p:sp>
      <p:sp>
        <p:nvSpPr>
          <p:cNvPr id="2" name="TextBox 1">
            <a:extLst>
              <a:ext uri="{FF2B5EF4-FFF2-40B4-BE49-F238E27FC236}">
                <a16:creationId xmlns:a16="http://schemas.microsoft.com/office/drawing/2014/main" id="{0C94F362-DFED-4C11-A1CD-925763418DC8}"/>
              </a:ext>
            </a:extLst>
          </p:cNvPr>
          <p:cNvSpPr txBox="1"/>
          <p:nvPr/>
        </p:nvSpPr>
        <p:spPr>
          <a:xfrm>
            <a:off x="220338" y="1057620"/>
            <a:ext cx="2324804" cy="461665"/>
          </a:xfrm>
          <a:prstGeom prst="rect">
            <a:avLst/>
          </a:prstGeom>
          <a:noFill/>
          <a:ln>
            <a:solidFill>
              <a:schemeClr val="accent2">
                <a:lumMod val="50000"/>
              </a:schemeClr>
            </a:solidFill>
          </a:ln>
        </p:spPr>
        <p:txBody>
          <a:bodyPr wrap="none" rtlCol="0">
            <a:spAutoFit/>
          </a:bodyPr>
          <a:lstStyle/>
          <a:p>
            <a:r>
              <a:rPr lang="en-AU" sz="2400" dirty="0">
                <a:latin typeface="+mj-lt"/>
              </a:rPr>
              <a:t>Dirichlet function</a:t>
            </a:r>
            <a:endParaRPr lang="en-GB" sz="2400" dirty="0">
              <a:latin typeface="+mj-lt"/>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7C9818E6-5C7E-453D-9A85-59F4D902F0CB}"/>
                  </a:ext>
                </a:extLst>
              </p:cNvPr>
              <p:cNvSpPr txBox="1"/>
              <p:nvPr/>
            </p:nvSpPr>
            <p:spPr>
              <a:xfrm>
                <a:off x="220338" y="1643654"/>
                <a:ext cx="11710929" cy="1285480"/>
              </a:xfrm>
              <a:prstGeom prst="rect">
                <a:avLst/>
              </a:prstGeom>
              <a:noFill/>
            </p:spPr>
            <p:txBody>
              <a:bodyPr wrap="square" rtlCol="0">
                <a:spAutoFit/>
              </a:bodyPr>
              <a:lstStyle/>
              <a:p>
                <a:r>
                  <a:rPr lang="en-AU" sz="2400" dirty="0">
                    <a:latin typeface="+mj-lt"/>
                  </a:rPr>
                  <a:t>The Dirichlet function </a:t>
                </a:r>
                <a14:m>
                  <m:oMath xmlns:m="http://schemas.openxmlformats.org/officeDocument/2006/math">
                    <m:r>
                      <a:rPr lang="en-AU" sz="2400" b="0" i="1" smtClean="0">
                        <a:latin typeface="Cambria Math" panose="02040503050406030204" pitchFamily="18" charset="0"/>
                      </a:rPr>
                      <m:t>𝐷</m:t>
                    </m:r>
                    <m:r>
                      <a:rPr lang="en-AU" sz="2400" b="0" i="1" smtClean="0">
                        <a:latin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ℝ</m:t>
                    </m:r>
                    <m:r>
                      <a:rPr lang="en-AU" sz="2400" b="0" i="1" smtClean="0">
                        <a:latin typeface="Cambria Math" panose="02040503050406030204" pitchFamily="18" charset="0"/>
                        <a:ea typeface="Cambria Math" panose="02040503050406030204" pitchFamily="18" charset="0"/>
                      </a:rPr>
                      <m:t>→{0,1}</m:t>
                    </m:r>
                  </m:oMath>
                </a14:m>
                <a:r>
                  <a:rPr lang="en-GB" sz="2400" dirty="0">
                    <a:latin typeface="+mj-lt"/>
                  </a:rPr>
                  <a:t> is given by</a:t>
                </a:r>
              </a:p>
              <a:p>
                <a:pPr/>
                <a14:m>
                  <m:oMathPara xmlns:m="http://schemas.openxmlformats.org/officeDocument/2006/math">
                    <m:oMathParaPr>
                      <m:jc m:val="centerGroup"/>
                    </m:oMathParaPr>
                    <m:oMath xmlns:m="http://schemas.openxmlformats.org/officeDocument/2006/math">
                      <m:r>
                        <a:rPr lang="en-AU" sz="2400" b="0" i="1" smtClean="0">
                          <a:latin typeface="Cambria Math" panose="02040503050406030204" pitchFamily="18" charset="0"/>
                        </a:rPr>
                        <m:t>𝐷</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r>
                        <a:rPr lang="en-AU" sz="2400" b="0" i="1" smtClean="0">
                          <a:latin typeface="Cambria Math" panose="02040503050406030204" pitchFamily="18" charset="0"/>
                        </a:rPr>
                        <m:t>=</m:t>
                      </m:r>
                      <m:d>
                        <m:dPr>
                          <m:begChr m:val="{"/>
                          <m:endChr m:val=""/>
                          <m:ctrlPr>
                            <a:rPr lang="en-AU" sz="2400" b="0" i="1" smtClean="0">
                              <a:latin typeface="Cambria Math" panose="02040503050406030204" pitchFamily="18" charset="0"/>
                            </a:rPr>
                          </m:ctrlPr>
                        </m:dPr>
                        <m:e>
                          <m:m>
                            <m:mPr>
                              <m:mcs>
                                <m:mc>
                                  <m:mcPr>
                                    <m:count m:val="1"/>
                                    <m:mcJc m:val="center"/>
                                  </m:mcPr>
                                </m:mc>
                              </m:mcs>
                              <m:ctrlPr>
                                <a:rPr lang="en-AU" sz="2400" b="0" i="1" smtClean="0">
                                  <a:latin typeface="Cambria Math" panose="02040503050406030204" pitchFamily="18" charset="0"/>
                                </a:rPr>
                              </m:ctrlPr>
                            </m:mPr>
                            <m:mr>
                              <m:e>
                                <m:r>
                                  <m:rPr>
                                    <m:brk m:alnAt="7"/>
                                  </m:rPr>
                                  <a:rPr lang="en-AU" sz="2400" b="0" i="1" smtClean="0">
                                    <a:latin typeface="Cambria Math" panose="02040503050406030204" pitchFamily="18" charset="0"/>
                                  </a:rPr>
                                  <m:t>0</m:t>
                                </m:r>
                                <m:r>
                                  <a:rPr lang="en-AU" sz="2400" b="0" i="1" smtClean="0">
                                    <a:latin typeface="Cambria Math" panose="02040503050406030204" pitchFamily="18" charset="0"/>
                                  </a:rPr>
                                  <m:t>     </m:t>
                                </m:r>
                                <m:r>
                                  <m:rPr>
                                    <m:sty m:val="p"/>
                                    <m:brk m:alnAt="7"/>
                                  </m:rPr>
                                  <a:rPr lang="en-AU" sz="2400" b="0" i="0" smtClean="0">
                                    <a:latin typeface="Cambria Math" panose="02040503050406030204" pitchFamily="18" charset="0"/>
                                  </a:rPr>
                                  <m:t>i</m:t>
                                </m:r>
                                <m:r>
                                  <m:rPr>
                                    <m:sty m:val="p"/>
                                  </m:rPr>
                                  <a:rPr lang="en-AU" sz="2400" b="0" i="0" smtClean="0">
                                    <a:latin typeface="Cambria Math" panose="02040503050406030204" pitchFamily="18" charset="0"/>
                                  </a:rPr>
                                  <m:t>f</m:t>
                                </m:r>
                                <m:r>
                                  <m:rPr>
                                    <m:brk m:alnAt="7"/>
                                  </m:rPr>
                                  <a:rPr lang="en-AU" sz="2400" b="0" i="1" smtClean="0">
                                    <a:latin typeface="Cambria Math" panose="02040503050406030204" pitchFamily="18" charset="0"/>
                                  </a:rPr>
                                  <m:t> </m:t>
                                </m:r>
                                <m:r>
                                  <a:rPr lang="en-AU" sz="2400" b="0" i="1" smtClean="0">
                                    <a:latin typeface="Cambria Math" panose="02040503050406030204" pitchFamily="18" charset="0"/>
                                  </a:rPr>
                                  <m:t> </m:t>
                                </m:r>
                                <m:r>
                                  <a:rPr lang="en-AU" sz="2400" b="0" i="1" smtClean="0">
                                    <a:latin typeface="Cambria Math" panose="02040503050406030204" pitchFamily="18" charset="0"/>
                                  </a:rPr>
                                  <m:t>𝑥</m:t>
                                </m:r>
                                <m:r>
                                  <a:rPr lang="en-AU" sz="2400" b="0" i="1" smtClean="0">
                                    <a:latin typeface="Cambria Math" panose="02040503050406030204" pitchFamily="18" charset="0"/>
                                    <a:ea typeface="Cambria Math" panose="02040503050406030204" pitchFamily="18" charset="0"/>
                                  </a:rPr>
                                  <m:t>𝜖</m:t>
                                </m:r>
                                <m:r>
                                  <a:rPr lang="en-AU" sz="2400" b="0" i="1" smtClean="0">
                                    <a:latin typeface="Cambria Math" panose="02040503050406030204" pitchFamily="18" charset="0"/>
                                    <a:ea typeface="Cambria Math" panose="02040503050406030204" pitchFamily="18" charset="0"/>
                                  </a:rPr>
                                  <m:t>ℚ</m:t>
                                </m:r>
                              </m:e>
                            </m:mr>
                            <m:mr>
                              <m:e>
                                <m:r>
                                  <a:rPr lang="en-AU" sz="2400" b="0" i="1" smtClean="0">
                                    <a:latin typeface="Cambria Math" panose="02040503050406030204" pitchFamily="18" charset="0"/>
                                  </a:rPr>
                                  <m:t>1     </m:t>
                                </m:r>
                                <m:r>
                                  <m:rPr>
                                    <m:sty m:val="p"/>
                                  </m:rPr>
                                  <a:rPr lang="en-AU" sz="2400" b="0" i="0" smtClean="0">
                                    <a:latin typeface="Cambria Math" panose="02040503050406030204" pitchFamily="18" charset="0"/>
                                  </a:rPr>
                                  <m:t>if</m:t>
                                </m:r>
                                <m:r>
                                  <a:rPr lang="en-AU" sz="2400" b="0" i="0" smtClean="0">
                                    <a:latin typeface="Cambria Math" panose="02040503050406030204" pitchFamily="18" charset="0"/>
                                  </a:rPr>
                                  <m:t> </m:t>
                                </m:r>
                                <m:r>
                                  <a:rPr lang="en-AU" sz="2400" b="0" i="1" smtClean="0">
                                    <a:latin typeface="Cambria Math" panose="02040503050406030204" pitchFamily="18" charset="0"/>
                                  </a:rPr>
                                  <m:t>  </m:t>
                                </m:r>
                                <m:r>
                                  <a:rPr lang="en-AU" sz="2400" b="0" i="1" smtClean="0">
                                    <a:latin typeface="Cambria Math" panose="02040503050406030204" pitchFamily="18" charset="0"/>
                                  </a:rPr>
                                  <m:t>𝑥</m:t>
                                </m:r>
                                <m:r>
                                  <a:rPr lang="en-AU" sz="2400" b="0" i="1" smtClean="0">
                                    <a:latin typeface="Cambria Math" panose="02040503050406030204" pitchFamily="18" charset="0"/>
                                    <a:ea typeface="Cambria Math" panose="02040503050406030204" pitchFamily="18" charset="0"/>
                                  </a:rPr>
                                  <m:t>𝜖</m:t>
                                </m:r>
                                <m:r>
                                  <a:rPr lang="en-AU" sz="2400" b="0" i="1" smtClean="0">
                                    <a:latin typeface="Cambria Math" panose="02040503050406030204" pitchFamily="18" charset="0"/>
                                  </a:rPr>
                                  <m:t>𝐼</m:t>
                                </m:r>
                              </m:e>
                            </m:mr>
                          </m:m>
                        </m:e>
                      </m:d>
                    </m:oMath>
                  </m:oMathPara>
                </a14:m>
                <a:endParaRPr lang="en-GB" sz="2400" dirty="0">
                  <a:latin typeface="+mj-lt"/>
                </a:endParaRPr>
              </a:p>
            </p:txBody>
          </p:sp>
        </mc:Choice>
        <mc:Fallback xmlns="">
          <p:sp>
            <p:nvSpPr>
              <p:cNvPr id="4" name="TextBox 3">
                <a:extLst>
                  <a:ext uri="{FF2B5EF4-FFF2-40B4-BE49-F238E27FC236}">
                    <a16:creationId xmlns:a16="http://schemas.microsoft.com/office/drawing/2014/main" id="{7C9818E6-5C7E-453D-9A85-59F4D902F0CB}"/>
                  </a:ext>
                </a:extLst>
              </p:cNvPr>
              <p:cNvSpPr txBox="1">
                <a:spLocks noRot="1" noChangeAspect="1" noMove="1" noResize="1" noEditPoints="1" noAdjustHandles="1" noChangeArrowheads="1" noChangeShapeType="1" noTextEdit="1"/>
              </p:cNvSpPr>
              <p:nvPr/>
            </p:nvSpPr>
            <p:spPr>
              <a:xfrm>
                <a:off x="220338" y="1643654"/>
                <a:ext cx="11710929" cy="1285480"/>
              </a:xfrm>
              <a:prstGeom prst="rect">
                <a:avLst/>
              </a:prstGeom>
              <a:blipFill>
                <a:blip r:embed="rId2"/>
                <a:stretch>
                  <a:fillRect l="-781" t="-3791"/>
                </a:stretch>
              </a:blipFill>
            </p:spPr>
            <p:txBody>
              <a:bodyPr/>
              <a:lstStyle/>
              <a:p>
                <a:r>
                  <a:rPr lang="en-GB">
                    <a:noFill/>
                  </a:rPr>
                  <a:t> </a:t>
                </a:r>
              </a:p>
            </p:txBody>
          </p:sp>
        </mc:Fallback>
      </mc:AlternateContent>
      <p:sp>
        <p:nvSpPr>
          <p:cNvPr id="10" name="TextBox 9">
            <a:extLst>
              <a:ext uri="{FF2B5EF4-FFF2-40B4-BE49-F238E27FC236}">
                <a16:creationId xmlns:a16="http://schemas.microsoft.com/office/drawing/2014/main" id="{1B8F46DA-7344-452A-9A96-BD963E264357}"/>
              </a:ext>
            </a:extLst>
          </p:cNvPr>
          <p:cNvSpPr txBox="1"/>
          <p:nvPr/>
        </p:nvSpPr>
        <p:spPr>
          <a:xfrm>
            <a:off x="220338" y="3285448"/>
            <a:ext cx="3097964" cy="461665"/>
          </a:xfrm>
          <a:prstGeom prst="rect">
            <a:avLst/>
          </a:prstGeom>
          <a:noFill/>
          <a:ln>
            <a:solidFill>
              <a:schemeClr val="accent2">
                <a:lumMod val="50000"/>
              </a:schemeClr>
            </a:solidFill>
          </a:ln>
        </p:spPr>
        <p:txBody>
          <a:bodyPr wrap="none" rtlCol="0">
            <a:spAutoFit/>
          </a:bodyPr>
          <a:lstStyle/>
          <a:p>
            <a:r>
              <a:rPr lang="en-AU" sz="2400" dirty="0">
                <a:latin typeface="+mj-lt"/>
              </a:rPr>
              <a:t>Absolute value function</a:t>
            </a:r>
            <a:endParaRPr lang="en-GB" sz="2400" dirty="0">
              <a:latin typeface="+mj-lt"/>
            </a:endParaRP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CE8FFA36-B51E-4B03-9BE4-C48655806B90}"/>
                  </a:ext>
                </a:extLst>
              </p:cNvPr>
              <p:cNvSpPr txBox="1"/>
              <p:nvPr/>
            </p:nvSpPr>
            <p:spPr>
              <a:xfrm>
                <a:off x="220337" y="3928866"/>
                <a:ext cx="7525169" cy="2024144"/>
              </a:xfrm>
              <a:prstGeom prst="rect">
                <a:avLst/>
              </a:prstGeom>
              <a:noFill/>
            </p:spPr>
            <p:txBody>
              <a:bodyPr wrap="square" rtlCol="0">
                <a:spAutoFit/>
              </a:bodyPr>
              <a:lstStyle/>
              <a:p>
                <a:r>
                  <a:rPr lang="en-AU" sz="2400" dirty="0">
                    <a:latin typeface="+mj-lt"/>
                  </a:rPr>
                  <a:t>The absolute value or modulus function </a:t>
                </a:r>
                <a14:m>
                  <m:oMath xmlns:m="http://schemas.openxmlformats.org/officeDocument/2006/math">
                    <m:r>
                      <a:rPr lang="en-AU" sz="2400" b="0" i="1" smtClean="0">
                        <a:latin typeface="Cambria Math" panose="02040503050406030204" pitchFamily="18" charset="0"/>
                      </a:rPr>
                      <m:t>𝑓</m:t>
                    </m:r>
                    <m:r>
                      <a:rPr lang="en-AU" sz="2400" b="0" i="1" smtClean="0">
                        <a:latin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ℝ</m:t>
                    </m:r>
                    <m:r>
                      <a:rPr lang="en-AU" sz="2400" b="0" i="1" smtClean="0">
                        <a:latin typeface="Cambria Math" panose="02040503050406030204" pitchFamily="18" charset="0"/>
                        <a:ea typeface="Cambria Math" panose="02040503050406030204" pitchFamily="18" charset="0"/>
                      </a:rPr>
                      <m:t>→[0,∞)</m:t>
                    </m:r>
                  </m:oMath>
                </a14:m>
                <a:r>
                  <a:rPr lang="en-GB" sz="2400" dirty="0">
                    <a:latin typeface="+mj-lt"/>
                  </a:rPr>
                  <a:t> is defined by</a:t>
                </a:r>
              </a:p>
              <a:p>
                <a:endParaRPr lang="en-GB" sz="2400" dirty="0">
                  <a:latin typeface="+mj-lt"/>
                </a:endParaRPr>
              </a:p>
              <a:p>
                <a:pPr/>
                <a14:m>
                  <m:oMathPara xmlns:m="http://schemas.openxmlformats.org/officeDocument/2006/math">
                    <m:oMathParaPr>
                      <m:jc m:val="centerGroup"/>
                    </m:oMathParaPr>
                    <m:oMath xmlns:m="http://schemas.openxmlformats.org/officeDocument/2006/math">
                      <m:r>
                        <a:rPr lang="en-AU" sz="2400" b="0" i="1" smtClean="0">
                          <a:latin typeface="Cambria Math" panose="02040503050406030204" pitchFamily="18" charset="0"/>
                        </a:rPr>
                        <m:t>𝑓</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r>
                        <a:rPr lang="en-AU" sz="2400" b="0" i="1" smtClean="0">
                          <a:latin typeface="Cambria Math" panose="02040503050406030204" pitchFamily="18" charset="0"/>
                        </a:rPr>
                        <m:t>=</m:t>
                      </m:r>
                      <m:d>
                        <m:dPr>
                          <m:begChr m:val="|"/>
                          <m:endChr m:val="|"/>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r>
                        <a:rPr lang="en-AU" sz="2400" b="0" i="1" smtClean="0">
                          <a:latin typeface="Cambria Math" panose="02040503050406030204" pitchFamily="18" charset="0"/>
                        </a:rPr>
                        <m:t>=</m:t>
                      </m:r>
                      <m:d>
                        <m:dPr>
                          <m:begChr m:val="{"/>
                          <m:endChr m:val=""/>
                          <m:ctrlPr>
                            <a:rPr lang="en-AU" sz="2400" b="0" i="1" smtClean="0">
                              <a:latin typeface="Cambria Math" panose="02040503050406030204" pitchFamily="18" charset="0"/>
                            </a:rPr>
                          </m:ctrlPr>
                        </m:dPr>
                        <m:e>
                          <m:m>
                            <m:mPr>
                              <m:mcs>
                                <m:mc>
                                  <m:mcPr>
                                    <m:count m:val="1"/>
                                    <m:mcJc m:val="center"/>
                                  </m:mcPr>
                                </m:mc>
                              </m:mcs>
                              <m:ctrlPr>
                                <a:rPr lang="en-AU" sz="2400" b="0" i="1" smtClean="0">
                                  <a:latin typeface="Cambria Math" panose="02040503050406030204" pitchFamily="18" charset="0"/>
                                </a:rPr>
                              </m:ctrlPr>
                            </m:mPr>
                            <m:mr>
                              <m:e>
                                <m:r>
                                  <m:rPr>
                                    <m:brk m:alnAt="7"/>
                                  </m:rPr>
                                  <a:rPr lang="en-AU" sz="2400" b="0" i="1" smtClean="0">
                                    <a:latin typeface="Cambria Math" panose="02040503050406030204" pitchFamily="18" charset="0"/>
                                  </a:rPr>
                                  <m:t>𝑥</m:t>
                                </m:r>
                                <m:r>
                                  <a:rPr lang="en-AU" sz="2400" b="0" i="1" smtClean="0">
                                    <a:latin typeface="Cambria Math" panose="02040503050406030204" pitchFamily="18" charset="0"/>
                                  </a:rPr>
                                  <m:t>     </m:t>
                                </m:r>
                                <m:r>
                                  <m:rPr>
                                    <m:sty m:val="p"/>
                                    <m:brk m:alnAt="7"/>
                                  </m:rPr>
                                  <a:rPr lang="en-AU" sz="2400" b="0" i="0" smtClean="0">
                                    <a:latin typeface="Cambria Math" panose="02040503050406030204" pitchFamily="18" charset="0"/>
                                  </a:rPr>
                                  <m:t>i</m:t>
                                </m:r>
                                <m:r>
                                  <m:rPr>
                                    <m:sty m:val="p"/>
                                  </m:rPr>
                                  <a:rPr lang="en-AU" sz="2400" b="0" i="0" smtClean="0">
                                    <a:latin typeface="Cambria Math" panose="02040503050406030204" pitchFamily="18" charset="0"/>
                                  </a:rPr>
                                  <m:t>f</m:t>
                                </m:r>
                                <m:r>
                                  <m:rPr>
                                    <m:brk m:alnAt="7"/>
                                  </m:rPr>
                                  <a:rPr lang="en-AU" sz="2400" b="0" i="1" smtClean="0">
                                    <a:latin typeface="Cambria Math" panose="02040503050406030204" pitchFamily="18" charset="0"/>
                                  </a:rPr>
                                  <m:t> </m:t>
                                </m:r>
                                <m:r>
                                  <a:rPr lang="en-AU" sz="2400" b="0" i="1" smtClean="0">
                                    <a:latin typeface="Cambria Math" panose="02040503050406030204" pitchFamily="18" charset="0"/>
                                  </a:rPr>
                                  <m:t> </m:t>
                                </m:r>
                                <m:r>
                                  <a:rPr lang="en-AU" sz="2400" b="0" i="1" smtClean="0">
                                    <a:latin typeface="Cambria Math" panose="02040503050406030204" pitchFamily="18" charset="0"/>
                                  </a:rPr>
                                  <m:t>𝑥</m:t>
                                </m:r>
                                <m:r>
                                  <a:rPr lang="en-AU" sz="2400" b="0" i="1" smtClean="0">
                                    <a:latin typeface="Cambria Math" panose="02040503050406030204" pitchFamily="18" charset="0"/>
                                    <a:ea typeface="Cambria Math" panose="02040503050406030204" pitchFamily="18" charset="0"/>
                                  </a:rPr>
                                  <m:t>≥0</m:t>
                                </m:r>
                              </m:e>
                            </m:mr>
                            <m:mr>
                              <m:e>
                                <m:r>
                                  <a:rPr lang="en-AU" sz="2400" b="0" i="1" smtClean="0">
                                    <a:latin typeface="Cambria Math" panose="02040503050406030204" pitchFamily="18" charset="0"/>
                                  </a:rPr>
                                  <m:t>−</m:t>
                                </m:r>
                                <m:r>
                                  <a:rPr lang="en-AU" sz="2400" b="0" i="1" smtClean="0">
                                    <a:latin typeface="Cambria Math" panose="02040503050406030204" pitchFamily="18" charset="0"/>
                                  </a:rPr>
                                  <m:t>𝑥</m:t>
                                </m:r>
                                <m:r>
                                  <a:rPr lang="en-AU" sz="2400" b="0" i="1" smtClean="0">
                                    <a:latin typeface="Cambria Math" panose="02040503050406030204" pitchFamily="18" charset="0"/>
                                  </a:rPr>
                                  <m:t>     </m:t>
                                </m:r>
                                <m:r>
                                  <m:rPr>
                                    <m:sty m:val="p"/>
                                  </m:rPr>
                                  <a:rPr lang="en-AU" sz="2400" b="0" i="0" smtClean="0">
                                    <a:latin typeface="Cambria Math" panose="02040503050406030204" pitchFamily="18" charset="0"/>
                                  </a:rPr>
                                  <m:t>if</m:t>
                                </m:r>
                                <m:r>
                                  <a:rPr lang="en-AU" sz="2400" b="0" i="0" smtClean="0">
                                    <a:latin typeface="Cambria Math" panose="02040503050406030204" pitchFamily="18" charset="0"/>
                                  </a:rPr>
                                  <m:t> </m:t>
                                </m:r>
                                <m:r>
                                  <a:rPr lang="en-AU" sz="2400" b="0" i="1" smtClean="0">
                                    <a:latin typeface="Cambria Math" panose="02040503050406030204" pitchFamily="18" charset="0"/>
                                  </a:rPr>
                                  <m:t>  </m:t>
                                </m:r>
                                <m:r>
                                  <a:rPr lang="en-AU" sz="2400" b="0" i="1" smtClean="0">
                                    <a:latin typeface="Cambria Math" panose="02040503050406030204" pitchFamily="18" charset="0"/>
                                  </a:rPr>
                                  <m:t>𝑥</m:t>
                                </m:r>
                                <m:r>
                                  <a:rPr lang="en-AU" sz="2400" b="0" i="1" smtClean="0">
                                    <a:latin typeface="Cambria Math" panose="02040503050406030204" pitchFamily="18" charset="0"/>
                                    <a:ea typeface="Cambria Math" panose="02040503050406030204" pitchFamily="18" charset="0"/>
                                  </a:rPr>
                                  <m:t>&lt;0</m:t>
                                </m:r>
                              </m:e>
                            </m:mr>
                          </m:m>
                        </m:e>
                      </m:d>
                    </m:oMath>
                  </m:oMathPara>
                </a14:m>
                <a:endParaRPr lang="en-GB" sz="2400" dirty="0">
                  <a:latin typeface="+mj-lt"/>
                </a:endParaRPr>
              </a:p>
            </p:txBody>
          </p:sp>
        </mc:Choice>
        <mc:Fallback xmlns="">
          <p:sp>
            <p:nvSpPr>
              <p:cNvPr id="11" name="TextBox 10">
                <a:extLst>
                  <a:ext uri="{FF2B5EF4-FFF2-40B4-BE49-F238E27FC236}">
                    <a16:creationId xmlns:a16="http://schemas.microsoft.com/office/drawing/2014/main" id="{CE8FFA36-B51E-4B03-9BE4-C48655806B90}"/>
                  </a:ext>
                </a:extLst>
              </p:cNvPr>
              <p:cNvSpPr txBox="1">
                <a:spLocks noRot="1" noChangeAspect="1" noMove="1" noResize="1" noEditPoints="1" noAdjustHandles="1" noChangeArrowheads="1" noChangeShapeType="1" noTextEdit="1"/>
              </p:cNvSpPr>
              <p:nvPr/>
            </p:nvSpPr>
            <p:spPr>
              <a:xfrm>
                <a:off x="220337" y="3928866"/>
                <a:ext cx="7525169" cy="2024144"/>
              </a:xfrm>
              <a:prstGeom prst="rect">
                <a:avLst/>
              </a:prstGeom>
              <a:blipFill>
                <a:blip r:embed="rId3"/>
                <a:stretch>
                  <a:fillRect l="-1215" t="-2402"/>
                </a:stretch>
              </a:blipFill>
            </p:spPr>
            <p:txBody>
              <a:bodyPr/>
              <a:lstStyle/>
              <a:p>
                <a:r>
                  <a:rPr lang="en-GB">
                    <a:noFill/>
                  </a:rPr>
                  <a:t> </a:t>
                </a:r>
              </a:p>
            </p:txBody>
          </p:sp>
        </mc:Fallback>
      </mc:AlternateContent>
      <p:pic>
        <p:nvPicPr>
          <p:cNvPr id="18" name="Picture 17">
            <a:extLst>
              <a:ext uri="{FF2B5EF4-FFF2-40B4-BE49-F238E27FC236}">
                <a16:creationId xmlns:a16="http://schemas.microsoft.com/office/drawing/2014/main" id="{9DDB31EB-18F4-4581-8265-6F82D82AED19}"/>
              </a:ext>
            </a:extLst>
          </p:cNvPr>
          <p:cNvPicPr>
            <a:picLocks noChangeAspect="1"/>
          </p:cNvPicPr>
          <p:nvPr/>
        </p:nvPicPr>
        <p:blipFill>
          <a:blip r:embed="rId4"/>
          <a:stretch>
            <a:fillRect/>
          </a:stretch>
        </p:blipFill>
        <p:spPr>
          <a:xfrm>
            <a:off x="7569777" y="3516280"/>
            <a:ext cx="3811836" cy="2704641"/>
          </a:xfrm>
          <a:prstGeom prst="rect">
            <a:avLst/>
          </a:prstGeom>
          <a:ln>
            <a:solidFill>
              <a:schemeClr val="tx1"/>
            </a:solidFill>
          </a:ln>
        </p:spPr>
      </p:pic>
    </p:spTree>
    <p:extLst>
      <p:ext uri="{BB962C8B-B14F-4D97-AF65-F5344CB8AC3E}">
        <p14:creationId xmlns:p14="http://schemas.microsoft.com/office/powerpoint/2010/main" val="30680875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3693127" cy="523220"/>
          </a:xfrm>
          <a:prstGeom prst="rect">
            <a:avLst/>
          </a:prstGeom>
          <a:noFill/>
        </p:spPr>
        <p:txBody>
          <a:bodyPr wrap="none" rtlCol="0">
            <a:spAutoFit/>
          </a:bodyPr>
          <a:lstStyle/>
          <a:p>
            <a:r>
              <a:rPr lang="en-AU" sz="2800" b="1" cap="small" dirty="0">
                <a:solidFill>
                  <a:schemeClr val="bg1"/>
                </a:solidFill>
                <a:latin typeface="+mj-lt"/>
              </a:rPr>
              <a:t>1.5 Elementary Functions</a:t>
            </a:r>
            <a:endParaRPr lang="en-GB" sz="2800" b="1" cap="small" dirty="0">
              <a:solidFill>
                <a:schemeClr val="bg1"/>
              </a:solidFill>
              <a:latin typeface="+mj-lt"/>
            </a:endParaRPr>
          </a:p>
        </p:txBody>
      </p:sp>
      <p:sp>
        <p:nvSpPr>
          <p:cNvPr id="2" name="TextBox 1">
            <a:extLst>
              <a:ext uri="{FF2B5EF4-FFF2-40B4-BE49-F238E27FC236}">
                <a16:creationId xmlns:a16="http://schemas.microsoft.com/office/drawing/2014/main" id="{0C94F362-DFED-4C11-A1CD-925763418DC8}"/>
              </a:ext>
            </a:extLst>
          </p:cNvPr>
          <p:cNvSpPr txBox="1"/>
          <p:nvPr/>
        </p:nvSpPr>
        <p:spPr>
          <a:xfrm>
            <a:off x="220338" y="1057620"/>
            <a:ext cx="1797287" cy="461665"/>
          </a:xfrm>
          <a:prstGeom prst="rect">
            <a:avLst/>
          </a:prstGeom>
          <a:noFill/>
          <a:ln>
            <a:solidFill>
              <a:schemeClr val="accent2">
                <a:lumMod val="50000"/>
              </a:schemeClr>
            </a:solidFill>
          </a:ln>
        </p:spPr>
        <p:txBody>
          <a:bodyPr wrap="none" rtlCol="0">
            <a:spAutoFit/>
          </a:bodyPr>
          <a:lstStyle/>
          <a:p>
            <a:r>
              <a:rPr lang="en-AU" sz="2400" dirty="0">
                <a:latin typeface="+mj-lt"/>
              </a:rPr>
              <a:t>Sign function</a:t>
            </a:r>
            <a:endParaRPr lang="en-GB" sz="2400" dirty="0">
              <a:latin typeface="+mj-lt"/>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7C9818E6-5C7E-453D-9A85-59F4D902F0CB}"/>
                  </a:ext>
                </a:extLst>
              </p:cNvPr>
              <p:cNvSpPr txBox="1"/>
              <p:nvPr/>
            </p:nvSpPr>
            <p:spPr>
              <a:xfrm>
                <a:off x="220338" y="1643654"/>
                <a:ext cx="7722391" cy="1640770"/>
              </a:xfrm>
              <a:prstGeom prst="rect">
                <a:avLst/>
              </a:prstGeom>
              <a:noFill/>
            </p:spPr>
            <p:txBody>
              <a:bodyPr wrap="square" rtlCol="0">
                <a:spAutoFit/>
              </a:bodyPr>
              <a:lstStyle/>
              <a:p>
                <a:r>
                  <a:rPr lang="en-AU" sz="2400" dirty="0">
                    <a:latin typeface="+mj-lt"/>
                  </a:rPr>
                  <a:t>The sign function </a:t>
                </a:r>
                <a14:m>
                  <m:oMath xmlns:m="http://schemas.openxmlformats.org/officeDocument/2006/math">
                    <m:r>
                      <a:rPr lang="en-AU" sz="2400" b="0" i="1" smtClean="0">
                        <a:latin typeface="Cambria Math" panose="02040503050406030204" pitchFamily="18" charset="0"/>
                      </a:rPr>
                      <m:t>𝑓</m:t>
                    </m:r>
                    <m:r>
                      <a:rPr lang="en-AU" sz="2400" b="0" i="1" smtClean="0">
                        <a:latin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ℝ</m:t>
                    </m:r>
                    <m:r>
                      <a:rPr lang="en-AU" sz="2400" b="0" i="1" smtClean="0">
                        <a:latin typeface="Cambria Math" panose="02040503050406030204" pitchFamily="18" charset="0"/>
                        <a:ea typeface="Cambria Math" panose="02040503050406030204" pitchFamily="18" charset="0"/>
                      </a:rPr>
                      <m:t>→{−1,0,1}</m:t>
                    </m:r>
                  </m:oMath>
                </a14:m>
                <a:r>
                  <a:rPr lang="en-GB" sz="2400" dirty="0">
                    <a:latin typeface="+mj-lt"/>
                  </a:rPr>
                  <a:t> is given by</a:t>
                </a:r>
              </a:p>
              <a:p>
                <a:pPr/>
                <a14:m>
                  <m:oMathPara xmlns:m="http://schemas.openxmlformats.org/officeDocument/2006/math">
                    <m:oMathParaPr>
                      <m:jc m:val="centerGroup"/>
                    </m:oMathParaPr>
                    <m:oMath xmlns:m="http://schemas.openxmlformats.org/officeDocument/2006/math">
                      <m:r>
                        <a:rPr lang="en-AU" sz="2400" b="0" i="1" smtClean="0">
                          <a:latin typeface="Cambria Math" panose="02040503050406030204" pitchFamily="18" charset="0"/>
                        </a:rPr>
                        <m:t>𝑓</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r>
                        <a:rPr lang="en-AU" sz="2400" b="0" i="1" smtClean="0">
                          <a:latin typeface="Cambria Math" panose="02040503050406030204" pitchFamily="18" charset="0"/>
                        </a:rPr>
                        <m:t>=</m:t>
                      </m:r>
                      <m:r>
                        <m:rPr>
                          <m:sty m:val="p"/>
                        </m:rPr>
                        <a:rPr lang="en-AU" sz="2400" b="0" i="0" smtClean="0">
                          <a:latin typeface="Cambria Math" panose="02040503050406030204" pitchFamily="18" charset="0"/>
                        </a:rPr>
                        <m:t>sign</m:t>
                      </m:r>
                      <m:r>
                        <a:rPr lang="en-AU" sz="2400" b="0" i="1" smtClean="0">
                          <a:latin typeface="Cambria Math" panose="02040503050406030204" pitchFamily="18" charset="0"/>
                        </a:rPr>
                        <m:t>(</m:t>
                      </m:r>
                      <m:r>
                        <a:rPr lang="en-AU" sz="2400" b="0" i="1" smtClean="0">
                          <a:latin typeface="Cambria Math" panose="02040503050406030204" pitchFamily="18" charset="0"/>
                        </a:rPr>
                        <m:t>𝑥</m:t>
                      </m:r>
                      <m:r>
                        <a:rPr lang="en-AU" sz="2400" b="0" i="1" smtClean="0">
                          <a:latin typeface="Cambria Math" panose="02040503050406030204" pitchFamily="18" charset="0"/>
                        </a:rPr>
                        <m:t>)=</m:t>
                      </m:r>
                      <m:d>
                        <m:dPr>
                          <m:begChr m:val="{"/>
                          <m:endChr m:val=""/>
                          <m:ctrlPr>
                            <a:rPr lang="en-AU" sz="2400" b="0" i="1" smtClean="0">
                              <a:latin typeface="Cambria Math" panose="02040503050406030204" pitchFamily="18" charset="0"/>
                            </a:rPr>
                          </m:ctrlPr>
                        </m:dPr>
                        <m:e>
                          <m:m>
                            <m:mPr>
                              <m:mcs>
                                <m:mc>
                                  <m:mcPr>
                                    <m:count m:val="1"/>
                                    <m:mcJc m:val="center"/>
                                  </m:mcPr>
                                </m:mc>
                              </m:mcs>
                              <m:ctrlPr>
                                <a:rPr lang="en-AU" sz="2400" b="0" i="1" smtClean="0">
                                  <a:latin typeface="Cambria Math" panose="02040503050406030204" pitchFamily="18" charset="0"/>
                                </a:rPr>
                              </m:ctrlPr>
                            </m:mPr>
                            <m:mr>
                              <m:e>
                                <m:r>
                                  <m:rPr>
                                    <m:brk m:alnAt="7"/>
                                  </m:rPr>
                                  <a:rPr lang="en-AU" sz="2400" b="0" i="1" smtClean="0">
                                    <a:latin typeface="Cambria Math" panose="02040503050406030204" pitchFamily="18" charset="0"/>
                                  </a:rPr>
                                  <m:t>1</m:t>
                                </m:r>
                                <m:r>
                                  <a:rPr lang="en-AU" sz="2400" i="1">
                                    <a:latin typeface="Cambria Math" panose="02040503050406030204" pitchFamily="18" charset="0"/>
                                  </a:rPr>
                                  <m:t>     </m:t>
                                </m:r>
                                <m:r>
                                  <m:rPr>
                                    <m:sty m:val="p"/>
                                    <m:brk m:alnAt="7"/>
                                  </m:rPr>
                                  <a:rPr lang="en-AU" sz="2400">
                                    <a:latin typeface="Cambria Math" panose="02040503050406030204" pitchFamily="18" charset="0"/>
                                  </a:rPr>
                                  <m:t>i</m:t>
                                </m:r>
                                <m:r>
                                  <m:rPr>
                                    <m:sty m:val="p"/>
                                  </m:rPr>
                                  <a:rPr lang="en-AU" sz="2400">
                                    <a:latin typeface="Cambria Math" panose="02040503050406030204" pitchFamily="18" charset="0"/>
                                  </a:rPr>
                                  <m:t>f</m:t>
                                </m:r>
                                <m:r>
                                  <m:rPr>
                                    <m:brk m:alnAt="7"/>
                                  </m:rPr>
                                  <a:rPr lang="en-AU" sz="2400" i="1">
                                    <a:latin typeface="Cambria Math" panose="02040503050406030204" pitchFamily="18" charset="0"/>
                                  </a:rPr>
                                  <m:t> </m:t>
                                </m:r>
                                <m:r>
                                  <a:rPr lang="en-AU" sz="2400" i="1">
                                    <a:latin typeface="Cambria Math" panose="02040503050406030204" pitchFamily="18" charset="0"/>
                                  </a:rPr>
                                  <m:t> </m:t>
                                </m:r>
                                <m:r>
                                  <a:rPr lang="en-AU" sz="2400" b="0" i="1" smtClean="0">
                                    <a:latin typeface="Cambria Math" panose="02040503050406030204" pitchFamily="18" charset="0"/>
                                  </a:rPr>
                                  <m:t>𝑥</m:t>
                                </m:r>
                                <m:r>
                                  <a:rPr lang="en-AU" sz="2400" b="0" i="1" smtClean="0">
                                    <a:latin typeface="Cambria Math" panose="02040503050406030204" pitchFamily="18" charset="0"/>
                                  </a:rPr>
                                  <m:t>&gt;0</m:t>
                                </m:r>
                              </m:e>
                            </m:mr>
                            <m:mr>
                              <m:e>
                                <m:r>
                                  <a:rPr lang="en-AU" sz="2400" b="0" i="1" smtClean="0">
                                    <a:latin typeface="Cambria Math" panose="02040503050406030204" pitchFamily="18" charset="0"/>
                                  </a:rPr>
                                  <m:t>0</m:t>
                                </m:r>
                                <m:r>
                                  <a:rPr lang="en-AU" sz="2400" i="1">
                                    <a:latin typeface="Cambria Math" panose="02040503050406030204" pitchFamily="18" charset="0"/>
                                  </a:rPr>
                                  <m:t>    </m:t>
                                </m:r>
                                <m:r>
                                  <a:rPr lang="en-AU" sz="2400" b="0" i="0" smtClean="0">
                                    <a:latin typeface="Cambria Math" panose="02040503050406030204" pitchFamily="18" charset="0"/>
                                  </a:rPr>
                                  <m:t> </m:t>
                                </m:r>
                                <m:r>
                                  <m:rPr>
                                    <m:sty m:val="p"/>
                                  </m:rPr>
                                  <a:rPr lang="en-AU" sz="2400">
                                    <a:latin typeface="Cambria Math" panose="02040503050406030204" pitchFamily="18" charset="0"/>
                                  </a:rPr>
                                  <m:t>if</m:t>
                                </m:r>
                                <m:r>
                                  <a:rPr lang="en-AU" sz="2400">
                                    <a:latin typeface="Cambria Math" panose="02040503050406030204" pitchFamily="18" charset="0"/>
                                  </a:rPr>
                                  <m:t> </m:t>
                                </m:r>
                                <m:r>
                                  <a:rPr lang="en-AU" sz="2400" i="1">
                                    <a:latin typeface="Cambria Math" panose="02040503050406030204" pitchFamily="18" charset="0"/>
                                  </a:rPr>
                                  <m:t>  </m:t>
                                </m:r>
                                <m:r>
                                  <a:rPr lang="en-AU" sz="2400" b="0" i="1" smtClean="0">
                                    <a:latin typeface="Cambria Math" panose="02040503050406030204" pitchFamily="18" charset="0"/>
                                  </a:rPr>
                                  <m:t>𝑥</m:t>
                                </m:r>
                                <m:r>
                                  <a:rPr lang="en-AU" sz="2400" b="0" i="1" smtClean="0">
                                    <a:latin typeface="Cambria Math" panose="02040503050406030204" pitchFamily="18" charset="0"/>
                                  </a:rPr>
                                  <m:t>=0</m:t>
                                </m:r>
                              </m:e>
                            </m:mr>
                            <m:mr>
                              <m:e>
                                <m:r>
                                  <a:rPr lang="en-AU" sz="2400" b="0" i="1" smtClean="0">
                                    <a:latin typeface="Cambria Math" panose="02040503050406030204" pitchFamily="18" charset="0"/>
                                  </a:rPr>
                                  <m:t>−1    </m:t>
                                </m:r>
                                <m:r>
                                  <m:rPr>
                                    <m:sty m:val="p"/>
                                  </m:rPr>
                                  <a:rPr lang="en-AU" sz="2400" b="0" i="0" smtClean="0">
                                    <a:latin typeface="Cambria Math" panose="02040503050406030204" pitchFamily="18" charset="0"/>
                                  </a:rPr>
                                  <m:t>if</m:t>
                                </m:r>
                                <m:r>
                                  <a:rPr lang="en-AU" sz="2400" b="0" i="1" smtClean="0">
                                    <a:latin typeface="Cambria Math" panose="02040503050406030204" pitchFamily="18" charset="0"/>
                                  </a:rPr>
                                  <m:t> </m:t>
                                </m:r>
                                <m:r>
                                  <a:rPr lang="en-AU" sz="2400" b="0" i="1" smtClean="0">
                                    <a:latin typeface="Cambria Math" panose="02040503050406030204" pitchFamily="18" charset="0"/>
                                  </a:rPr>
                                  <m:t>𝑥</m:t>
                                </m:r>
                                <m:r>
                                  <a:rPr lang="en-AU" sz="2400" b="0" i="1" smtClean="0">
                                    <a:latin typeface="Cambria Math" panose="02040503050406030204" pitchFamily="18" charset="0"/>
                                  </a:rPr>
                                  <m:t>&lt;0</m:t>
                                </m:r>
                              </m:e>
                            </m:mr>
                          </m:m>
                        </m:e>
                      </m:d>
                    </m:oMath>
                  </m:oMathPara>
                </a14:m>
                <a:endParaRPr lang="en-GB" sz="2400" dirty="0">
                  <a:latin typeface="+mj-lt"/>
                </a:endParaRPr>
              </a:p>
            </p:txBody>
          </p:sp>
        </mc:Choice>
        <mc:Fallback xmlns="">
          <p:sp>
            <p:nvSpPr>
              <p:cNvPr id="4" name="TextBox 3">
                <a:extLst>
                  <a:ext uri="{FF2B5EF4-FFF2-40B4-BE49-F238E27FC236}">
                    <a16:creationId xmlns:a16="http://schemas.microsoft.com/office/drawing/2014/main" id="{7C9818E6-5C7E-453D-9A85-59F4D902F0CB}"/>
                  </a:ext>
                </a:extLst>
              </p:cNvPr>
              <p:cNvSpPr txBox="1">
                <a:spLocks noRot="1" noChangeAspect="1" noMove="1" noResize="1" noEditPoints="1" noAdjustHandles="1" noChangeArrowheads="1" noChangeShapeType="1" noTextEdit="1"/>
              </p:cNvSpPr>
              <p:nvPr/>
            </p:nvSpPr>
            <p:spPr>
              <a:xfrm>
                <a:off x="220338" y="1643654"/>
                <a:ext cx="7722391" cy="1640770"/>
              </a:xfrm>
              <a:prstGeom prst="rect">
                <a:avLst/>
              </a:prstGeom>
              <a:blipFill>
                <a:blip r:embed="rId2"/>
                <a:stretch>
                  <a:fillRect l="-1184" t="-2974"/>
                </a:stretch>
              </a:blipFill>
            </p:spPr>
            <p:txBody>
              <a:bodyPr/>
              <a:lstStyle/>
              <a:p>
                <a:r>
                  <a:rPr lang="en-GB">
                    <a:noFill/>
                  </a:rPr>
                  <a:t> </a:t>
                </a:r>
              </a:p>
            </p:txBody>
          </p:sp>
        </mc:Fallback>
      </mc:AlternateContent>
      <p:sp>
        <p:nvSpPr>
          <p:cNvPr id="10" name="TextBox 9">
            <a:extLst>
              <a:ext uri="{FF2B5EF4-FFF2-40B4-BE49-F238E27FC236}">
                <a16:creationId xmlns:a16="http://schemas.microsoft.com/office/drawing/2014/main" id="{1B8F46DA-7344-452A-9A96-BD963E264357}"/>
              </a:ext>
            </a:extLst>
          </p:cNvPr>
          <p:cNvSpPr txBox="1"/>
          <p:nvPr/>
        </p:nvSpPr>
        <p:spPr>
          <a:xfrm>
            <a:off x="220339" y="3743522"/>
            <a:ext cx="2468496" cy="461665"/>
          </a:xfrm>
          <a:prstGeom prst="rect">
            <a:avLst/>
          </a:prstGeom>
          <a:noFill/>
          <a:ln>
            <a:solidFill>
              <a:schemeClr val="accent2">
                <a:lumMod val="50000"/>
              </a:schemeClr>
            </a:solidFill>
          </a:ln>
        </p:spPr>
        <p:txBody>
          <a:bodyPr wrap="none" rtlCol="0">
            <a:spAutoFit/>
          </a:bodyPr>
          <a:lstStyle/>
          <a:p>
            <a:r>
              <a:rPr lang="en-AU" sz="2400" dirty="0">
                <a:latin typeface="+mj-lt"/>
              </a:rPr>
              <a:t>Heaviside function</a:t>
            </a:r>
            <a:endParaRPr lang="en-GB" sz="2400" dirty="0">
              <a:latin typeface="+mj-lt"/>
            </a:endParaRP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CE8FFA36-B51E-4B03-9BE4-C48655806B90}"/>
                  </a:ext>
                </a:extLst>
              </p:cNvPr>
              <p:cNvSpPr txBox="1"/>
              <p:nvPr/>
            </p:nvSpPr>
            <p:spPr>
              <a:xfrm>
                <a:off x="220338" y="4386940"/>
                <a:ext cx="7525169" cy="1654812"/>
              </a:xfrm>
              <a:prstGeom prst="rect">
                <a:avLst/>
              </a:prstGeom>
              <a:noFill/>
            </p:spPr>
            <p:txBody>
              <a:bodyPr wrap="square" rtlCol="0">
                <a:spAutoFit/>
              </a:bodyPr>
              <a:lstStyle/>
              <a:p>
                <a:r>
                  <a:rPr lang="en-AU" sz="2400" dirty="0">
                    <a:latin typeface="+mj-lt"/>
                  </a:rPr>
                  <a:t>The Heaviside function </a:t>
                </a:r>
                <a14:m>
                  <m:oMath xmlns:m="http://schemas.openxmlformats.org/officeDocument/2006/math">
                    <m:r>
                      <a:rPr lang="en-AU" sz="2400" b="0" i="1" smtClean="0">
                        <a:latin typeface="Cambria Math" panose="02040503050406030204" pitchFamily="18" charset="0"/>
                      </a:rPr>
                      <m:t>𝑓</m:t>
                    </m:r>
                    <m:r>
                      <a:rPr lang="en-AU" sz="2400" b="0" i="1" smtClean="0">
                        <a:latin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ℝ</m:t>
                    </m:r>
                    <m:r>
                      <a:rPr lang="en-AU" sz="2400" b="0" i="1" smtClean="0">
                        <a:latin typeface="Cambria Math" panose="02040503050406030204" pitchFamily="18" charset="0"/>
                        <a:ea typeface="Cambria Math" panose="02040503050406030204" pitchFamily="18" charset="0"/>
                      </a:rPr>
                      <m:t>→{0,1}</m:t>
                    </m:r>
                  </m:oMath>
                </a14:m>
                <a:r>
                  <a:rPr lang="en-GB" sz="2400" dirty="0">
                    <a:latin typeface="+mj-lt"/>
                  </a:rPr>
                  <a:t> is defined by</a:t>
                </a:r>
              </a:p>
              <a:p>
                <a:endParaRPr lang="en-GB" sz="2400" dirty="0">
                  <a:latin typeface="+mj-lt"/>
                </a:endParaRPr>
              </a:p>
              <a:p>
                <a:pPr/>
                <a14:m>
                  <m:oMathPara xmlns:m="http://schemas.openxmlformats.org/officeDocument/2006/math">
                    <m:oMathParaPr>
                      <m:jc m:val="centerGroup"/>
                    </m:oMathParaPr>
                    <m:oMath xmlns:m="http://schemas.openxmlformats.org/officeDocument/2006/math">
                      <m:r>
                        <a:rPr lang="en-AU" sz="2400" b="0" i="1" smtClean="0">
                          <a:latin typeface="Cambria Math" panose="02040503050406030204" pitchFamily="18" charset="0"/>
                        </a:rPr>
                        <m:t>𝐻</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r>
                        <a:rPr lang="en-AU" sz="2400" b="0" i="1" smtClean="0">
                          <a:latin typeface="Cambria Math" panose="02040503050406030204" pitchFamily="18" charset="0"/>
                        </a:rPr>
                        <m:t>=</m:t>
                      </m:r>
                      <m:d>
                        <m:dPr>
                          <m:begChr m:val="{"/>
                          <m:endChr m:val=""/>
                          <m:ctrlPr>
                            <a:rPr lang="en-AU" sz="2400" b="0" i="1" smtClean="0">
                              <a:latin typeface="Cambria Math" panose="02040503050406030204" pitchFamily="18" charset="0"/>
                            </a:rPr>
                          </m:ctrlPr>
                        </m:dPr>
                        <m:e>
                          <m:m>
                            <m:mPr>
                              <m:mcs>
                                <m:mc>
                                  <m:mcPr>
                                    <m:count m:val="1"/>
                                    <m:mcJc m:val="center"/>
                                  </m:mcPr>
                                </m:mc>
                              </m:mcs>
                              <m:ctrlPr>
                                <a:rPr lang="en-AU" sz="2400" b="0" i="1" smtClean="0">
                                  <a:latin typeface="Cambria Math" panose="02040503050406030204" pitchFamily="18" charset="0"/>
                                </a:rPr>
                              </m:ctrlPr>
                            </m:mPr>
                            <m:mr>
                              <m:e>
                                <m:r>
                                  <m:rPr>
                                    <m:brk m:alnAt="7"/>
                                  </m:rPr>
                                  <a:rPr lang="en-AU" sz="2400" b="0" i="1" smtClean="0">
                                    <a:latin typeface="Cambria Math" panose="02040503050406030204" pitchFamily="18" charset="0"/>
                                  </a:rPr>
                                  <m:t>1</m:t>
                                </m:r>
                                <m:r>
                                  <a:rPr lang="en-AU" sz="2400" b="0" i="1" smtClean="0">
                                    <a:latin typeface="Cambria Math" panose="02040503050406030204" pitchFamily="18" charset="0"/>
                                  </a:rPr>
                                  <m:t>     </m:t>
                                </m:r>
                                <m:r>
                                  <m:rPr>
                                    <m:sty m:val="p"/>
                                    <m:brk m:alnAt="7"/>
                                  </m:rPr>
                                  <a:rPr lang="en-AU" sz="2400" b="0" i="0" smtClean="0">
                                    <a:latin typeface="Cambria Math" panose="02040503050406030204" pitchFamily="18" charset="0"/>
                                  </a:rPr>
                                  <m:t>i</m:t>
                                </m:r>
                                <m:r>
                                  <m:rPr>
                                    <m:sty m:val="p"/>
                                  </m:rPr>
                                  <a:rPr lang="en-AU" sz="2400" b="0" i="0" smtClean="0">
                                    <a:latin typeface="Cambria Math" panose="02040503050406030204" pitchFamily="18" charset="0"/>
                                  </a:rPr>
                                  <m:t>f</m:t>
                                </m:r>
                                <m:r>
                                  <m:rPr>
                                    <m:brk m:alnAt="7"/>
                                  </m:rPr>
                                  <a:rPr lang="en-AU" sz="2400" b="0" i="1" smtClean="0">
                                    <a:latin typeface="Cambria Math" panose="02040503050406030204" pitchFamily="18" charset="0"/>
                                  </a:rPr>
                                  <m:t> </m:t>
                                </m:r>
                                <m:r>
                                  <a:rPr lang="en-AU" sz="2400" b="0" i="1" smtClean="0">
                                    <a:latin typeface="Cambria Math" panose="02040503050406030204" pitchFamily="18" charset="0"/>
                                  </a:rPr>
                                  <m:t> </m:t>
                                </m:r>
                                <m:r>
                                  <a:rPr lang="en-AU" sz="2400" b="0" i="1" smtClean="0">
                                    <a:latin typeface="Cambria Math" panose="02040503050406030204" pitchFamily="18" charset="0"/>
                                  </a:rPr>
                                  <m:t>𝑥</m:t>
                                </m:r>
                                <m:r>
                                  <a:rPr lang="en-AU" sz="2400" b="0" i="1" smtClean="0">
                                    <a:latin typeface="Cambria Math" panose="02040503050406030204" pitchFamily="18" charset="0"/>
                                    <a:ea typeface="Cambria Math" panose="02040503050406030204" pitchFamily="18" charset="0"/>
                                  </a:rPr>
                                  <m:t>&gt;0</m:t>
                                </m:r>
                              </m:e>
                            </m:mr>
                            <m:mr>
                              <m:e>
                                <m:r>
                                  <a:rPr lang="en-AU" sz="2400" b="0" i="1" smtClean="0">
                                    <a:latin typeface="Cambria Math" panose="02040503050406030204" pitchFamily="18" charset="0"/>
                                  </a:rPr>
                                  <m:t>0    </m:t>
                                </m:r>
                                <m:r>
                                  <m:rPr>
                                    <m:sty m:val="p"/>
                                  </m:rPr>
                                  <a:rPr lang="en-AU" sz="2400" b="0" i="0" smtClean="0">
                                    <a:latin typeface="Cambria Math" panose="02040503050406030204" pitchFamily="18" charset="0"/>
                                  </a:rPr>
                                  <m:t>if</m:t>
                                </m:r>
                                <m:r>
                                  <a:rPr lang="en-AU" sz="2400" b="0" i="0" smtClean="0">
                                    <a:latin typeface="Cambria Math" panose="02040503050406030204" pitchFamily="18" charset="0"/>
                                  </a:rPr>
                                  <m:t> </m:t>
                                </m:r>
                                <m:r>
                                  <a:rPr lang="en-AU" sz="2400" b="0" i="1" smtClean="0">
                                    <a:latin typeface="Cambria Math" panose="02040503050406030204" pitchFamily="18" charset="0"/>
                                  </a:rPr>
                                  <m:t>  </m:t>
                                </m:r>
                                <m:r>
                                  <a:rPr lang="en-AU" sz="2400" b="0" i="1" smtClean="0">
                                    <a:latin typeface="Cambria Math" panose="02040503050406030204" pitchFamily="18" charset="0"/>
                                  </a:rPr>
                                  <m:t>𝑥</m:t>
                                </m:r>
                                <m:r>
                                  <a:rPr lang="en-AU" sz="2400" b="0" i="1" smtClean="0">
                                    <a:latin typeface="Cambria Math" panose="02040503050406030204" pitchFamily="18" charset="0"/>
                                    <a:ea typeface="Cambria Math" panose="02040503050406030204" pitchFamily="18" charset="0"/>
                                  </a:rPr>
                                  <m:t>≤0</m:t>
                                </m:r>
                              </m:e>
                            </m:mr>
                          </m:m>
                        </m:e>
                      </m:d>
                    </m:oMath>
                  </m:oMathPara>
                </a14:m>
                <a:endParaRPr lang="en-GB" sz="2400" dirty="0">
                  <a:latin typeface="+mj-lt"/>
                </a:endParaRPr>
              </a:p>
            </p:txBody>
          </p:sp>
        </mc:Choice>
        <mc:Fallback xmlns="">
          <p:sp>
            <p:nvSpPr>
              <p:cNvPr id="11" name="TextBox 10">
                <a:extLst>
                  <a:ext uri="{FF2B5EF4-FFF2-40B4-BE49-F238E27FC236}">
                    <a16:creationId xmlns:a16="http://schemas.microsoft.com/office/drawing/2014/main" id="{CE8FFA36-B51E-4B03-9BE4-C48655806B90}"/>
                  </a:ext>
                </a:extLst>
              </p:cNvPr>
              <p:cNvSpPr txBox="1">
                <a:spLocks noRot="1" noChangeAspect="1" noMove="1" noResize="1" noEditPoints="1" noAdjustHandles="1" noChangeArrowheads="1" noChangeShapeType="1" noTextEdit="1"/>
              </p:cNvSpPr>
              <p:nvPr/>
            </p:nvSpPr>
            <p:spPr>
              <a:xfrm>
                <a:off x="220338" y="4386940"/>
                <a:ext cx="7525169" cy="1654812"/>
              </a:xfrm>
              <a:prstGeom prst="rect">
                <a:avLst/>
              </a:prstGeom>
              <a:blipFill>
                <a:blip r:embed="rId3"/>
                <a:stretch>
                  <a:fillRect l="-1215" t="-2952"/>
                </a:stretch>
              </a:blipFill>
            </p:spPr>
            <p:txBody>
              <a:bodyPr/>
              <a:lstStyle/>
              <a:p>
                <a:r>
                  <a:rPr lang="en-GB">
                    <a:noFill/>
                  </a:rPr>
                  <a:t> </a:t>
                </a:r>
              </a:p>
            </p:txBody>
          </p:sp>
        </mc:Fallback>
      </mc:AlternateContent>
      <p:pic>
        <p:nvPicPr>
          <p:cNvPr id="5" name="Picture 4">
            <a:extLst>
              <a:ext uri="{FF2B5EF4-FFF2-40B4-BE49-F238E27FC236}">
                <a16:creationId xmlns:a16="http://schemas.microsoft.com/office/drawing/2014/main" id="{A14AAF5D-FCCB-4580-8E49-D95BCEAED375}"/>
              </a:ext>
            </a:extLst>
          </p:cNvPr>
          <p:cNvPicPr>
            <a:picLocks noChangeAspect="1"/>
          </p:cNvPicPr>
          <p:nvPr/>
        </p:nvPicPr>
        <p:blipFill>
          <a:blip r:embed="rId4"/>
          <a:stretch>
            <a:fillRect/>
          </a:stretch>
        </p:blipFill>
        <p:spPr>
          <a:xfrm>
            <a:off x="7429905" y="1499672"/>
            <a:ext cx="3966072" cy="2247441"/>
          </a:xfrm>
          <a:prstGeom prst="rect">
            <a:avLst/>
          </a:prstGeom>
          <a:ln>
            <a:solidFill>
              <a:schemeClr val="tx1"/>
            </a:solidFill>
          </a:ln>
        </p:spPr>
      </p:pic>
      <p:pic>
        <p:nvPicPr>
          <p:cNvPr id="13" name="Picture 12">
            <a:extLst>
              <a:ext uri="{FF2B5EF4-FFF2-40B4-BE49-F238E27FC236}">
                <a16:creationId xmlns:a16="http://schemas.microsoft.com/office/drawing/2014/main" id="{94BBC8A3-644B-4FDE-AD0E-7C6E336E7A0C}"/>
              </a:ext>
            </a:extLst>
          </p:cNvPr>
          <p:cNvPicPr>
            <a:picLocks noChangeAspect="1"/>
          </p:cNvPicPr>
          <p:nvPr/>
        </p:nvPicPr>
        <p:blipFill>
          <a:blip r:embed="rId5"/>
          <a:stretch>
            <a:fillRect/>
          </a:stretch>
        </p:blipFill>
        <p:spPr>
          <a:xfrm>
            <a:off x="7451938" y="4102403"/>
            <a:ext cx="3944039" cy="2324559"/>
          </a:xfrm>
          <a:prstGeom prst="rect">
            <a:avLst/>
          </a:prstGeom>
          <a:ln>
            <a:solidFill>
              <a:schemeClr val="tx1"/>
            </a:solidFill>
          </a:ln>
        </p:spPr>
      </p:pic>
    </p:spTree>
    <p:extLst>
      <p:ext uri="{BB962C8B-B14F-4D97-AF65-F5344CB8AC3E}">
        <p14:creationId xmlns:p14="http://schemas.microsoft.com/office/powerpoint/2010/main" val="4023548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3693127" cy="523220"/>
          </a:xfrm>
          <a:prstGeom prst="rect">
            <a:avLst/>
          </a:prstGeom>
          <a:noFill/>
        </p:spPr>
        <p:txBody>
          <a:bodyPr wrap="none" rtlCol="0">
            <a:spAutoFit/>
          </a:bodyPr>
          <a:lstStyle/>
          <a:p>
            <a:r>
              <a:rPr lang="en-AU" sz="2800" b="1" cap="small" dirty="0">
                <a:solidFill>
                  <a:schemeClr val="bg1"/>
                </a:solidFill>
                <a:latin typeface="+mj-lt"/>
              </a:rPr>
              <a:t>1.5 Elementary Functions</a:t>
            </a:r>
            <a:endParaRPr lang="en-GB" sz="2800" b="1" cap="small" dirty="0">
              <a:solidFill>
                <a:schemeClr val="bg1"/>
              </a:solidFill>
              <a:latin typeface="+mj-lt"/>
            </a:endParaRPr>
          </a:p>
        </p:txBody>
      </p:sp>
      <p:sp>
        <p:nvSpPr>
          <p:cNvPr id="2" name="TextBox 1">
            <a:extLst>
              <a:ext uri="{FF2B5EF4-FFF2-40B4-BE49-F238E27FC236}">
                <a16:creationId xmlns:a16="http://schemas.microsoft.com/office/drawing/2014/main" id="{0C94F362-DFED-4C11-A1CD-925763418DC8}"/>
              </a:ext>
            </a:extLst>
          </p:cNvPr>
          <p:cNvSpPr txBox="1"/>
          <p:nvPr/>
        </p:nvSpPr>
        <p:spPr>
          <a:xfrm>
            <a:off x="220338" y="1057620"/>
            <a:ext cx="4189288" cy="461665"/>
          </a:xfrm>
          <a:prstGeom prst="rect">
            <a:avLst/>
          </a:prstGeom>
          <a:noFill/>
          <a:ln>
            <a:solidFill>
              <a:schemeClr val="accent2">
                <a:lumMod val="50000"/>
              </a:schemeClr>
            </a:solidFill>
          </a:ln>
        </p:spPr>
        <p:txBody>
          <a:bodyPr wrap="none" rtlCol="0">
            <a:spAutoFit/>
          </a:bodyPr>
          <a:lstStyle/>
          <a:p>
            <a:r>
              <a:rPr lang="en-AU" sz="2400" dirty="0">
                <a:latin typeface="+mj-lt"/>
              </a:rPr>
              <a:t>Integer part (or “floor”) function</a:t>
            </a:r>
            <a:endParaRPr lang="en-GB" sz="2400" dirty="0">
              <a:latin typeface="+mj-lt"/>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7C9818E6-5C7E-453D-9A85-59F4D902F0CB}"/>
                  </a:ext>
                </a:extLst>
              </p:cNvPr>
              <p:cNvSpPr txBox="1"/>
              <p:nvPr/>
            </p:nvSpPr>
            <p:spPr>
              <a:xfrm>
                <a:off x="220339" y="1643654"/>
                <a:ext cx="7050038" cy="1200329"/>
              </a:xfrm>
              <a:prstGeom prst="rect">
                <a:avLst/>
              </a:prstGeom>
              <a:noFill/>
            </p:spPr>
            <p:txBody>
              <a:bodyPr wrap="square" rtlCol="0">
                <a:spAutoFit/>
              </a:bodyPr>
              <a:lstStyle/>
              <a:p>
                <a:r>
                  <a:rPr lang="en-AU" sz="2400" dirty="0">
                    <a:latin typeface="+mj-lt"/>
                  </a:rPr>
                  <a:t>The integer part of a number </a:t>
                </a:r>
                <a14:m>
                  <m:oMath xmlns:m="http://schemas.openxmlformats.org/officeDocument/2006/math">
                    <m:r>
                      <a:rPr lang="en-AU" sz="2400" b="0" i="1" smtClean="0">
                        <a:latin typeface="Cambria Math" panose="02040503050406030204" pitchFamily="18" charset="0"/>
                      </a:rPr>
                      <m:t>𝑥</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ℝ</m:t>
                    </m:r>
                  </m:oMath>
                </a14:m>
                <a:r>
                  <a:rPr lang="en-GB" sz="2400" dirty="0">
                    <a:latin typeface="+mj-lt"/>
                  </a:rPr>
                  <a:t>, </a:t>
                </a:r>
                <a14:m>
                  <m:oMath xmlns:m="http://schemas.openxmlformats.org/officeDocument/2006/math">
                    <m:d>
                      <m:dPr>
                        <m:begChr m:val="⌊"/>
                        <m:endChr m:val="⌋"/>
                        <m:ctrlPr>
                          <a:rPr lang="en-GB" sz="2400" i="1" smtClean="0">
                            <a:latin typeface="Cambria Math" panose="02040503050406030204" pitchFamily="18" charset="0"/>
                          </a:rPr>
                        </m:ctrlPr>
                      </m:dPr>
                      <m:e>
                        <m:r>
                          <a:rPr lang="en-AU" sz="2400" b="0" i="1" smtClean="0">
                            <a:latin typeface="Cambria Math" panose="02040503050406030204" pitchFamily="18" charset="0"/>
                          </a:rPr>
                          <m:t>𝑥</m:t>
                        </m:r>
                      </m:e>
                    </m:d>
                  </m:oMath>
                </a14:m>
                <a:r>
                  <a:rPr lang="en-GB" sz="2400" dirty="0">
                    <a:latin typeface="+mj-lt"/>
                  </a:rPr>
                  <a:t>, is the largest integer </a:t>
                </a:r>
                <a14:m>
                  <m:oMath xmlns:m="http://schemas.openxmlformats.org/officeDocument/2006/math">
                    <m:r>
                      <a:rPr lang="en-AU" sz="2400" b="0" i="1" smtClean="0">
                        <a:latin typeface="Cambria Math" panose="02040503050406030204" pitchFamily="18" charset="0"/>
                      </a:rPr>
                      <m:t>𝑧</m:t>
                    </m:r>
                    <m:r>
                      <a:rPr lang="en-AU" sz="2400" b="0" i="1" smtClean="0">
                        <a:latin typeface="Cambria Math" panose="02040503050406030204" pitchFamily="18" charset="0"/>
                        <a:ea typeface="Cambria Math" panose="02040503050406030204" pitchFamily="18" charset="0"/>
                      </a:rPr>
                      <m:t>𝜖</m:t>
                    </m:r>
                    <m:r>
                      <a:rPr lang="en-AU" sz="2400" b="0" i="1" smtClean="0">
                        <a:latin typeface="Cambria Math" panose="02040503050406030204" pitchFamily="18" charset="0"/>
                        <a:ea typeface="Cambria Math" panose="02040503050406030204" pitchFamily="18" charset="0"/>
                      </a:rPr>
                      <m:t>ℤ</m:t>
                    </m:r>
                  </m:oMath>
                </a14:m>
                <a:r>
                  <a:rPr lang="en-GB" sz="2400" dirty="0">
                    <a:latin typeface="+mj-lt"/>
                  </a:rPr>
                  <a:t> such that </a:t>
                </a:r>
                <a14:m>
                  <m:oMath xmlns:m="http://schemas.openxmlformats.org/officeDocument/2006/math">
                    <m:r>
                      <a:rPr lang="en-AU" sz="2400" b="0" i="1" smtClean="0">
                        <a:latin typeface="Cambria Math" panose="02040503050406030204" pitchFamily="18" charset="0"/>
                      </a:rPr>
                      <m:t>𝑧</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𝑥</m:t>
                    </m:r>
                  </m:oMath>
                </a14:m>
                <a:r>
                  <a:rPr lang="en-GB" sz="2400" dirty="0">
                    <a:latin typeface="+mj-lt"/>
                  </a:rPr>
                  <a:t>. For example, </a:t>
                </a:r>
                <a14:m>
                  <m:oMath xmlns:m="http://schemas.openxmlformats.org/officeDocument/2006/math">
                    <m:d>
                      <m:dPr>
                        <m:begChr m:val="⌊"/>
                        <m:endChr m:val="⌋"/>
                        <m:ctrlPr>
                          <a:rPr lang="en-GB" sz="2400" i="1" smtClean="0">
                            <a:latin typeface="Cambria Math" panose="02040503050406030204" pitchFamily="18" charset="0"/>
                          </a:rPr>
                        </m:ctrlPr>
                      </m:dPr>
                      <m:e>
                        <m:r>
                          <a:rPr lang="en-AU" sz="2400" b="0" i="1" smtClean="0">
                            <a:latin typeface="Cambria Math" panose="02040503050406030204" pitchFamily="18" charset="0"/>
                          </a:rPr>
                          <m:t>2.5</m:t>
                        </m:r>
                      </m:e>
                    </m:d>
                    <m:r>
                      <a:rPr lang="en-AU" sz="2400" b="0" i="1" smtClean="0">
                        <a:latin typeface="Cambria Math" panose="02040503050406030204" pitchFamily="18" charset="0"/>
                      </a:rPr>
                      <m:t>=2</m:t>
                    </m:r>
                  </m:oMath>
                </a14:m>
                <a:r>
                  <a:rPr lang="en-GB" sz="2400" dirty="0">
                    <a:latin typeface="+mj-lt"/>
                  </a:rPr>
                  <a:t>, </a:t>
                </a:r>
                <a14:m>
                  <m:oMath xmlns:m="http://schemas.openxmlformats.org/officeDocument/2006/math">
                    <m:d>
                      <m:dPr>
                        <m:begChr m:val="⌊"/>
                        <m:endChr m:val="⌋"/>
                        <m:ctrlPr>
                          <a:rPr lang="en-GB" sz="2400" i="1" smtClean="0">
                            <a:latin typeface="Cambria Math" panose="02040503050406030204" pitchFamily="18" charset="0"/>
                          </a:rPr>
                        </m:ctrlPr>
                      </m:dPr>
                      <m:e>
                        <m:r>
                          <a:rPr lang="en-AU" sz="2400" b="0" i="1" smtClean="0">
                            <a:latin typeface="Cambria Math" panose="02040503050406030204" pitchFamily="18" charset="0"/>
                          </a:rPr>
                          <m:t>−2.5</m:t>
                        </m:r>
                      </m:e>
                    </m:d>
                    <m:r>
                      <a:rPr lang="en-AU" sz="2400" b="0" i="1" smtClean="0">
                        <a:latin typeface="Cambria Math" panose="02040503050406030204" pitchFamily="18" charset="0"/>
                      </a:rPr>
                      <m:t>=−3</m:t>
                    </m:r>
                  </m:oMath>
                </a14:m>
                <a:endParaRPr lang="en-GB" sz="2400" dirty="0">
                  <a:latin typeface="+mj-lt"/>
                </a:endParaRPr>
              </a:p>
            </p:txBody>
          </p:sp>
        </mc:Choice>
        <mc:Fallback xmlns="">
          <p:sp>
            <p:nvSpPr>
              <p:cNvPr id="4" name="TextBox 3">
                <a:extLst>
                  <a:ext uri="{FF2B5EF4-FFF2-40B4-BE49-F238E27FC236}">
                    <a16:creationId xmlns:a16="http://schemas.microsoft.com/office/drawing/2014/main" id="{7C9818E6-5C7E-453D-9A85-59F4D902F0CB}"/>
                  </a:ext>
                </a:extLst>
              </p:cNvPr>
              <p:cNvSpPr txBox="1">
                <a:spLocks noRot="1" noChangeAspect="1" noMove="1" noResize="1" noEditPoints="1" noAdjustHandles="1" noChangeArrowheads="1" noChangeShapeType="1" noTextEdit="1"/>
              </p:cNvSpPr>
              <p:nvPr/>
            </p:nvSpPr>
            <p:spPr>
              <a:xfrm>
                <a:off x="220339" y="1643654"/>
                <a:ext cx="7050038" cy="1200329"/>
              </a:xfrm>
              <a:prstGeom prst="rect">
                <a:avLst/>
              </a:prstGeom>
              <a:blipFill>
                <a:blip r:embed="rId2"/>
                <a:stretch>
                  <a:fillRect l="-1296" t="-4061"/>
                </a:stretch>
              </a:blipFill>
            </p:spPr>
            <p:txBody>
              <a:bodyPr/>
              <a:lstStyle/>
              <a:p>
                <a:r>
                  <a:rPr lang="en-GB">
                    <a:noFill/>
                  </a:rPr>
                  <a:t> </a:t>
                </a:r>
              </a:p>
            </p:txBody>
          </p:sp>
        </mc:Fallback>
      </mc:AlternateContent>
      <p:sp>
        <p:nvSpPr>
          <p:cNvPr id="10" name="TextBox 9">
            <a:extLst>
              <a:ext uri="{FF2B5EF4-FFF2-40B4-BE49-F238E27FC236}">
                <a16:creationId xmlns:a16="http://schemas.microsoft.com/office/drawing/2014/main" id="{1B8F46DA-7344-452A-9A96-BD963E264357}"/>
              </a:ext>
            </a:extLst>
          </p:cNvPr>
          <p:cNvSpPr txBox="1"/>
          <p:nvPr/>
        </p:nvSpPr>
        <p:spPr>
          <a:xfrm>
            <a:off x="220339" y="3743522"/>
            <a:ext cx="3083280" cy="461665"/>
          </a:xfrm>
          <a:prstGeom prst="rect">
            <a:avLst/>
          </a:prstGeom>
          <a:noFill/>
          <a:ln>
            <a:solidFill>
              <a:schemeClr val="accent2">
                <a:lumMod val="50000"/>
              </a:schemeClr>
            </a:solidFill>
          </a:ln>
        </p:spPr>
        <p:txBody>
          <a:bodyPr wrap="none" rtlCol="0">
            <a:spAutoFit/>
          </a:bodyPr>
          <a:lstStyle/>
          <a:p>
            <a:r>
              <a:rPr lang="en-AU" sz="2400" dirty="0">
                <a:latin typeface="+mj-lt"/>
              </a:rPr>
              <a:t>Fractional part function</a:t>
            </a:r>
            <a:endParaRPr lang="en-GB" sz="2400" dirty="0">
              <a:latin typeface="+mj-lt"/>
            </a:endParaRP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CE8FFA36-B51E-4B03-9BE4-C48655806B90}"/>
                  </a:ext>
                </a:extLst>
              </p:cNvPr>
              <p:cNvSpPr txBox="1"/>
              <p:nvPr/>
            </p:nvSpPr>
            <p:spPr>
              <a:xfrm>
                <a:off x="220338" y="4386940"/>
                <a:ext cx="6781097" cy="1200329"/>
              </a:xfrm>
              <a:prstGeom prst="rect">
                <a:avLst/>
              </a:prstGeom>
              <a:noFill/>
            </p:spPr>
            <p:txBody>
              <a:bodyPr wrap="square" rtlCol="0">
                <a:spAutoFit/>
              </a:bodyPr>
              <a:lstStyle/>
              <a:p>
                <a:r>
                  <a:rPr lang="en-AU" sz="2400" dirty="0">
                    <a:latin typeface="+mj-lt"/>
                  </a:rPr>
                  <a:t>The fractional or decimal part of a number </a:t>
                </a:r>
                <a14:m>
                  <m:oMath xmlns:m="http://schemas.openxmlformats.org/officeDocument/2006/math">
                    <m:r>
                      <a:rPr lang="en-AU" sz="2400" b="0" i="1" smtClean="0">
                        <a:latin typeface="Cambria Math" panose="02040503050406030204" pitchFamily="18" charset="0"/>
                      </a:rPr>
                      <m:t>𝑥</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ℝ</m:t>
                    </m:r>
                  </m:oMath>
                </a14:m>
                <a:r>
                  <a:rPr lang="en-AU" sz="2400" dirty="0">
                    <a:latin typeface="+mj-lt"/>
                  </a:rPr>
                  <a:t>, is defined as </a:t>
                </a:r>
                <a14:m>
                  <m:oMath xmlns:m="http://schemas.openxmlformats.org/officeDocument/2006/math">
                    <m:d>
                      <m:dPr>
                        <m:begChr m:val="{"/>
                        <m:endChr m:val="}"/>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r>
                      <a:rPr lang="en-AU" sz="2400" b="0" i="1" smtClean="0">
                        <a:latin typeface="Cambria Math" panose="02040503050406030204" pitchFamily="18" charset="0"/>
                      </a:rPr>
                      <m:t>=</m:t>
                    </m:r>
                    <m:r>
                      <a:rPr lang="en-AU" sz="2400" b="0" i="1" smtClean="0">
                        <a:latin typeface="Cambria Math" panose="02040503050406030204" pitchFamily="18" charset="0"/>
                      </a:rPr>
                      <m:t>𝑥</m:t>
                    </m:r>
                    <m:r>
                      <a:rPr lang="en-AU" sz="2400" b="0" i="1" smtClean="0">
                        <a:latin typeface="Cambria Math" panose="02040503050406030204" pitchFamily="18" charset="0"/>
                      </a:rPr>
                      <m:t>−</m:t>
                    </m:r>
                    <m:d>
                      <m:dPr>
                        <m:begChr m:val="⌊"/>
                        <m:endChr m:val="⌋"/>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oMath>
                </a14:m>
                <a:r>
                  <a:rPr lang="en-AU" sz="2400" dirty="0">
                    <a:latin typeface="+mj-lt"/>
                  </a:rPr>
                  <a:t>. For example, </a:t>
                </a:r>
                <a14:m>
                  <m:oMath xmlns:m="http://schemas.openxmlformats.org/officeDocument/2006/math">
                    <m:d>
                      <m:dPr>
                        <m:begChr m:val="{"/>
                        <m:endChr m:val="}"/>
                        <m:ctrlPr>
                          <a:rPr lang="en-AU" sz="2400" b="0" i="1" smtClean="0">
                            <a:latin typeface="Cambria Math" panose="02040503050406030204" pitchFamily="18" charset="0"/>
                          </a:rPr>
                        </m:ctrlPr>
                      </m:dPr>
                      <m:e>
                        <m:r>
                          <a:rPr lang="en-AU" sz="2400" b="0" i="1" smtClean="0">
                            <a:latin typeface="Cambria Math" panose="02040503050406030204" pitchFamily="18" charset="0"/>
                          </a:rPr>
                          <m:t>2.5</m:t>
                        </m:r>
                      </m:e>
                    </m:d>
                    <m:r>
                      <a:rPr lang="en-AU" sz="2400" b="0" i="1" smtClean="0">
                        <a:latin typeface="Cambria Math" panose="02040503050406030204" pitchFamily="18" charset="0"/>
                      </a:rPr>
                      <m:t>=0.5</m:t>
                    </m:r>
                  </m:oMath>
                </a14:m>
                <a:r>
                  <a:rPr lang="en-GB" sz="2400" dirty="0">
                    <a:latin typeface="+mj-lt"/>
                  </a:rPr>
                  <a:t>, </a:t>
                </a:r>
                <a14:m>
                  <m:oMath xmlns:m="http://schemas.openxmlformats.org/officeDocument/2006/math">
                    <m:d>
                      <m:dPr>
                        <m:begChr m:val="{"/>
                        <m:endChr m:val="}"/>
                        <m:ctrlPr>
                          <a:rPr lang="en-AU" sz="2400" b="0" i="1" smtClean="0">
                            <a:latin typeface="Cambria Math" panose="02040503050406030204" pitchFamily="18" charset="0"/>
                          </a:rPr>
                        </m:ctrlPr>
                      </m:dPr>
                      <m:e>
                        <m:r>
                          <a:rPr lang="en-AU" sz="2400" b="0" i="1" smtClean="0">
                            <a:latin typeface="Cambria Math" panose="02040503050406030204" pitchFamily="18" charset="0"/>
                          </a:rPr>
                          <m:t>−2.3</m:t>
                        </m:r>
                      </m:e>
                    </m:d>
                    <m:r>
                      <a:rPr lang="en-AU" sz="2400" b="0" i="1" smtClean="0">
                        <a:latin typeface="Cambria Math" panose="02040503050406030204" pitchFamily="18" charset="0"/>
                      </a:rPr>
                      <m:t>=−2.3−</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−3</m:t>
                        </m:r>
                      </m:e>
                    </m:d>
                    <m:r>
                      <a:rPr lang="en-AU" sz="2400" b="0" i="1" smtClean="0">
                        <a:latin typeface="Cambria Math" panose="02040503050406030204" pitchFamily="18" charset="0"/>
                      </a:rPr>
                      <m:t>=0.7</m:t>
                    </m:r>
                  </m:oMath>
                </a14:m>
                <a:endParaRPr lang="en-GB" sz="2400" dirty="0">
                  <a:latin typeface="+mj-lt"/>
                </a:endParaRPr>
              </a:p>
            </p:txBody>
          </p:sp>
        </mc:Choice>
        <mc:Fallback xmlns="">
          <p:sp>
            <p:nvSpPr>
              <p:cNvPr id="11" name="TextBox 10">
                <a:extLst>
                  <a:ext uri="{FF2B5EF4-FFF2-40B4-BE49-F238E27FC236}">
                    <a16:creationId xmlns:a16="http://schemas.microsoft.com/office/drawing/2014/main" id="{CE8FFA36-B51E-4B03-9BE4-C48655806B90}"/>
                  </a:ext>
                </a:extLst>
              </p:cNvPr>
              <p:cNvSpPr txBox="1">
                <a:spLocks noRot="1" noChangeAspect="1" noMove="1" noResize="1" noEditPoints="1" noAdjustHandles="1" noChangeArrowheads="1" noChangeShapeType="1" noTextEdit="1"/>
              </p:cNvSpPr>
              <p:nvPr/>
            </p:nvSpPr>
            <p:spPr>
              <a:xfrm>
                <a:off x="220338" y="4386940"/>
                <a:ext cx="6781097" cy="1200329"/>
              </a:xfrm>
              <a:prstGeom prst="rect">
                <a:avLst/>
              </a:prstGeom>
              <a:blipFill>
                <a:blip r:embed="rId3"/>
                <a:stretch>
                  <a:fillRect l="-1348" t="-4061"/>
                </a:stretch>
              </a:blipFill>
            </p:spPr>
            <p:txBody>
              <a:bodyPr/>
              <a:lstStyle/>
              <a:p>
                <a:r>
                  <a:rPr lang="en-GB">
                    <a:noFill/>
                  </a:rPr>
                  <a:t> </a:t>
                </a:r>
              </a:p>
            </p:txBody>
          </p:sp>
        </mc:Fallback>
      </mc:AlternateContent>
      <p:pic>
        <p:nvPicPr>
          <p:cNvPr id="12" name="Picture 11">
            <a:extLst>
              <a:ext uri="{FF2B5EF4-FFF2-40B4-BE49-F238E27FC236}">
                <a16:creationId xmlns:a16="http://schemas.microsoft.com/office/drawing/2014/main" id="{5E17A122-0ADB-410B-B0AA-22DA07D40477}"/>
              </a:ext>
            </a:extLst>
          </p:cNvPr>
          <p:cNvPicPr>
            <a:picLocks noChangeAspect="1"/>
          </p:cNvPicPr>
          <p:nvPr/>
        </p:nvPicPr>
        <p:blipFill>
          <a:blip r:embed="rId4"/>
          <a:stretch>
            <a:fillRect/>
          </a:stretch>
        </p:blipFill>
        <p:spPr>
          <a:xfrm>
            <a:off x="7001435" y="1063106"/>
            <a:ext cx="4274545" cy="2693624"/>
          </a:xfrm>
          <a:prstGeom prst="rect">
            <a:avLst/>
          </a:prstGeom>
          <a:ln>
            <a:solidFill>
              <a:schemeClr val="tx1"/>
            </a:solidFill>
          </a:ln>
        </p:spPr>
      </p:pic>
      <p:pic>
        <p:nvPicPr>
          <p:cNvPr id="16" name="Picture 15">
            <a:extLst>
              <a:ext uri="{FF2B5EF4-FFF2-40B4-BE49-F238E27FC236}">
                <a16:creationId xmlns:a16="http://schemas.microsoft.com/office/drawing/2014/main" id="{E282BC31-D130-4D88-8B2E-6A08FE172368}"/>
              </a:ext>
            </a:extLst>
          </p:cNvPr>
          <p:cNvPicPr>
            <a:picLocks noChangeAspect="1"/>
          </p:cNvPicPr>
          <p:nvPr/>
        </p:nvPicPr>
        <p:blipFill>
          <a:blip r:embed="rId5"/>
          <a:stretch>
            <a:fillRect/>
          </a:stretch>
        </p:blipFill>
        <p:spPr>
          <a:xfrm>
            <a:off x="7001435" y="3942241"/>
            <a:ext cx="4296578" cy="2715658"/>
          </a:xfrm>
          <a:prstGeom prst="rect">
            <a:avLst/>
          </a:prstGeom>
          <a:ln>
            <a:solidFill>
              <a:schemeClr val="tx1"/>
            </a:solidFill>
          </a:ln>
        </p:spPr>
      </p:pic>
    </p:spTree>
    <p:extLst>
      <p:ext uri="{BB962C8B-B14F-4D97-AF65-F5344CB8AC3E}">
        <p14:creationId xmlns:p14="http://schemas.microsoft.com/office/powerpoint/2010/main" val="39998872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3693127" cy="523220"/>
          </a:xfrm>
          <a:prstGeom prst="rect">
            <a:avLst/>
          </a:prstGeom>
          <a:noFill/>
        </p:spPr>
        <p:txBody>
          <a:bodyPr wrap="none" rtlCol="0">
            <a:spAutoFit/>
          </a:bodyPr>
          <a:lstStyle/>
          <a:p>
            <a:r>
              <a:rPr lang="en-AU" sz="2800" b="1" cap="small" dirty="0">
                <a:solidFill>
                  <a:schemeClr val="bg1"/>
                </a:solidFill>
                <a:latin typeface="+mj-lt"/>
              </a:rPr>
              <a:t>1.5 Elementary Functions</a:t>
            </a:r>
            <a:endParaRPr lang="en-GB" sz="2800" b="1" cap="small" dirty="0">
              <a:solidFill>
                <a:schemeClr val="bg1"/>
              </a:solidFill>
              <a:latin typeface="+mj-lt"/>
            </a:endParaRPr>
          </a:p>
        </p:txBody>
      </p:sp>
      <p:sp>
        <p:nvSpPr>
          <p:cNvPr id="2" name="TextBox 1">
            <a:extLst>
              <a:ext uri="{FF2B5EF4-FFF2-40B4-BE49-F238E27FC236}">
                <a16:creationId xmlns:a16="http://schemas.microsoft.com/office/drawing/2014/main" id="{0C94F362-DFED-4C11-A1CD-925763418DC8}"/>
              </a:ext>
            </a:extLst>
          </p:cNvPr>
          <p:cNvSpPr txBox="1"/>
          <p:nvPr/>
        </p:nvSpPr>
        <p:spPr>
          <a:xfrm>
            <a:off x="220338" y="1057620"/>
            <a:ext cx="2162772" cy="461665"/>
          </a:xfrm>
          <a:prstGeom prst="rect">
            <a:avLst/>
          </a:prstGeom>
          <a:noFill/>
          <a:ln>
            <a:solidFill>
              <a:schemeClr val="accent2">
                <a:lumMod val="50000"/>
              </a:schemeClr>
            </a:solidFill>
          </a:ln>
        </p:spPr>
        <p:txBody>
          <a:bodyPr wrap="none" rtlCol="0">
            <a:spAutoFit/>
          </a:bodyPr>
          <a:lstStyle/>
          <a:p>
            <a:r>
              <a:rPr lang="en-AU" sz="2400" dirty="0">
                <a:latin typeface="+mj-lt"/>
              </a:rPr>
              <a:t>Linear functions</a:t>
            </a:r>
            <a:endParaRPr lang="en-GB" sz="2400" dirty="0">
              <a:latin typeface="+mj-lt"/>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7C9818E6-5C7E-453D-9A85-59F4D902F0CB}"/>
                  </a:ext>
                </a:extLst>
              </p:cNvPr>
              <p:cNvSpPr txBox="1"/>
              <p:nvPr/>
            </p:nvSpPr>
            <p:spPr>
              <a:xfrm>
                <a:off x="220338" y="1643654"/>
                <a:ext cx="11710929" cy="1047210"/>
              </a:xfrm>
              <a:prstGeom prst="rect">
                <a:avLst/>
              </a:prstGeom>
              <a:noFill/>
            </p:spPr>
            <p:txBody>
              <a:bodyPr wrap="square" rtlCol="0">
                <a:spAutoFit/>
              </a:bodyPr>
              <a:lstStyle/>
              <a:p>
                <a:r>
                  <a:rPr lang="en-AU" sz="2400" dirty="0">
                    <a:latin typeface="+mj-lt"/>
                  </a:rPr>
                  <a:t>Linear functions have the form </a:t>
                </a:r>
                <a14:m>
                  <m:oMath xmlns:m="http://schemas.openxmlformats.org/officeDocument/2006/math">
                    <m:r>
                      <a:rPr lang="en-AU" sz="2400" b="0" i="1" smtClean="0">
                        <a:latin typeface="Cambria Math" panose="02040503050406030204" pitchFamily="18" charset="0"/>
                      </a:rPr>
                      <m:t>𝑦</m:t>
                    </m:r>
                    <m:r>
                      <a:rPr lang="en-AU" sz="2400" b="0" i="1" smtClean="0">
                        <a:latin typeface="Cambria Math" panose="02040503050406030204" pitchFamily="18" charset="0"/>
                      </a:rPr>
                      <m:t>=</m:t>
                    </m:r>
                    <m:r>
                      <a:rPr lang="en-AU" sz="2400" b="0" i="1" smtClean="0">
                        <a:latin typeface="Cambria Math" panose="02040503050406030204" pitchFamily="18" charset="0"/>
                      </a:rPr>
                      <m:t>𝑓</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r>
                      <a:rPr lang="en-AU" sz="2400" b="0" i="1" smtClean="0">
                        <a:latin typeface="Cambria Math" panose="02040503050406030204" pitchFamily="18" charset="0"/>
                      </a:rPr>
                      <m:t>=</m:t>
                    </m:r>
                    <m:r>
                      <a:rPr lang="en-AU" sz="2400" b="0" i="1" smtClean="0">
                        <a:latin typeface="Cambria Math" panose="02040503050406030204" pitchFamily="18" charset="0"/>
                      </a:rPr>
                      <m:t>𝑚𝑥</m:t>
                    </m:r>
                    <m:r>
                      <a:rPr lang="en-AU" sz="2400" b="0" i="1" smtClean="0">
                        <a:latin typeface="Cambria Math" panose="02040503050406030204" pitchFamily="18" charset="0"/>
                      </a:rPr>
                      <m:t>+</m:t>
                    </m:r>
                    <m:r>
                      <a:rPr lang="en-AU" sz="2400" b="0" i="1" smtClean="0">
                        <a:latin typeface="Cambria Math" panose="02040503050406030204" pitchFamily="18" charset="0"/>
                      </a:rPr>
                      <m:t>𝑏</m:t>
                    </m:r>
                  </m:oMath>
                </a14:m>
                <a:r>
                  <a:rPr lang="en-GB" sz="2400" dirty="0">
                    <a:latin typeface="+mj-lt"/>
                  </a:rPr>
                  <a:t>, where </a:t>
                </a:r>
                <a14:m>
                  <m:oMath xmlns:m="http://schemas.openxmlformats.org/officeDocument/2006/math">
                    <m:r>
                      <a:rPr lang="en-AU" sz="2400" b="0" i="1" smtClean="0">
                        <a:latin typeface="Cambria Math" panose="02040503050406030204" pitchFamily="18" charset="0"/>
                      </a:rPr>
                      <m:t>𝑚</m:t>
                    </m:r>
                    <m:r>
                      <a:rPr lang="en-AU" sz="2400" b="0" i="1" smtClean="0">
                        <a:latin typeface="Cambria Math" panose="02040503050406030204" pitchFamily="18" charset="0"/>
                      </a:rPr>
                      <m:t>=</m:t>
                    </m:r>
                    <m:f>
                      <m:fPr>
                        <m:ctrlPr>
                          <a:rPr lang="en-AU" sz="2400" b="0" i="1" smtClean="0">
                            <a:latin typeface="Cambria Math" panose="02040503050406030204" pitchFamily="18" charset="0"/>
                          </a:rPr>
                        </m:ctrlPr>
                      </m:fPr>
                      <m:num>
                        <m:sSub>
                          <m:sSubPr>
                            <m:ctrlPr>
                              <a:rPr lang="en-AU" sz="2400" b="0" i="1" smtClean="0">
                                <a:latin typeface="Cambria Math" panose="02040503050406030204" pitchFamily="18" charset="0"/>
                              </a:rPr>
                            </m:ctrlPr>
                          </m:sSubPr>
                          <m:e>
                            <m:r>
                              <a:rPr lang="en-AU" sz="2400" b="0" i="1" smtClean="0">
                                <a:latin typeface="Cambria Math" panose="02040503050406030204" pitchFamily="18" charset="0"/>
                              </a:rPr>
                              <m:t>𝑦</m:t>
                            </m:r>
                          </m:e>
                          <m:sub>
                            <m:r>
                              <a:rPr lang="en-AU" sz="2400" b="0" i="1" smtClean="0">
                                <a:latin typeface="Cambria Math" panose="02040503050406030204" pitchFamily="18" charset="0"/>
                              </a:rPr>
                              <m:t>2</m:t>
                            </m:r>
                          </m:sub>
                        </m:sSub>
                        <m:r>
                          <a:rPr lang="en-AU" sz="2400" b="0" i="1" smtClean="0">
                            <a:latin typeface="Cambria Math" panose="02040503050406030204" pitchFamily="18" charset="0"/>
                          </a:rPr>
                          <m:t>−</m:t>
                        </m:r>
                        <m:sSub>
                          <m:sSubPr>
                            <m:ctrlPr>
                              <a:rPr lang="en-AU" sz="2400" b="0" i="1" smtClean="0">
                                <a:latin typeface="Cambria Math" panose="02040503050406030204" pitchFamily="18" charset="0"/>
                              </a:rPr>
                            </m:ctrlPr>
                          </m:sSubPr>
                          <m:e>
                            <m:r>
                              <a:rPr lang="en-AU" sz="2400" b="0" i="1" smtClean="0">
                                <a:latin typeface="Cambria Math" panose="02040503050406030204" pitchFamily="18" charset="0"/>
                              </a:rPr>
                              <m:t>𝑦</m:t>
                            </m:r>
                          </m:e>
                          <m:sub>
                            <m:r>
                              <a:rPr lang="en-AU" sz="2400" b="0" i="1" smtClean="0">
                                <a:latin typeface="Cambria Math" panose="02040503050406030204" pitchFamily="18" charset="0"/>
                              </a:rPr>
                              <m:t>1</m:t>
                            </m:r>
                          </m:sub>
                        </m:sSub>
                      </m:num>
                      <m:den>
                        <m:sSub>
                          <m:sSubPr>
                            <m:ctrlPr>
                              <a:rPr lang="en-AU" sz="2400" b="0" i="1" smtClean="0">
                                <a:latin typeface="Cambria Math" panose="02040503050406030204" pitchFamily="18" charset="0"/>
                              </a:rPr>
                            </m:ctrlPr>
                          </m:sSubPr>
                          <m:e>
                            <m:r>
                              <a:rPr lang="en-AU" sz="2400" b="0" i="1" smtClean="0">
                                <a:latin typeface="Cambria Math" panose="02040503050406030204" pitchFamily="18" charset="0"/>
                              </a:rPr>
                              <m:t>𝑥</m:t>
                            </m:r>
                          </m:e>
                          <m:sub>
                            <m:r>
                              <a:rPr lang="en-AU" sz="2400" b="0" i="1" smtClean="0">
                                <a:latin typeface="Cambria Math" panose="02040503050406030204" pitchFamily="18" charset="0"/>
                              </a:rPr>
                              <m:t>2</m:t>
                            </m:r>
                          </m:sub>
                        </m:sSub>
                        <m:r>
                          <a:rPr lang="en-AU" sz="2400" b="0" i="1" smtClean="0">
                            <a:latin typeface="Cambria Math" panose="02040503050406030204" pitchFamily="18" charset="0"/>
                          </a:rPr>
                          <m:t>−</m:t>
                        </m:r>
                        <m:sSub>
                          <m:sSubPr>
                            <m:ctrlPr>
                              <a:rPr lang="en-AU" sz="2400" b="0" i="1" smtClean="0">
                                <a:latin typeface="Cambria Math" panose="02040503050406030204" pitchFamily="18" charset="0"/>
                              </a:rPr>
                            </m:ctrlPr>
                          </m:sSubPr>
                          <m:e>
                            <m:r>
                              <a:rPr lang="en-AU" sz="2400" b="0" i="1" smtClean="0">
                                <a:latin typeface="Cambria Math" panose="02040503050406030204" pitchFamily="18" charset="0"/>
                              </a:rPr>
                              <m:t>𝑥</m:t>
                            </m:r>
                          </m:e>
                          <m:sub>
                            <m:r>
                              <a:rPr lang="en-AU" sz="2400" b="0" i="1" smtClean="0">
                                <a:latin typeface="Cambria Math" panose="02040503050406030204" pitchFamily="18" charset="0"/>
                              </a:rPr>
                              <m:t>1</m:t>
                            </m:r>
                          </m:sub>
                        </m:sSub>
                      </m:den>
                    </m:f>
                  </m:oMath>
                </a14:m>
                <a:r>
                  <a:rPr lang="en-GB" sz="2400" dirty="0">
                    <a:latin typeface="+mj-lt"/>
                  </a:rPr>
                  <a:t> is the gradient (or slope), </a:t>
                </a:r>
                <a14:m>
                  <m:oMath xmlns:m="http://schemas.openxmlformats.org/officeDocument/2006/math">
                    <m:r>
                      <a:rPr lang="en-AU" sz="2400" b="0" i="1" smtClean="0">
                        <a:latin typeface="Cambria Math" panose="02040503050406030204" pitchFamily="18" charset="0"/>
                      </a:rPr>
                      <m:t>𝑏</m:t>
                    </m:r>
                  </m:oMath>
                </a14:m>
                <a:r>
                  <a:rPr lang="en-GB" sz="2400" dirty="0">
                    <a:latin typeface="+mj-lt"/>
                  </a:rPr>
                  <a:t> is the </a:t>
                </a:r>
                <a:r>
                  <a:rPr lang="en-GB" sz="2400" i="1" dirty="0">
                    <a:latin typeface="+mj-lt"/>
                  </a:rPr>
                  <a:t>y</a:t>
                </a:r>
                <a:r>
                  <a:rPr lang="en-GB" sz="2400" dirty="0">
                    <a:latin typeface="+mj-lt"/>
                  </a:rPr>
                  <a:t>-intercept, and </a:t>
                </a:r>
                <a14:m>
                  <m:oMath xmlns:m="http://schemas.openxmlformats.org/officeDocument/2006/math">
                    <m:sSub>
                      <m:sSubPr>
                        <m:ctrlPr>
                          <a:rPr lang="en-GB" sz="2400" i="1" smtClean="0">
                            <a:latin typeface="Cambria Math" panose="02040503050406030204" pitchFamily="18" charset="0"/>
                          </a:rPr>
                        </m:ctrlPr>
                      </m:sSubPr>
                      <m:e>
                        <m:r>
                          <a:rPr lang="en-AU" sz="2400" b="0" i="1" smtClean="0">
                            <a:latin typeface="Cambria Math" panose="02040503050406030204" pitchFamily="18" charset="0"/>
                          </a:rPr>
                          <m:t>𝑃</m:t>
                        </m:r>
                      </m:e>
                      <m:sub>
                        <m:r>
                          <a:rPr lang="en-AU" sz="2400" b="0" i="1" smtClean="0">
                            <a:latin typeface="Cambria Math" panose="02040503050406030204" pitchFamily="18" charset="0"/>
                          </a:rPr>
                          <m:t>1</m:t>
                        </m:r>
                      </m:sub>
                    </m:sSub>
                    <m:d>
                      <m:dPr>
                        <m:ctrlPr>
                          <a:rPr lang="en-AU" sz="2400" b="0" i="1" smtClean="0">
                            <a:latin typeface="Cambria Math" panose="02040503050406030204" pitchFamily="18" charset="0"/>
                          </a:rPr>
                        </m:ctrlPr>
                      </m:dPr>
                      <m:e>
                        <m:sSub>
                          <m:sSubPr>
                            <m:ctrlPr>
                              <a:rPr lang="en-AU" sz="2400" b="0" i="1" smtClean="0">
                                <a:latin typeface="Cambria Math" panose="02040503050406030204" pitchFamily="18" charset="0"/>
                              </a:rPr>
                            </m:ctrlPr>
                          </m:sSubPr>
                          <m:e>
                            <m:r>
                              <a:rPr lang="en-AU" sz="2400" b="0" i="1" smtClean="0">
                                <a:latin typeface="Cambria Math" panose="02040503050406030204" pitchFamily="18" charset="0"/>
                              </a:rPr>
                              <m:t>𝑥</m:t>
                            </m:r>
                          </m:e>
                          <m:sub>
                            <m:r>
                              <a:rPr lang="en-AU" sz="2400" b="0" i="1" smtClean="0">
                                <a:latin typeface="Cambria Math" panose="02040503050406030204" pitchFamily="18" charset="0"/>
                              </a:rPr>
                              <m:t>1,</m:t>
                            </m:r>
                          </m:sub>
                        </m:sSub>
                        <m:sSub>
                          <m:sSubPr>
                            <m:ctrlPr>
                              <a:rPr lang="en-AU" sz="2400" b="0" i="1" smtClean="0">
                                <a:latin typeface="Cambria Math" panose="02040503050406030204" pitchFamily="18" charset="0"/>
                              </a:rPr>
                            </m:ctrlPr>
                          </m:sSubPr>
                          <m:e>
                            <m:r>
                              <a:rPr lang="en-AU" sz="2400" b="0" i="1" smtClean="0">
                                <a:latin typeface="Cambria Math" panose="02040503050406030204" pitchFamily="18" charset="0"/>
                              </a:rPr>
                              <m:t>𝑦</m:t>
                            </m:r>
                          </m:e>
                          <m:sub>
                            <m:r>
                              <a:rPr lang="en-AU" sz="2400" b="0" i="1" smtClean="0">
                                <a:latin typeface="Cambria Math" panose="02040503050406030204" pitchFamily="18" charset="0"/>
                              </a:rPr>
                              <m:t>1</m:t>
                            </m:r>
                          </m:sub>
                        </m:sSub>
                      </m:e>
                    </m:d>
                    <m:r>
                      <a:rPr lang="en-AU" sz="2400" b="0" i="1" smtClean="0">
                        <a:latin typeface="Cambria Math" panose="02040503050406030204" pitchFamily="18" charset="0"/>
                      </a:rPr>
                      <m:t>, </m:t>
                    </m:r>
                    <m:sSub>
                      <m:sSubPr>
                        <m:ctrlPr>
                          <a:rPr lang="en-AU" sz="2400" b="0" i="1" smtClean="0">
                            <a:latin typeface="Cambria Math" panose="02040503050406030204" pitchFamily="18" charset="0"/>
                          </a:rPr>
                        </m:ctrlPr>
                      </m:sSubPr>
                      <m:e>
                        <m:r>
                          <a:rPr lang="en-AU" sz="2400" b="0" i="1" smtClean="0">
                            <a:latin typeface="Cambria Math" panose="02040503050406030204" pitchFamily="18" charset="0"/>
                          </a:rPr>
                          <m:t>𝑃</m:t>
                        </m:r>
                      </m:e>
                      <m:sub>
                        <m:r>
                          <a:rPr lang="en-AU" sz="2400" b="0" i="1" smtClean="0">
                            <a:latin typeface="Cambria Math" panose="02040503050406030204" pitchFamily="18" charset="0"/>
                          </a:rPr>
                          <m:t>2</m:t>
                        </m:r>
                      </m:sub>
                    </m:sSub>
                    <m:d>
                      <m:dPr>
                        <m:ctrlPr>
                          <a:rPr lang="en-AU" sz="2400" b="0" i="1" smtClean="0">
                            <a:latin typeface="Cambria Math" panose="02040503050406030204" pitchFamily="18" charset="0"/>
                          </a:rPr>
                        </m:ctrlPr>
                      </m:dPr>
                      <m:e>
                        <m:sSub>
                          <m:sSubPr>
                            <m:ctrlPr>
                              <a:rPr lang="en-AU" sz="2400" b="0" i="1" smtClean="0">
                                <a:latin typeface="Cambria Math" panose="02040503050406030204" pitchFamily="18" charset="0"/>
                              </a:rPr>
                            </m:ctrlPr>
                          </m:sSubPr>
                          <m:e>
                            <m:r>
                              <a:rPr lang="en-AU" sz="2400" b="0" i="1" smtClean="0">
                                <a:latin typeface="Cambria Math" panose="02040503050406030204" pitchFamily="18" charset="0"/>
                              </a:rPr>
                              <m:t>𝑥</m:t>
                            </m:r>
                          </m:e>
                          <m:sub>
                            <m:r>
                              <a:rPr lang="en-AU" sz="2400" b="0" i="1" smtClean="0">
                                <a:latin typeface="Cambria Math" panose="02040503050406030204" pitchFamily="18" charset="0"/>
                              </a:rPr>
                              <m:t>2</m:t>
                            </m:r>
                          </m:sub>
                        </m:sSub>
                        <m:r>
                          <a:rPr lang="en-AU" sz="2400" b="0" i="1" smtClean="0">
                            <a:latin typeface="Cambria Math" panose="02040503050406030204" pitchFamily="18" charset="0"/>
                          </a:rPr>
                          <m:t>,</m:t>
                        </m:r>
                        <m:sSub>
                          <m:sSubPr>
                            <m:ctrlPr>
                              <a:rPr lang="en-AU" sz="2400" b="0" i="1" smtClean="0">
                                <a:latin typeface="Cambria Math" panose="02040503050406030204" pitchFamily="18" charset="0"/>
                              </a:rPr>
                            </m:ctrlPr>
                          </m:sSubPr>
                          <m:e>
                            <m:r>
                              <a:rPr lang="en-AU" sz="2400" b="0" i="1" smtClean="0">
                                <a:latin typeface="Cambria Math" panose="02040503050406030204" pitchFamily="18" charset="0"/>
                              </a:rPr>
                              <m:t>𝑦</m:t>
                            </m:r>
                          </m:e>
                          <m:sub>
                            <m:r>
                              <a:rPr lang="en-AU" sz="2400" b="0" i="1" smtClean="0">
                                <a:latin typeface="Cambria Math" panose="02040503050406030204" pitchFamily="18" charset="0"/>
                              </a:rPr>
                              <m:t>2</m:t>
                            </m:r>
                          </m:sub>
                        </m:sSub>
                      </m:e>
                    </m:d>
                  </m:oMath>
                </a14:m>
                <a:r>
                  <a:rPr lang="en-GB" sz="2400" dirty="0">
                    <a:latin typeface="+mj-lt"/>
                  </a:rPr>
                  <a:t> are any two points on the graph of </a:t>
                </a:r>
                <a14:m>
                  <m:oMath xmlns:m="http://schemas.openxmlformats.org/officeDocument/2006/math">
                    <m:r>
                      <a:rPr lang="en-AU" sz="2400" i="1">
                        <a:latin typeface="Cambria Math" panose="02040503050406030204" pitchFamily="18" charset="0"/>
                      </a:rPr>
                      <m:t>𝑓</m:t>
                    </m:r>
                  </m:oMath>
                </a14:m>
                <a:r>
                  <a:rPr lang="en-GB" sz="2400" dirty="0">
                    <a:latin typeface="+mj-lt"/>
                  </a:rPr>
                  <a:t>.</a:t>
                </a:r>
              </a:p>
            </p:txBody>
          </p:sp>
        </mc:Choice>
        <mc:Fallback xmlns="">
          <p:sp>
            <p:nvSpPr>
              <p:cNvPr id="4" name="TextBox 3">
                <a:extLst>
                  <a:ext uri="{FF2B5EF4-FFF2-40B4-BE49-F238E27FC236}">
                    <a16:creationId xmlns:a16="http://schemas.microsoft.com/office/drawing/2014/main" id="{7C9818E6-5C7E-453D-9A85-59F4D902F0CB}"/>
                  </a:ext>
                </a:extLst>
              </p:cNvPr>
              <p:cNvSpPr txBox="1">
                <a:spLocks noRot="1" noChangeAspect="1" noMove="1" noResize="1" noEditPoints="1" noAdjustHandles="1" noChangeArrowheads="1" noChangeShapeType="1" noTextEdit="1"/>
              </p:cNvSpPr>
              <p:nvPr/>
            </p:nvSpPr>
            <p:spPr>
              <a:xfrm>
                <a:off x="220338" y="1643654"/>
                <a:ext cx="11710929" cy="1047210"/>
              </a:xfrm>
              <a:prstGeom prst="rect">
                <a:avLst/>
              </a:prstGeom>
              <a:blipFill>
                <a:blip r:embed="rId2"/>
                <a:stretch>
                  <a:fillRect l="-781" b="-11111"/>
                </a:stretch>
              </a:blipFill>
            </p:spPr>
            <p:txBody>
              <a:bodyPr/>
              <a:lstStyle/>
              <a:p>
                <a:r>
                  <a:rPr lang="en-GB">
                    <a:noFill/>
                  </a:rPr>
                  <a:t> </a:t>
                </a:r>
              </a:p>
            </p:txBody>
          </p:sp>
        </mc:Fallback>
      </mc:AlternateContent>
      <p:sp>
        <p:nvSpPr>
          <p:cNvPr id="10" name="TextBox 9">
            <a:extLst>
              <a:ext uri="{FF2B5EF4-FFF2-40B4-BE49-F238E27FC236}">
                <a16:creationId xmlns:a16="http://schemas.microsoft.com/office/drawing/2014/main" id="{1B8F46DA-7344-452A-9A96-BD963E264357}"/>
              </a:ext>
            </a:extLst>
          </p:cNvPr>
          <p:cNvSpPr txBox="1"/>
          <p:nvPr/>
        </p:nvSpPr>
        <p:spPr>
          <a:xfrm>
            <a:off x="220338" y="2967335"/>
            <a:ext cx="2183611" cy="461665"/>
          </a:xfrm>
          <a:prstGeom prst="rect">
            <a:avLst/>
          </a:prstGeom>
          <a:noFill/>
          <a:ln>
            <a:solidFill>
              <a:schemeClr val="accent2">
                <a:lumMod val="50000"/>
              </a:schemeClr>
            </a:solidFill>
          </a:ln>
        </p:spPr>
        <p:txBody>
          <a:bodyPr wrap="none" rtlCol="0">
            <a:spAutoFit/>
          </a:bodyPr>
          <a:lstStyle/>
          <a:p>
            <a:r>
              <a:rPr lang="en-AU" sz="2400" dirty="0">
                <a:latin typeface="+mj-lt"/>
              </a:rPr>
              <a:t>Power functions</a:t>
            </a:r>
            <a:endParaRPr lang="en-GB" sz="2400" dirty="0">
              <a:latin typeface="+mj-lt"/>
            </a:endParaRP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EF478068-B10F-468A-8D92-60CA95815560}"/>
                  </a:ext>
                </a:extLst>
              </p:cNvPr>
              <p:cNvSpPr txBox="1"/>
              <p:nvPr/>
            </p:nvSpPr>
            <p:spPr>
              <a:xfrm>
                <a:off x="220337" y="3643532"/>
                <a:ext cx="11710929" cy="2308324"/>
              </a:xfrm>
              <a:prstGeom prst="rect">
                <a:avLst/>
              </a:prstGeom>
              <a:noFill/>
            </p:spPr>
            <p:txBody>
              <a:bodyPr wrap="square" rtlCol="0">
                <a:spAutoFit/>
              </a:bodyPr>
              <a:lstStyle/>
              <a:p>
                <a:r>
                  <a:rPr lang="en-AU" sz="2400" dirty="0">
                    <a:latin typeface="+mj-lt"/>
                  </a:rPr>
                  <a:t>Power functions are given by the rule </a:t>
                </a:r>
                <a14:m>
                  <m:oMath xmlns:m="http://schemas.openxmlformats.org/officeDocument/2006/math">
                    <m:r>
                      <a:rPr lang="en-AU" sz="2400" b="0" i="1" smtClean="0">
                        <a:latin typeface="Cambria Math" panose="02040503050406030204" pitchFamily="18" charset="0"/>
                      </a:rPr>
                      <m:t>𝑓</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r>
                      <a:rPr lang="en-AU" sz="2400" b="0" i="1" smtClean="0">
                        <a:latin typeface="Cambria Math" panose="02040503050406030204" pitchFamily="18" charset="0"/>
                      </a:rPr>
                      <m:t>=</m:t>
                    </m:r>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𝑥</m:t>
                        </m:r>
                      </m:e>
                      <m:sup>
                        <m:r>
                          <a:rPr lang="en-AU" sz="2400" b="0" i="1" smtClean="0">
                            <a:latin typeface="Cambria Math" panose="02040503050406030204" pitchFamily="18" charset="0"/>
                          </a:rPr>
                          <m:t>𝑛</m:t>
                        </m:r>
                      </m:sup>
                    </m:sSup>
                  </m:oMath>
                </a14:m>
                <a:r>
                  <a:rPr lang="en-GB" sz="2400" dirty="0">
                    <a:latin typeface="+mj-lt"/>
                  </a:rPr>
                  <a:t>, where </a:t>
                </a:r>
                <a14:m>
                  <m:oMath xmlns:m="http://schemas.openxmlformats.org/officeDocument/2006/math">
                    <m:r>
                      <a:rPr lang="en-AU" sz="2400" b="0" i="1" smtClean="0">
                        <a:latin typeface="Cambria Math" panose="02040503050406030204" pitchFamily="18" charset="0"/>
                      </a:rPr>
                      <m:t>𝑛</m:t>
                    </m:r>
                    <m:r>
                      <a:rPr lang="en-AU" sz="2400" b="0" i="1" smtClean="0">
                        <a:latin typeface="Cambria Math" panose="02040503050406030204" pitchFamily="18" charset="0"/>
                        <a:ea typeface="Cambria Math" panose="02040503050406030204" pitchFamily="18" charset="0"/>
                      </a:rPr>
                      <m:t>𝜖</m:t>
                    </m:r>
                    <m:r>
                      <a:rPr lang="en-AU" sz="2400" b="0" i="1" smtClean="0">
                        <a:latin typeface="Cambria Math" panose="02040503050406030204" pitchFamily="18" charset="0"/>
                        <a:ea typeface="Cambria Math" panose="02040503050406030204" pitchFamily="18" charset="0"/>
                      </a:rPr>
                      <m:t>ℝ</m:t>
                    </m:r>
                  </m:oMath>
                </a14:m>
                <a:r>
                  <a:rPr lang="en-GB" sz="2400" dirty="0">
                    <a:latin typeface="+mj-lt"/>
                  </a:rPr>
                  <a:t>.</a:t>
                </a:r>
              </a:p>
              <a:p>
                <a:r>
                  <a:rPr lang="en-GB" sz="2400" dirty="0" err="1">
                    <a:latin typeface="+mj-lt"/>
                  </a:rPr>
                  <a:t>i</a:t>
                </a:r>
                <a:r>
                  <a:rPr lang="en-GB" sz="2400" dirty="0">
                    <a:latin typeface="+mj-lt"/>
                  </a:rPr>
                  <a:t>) If </a:t>
                </a:r>
                <a14:m>
                  <m:oMath xmlns:m="http://schemas.openxmlformats.org/officeDocument/2006/math">
                    <m:r>
                      <a:rPr lang="en-AU" sz="2400" b="0" i="1" smtClean="0">
                        <a:latin typeface="Cambria Math" panose="02040503050406030204" pitchFamily="18" charset="0"/>
                      </a:rPr>
                      <m:t>𝑛</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ℕ</m:t>
                    </m:r>
                  </m:oMath>
                </a14:m>
                <a:endParaRPr lang="en-GB" sz="2400" dirty="0">
                  <a:latin typeface="+mj-lt"/>
                </a:endParaRPr>
              </a:p>
              <a:p>
                <a:pPr marL="514350" indent="-514350">
                  <a:buAutoNum type="romanLcParenR"/>
                </a:pPr>
                <a:endParaRPr lang="en-GB" sz="2400" dirty="0">
                  <a:latin typeface="+mj-lt"/>
                </a:endParaRPr>
              </a:p>
              <a:p>
                <a:pPr marL="800100" lvl="1" indent="-342900">
                  <a:buFont typeface="Arial" panose="020B0604020202020204" pitchFamily="34" charset="0"/>
                  <a:buChar char="•"/>
                </a:pPr>
                <a14:m>
                  <m:oMath xmlns:m="http://schemas.openxmlformats.org/officeDocument/2006/math">
                    <m:r>
                      <a:rPr lang="en-AU" sz="2400" b="0" i="1" smtClean="0">
                        <a:latin typeface="Cambria Math" panose="02040503050406030204" pitchFamily="18" charset="0"/>
                      </a:rPr>
                      <m:t>𝑓</m:t>
                    </m:r>
                    <m:r>
                      <a:rPr lang="en-AU" sz="2400" b="0" i="1" smtClean="0">
                        <a:latin typeface="Cambria Math" panose="02040503050406030204" pitchFamily="18" charset="0"/>
                      </a:rPr>
                      <m:t>(</m:t>
                    </m:r>
                    <m:r>
                      <a:rPr lang="en-AU" sz="2400" b="0" i="1" smtClean="0">
                        <a:latin typeface="Cambria Math" panose="02040503050406030204" pitchFamily="18" charset="0"/>
                      </a:rPr>
                      <m:t>𝑥</m:t>
                    </m:r>
                    <m:r>
                      <a:rPr lang="en-AU" sz="2400" b="0" i="1" smtClean="0">
                        <a:latin typeface="Cambria Math" panose="02040503050406030204" pitchFamily="18" charset="0"/>
                      </a:rPr>
                      <m:t>)</m:t>
                    </m:r>
                  </m:oMath>
                </a14:m>
                <a:r>
                  <a:rPr lang="en-GB" sz="2400" dirty="0">
                    <a:latin typeface="+mj-lt"/>
                  </a:rPr>
                  <a:t> is even when </a:t>
                </a:r>
                <a14:m>
                  <m:oMath xmlns:m="http://schemas.openxmlformats.org/officeDocument/2006/math">
                    <m:r>
                      <a:rPr lang="en-AU" sz="2400" b="0" i="1" smtClean="0">
                        <a:latin typeface="Cambria Math" panose="02040503050406030204" pitchFamily="18" charset="0"/>
                      </a:rPr>
                      <m:t>𝑛</m:t>
                    </m:r>
                  </m:oMath>
                </a14:m>
                <a:r>
                  <a:rPr lang="en-GB" sz="2400" dirty="0">
                    <a:latin typeface="+mj-lt"/>
                  </a:rPr>
                  <a:t> is even, i.e. </a:t>
                </a:r>
                <a14:m>
                  <m:oMath xmlns:m="http://schemas.openxmlformats.org/officeDocument/2006/math">
                    <m:r>
                      <a:rPr lang="en-AU" sz="2400" b="0" i="1" smtClean="0">
                        <a:latin typeface="Cambria Math" panose="02040503050406030204" pitchFamily="18" charset="0"/>
                      </a:rPr>
                      <m:t>𝑓</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m:t>
                        </m:r>
                        <m:r>
                          <a:rPr lang="en-AU" sz="2400" b="0" i="1" smtClean="0">
                            <a:latin typeface="Cambria Math" panose="02040503050406030204" pitchFamily="18" charset="0"/>
                          </a:rPr>
                          <m:t>𝑥</m:t>
                        </m:r>
                      </m:e>
                    </m:d>
                    <m:r>
                      <a:rPr lang="en-AU" sz="2400" b="0" i="1" smtClean="0">
                        <a:latin typeface="Cambria Math" panose="02040503050406030204" pitchFamily="18" charset="0"/>
                      </a:rPr>
                      <m:t>=</m:t>
                    </m:r>
                    <m:r>
                      <a:rPr lang="en-AU" sz="2400" b="0" i="1" smtClean="0">
                        <a:latin typeface="Cambria Math" panose="02040503050406030204" pitchFamily="18" charset="0"/>
                      </a:rPr>
                      <m:t>𝑓</m:t>
                    </m:r>
                    <m:r>
                      <a:rPr lang="en-AU" sz="2400" b="0" i="1" smtClean="0">
                        <a:latin typeface="Cambria Math" panose="02040503050406030204" pitchFamily="18" charset="0"/>
                      </a:rPr>
                      <m:t>(</m:t>
                    </m:r>
                    <m:r>
                      <a:rPr lang="en-AU" sz="2400" b="0" i="1" smtClean="0">
                        <a:latin typeface="Cambria Math" panose="02040503050406030204" pitchFamily="18" charset="0"/>
                      </a:rPr>
                      <m:t>𝑥</m:t>
                    </m:r>
                    <m:r>
                      <a:rPr lang="en-AU" sz="2400" b="0" i="1" smtClean="0">
                        <a:latin typeface="Cambria Math" panose="02040503050406030204" pitchFamily="18" charset="0"/>
                      </a:rPr>
                      <m:t>)</m:t>
                    </m:r>
                  </m:oMath>
                </a14:m>
                <a:endParaRPr lang="en-GB" sz="2400" dirty="0">
                  <a:latin typeface="+mj-lt"/>
                </a:endParaRPr>
              </a:p>
              <a:p>
                <a:pPr marL="800100" lvl="1" indent="-342900">
                  <a:buFont typeface="Arial" panose="020B0604020202020204" pitchFamily="34" charset="0"/>
                  <a:buChar char="•"/>
                </a:pPr>
                <a14:m>
                  <m:oMath xmlns:m="http://schemas.openxmlformats.org/officeDocument/2006/math">
                    <m:r>
                      <a:rPr lang="en-AU" sz="2400" b="0" i="1" smtClean="0">
                        <a:latin typeface="Cambria Math" panose="02040503050406030204" pitchFamily="18" charset="0"/>
                      </a:rPr>
                      <m:t>𝑓</m:t>
                    </m:r>
                    <m:r>
                      <a:rPr lang="en-AU" sz="2400" b="0" i="1" smtClean="0">
                        <a:latin typeface="Cambria Math" panose="02040503050406030204" pitchFamily="18" charset="0"/>
                      </a:rPr>
                      <m:t>(</m:t>
                    </m:r>
                    <m:r>
                      <a:rPr lang="en-AU" sz="2400" b="0" i="1" smtClean="0">
                        <a:latin typeface="Cambria Math" panose="02040503050406030204" pitchFamily="18" charset="0"/>
                      </a:rPr>
                      <m:t>𝑥</m:t>
                    </m:r>
                    <m:r>
                      <a:rPr lang="en-AU" sz="2400" b="0" i="1" smtClean="0">
                        <a:latin typeface="Cambria Math" panose="02040503050406030204" pitchFamily="18" charset="0"/>
                      </a:rPr>
                      <m:t>)</m:t>
                    </m:r>
                  </m:oMath>
                </a14:m>
                <a:r>
                  <a:rPr lang="en-GB" sz="2400" dirty="0">
                    <a:latin typeface="+mj-lt"/>
                  </a:rPr>
                  <a:t> is odd when </a:t>
                </a:r>
                <a14:m>
                  <m:oMath xmlns:m="http://schemas.openxmlformats.org/officeDocument/2006/math">
                    <m:r>
                      <a:rPr lang="en-AU" sz="2400" b="0" i="1" smtClean="0">
                        <a:latin typeface="Cambria Math" panose="02040503050406030204" pitchFamily="18" charset="0"/>
                      </a:rPr>
                      <m:t>𝑛</m:t>
                    </m:r>
                  </m:oMath>
                </a14:m>
                <a:r>
                  <a:rPr lang="en-GB" sz="2400" dirty="0">
                    <a:latin typeface="+mj-lt"/>
                  </a:rPr>
                  <a:t> is odd, i.e. </a:t>
                </a:r>
                <a14:m>
                  <m:oMath xmlns:m="http://schemas.openxmlformats.org/officeDocument/2006/math">
                    <m:r>
                      <a:rPr lang="en-AU" sz="2400" b="0" i="1" smtClean="0">
                        <a:latin typeface="Cambria Math" panose="02040503050406030204" pitchFamily="18" charset="0"/>
                      </a:rPr>
                      <m:t>𝑓</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m:t>
                        </m:r>
                        <m:r>
                          <a:rPr lang="en-AU" sz="2400" b="0" i="1" smtClean="0">
                            <a:latin typeface="Cambria Math" panose="02040503050406030204" pitchFamily="18" charset="0"/>
                          </a:rPr>
                          <m:t>𝑥</m:t>
                        </m:r>
                      </m:e>
                    </m:d>
                    <m:r>
                      <a:rPr lang="en-AU" sz="2400" b="0" i="1" smtClean="0">
                        <a:latin typeface="Cambria Math" panose="02040503050406030204" pitchFamily="18" charset="0"/>
                      </a:rPr>
                      <m:t>=−</m:t>
                    </m:r>
                    <m:r>
                      <a:rPr lang="en-AU" sz="2400" b="0" i="1" smtClean="0">
                        <a:latin typeface="Cambria Math" panose="02040503050406030204" pitchFamily="18" charset="0"/>
                      </a:rPr>
                      <m:t>𝑓</m:t>
                    </m:r>
                    <m:r>
                      <a:rPr lang="en-AU" sz="2400" b="0" i="1" smtClean="0">
                        <a:latin typeface="Cambria Math" panose="02040503050406030204" pitchFamily="18" charset="0"/>
                      </a:rPr>
                      <m:t>(</m:t>
                    </m:r>
                    <m:r>
                      <a:rPr lang="en-AU" sz="2400" b="0" i="1" smtClean="0">
                        <a:latin typeface="Cambria Math" panose="02040503050406030204" pitchFamily="18" charset="0"/>
                      </a:rPr>
                      <m:t>𝑥</m:t>
                    </m:r>
                    <m:r>
                      <a:rPr lang="en-AU" sz="2400" b="0" i="1" smtClean="0">
                        <a:latin typeface="Cambria Math" panose="02040503050406030204" pitchFamily="18" charset="0"/>
                      </a:rPr>
                      <m:t>)</m:t>
                    </m:r>
                  </m:oMath>
                </a14:m>
                <a:endParaRPr lang="en-GB" sz="2400" dirty="0">
                  <a:latin typeface="+mj-lt"/>
                </a:endParaRPr>
              </a:p>
              <a:p>
                <a:pPr marL="800100" lvl="1" indent="-342900">
                  <a:buFont typeface="Arial" panose="020B0604020202020204" pitchFamily="34" charset="0"/>
                  <a:buChar char="•"/>
                </a:pPr>
                <a:endParaRPr lang="en-GB" sz="2400" dirty="0">
                  <a:latin typeface="+mj-lt"/>
                </a:endParaRPr>
              </a:p>
            </p:txBody>
          </p:sp>
        </mc:Choice>
        <mc:Fallback xmlns="">
          <p:sp>
            <p:nvSpPr>
              <p:cNvPr id="12" name="TextBox 11">
                <a:extLst>
                  <a:ext uri="{FF2B5EF4-FFF2-40B4-BE49-F238E27FC236}">
                    <a16:creationId xmlns:a16="http://schemas.microsoft.com/office/drawing/2014/main" id="{EF478068-B10F-468A-8D92-60CA95815560}"/>
                  </a:ext>
                </a:extLst>
              </p:cNvPr>
              <p:cNvSpPr txBox="1">
                <a:spLocks noRot="1" noChangeAspect="1" noMove="1" noResize="1" noEditPoints="1" noAdjustHandles="1" noChangeArrowheads="1" noChangeShapeType="1" noTextEdit="1"/>
              </p:cNvSpPr>
              <p:nvPr/>
            </p:nvSpPr>
            <p:spPr>
              <a:xfrm>
                <a:off x="220337" y="3643532"/>
                <a:ext cx="11710929" cy="2308324"/>
              </a:xfrm>
              <a:prstGeom prst="rect">
                <a:avLst/>
              </a:prstGeom>
              <a:blipFill>
                <a:blip r:embed="rId3"/>
                <a:stretch>
                  <a:fillRect l="-781" t="-2116"/>
                </a:stretch>
              </a:blipFill>
            </p:spPr>
            <p:txBody>
              <a:bodyPr/>
              <a:lstStyle/>
              <a:p>
                <a:r>
                  <a:rPr lang="en-GB">
                    <a:noFill/>
                  </a:rPr>
                  <a:t> </a:t>
                </a:r>
              </a:p>
            </p:txBody>
          </p:sp>
        </mc:Fallback>
      </mc:AlternateContent>
    </p:spTree>
    <p:extLst>
      <p:ext uri="{BB962C8B-B14F-4D97-AF65-F5344CB8AC3E}">
        <p14:creationId xmlns:p14="http://schemas.microsoft.com/office/powerpoint/2010/main" val="21668781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3693127" cy="523220"/>
          </a:xfrm>
          <a:prstGeom prst="rect">
            <a:avLst/>
          </a:prstGeom>
          <a:noFill/>
        </p:spPr>
        <p:txBody>
          <a:bodyPr wrap="none" rtlCol="0">
            <a:spAutoFit/>
          </a:bodyPr>
          <a:lstStyle/>
          <a:p>
            <a:r>
              <a:rPr lang="en-AU" sz="2800" b="1" cap="small" dirty="0">
                <a:solidFill>
                  <a:schemeClr val="bg1"/>
                </a:solidFill>
                <a:latin typeface="+mj-lt"/>
              </a:rPr>
              <a:t>1.5 Elementary Functions</a:t>
            </a:r>
            <a:endParaRPr lang="en-GB" sz="2800" b="1" cap="small" dirty="0">
              <a:solidFill>
                <a:schemeClr val="bg1"/>
              </a:solidFill>
              <a:latin typeface="+mj-lt"/>
            </a:endParaRPr>
          </a:p>
        </p:txBody>
      </p:sp>
      <p:sp>
        <p:nvSpPr>
          <p:cNvPr id="10" name="TextBox 9">
            <a:extLst>
              <a:ext uri="{FF2B5EF4-FFF2-40B4-BE49-F238E27FC236}">
                <a16:creationId xmlns:a16="http://schemas.microsoft.com/office/drawing/2014/main" id="{1B8F46DA-7344-452A-9A96-BD963E264357}"/>
              </a:ext>
            </a:extLst>
          </p:cNvPr>
          <p:cNvSpPr txBox="1"/>
          <p:nvPr/>
        </p:nvSpPr>
        <p:spPr>
          <a:xfrm>
            <a:off x="301020" y="1048888"/>
            <a:ext cx="2183611" cy="461665"/>
          </a:xfrm>
          <a:prstGeom prst="rect">
            <a:avLst/>
          </a:prstGeom>
          <a:noFill/>
          <a:ln>
            <a:solidFill>
              <a:schemeClr val="accent2">
                <a:lumMod val="50000"/>
              </a:schemeClr>
            </a:solidFill>
          </a:ln>
        </p:spPr>
        <p:txBody>
          <a:bodyPr wrap="none" rtlCol="0">
            <a:spAutoFit/>
          </a:bodyPr>
          <a:lstStyle/>
          <a:p>
            <a:r>
              <a:rPr lang="en-AU" sz="2400" dirty="0">
                <a:latin typeface="+mj-lt"/>
              </a:rPr>
              <a:t>Power functions</a:t>
            </a:r>
            <a:endParaRPr lang="en-GB" sz="2400" dirty="0">
              <a:latin typeface="+mj-lt"/>
            </a:endParaRP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EF478068-B10F-468A-8D92-60CA95815560}"/>
                  </a:ext>
                </a:extLst>
              </p:cNvPr>
              <p:cNvSpPr txBox="1"/>
              <p:nvPr/>
            </p:nvSpPr>
            <p:spPr>
              <a:xfrm>
                <a:off x="301019" y="1725085"/>
                <a:ext cx="11710929" cy="4378378"/>
              </a:xfrm>
              <a:prstGeom prst="rect">
                <a:avLst/>
              </a:prstGeom>
              <a:noFill/>
            </p:spPr>
            <p:txBody>
              <a:bodyPr wrap="square" rtlCol="0">
                <a:spAutoFit/>
              </a:bodyPr>
              <a:lstStyle/>
              <a:p>
                <a:r>
                  <a:rPr lang="en-GB" sz="2400" dirty="0">
                    <a:latin typeface="+mj-lt"/>
                  </a:rPr>
                  <a:t>ii) If </a:t>
                </a:r>
                <a14:m>
                  <m:oMath xmlns:m="http://schemas.openxmlformats.org/officeDocument/2006/math">
                    <m:r>
                      <a:rPr lang="en-AU" sz="2400" b="0" i="1" smtClean="0">
                        <a:latin typeface="Cambria Math" panose="02040503050406030204" pitchFamily="18" charset="0"/>
                      </a:rPr>
                      <m:t>𝑛</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ℚ</m:t>
                    </m:r>
                  </m:oMath>
                </a14:m>
                <a:r>
                  <a:rPr lang="en-GB" sz="2400" dirty="0">
                    <a:latin typeface="+mj-lt"/>
                  </a:rPr>
                  <a:t> and </a:t>
                </a:r>
                <a14:m>
                  <m:oMath xmlns:m="http://schemas.openxmlformats.org/officeDocument/2006/math">
                    <m:r>
                      <a:rPr lang="en-AU" sz="2400" b="0" i="1" smtClean="0">
                        <a:latin typeface="Cambria Math" panose="02040503050406030204" pitchFamily="18" charset="0"/>
                      </a:rPr>
                      <m:t>𝑛</m:t>
                    </m:r>
                    <m:r>
                      <a:rPr lang="en-AU" sz="2400" b="0" i="1" smtClean="0">
                        <a:latin typeface="Cambria Math" panose="02040503050406030204" pitchFamily="18" charset="0"/>
                      </a:rPr>
                      <m:t>=</m:t>
                    </m:r>
                    <m:f>
                      <m:fPr>
                        <m:ctrlPr>
                          <a:rPr lang="en-AU" sz="2400" b="0" i="1" smtClean="0">
                            <a:latin typeface="Cambria Math" panose="02040503050406030204" pitchFamily="18" charset="0"/>
                          </a:rPr>
                        </m:ctrlPr>
                      </m:fPr>
                      <m:num>
                        <m:r>
                          <a:rPr lang="en-AU" sz="2400" b="0" i="1" smtClean="0">
                            <a:latin typeface="Cambria Math" panose="02040503050406030204" pitchFamily="18" charset="0"/>
                          </a:rPr>
                          <m:t>𝑝</m:t>
                        </m:r>
                      </m:num>
                      <m:den>
                        <m:r>
                          <a:rPr lang="en-AU" sz="2400" b="0" i="1" smtClean="0">
                            <a:latin typeface="Cambria Math" panose="02040503050406030204" pitchFamily="18" charset="0"/>
                          </a:rPr>
                          <m:t>𝑞</m:t>
                        </m:r>
                      </m:den>
                    </m:f>
                    <m:r>
                      <a:rPr lang="en-AU" sz="2400" b="0" i="1" smtClean="0">
                        <a:latin typeface="Cambria Math" panose="02040503050406030204" pitchFamily="18" charset="0"/>
                      </a:rPr>
                      <m:t>&gt;0</m:t>
                    </m:r>
                  </m:oMath>
                </a14:m>
                <a:r>
                  <a:rPr lang="en-GB" sz="2400" dirty="0">
                    <a:latin typeface="+mj-lt"/>
                  </a:rPr>
                  <a:t>, </a:t>
                </a:r>
                <a14:m>
                  <m:oMath xmlns:m="http://schemas.openxmlformats.org/officeDocument/2006/math">
                    <m:r>
                      <a:rPr lang="en-AU" sz="2400" b="0" i="1" smtClean="0">
                        <a:latin typeface="Cambria Math" panose="02040503050406030204" pitchFamily="18" charset="0"/>
                      </a:rPr>
                      <m:t>𝑝</m:t>
                    </m:r>
                    <m:r>
                      <a:rPr lang="en-AU" sz="2400" b="0" i="1" smtClean="0">
                        <a:latin typeface="Cambria Math" panose="02040503050406030204" pitchFamily="18" charset="0"/>
                      </a:rPr>
                      <m:t>,</m:t>
                    </m:r>
                    <m:r>
                      <a:rPr lang="en-AU" sz="2400" b="0" i="1" smtClean="0">
                        <a:latin typeface="Cambria Math" panose="02040503050406030204" pitchFamily="18" charset="0"/>
                      </a:rPr>
                      <m:t>𝑞</m:t>
                    </m:r>
                  </m:oMath>
                </a14:m>
                <a:r>
                  <a:rPr lang="en-GB" sz="2400" dirty="0">
                    <a:latin typeface="+mj-lt"/>
                  </a:rPr>
                  <a:t> mutually prime</a:t>
                </a:r>
              </a:p>
              <a:p>
                <a:pPr marL="514350" indent="-514350">
                  <a:buAutoNum type="romanLcParenR"/>
                </a:pPr>
                <a:endParaRPr lang="en-GB" sz="2400" dirty="0">
                  <a:latin typeface="+mj-lt"/>
                </a:endParaRPr>
              </a:p>
              <a:p>
                <a:pPr marL="800100" lvl="1" indent="-342900">
                  <a:buFont typeface="Arial" panose="020B0604020202020204" pitchFamily="34" charset="0"/>
                  <a:buChar char="•"/>
                </a:pPr>
                <a14:m>
                  <m:oMath xmlns:m="http://schemas.openxmlformats.org/officeDocument/2006/math">
                    <m:r>
                      <a:rPr lang="en-AU" sz="2400" b="0" i="1" smtClean="0">
                        <a:latin typeface="Cambria Math" panose="02040503050406030204" pitchFamily="18" charset="0"/>
                      </a:rPr>
                      <m:t>𝑓</m:t>
                    </m:r>
                    <m:r>
                      <a:rPr lang="en-AU" sz="2400" b="0" i="1" smtClean="0">
                        <a:latin typeface="Cambria Math" panose="02040503050406030204" pitchFamily="18" charset="0"/>
                      </a:rPr>
                      <m:t>(</m:t>
                    </m:r>
                    <m:r>
                      <a:rPr lang="en-AU" sz="2400" b="0" i="1" smtClean="0">
                        <a:latin typeface="Cambria Math" panose="02040503050406030204" pitchFamily="18" charset="0"/>
                      </a:rPr>
                      <m:t>𝑥</m:t>
                    </m:r>
                    <m:r>
                      <a:rPr lang="en-AU" sz="2400" b="0" i="1" smtClean="0">
                        <a:latin typeface="Cambria Math" panose="02040503050406030204" pitchFamily="18" charset="0"/>
                      </a:rPr>
                      <m:t>)</m:t>
                    </m:r>
                  </m:oMath>
                </a14:m>
                <a:r>
                  <a:rPr lang="en-GB" sz="2400" dirty="0">
                    <a:latin typeface="+mj-lt"/>
                  </a:rPr>
                  <a:t> is defined over all the real numbers if </a:t>
                </a:r>
                <a14:m>
                  <m:oMath xmlns:m="http://schemas.openxmlformats.org/officeDocument/2006/math">
                    <m:r>
                      <a:rPr lang="en-AU" sz="2400" b="0" i="1" smtClean="0">
                        <a:latin typeface="Cambria Math" panose="02040503050406030204" pitchFamily="18" charset="0"/>
                      </a:rPr>
                      <m:t>𝑞</m:t>
                    </m:r>
                  </m:oMath>
                </a14:m>
                <a:r>
                  <a:rPr lang="en-GB" sz="2400" dirty="0">
                    <a:latin typeface="+mj-lt"/>
                  </a:rPr>
                  <a:t> is odd but only on </a:t>
                </a:r>
                <a14:m>
                  <m:oMath xmlns:m="http://schemas.openxmlformats.org/officeDocument/2006/math">
                    <m:r>
                      <a:rPr lang="en-AU" sz="2400" b="0" i="1" smtClean="0">
                        <a:latin typeface="Cambria Math" panose="02040503050406030204" pitchFamily="18" charset="0"/>
                      </a:rPr>
                      <m:t>[0,</m:t>
                    </m:r>
                    <m:r>
                      <a:rPr lang="en-AU" sz="2400" b="0" i="1" smtClean="0">
                        <a:latin typeface="Cambria Math" panose="02040503050406030204" pitchFamily="18" charset="0"/>
                        <a:ea typeface="Cambria Math" panose="02040503050406030204" pitchFamily="18" charset="0"/>
                      </a:rPr>
                      <m:t>∞)</m:t>
                    </m:r>
                  </m:oMath>
                </a14:m>
                <a:r>
                  <a:rPr lang="en-GB" sz="2400" dirty="0">
                    <a:latin typeface="+mj-lt"/>
                  </a:rPr>
                  <a:t> if </a:t>
                </a:r>
                <a14:m>
                  <m:oMath xmlns:m="http://schemas.openxmlformats.org/officeDocument/2006/math">
                    <m:r>
                      <a:rPr lang="en-AU" sz="2400" i="1">
                        <a:latin typeface="Cambria Math" panose="02040503050406030204" pitchFamily="18" charset="0"/>
                      </a:rPr>
                      <m:t>𝑞</m:t>
                    </m:r>
                  </m:oMath>
                </a14:m>
                <a:r>
                  <a:rPr lang="en-GB" sz="2400" dirty="0">
                    <a:latin typeface="+mj-lt"/>
                  </a:rPr>
                  <a:t> is even.</a:t>
                </a:r>
              </a:p>
              <a:p>
                <a:pPr marL="800100" lvl="1" indent="-342900">
                  <a:buFont typeface="Arial" panose="020B0604020202020204" pitchFamily="34" charset="0"/>
                  <a:buChar char="•"/>
                </a:pPr>
                <a:r>
                  <a:rPr lang="en-GB" sz="2400" dirty="0">
                    <a:latin typeface="+mj-lt"/>
                  </a:rPr>
                  <a:t>If </a:t>
                </a:r>
                <a14:m>
                  <m:oMath xmlns:m="http://schemas.openxmlformats.org/officeDocument/2006/math">
                    <m:r>
                      <a:rPr lang="en-AU" sz="2400" i="1">
                        <a:latin typeface="Cambria Math" panose="02040503050406030204" pitchFamily="18" charset="0"/>
                      </a:rPr>
                      <m:t>𝑞</m:t>
                    </m:r>
                  </m:oMath>
                </a14:m>
                <a:r>
                  <a:rPr lang="en-GB" sz="2400" dirty="0">
                    <a:latin typeface="+mj-lt"/>
                  </a:rPr>
                  <a:t> is odd, </a:t>
                </a:r>
                <a14:m>
                  <m:oMath xmlns:m="http://schemas.openxmlformats.org/officeDocument/2006/math">
                    <m:r>
                      <a:rPr lang="en-AU" sz="2400" b="0" i="1" smtClean="0">
                        <a:latin typeface="Cambria Math" panose="02040503050406030204" pitchFamily="18" charset="0"/>
                      </a:rPr>
                      <m:t>𝑓</m:t>
                    </m:r>
                    <m:r>
                      <a:rPr lang="en-AU" sz="2400" b="0" i="1" smtClean="0">
                        <a:latin typeface="Cambria Math" panose="02040503050406030204" pitchFamily="18" charset="0"/>
                      </a:rPr>
                      <m:t>(</m:t>
                    </m:r>
                    <m:r>
                      <a:rPr lang="en-AU" sz="2400" b="0" i="1" smtClean="0">
                        <a:latin typeface="Cambria Math" panose="02040503050406030204" pitchFamily="18" charset="0"/>
                      </a:rPr>
                      <m:t>𝑥</m:t>
                    </m:r>
                    <m:r>
                      <a:rPr lang="en-AU" sz="2400" b="0" i="1" smtClean="0">
                        <a:latin typeface="Cambria Math" panose="02040503050406030204" pitchFamily="18" charset="0"/>
                      </a:rPr>
                      <m:t>)</m:t>
                    </m:r>
                  </m:oMath>
                </a14:m>
                <a:r>
                  <a:rPr lang="en-GB" sz="2400" dirty="0">
                    <a:latin typeface="+mj-lt"/>
                  </a:rPr>
                  <a:t> is even when </a:t>
                </a:r>
                <a14:m>
                  <m:oMath xmlns:m="http://schemas.openxmlformats.org/officeDocument/2006/math">
                    <m:r>
                      <a:rPr lang="en-AU" sz="2400" i="1">
                        <a:latin typeface="Cambria Math" panose="02040503050406030204" pitchFamily="18" charset="0"/>
                      </a:rPr>
                      <m:t>𝑝</m:t>
                    </m:r>
                  </m:oMath>
                </a14:m>
                <a:r>
                  <a:rPr lang="en-GB" sz="2400" dirty="0">
                    <a:latin typeface="+mj-lt"/>
                  </a:rPr>
                  <a:t> is even, and odd when </a:t>
                </a:r>
                <a14:m>
                  <m:oMath xmlns:m="http://schemas.openxmlformats.org/officeDocument/2006/math">
                    <m:r>
                      <a:rPr lang="en-AU" sz="2400" i="1">
                        <a:latin typeface="Cambria Math" panose="02040503050406030204" pitchFamily="18" charset="0"/>
                      </a:rPr>
                      <m:t>𝑝</m:t>
                    </m:r>
                  </m:oMath>
                </a14:m>
                <a:r>
                  <a:rPr lang="en-GB" sz="2400" dirty="0">
                    <a:latin typeface="+mj-lt"/>
                  </a:rPr>
                  <a:t> is odd.</a:t>
                </a:r>
              </a:p>
              <a:p>
                <a:pPr marL="800100" lvl="1" indent="-342900">
                  <a:buFont typeface="Arial" panose="020B0604020202020204" pitchFamily="34" charset="0"/>
                  <a:buChar char="•"/>
                </a:pPr>
                <a:endParaRPr lang="en-GB" sz="2400" dirty="0">
                  <a:latin typeface="+mj-lt"/>
                </a:endParaRPr>
              </a:p>
              <a:p>
                <a:pPr marL="0" lvl="1"/>
                <a:r>
                  <a:rPr lang="en-GB" sz="2400" dirty="0">
                    <a:latin typeface="+mj-lt"/>
                  </a:rPr>
                  <a:t>iii) If </a:t>
                </a:r>
                <a14:m>
                  <m:oMath xmlns:m="http://schemas.openxmlformats.org/officeDocument/2006/math">
                    <m:r>
                      <a:rPr lang="en-AU" sz="2400" b="0" i="1" smtClean="0">
                        <a:latin typeface="Cambria Math" panose="02040503050406030204" pitchFamily="18" charset="0"/>
                      </a:rPr>
                      <m:t>𝑛</m:t>
                    </m:r>
                  </m:oMath>
                </a14:m>
                <a:r>
                  <a:rPr lang="en-GB" sz="2400" dirty="0">
                    <a:latin typeface="+mj-lt"/>
                  </a:rPr>
                  <a:t> is irrational and positive. In this case, </a:t>
                </a:r>
                <a14:m>
                  <m:oMath xmlns:m="http://schemas.openxmlformats.org/officeDocument/2006/math">
                    <m:r>
                      <a:rPr lang="en-AU" sz="2400" i="1">
                        <a:latin typeface="Cambria Math" panose="02040503050406030204" pitchFamily="18" charset="0"/>
                      </a:rPr>
                      <m:t>𝑓</m:t>
                    </m:r>
                    <m:r>
                      <a:rPr lang="en-AU" sz="2400" i="1">
                        <a:latin typeface="Cambria Math" panose="02040503050406030204" pitchFamily="18" charset="0"/>
                      </a:rPr>
                      <m:t>(</m:t>
                    </m:r>
                    <m:r>
                      <a:rPr lang="en-AU" sz="2400" i="1">
                        <a:latin typeface="Cambria Math" panose="02040503050406030204" pitchFamily="18" charset="0"/>
                      </a:rPr>
                      <m:t>𝑥</m:t>
                    </m:r>
                    <m:r>
                      <a:rPr lang="en-AU" sz="2400" i="1">
                        <a:latin typeface="Cambria Math" panose="02040503050406030204" pitchFamily="18" charset="0"/>
                      </a:rPr>
                      <m:t>)</m:t>
                    </m:r>
                  </m:oMath>
                </a14:m>
                <a:r>
                  <a:rPr lang="en-GB" sz="2400" dirty="0">
                    <a:latin typeface="+mj-lt"/>
                  </a:rPr>
                  <a:t> is defined only for </a:t>
                </a:r>
                <a14:m>
                  <m:oMath xmlns:m="http://schemas.openxmlformats.org/officeDocument/2006/math">
                    <m:r>
                      <a:rPr lang="en-AU" sz="2400" b="0" i="1" smtClean="0">
                        <a:latin typeface="Cambria Math" panose="02040503050406030204" pitchFamily="18" charset="0"/>
                      </a:rPr>
                      <m:t>𝑥</m:t>
                    </m:r>
                    <m:r>
                      <a:rPr lang="en-AU" sz="2400" b="0" i="1" smtClean="0">
                        <a:latin typeface="Cambria Math" panose="02040503050406030204" pitchFamily="18" charset="0"/>
                      </a:rPr>
                      <m:t>&gt;0</m:t>
                    </m:r>
                  </m:oMath>
                </a14:m>
                <a:r>
                  <a:rPr lang="en-GB" sz="2400" dirty="0">
                    <a:latin typeface="+mj-lt"/>
                  </a:rPr>
                  <a:t>.* </a:t>
                </a:r>
              </a:p>
              <a:p>
                <a:pPr marL="800100" lvl="2" indent="-342900">
                  <a:buFont typeface="Arial" panose="020B0604020202020204" pitchFamily="34" charset="0"/>
                  <a:buChar char="•"/>
                </a:pPr>
                <a:r>
                  <a:rPr lang="en-GB" sz="2400" dirty="0">
                    <a:latin typeface="+mj-lt"/>
                  </a:rPr>
                  <a:t>Examples, </a:t>
                </a:r>
                <a14:m>
                  <m:oMath xmlns:m="http://schemas.openxmlformats.org/officeDocument/2006/math">
                    <m:r>
                      <a:rPr lang="en-AU" sz="2400" b="0" i="1" smtClean="0">
                        <a:latin typeface="Cambria Math" panose="02040503050406030204" pitchFamily="18" charset="0"/>
                      </a:rPr>
                      <m:t>𝑓</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r>
                      <a:rPr lang="en-AU" sz="2400" b="0" i="1" smtClean="0">
                        <a:latin typeface="Cambria Math" panose="02040503050406030204" pitchFamily="18" charset="0"/>
                      </a:rPr>
                      <m:t>=</m:t>
                    </m:r>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𝑥</m:t>
                        </m:r>
                      </m:e>
                      <m:sup>
                        <m:rad>
                          <m:radPr>
                            <m:degHide m:val="on"/>
                            <m:ctrlPr>
                              <a:rPr lang="en-AU" sz="2400" b="0" i="1" smtClean="0">
                                <a:latin typeface="Cambria Math" panose="02040503050406030204" pitchFamily="18" charset="0"/>
                              </a:rPr>
                            </m:ctrlPr>
                          </m:radPr>
                          <m:deg/>
                          <m:e>
                            <m:r>
                              <a:rPr lang="en-AU" sz="2400" b="0" i="1" smtClean="0">
                                <a:latin typeface="Cambria Math" panose="02040503050406030204" pitchFamily="18" charset="0"/>
                              </a:rPr>
                              <m:t>2</m:t>
                            </m:r>
                          </m:e>
                        </m:rad>
                      </m:sup>
                    </m:sSup>
                    <m:r>
                      <a:rPr lang="en-AU" sz="2400" b="0" i="1" smtClean="0">
                        <a:latin typeface="Cambria Math" panose="02040503050406030204" pitchFamily="18" charset="0"/>
                      </a:rPr>
                      <m:t>, </m:t>
                    </m:r>
                    <m:r>
                      <a:rPr lang="en-AU" sz="2400" b="0" i="1" smtClean="0">
                        <a:latin typeface="Cambria Math" panose="02040503050406030204" pitchFamily="18" charset="0"/>
                      </a:rPr>
                      <m:t>𝑓</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r>
                      <a:rPr lang="en-AU" sz="2400" b="0" i="1" smtClean="0">
                        <a:latin typeface="Cambria Math" panose="02040503050406030204" pitchFamily="18" charset="0"/>
                      </a:rPr>
                      <m:t>=</m:t>
                    </m:r>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𝑥</m:t>
                        </m:r>
                      </m:e>
                      <m:sup>
                        <m:r>
                          <a:rPr lang="en-AU" sz="2400" b="0" i="1" smtClean="0">
                            <a:latin typeface="Cambria Math" panose="02040503050406030204" pitchFamily="18" charset="0"/>
                            <a:ea typeface="Cambria Math" panose="02040503050406030204" pitchFamily="18" charset="0"/>
                          </a:rPr>
                          <m:t>𝜋</m:t>
                        </m:r>
                      </m:sup>
                    </m:sSup>
                  </m:oMath>
                </a14:m>
                <a:r>
                  <a:rPr lang="en-GB" sz="2400" dirty="0">
                    <a:latin typeface="+mj-lt"/>
                  </a:rPr>
                  <a:t>.</a:t>
                </a:r>
              </a:p>
              <a:p>
                <a:pPr marL="457200" lvl="2"/>
                <a:endParaRPr lang="en-GB" sz="2400" dirty="0">
                  <a:latin typeface="+mj-lt"/>
                </a:endParaRPr>
              </a:p>
              <a:p>
                <a:pPr marL="457200" lvl="2"/>
                <a14:m>
                  <m:oMath xmlns:m="http://schemas.openxmlformats.org/officeDocument/2006/math">
                    <m:r>
                      <a:rPr lang="en-AU" sz="2000" b="0" i="1" smtClean="0">
                        <a:latin typeface="Cambria Math" panose="02040503050406030204" pitchFamily="18" charset="0"/>
                      </a:rPr>
                      <m:t>∗</m:t>
                    </m:r>
                    <m:sSup>
                      <m:sSupPr>
                        <m:ctrlPr>
                          <a:rPr lang="en-AU" sz="2000" b="0" i="1" smtClean="0">
                            <a:latin typeface="Cambria Math" panose="02040503050406030204" pitchFamily="18" charset="0"/>
                          </a:rPr>
                        </m:ctrlPr>
                      </m:sSupPr>
                      <m:e>
                        <m:r>
                          <a:rPr lang="en-AU" sz="2000" b="0" i="1" smtClean="0">
                            <a:latin typeface="Cambria Math" panose="02040503050406030204" pitchFamily="18" charset="0"/>
                          </a:rPr>
                          <m:t>𝑥</m:t>
                        </m:r>
                      </m:e>
                      <m:sup>
                        <m:rad>
                          <m:radPr>
                            <m:degHide m:val="on"/>
                            <m:ctrlPr>
                              <a:rPr lang="en-AU" sz="2000" b="0" i="1" smtClean="0">
                                <a:latin typeface="Cambria Math" panose="02040503050406030204" pitchFamily="18" charset="0"/>
                              </a:rPr>
                            </m:ctrlPr>
                          </m:radPr>
                          <m:deg/>
                          <m:e>
                            <m:r>
                              <a:rPr lang="en-AU" sz="2000" b="0" i="1" smtClean="0">
                                <a:latin typeface="Cambria Math" panose="02040503050406030204" pitchFamily="18" charset="0"/>
                              </a:rPr>
                              <m:t>2</m:t>
                            </m:r>
                          </m:e>
                        </m:rad>
                      </m:sup>
                    </m:sSup>
                    <m:r>
                      <a:rPr lang="en-AU" sz="2000" b="0" i="1" smtClean="0">
                        <a:latin typeface="Cambria Math" panose="02040503050406030204" pitchFamily="18" charset="0"/>
                      </a:rPr>
                      <m:t>=</m:t>
                    </m:r>
                    <m:sSup>
                      <m:sSupPr>
                        <m:ctrlPr>
                          <a:rPr lang="en-AU" sz="2000" b="0" i="1" smtClean="0">
                            <a:latin typeface="Cambria Math" panose="02040503050406030204" pitchFamily="18" charset="0"/>
                          </a:rPr>
                        </m:ctrlPr>
                      </m:sSupPr>
                      <m:e>
                        <m:r>
                          <a:rPr lang="en-AU" sz="2000" b="0" i="1" smtClean="0">
                            <a:latin typeface="Cambria Math" panose="02040503050406030204" pitchFamily="18" charset="0"/>
                          </a:rPr>
                          <m:t>𝑒</m:t>
                        </m:r>
                      </m:e>
                      <m:sup>
                        <m:rad>
                          <m:radPr>
                            <m:degHide m:val="on"/>
                            <m:ctrlPr>
                              <a:rPr lang="en-AU" sz="2000" b="0" i="1" smtClean="0">
                                <a:latin typeface="Cambria Math" panose="02040503050406030204" pitchFamily="18" charset="0"/>
                              </a:rPr>
                            </m:ctrlPr>
                          </m:radPr>
                          <m:deg/>
                          <m:e>
                            <m:r>
                              <a:rPr lang="en-AU" sz="2000" b="0" i="1" smtClean="0">
                                <a:latin typeface="Cambria Math" panose="02040503050406030204" pitchFamily="18" charset="0"/>
                              </a:rPr>
                              <m:t>2</m:t>
                            </m:r>
                          </m:e>
                        </m:rad>
                        <m:r>
                          <a:rPr lang="en-AU" sz="2000" b="0" i="0" smtClean="0">
                            <a:latin typeface="Cambria Math" panose="02040503050406030204" pitchFamily="18" charset="0"/>
                          </a:rPr>
                          <m:t> </m:t>
                        </m:r>
                        <m:r>
                          <m:rPr>
                            <m:sty m:val="p"/>
                          </m:rPr>
                          <a:rPr lang="en-AU" sz="2000" b="0" i="0" smtClean="0">
                            <a:latin typeface="Cambria Math" panose="02040503050406030204" pitchFamily="18" charset="0"/>
                          </a:rPr>
                          <m:t>ln</m:t>
                        </m:r>
                        <m:r>
                          <a:rPr lang="en-AU" sz="2000" b="0" i="1" smtClean="0">
                            <a:latin typeface="Cambria Math" panose="02040503050406030204" pitchFamily="18" charset="0"/>
                          </a:rPr>
                          <m:t>⁡(</m:t>
                        </m:r>
                        <m:r>
                          <a:rPr lang="en-AU" sz="2000" b="0" i="1" smtClean="0">
                            <a:latin typeface="Cambria Math" panose="02040503050406030204" pitchFamily="18" charset="0"/>
                          </a:rPr>
                          <m:t>𝑥</m:t>
                        </m:r>
                        <m:r>
                          <a:rPr lang="en-AU" sz="2000" b="0" i="1" smtClean="0">
                            <a:latin typeface="Cambria Math" panose="02040503050406030204" pitchFamily="18" charset="0"/>
                          </a:rPr>
                          <m:t>)</m:t>
                        </m:r>
                      </m:sup>
                    </m:sSup>
                  </m:oMath>
                </a14:m>
                <a:r>
                  <a:rPr lang="en-GB" sz="2000" dirty="0">
                    <a:latin typeface="+mj-lt"/>
                  </a:rPr>
                  <a:t> which accepts only positive values of </a:t>
                </a:r>
                <a14:m>
                  <m:oMath xmlns:m="http://schemas.openxmlformats.org/officeDocument/2006/math">
                    <m:r>
                      <a:rPr lang="en-AU" sz="2000" i="1">
                        <a:latin typeface="Cambria Math" panose="02040503050406030204" pitchFamily="18" charset="0"/>
                      </a:rPr>
                      <m:t>𝑥</m:t>
                    </m:r>
                  </m:oMath>
                </a14:m>
                <a:r>
                  <a:rPr lang="en-GB" sz="2000" dirty="0">
                    <a:latin typeface="+mj-lt"/>
                  </a:rPr>
                  <a:t>.</a:t>
                </a:r>
              </a:p>
              <a:p>
                <a:pPr marL="0" lvl="2"/>
                <a:endParaRPr lang="en-GB" sz="2400" dirty="0">
                  <a:latin typeface="+mj-lt"/>
                </a:endParaRPr>
              </a:p>
              <a:p>
                <a:pPr marL="0" lvl="2"/>
                <a:r>
                  <a:rPr lang="en-GB" sz="2400" dirty="0">
                    <a:latin typeface="+mj-lt"/>
                  </a:rPr>
                  <a:t>iv) If </a:t>
                </a:r>
                <a14:m>
                  <m:oMath xmlns:m="http://schemas.openxmlformats.org/officeDocument/2006/math">
                    <m:r>
                      <a:rPr lang="en-AU" sz="2400" b="0" i="1" smtClean="0">
                        <a:latin typeface="Cambria Math" panose="02040503050406030204" pitchFamily="18" charset="0"/>
                      </a:rPr>
                      <m:t>𝑛</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ℝ</m:t>
                    </m:r>
                  </m:oMath>
                </a14:m>
                <a:r>
                  <a:rPr lang="en-GB" sz="2400" dirty="0">
                    <a:latin typeface="+mj-lt"/>
                  </a:rPr>
                  <a:t> and </a:t>
                </a:r>
                <a14:m>
                  <m:oMath xmlns:m="http://schemas.openxmlformats.org/officeDocument/2006/math">
                    <m:r>
                      <a:rPr lang="en-AU" sz="2400" b="0" i="1" smtClean="0">
                        <a:latin typeface="Cambria Math" panose="02040503050406030204" pitchFamily="18" charset="0"/>
                      </a:rPr>
                      <m:t>𝑛</m:t>
                    </m:r>
                    <m:r>
                      <a:rPr lang="en-AU" sz="2400" b="0" i="1" smtClean="0">
                        <a:latin typeface="Cambria Math" panose="02040503050406030204" pitchFamily="18" charset="0"/>
                      </a:rPr>
                      <m:t>&lt;0</m:t>
                    </m:r>
                  </m:oMath>
                </a14:m>
                <a:r>
                  <a:rPr lang="en-GB" sz="2400" dirty="0">
                    <a:latin typeface="+mj-lt"/>
                  </a:rPr>
                  <a:t>, all properties before apply but the function is not defined in zero.</a:t>
                </a:r>
              </a:p>
            </p:txBody>
          </p:sp>
        </mc:Choice>
        <mc:Fallback xmlns="">
          <p:sp>
            <p:nvSpPr>
              <p:cNvPr id="12" name="TextBox 11">
                <a:extLst>
                  <a:ext uri="{FF2B5EF4-FFF2-40B4-BE49-F238E27FC236}">
                    <a16:creationId xmlns:a16="http://schemas.microsoft.com/office/drawing/2014/main" id="{EF478068-B10F-468A-8D92-60CA95815560}"/>
                  </a:ext>
                </a:extLst>
              </p:cNvPr>
              <p:cNvSpPr txBox="1">
                <a:spLocks noRot="1" noChangeAspect="1" noMove="1" noResize="1" noEditPoints="1" noAdjustHandles="1" noChangeArrowheads="1" noChangeShapeType="1" noTextEdit="1"/>
              </p:cNvSpPr>
              <p:nvPr/>
            </p:nvSpPr>
            <p:spPr>
              <a:xfrm>
                <a:off x="301019" y="1725085"/>
                <a:ext cx="11710929" cy="4378378"/>
              </a:xfrm>
              <a:prstGeom prst="rect">
                <a:avLst/>
              </a:prstGeom>
              <a:blipFill>
                <a:blip r:embed="rId2"/>
                <a:stretch>
                  <a:fillRect l="-781" b="-2228"/>
                </a:stretch>
              </a:blipFill>
            </p:spPr>
            <p:txBody>
              <a:bodyPr/>
              <a:lstStyle/>
              <a:p>
                <a:r>
                  <a:rPr lang="en-GB">
                    <a:noFill/>
                  </a:rPr>
                  <a:t> </a:t>
                </a:r>
              </a:p>
            </p:txBody>
          </p:sp>
        </mc:Fallback>
      </mc:AlternateContent>
    </p:spTree>
    <p:extLst>
      <p:ext uri="{BB962C8B-B14F-4D97-AF65-F5344CB8AC3E}">
        <p14:creationId xmlns:p14="http://schemas.microsoft.com/office/powerpoint/2010/main" val="4955374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3661067" cy="523220"/>
          </a:xfrm>
          <a:prstGeom prst="rect">
            <a:avLst/>
          </a:prstGeom>
          <a:noFill/>
        </p:spPr>
        <p:txBody>
          <a:bodyPr wrap="none" rtlCol="0">
            <a:spAutoFit/>
          </a:bodyPr>
          <a:lstStyle/>
          <a:p>
            <a:r>
              <a:rPr lang="en-AU" sz="2800" b="1" cap="small" dirty="0">
                <a:solidFill>
                  <a:schemeClr val="bg1"/>
                </a:solidFill>
                <a:latin typeface="+mj-lt"/>
              </a:rPr>
              <a:t>1.5 Elementary functions</a:t>
            </a:r>
            <a:endParaRPr lang="en-GB" sz="2800" b="1" cap="small" dirty="0">
              <a:solidFill>
                <a:schemeClr val="bg1"/>
              </a:solidFill>
              <a:latin typeface="+mj-lt"/>
            </a:endParaRPr>
          </a:p>
        </p:txBody>
      </p:sp>
      <p:sp>
        <p:nvSpPr>
          <p:cNvPr id="2" name="TextBox 1">
            <a:extLst>
              <a:ext uri="{FF2B5EF4-FFF2-40B4-BE49-F238E27FC236}">
                <a16:creationId xmlns:a16="http://schemas.microsoft.com/office/drawing/2014/main" id="{334C49E2-30E7-4808-BEE2-A91F5138A2E2}"/>
              </a:ext>
            </a:extLst>
          </p:cNvPr>
          <p:cNvSpPr txBox="1"/>
          <p:nvPr/>
        </p:nvSpPr>
        <p:spPr>
          <a:xfrm>
            <a:off x="301020" y="1048888"/>
            <a:ext cx="2761975" cy="461665"/>
          </a:xfrm>
          <a:prstGeom prst="rect">
            <a:avLst/>
          </a:prstGeom>
          <a:noFill/>
          <a:ln>
            <a:solidFill>
              <a:schemeClr val="accent2">
                <a:lumMod val="50000"/>
              </a:schemeClr>
            </a:solidFill>
          </a:ln>
        </p:spPr>
        <p:txBody>
          <a:bodyPr wrap="none" rtlCol="0">
            <a:spAutoFit/>
          </a:bodyPr>
          <a:lstStyle/>
          <a:p>
            <a:r>
              <a:rPr lang="en-AU" sz="2400" dirty="0">
                <a:latin typeface="+mj-lt"/>
              </a:rPr>
              <a:t>Polynomial functions</a:t>
            </a:r>
            <a:endParaRPr lang="en-GB" sz="2400" dirty="0">
              <a:latin typeface="+mj-lt"/>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69344509-F72A-42B6-BEFC-98E5BF337B0B}"/>
                  </a:ext>
                </a:extLst>
              </p:cNvPr>
              <p:cNvSpPr txBox="1"/>
              <p:nvPr/>
            </p:nvSpPr>
            <p:spPr>
              <a:xfrm>
                <a:off x="240535" y="2396689"/>
                <a:ext cx="11710929" cy="2677656"/>
              </a:xfrm>
              <a:prstGeom prst="rect">
                <a:avLst/>
              </a:prstGeom>
              <a:noFill/>
            </p:spPr>
            <p:txBody>
              <a:bodyPr wrap="square" rtlCol="0">
                <a:spAutoFit/>
              </a:bodyPr>
              <a:lstStyle/>
              <a:p>
                <a:r>
                  <a:rPr lang="en-AU" sz="2400" dirty="0">
                    <a:latin typeface="+mj-lt"/>
                  </a:rPr>
                  <a:t>A polynomial function </a:t>
                </a:r>
                <a14:m>
                  <m:oMath xmlns:m="http://schemas.openxmlformats.org/officeDocument/2006/math">
                    <m:r>
                      <a:rPr lang="en-AU" sz="2400" b="0" i="1" smtClean="0">
                        <a:latin typeface="Cambria Math" panose="02040503050406030204" pitchFamily="18" charset="0"/>
                      </a:rPr>
                      <m:t>𝑃</m:t>
                    </m:r>
                    <m:r>
                      <a:rPr lang="en-AU" sz="2400" b="0" i="1" smtClean="0">
                        <a:latin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ℝ</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ℝ</m:t>
                    </m:r>
                  </m:oMath>
                </a14:m>
                <a:r>
                  <a:rPr lang="en-GB" sz="2400" dirty="0">
                    <a:latin typeface="+mj-lt"/>
                  </a:rPr>
                  <a:t> of degree </a:t>
                </a:r>
                <a14:m>
                  <m:oMath xmlns:m="http://schemas.openxmlformats.org/officeDocument/2006/math">
                    <m:r>
                      <a:rPr lang="en-AU" sz="2400" b="0" i="1" smtClean="0">
                        <a:latin typeface="Cambria Math" panose="02040503050406030204" pitchFamily="18" charset="0"/>
                      </a:rPr>
                      <m:t>𝑛</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ℕ</m:t>
                    </m:r>
                  </m:oMath>
                </a14:m>
                <a:r>
                  <a:rPr lang="en-GB" sz="2400" dirty="0">
                    <a:latin typeface="+mj-lt"/>
                  </a:rPr>
                  <a:t> is defined as</a:t>
                </a:r>
              </a:p>
              <a:p>
                <a:endParaRPr lang="en-GB" sz="2400" dirty="0">
                  <a:latin typeface="+mj-lt"/>
                </a:endParaRPr>
              </a:p>
              <a:p>
                <a:pPr/>
                <a14:m>
                  <m:oMathPara xmlns:m="http://schemas.openxmlformats.org/officeDocument/2006/math">
                    <m:oMathParaPr>
                      <m:jc m:val="centerGroup"/>
                    </m:oMathParaPr>
                    <m:oMath xmlns:m="http://schemas.openxmlformats.org/officeDocument/2006/math">
                      <m:r>
                        <a:rPr lang="en-AU" sz="2400" b="0" i="1" smtClean="0">
                          <a:latin typeface="Cambria Math" panose="02040503050406030204" pitchFamily="18" charset="0"/>
                        </a:rPr>
                        <m:t>𝑃</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r>
                        <a:rPr lang="en-AU" sz="2400" b="0" i="1" smtClean="0">
                          <a:latin typeface="Cambria Math" panose="02040503050406030204" pitchFamily="18" charset="0"/>
                        </a:rPr>
                        <m:t>=</m:t>
                      </m:r>
                      <m:sSub>
                        <m:sSubPr>
                          <m:ctrlPr>
                            <a:rPr lang="en-AU" sz="2400" b="0" i="1" smtClean="0">
                              <a:latin typeface="Cambria Math" panose="02040503050406030204" pitchFamily="18" charset="0"/>
                            </a:rPr>
                          </m:ctrlPr>
                        </m:sSubPr>
                        <m:e>
                          <m:r>
                            <a:rPr lang="en-AU" sz="2400" b="0" i="1" smtClean="0">
                              <a:latin typeface="Cambria Math" panose="02040503050406030204" pitchFamily="18" charset="0"/>
                            </a:rPr>
                            <m:t>𝑎</m:t>
                          </m:r>
                        </m:e>
                        <m:sub>
                          <m:r>
                            <a:rPr lang="en-AU" sz="2400" b="0" i="1" smtClean="0">
                              <a:latin typeface="Cambria Math" panose="02040503050406030204" pitchFamily="18" charset="0"/>
                            </a:rPr>
                            <m:t>𝑛</m:t>
                          </m:r>
                        </m:sub>
                      </m:sSub>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𝑥</m:t>
                          </m:r>
                        </m:e>
                        <m:sup>
                          <m:r>
                            <a:rPr lang="en-AU" sz="2400" b="0" i="1" smtClean="0">
                              <a:latin typeface="Cambria Math" panose="02040503050406030204" pitchFamily="18" charset="0"/>
                            </a:rPr>
                            <m:t>𝑛</m:t>
                          </m:r>
                        </m:sup>
                      </m:sSup>
                      <m:r>
                        <a:rPr lang="en-AU" sz="2400" b="0" i="1" smtClean="0">
                          <a:latin typeface="Cambria Math" panose="02040503050406030204" pitchFamily="18" charset="0"/>
                        </a:rPr>
                        <m:t>+</m:t>
                      </m:r>
                      <m:sSub>
                        <m:sSubPr>
                          <m:ctrlPr>
                            <a:rPr lang="en-AU" sz="2400" b="0" i="1" smtClean="0">
                              <a:latin typeface="Cambria Math" panose="02040503050406030204" pitchFamily="18" charset="0"/>
                            </a:rPr>
                          </m:ctrlPr>
                        </m:sSubPr>
                        <m:e>
                          <m:r>
                            <a:rPr lang="en-AU" sz="2400" b="0" i="1" smtClean="0">
                              <a:latin typeface="Cambria Math" panose="02040503050406030204" pitchFamily="18" charset="0"/>
                            </a:rPr>
                            <m:t>𝑎</m:t>
                          </m:r>
                        </m:e>
                        <m:sub>
                          <m:r>
                            <a:rPr lang="en-AU" sz="2400" b="0" i="1" smtClean="0">
                              <a:latin typeface="Cambria Math" panose="02040503050406030204" pitchFamily="18" charset="0"/>
                            </a:rPr>
                            <m:t>𝑛</m:t>
                          </m:r>
                          <m:r>
                            <a:rPr lang="en-AU" sz="2400" b="0" i="1" smtClean="0">
                              <a:latin typeface="Cambria Math" panose="02040503050406030204" pitchFamily="18" charset="0"/>
                            </a:rPr>
                            <m:t>−1</m:t>
                          </m:r>
                        </m:sub>
                      </m:sSub>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𝑥</m:t>
                          </m:r>
                        </m:e>
                        <m:sup>
                          <m:r>
                            <a:rPr lang="en-AU" sz="2400" b="0" i="1" smtClean="0">
                              <a:latin typeface="Cambria Math" panose="02040503050406030204" pitchFamily="18" charset="0"/>
                            </a:rPr>
                            <m:t>𝑛</m:t>
                          </m:r>
                          <m:r>
                            <a:rPr lang="en-AU" sz="2400" b="0" i="1" smtClean="0">
                              <a:latin typeface="Cambria Math" panose="02040503050406030204" pitchFamily="18" charset="0"/>
                            </a:rPr>
                            <m:t>−1</m:t>
                          </m:r>
                        </m:sup>
                      </m:sSup>
                      <m:r>
                        <a:rPr lang="en-AU" sz="2400" b="0" i="1" smtClean="0">
                          <a:latin typeface="Cambria Math" panose="02040503050406030204" pitchFamily="18" charset="0"/>
                        </a:rPr>
                        <m:t>+…+</m:t>
                      </m:r>
                      <m:sSub>
                        <m:sSubPr>
                          <m:ctrlPr>
                            <a:rPr lang="en-AU" sz="2400" b="0" i="1" smtClean="0">
                              <a:latin typeface="Cambria Math" panose="02040503050406030204" pitchFamily="18" charset="0"/>
                            </a:rPr>
                          </m:ctrlPr>
                        </m:sSubPr>
                        <m:e>
                          <m:r>
                            <a:rPr lang="en-AU" sz="2400" b="0" i="1" smtClean="0">
                              <a:latin typeface="Cambria Math" panose="02040503050406030204" pitchFamily="18" charset="0"/>
                            </a:rPr>
                            <m:t>𝑎</m:t>
                          </m:r>
                        </m:e>
                        <m:sub>
                          <m:r>
                            <a:rPr lang="en-AU" sz="2400" b="0" i="1" smtClean="0">
                              <a:latin typeface="Cambria Math" panose="02040503050406030204" pitchFamily="18" charset="0"/>
                            </a:rPr>
                            <m:t>2</m:t>
                          </m:r>
                        </m:sub>
                      </m:sSub>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𝑥</m:t>
                          </m:r>
                        </m:e>
                        <m:sup>
                          <m:r>
                            <a:rPr lang="en-AU" sz="2400" b="0" i="1" smtClean="0">
                              <a:latin typeface="Cambria Math" panose="02040503050406030204" pitchFamily="18" charset="0"/>
                            </a:rPr>
                            <m:t>2</m:t>
                          </m:r>
                        </m:sup>
                      </m:sSup>
                      <m:r>
                        <a:rPr lang="en-AU" sz="2400" b="0" i="1" smtClean="0">
                          <a:latin typeface="Cambria Math" panose="02040503050406030204" pitchFamily="18" charset="0"/>
                        </a:rPr>
                        <m:t>+</m:t>
                      </m:r>
                      <m:sSub>
                        <m:sSubPr>
                          <m:ctrlPr>
                            <a:rPr lang="en-AU" sz="2400" b="0" i="1" smtClean="0">
                              <a:latin typeface="Cambria Math" panose="02040503050406030204" pitchFamily="18" charset="0"/>
                            </a:rPr>
                          </m:ctrlPr>
                        </m:sSubPr>
                        <m:e>
                          <m:r>
                            <a:rPr lang="en-AU" sz="2400" b="0" i="1" smtClean="0">
                              <a:latin typeface="Cambria Math" panose="02040503050406030204" pitchFamily="18" charset="0"/>
                            </a:rPr>
                            <m:t>𝑎</m:t>
                          </m:r>
                        </m:e>
                        <m:sub>
                          <m:r>
                            <a:rPr lang="en-AU" sz="2400" b="0" i="1" smtClean="0">
                              <a:latin typeface="Cambria Math" panose="02040503050406030204" pitchFamily="18" charset="0"/>
                            </a:rPr>
                            <m:t>1</m:t>
                          </m:r>
                        </m:sub>
                      </m:sSub>
                      <m:r>
                        <a:rPr lang="en-AU" sz="2400" b="0" i="1" smtClean="0">
                          <a:latin typeface="Cambria Math" panose="02040503050406030204" pitchFamily="18" charset="0"/>
                        </a:rPr>
                        <m:t>𝑥</m:t>
                      </m:r>
                      <m:r>
                        <a:rPr lang="en-AU" sz="2400" b="0" i="0" smtClean="0">
                          <a:latin typeface="Cambria Math" panose="02040503050406030204" pitchFamily="18" charset="0"/>
                        </a:rPr>
                        <m:t>+</m:t>
                      </m:r>
                      <m:sSub>
                        <m:sSubPr>
                          <m:ctrlPr>
                            <a:rPr lang="en-AU" sz="2400" b="0" i="1" smtClean="0">
                              <a:latin typeface="Cambria Math" panose="02040503050406030204" pitchFamily="18" charset="0"/>
                            </a:rPr>
                          </m:ctrlPr>
                        </m:sSubPr>
                        <m:e>
                          <m:r>
                            <a:rPr lang="en-AU" sz="2400" b="0" i="1" smtClean="0">
                              <a:latin typeface="Cambria Math" panose="02040503050406030204" pitchFamily="18" charset="0"/>
                            </a:rPr>
                            <m:t>𝑎</m:t>
                          </m:r>
                        </m:e>
                        <m:sub>
                          <m:r>
                            <a:rPr lang="en-AU" sz="2400" b="0" i="1" smtClean="0">
                              <a:latin typeface="Cambria Math" panose="02040503050406030204" pitchFamily="18" charset="0"/>
                            </a:rPr>
                            <m:t>0</m:t>
                          </m:r>
                        </m:sub>
                      </m:sSub>
                    </m:oMath>
                  </m:oMathPara>
                </a14:m>
                <a:endParaRPr lang="en-AU" sz="2400" b="0" dirty="0">
                  <a:latin typeface="+mj-lt"/>
                </a:endParaRPr>
              </a:p>
              <a:p>
                <a:endParaRPr lang="en-GB" sz="2400" dirty="0">
                  <a:latin typeface="+mj-lt"/>
                </a:endParaRPr>
              </a:p>
              <a:p>
                <a:r>
                  <a:rPr lang="en-GB" sz="2400" dirty="0">
                    <a:latin typeface="+mj-lt"/>
                  </a:rPr>
                  <a:t>where </a:t>
                </a:r>
                <a14:m>
                  <m:oMath xmlns:m="http://schemas.openxmlformats.org/officeDocument/2006/math">
                    <m:sSub>
                      <m:sSubPr>
                        <m:ctrlPr>
                          <a:rPr lang="en-GB" sz="2400" i="1" smtClean="0">
                            <a:latin typeface="Cambria Math" panose="02040503050406030204" pitchFamily="18" charset="0"/>
                          </a:rPr>
                        </m:ctrlPr>
                      </m:sSubPr>
                      <m:e>
                        <m:r>
                          <a:rPr lang="en-AU" sz="2400" b="0" i="1" smtClean="0">
                            <a:latin typeface="Cambria Math" panose="02040503050406030204" pitchFamily="18" charset="0"/>
                          </a:rPr>
                          <m:t>𝑎</m:t>
                        </m:r>
                      </m:e>
                      <m:sub>
                        <m:r>
                          <a:rPr lang="en-AU" sz="2400" b="0" i="1" smtClean="0">
                            <a:latin typeface="Cambria Math" panose="02040503050406030204" pitchFamily="18" charset="0"/>
                          </a:rPr>
                          <m:t>𝑖</m:t>
                        </m:r>
                      </m:sub>
                    </m:sSub>
                    <m:r>
                      <a:rPr lang="en-GB" sz="2400" i="1" smtClean="0">
                        <a:latin typeface="Cambria Math" panose="02040503050406030204" pitchFamily="18" charset="0"/>
                        <a:ea typeface="Cambria Math" panose="02040503050406030204" pitchFamily="18" charset="0"/>
                      </a:rPr>
                      <m:t>∈</m:t>
                    </m:r>
                    <m:r>
                      <a:rPr lang="en-GB" sz="2400" i="1" smtClean="0">
                        <a:latin typeface="Cambria Math" panose="02040503050406030204" pitchFamily="18" charset="0"/>
                        <a:ea typeface="Cambria Math" panose="02040503050406030204" pitchFamily="18" charset="0"/>
                      </a:rPr>
                      <m:t>ℝ</m:t>
                    </m:r>
                  </m:oMath>
                </a14:m>
                <a:r>
                  <a:rPr lang="en-GB" sz="2400" dirty="0">
                    <a:latin typeface="+mj-lt"/>
                  </a:rPr>
                  <a:t> are constants, for </a:t>
                </a:r>
                <a14:m>
                  <m:oMath xmlns:m="http://schemas.openxmlformats.org/officeDocument/2006/math">
                    <m:r>
                      <a:rPr lang="en-AU" sz="2400" b="0" i="1" smtClean="0">
                        <a:latin typeface="Cambria Math" panose="02040503050406030204" pitchFamily="18" charset="0"/>
                      </a:rPr>
                      <m:t>𝑖</m:t>
                    </m:r>
                    <m:r>
                      <a:rPr lang="en-AU" sz="2400" b="0" i="1" smtClean="0">
                        <a:latin typeface="Cambria Math" panose="02040503050406030204" pitchFamily="18" charset="0"/>
                      </a:rPr>
                      <m:t>=0,1,2,…,</m:t>
                    </m:r>
                    <m:r>
                      <a:rPr lang="en-AU" sz="2400" b="0" i="1" smtClean="0">
                        <a:latin typeface="Cambria Math" panose="02040503050406030204" pitchFamily="18" charset="0"/>
                      </a:rPr>
                      <m:t>𝑛</m:t>
                    </m:r>
                  </m:oMath>
                </a14:m>
                <a:r>
                  <a:rPr lang="en-GB" sz="2400" dirty="0">
                    <a:latin typeface="+mj-lt"/>
                  </a:rPr>
                  <a:t>. These constants can be zero except for the term corresponding to </a:t>
                </a:r>
                <a14:m>
                  <m:oMath xmlns:m="http://schemas.openxmlformats.org/officeDocument/2006/math">
                    <m:r>
                      <a:rPr lang="en-AU" sz="2400" b="0" i="1" smtClean="0">
                        <a:latin typeface="Cambria Math" panose="02040503050406030204" pitchFamily="18" charset="0"/>
                      </a:rPr>
                      <m:t>𝑖</m:t>
                    </m:r>
                    <m:r>
                      <a:rPr lang="en-AU" sz="2400" b="0" i="1" smtClean="0">
                        <a:latin typeface="Cambria Math" panose="02040503050406030204" pitchFamily="18" charset="0"/>
                      </a:rPr>
                      <m:t>=</m:t>
                    </m:r>
                    <m:r>
                      <a:rPr lang="en-AU" sz="2400" b="0" i="1" smtClean="0">
                        <a:latin typeface="Cambria Math" panose="02040503050406030204" pitchFamily="18" charset="0"/>
                      </a:rPr>
                      <m:t>𝑛</m:t>
                    </m:r>
                  </m:oMath>
                </a14:m>
                <a:r>
                  <a:rPr lang="en-GB" sz="2400" dirty="0">
                    <a:latin typeface="+mj-lt"/>
                  </a:rPr>
                  <a:t>.</a:t>
                </a:r>
              </a:p>
              <a:p>
                <a:r>
                  <a:rPr lang="en-GB" sz="2400" dirty="0">
                    <a:latin typeface="+mj-lt"/>
                  </a:rPr>
                  <a:t>The degree of the polynomial corresponds to the highest term </a:t>
                </a:r>
                <a14:m>
                  <m:oMath xmlns:m="http://schemas.openxmlformats.org/officeDocument/2006/math">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𝑥</m:t>
                        </m:r>
                      </m:e>
                      <m:sup>
                        <m:r>
                          <a:rPr lang="en-AU" sz="2400" b="0" i="1" smtClean="0">
                            <a:latin typeface="Cambria Math" panose="02040503050406030204" pitchFamily="18" charset="0"/>
                          </a:rPr>
                          <m:t>𝑛</m:t>
                        </m:r>
                      </m:sup>
                    </m:sSup>
                  </m:oMath>
                </a14:m>
                <a:r>
                  <a:rPr lang="en-GB" sz="2400" dirty="0">
                    <a:latin typeface="+mj-lt"/>
                  </a:rPr>
                  <a:t> in the expression above.</a:t>
                </a:r>
              </a:p>
            </p:txBody>
          </p:sp>
        </mc:Choice>
        <mc:Fallback xmlns="">
          <p:sp>
            <p:nvSpPr>
              <p:cNvPr id="4" name="TextBox 3">
                <a:extLst>
                  <a:ext uri="{FF2B5EF4-FFF2-40B4-BE49-F238E27FC236}">
                    <a16:creationId xmlns:a16="http://schemas.microsoft.com/office/drawing/2014/main" id="{69344509-F72A-42B6-BEFC-98E5BF337B0B}"/>
                  </a:ext>
                </a:extLst>
              </p:cNvPr>
              <p:cNvSpPr txBox="1">
                <a:spLocks noRot="1" noChangeAspect="1" noMove="1" noResize="1" noEditPoints="1" noAdjustHandles="1" noChangeArrowheads="1" noChangeShapeType="1" noTextEdit="1"/>
              </p:cNvSpPr>
              <p:nvPr/>
            </p:nvSpPr>
            <p:spPr>
              <a:xfrm>
                <a:off x="240535" y="2396689"/>
                <a:ext cx="11710929" cy="2677656"/>
              </a:xfrm>
              <a:prstGeom prst="rect">
                <a:avLst/>
              </a:prstGeom>
              <a:blipFill>
                <a:blip r:embed="rId2"/>
                <a:stretch>
                  <a:fillRect l="-780" t="-1822" b="-4328"/>
                </a:stretch>
              </a:blipFill>
            </p:spPr>
            <p:txBody>
              <a:bodyPr/>
              <a:lstStyle/>
              <a:p>
                <a:r>
                  <a:rPr lang="en-GB">
                    <a:noFill/>
                  </a:rPr>
                  <a:t> </a:t>
                </a:r>
              </a:p>
            </p:txBody>
          </p:sp>
        </mc:Fallback>
      </mc:AlternateContent>
    </p:spTree>
    <p:extLst>
      <p:ext uri="{BB962C8B-B14F-4D97-AF65-F5344CB8AC3E}">
        <p14:creationId xmlns:p14="http://schemas.microsoft.com/office/powerpoint/2010/main" val="998530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3661067" cy="523220"/>
          </a:xfrm>
          <a:prstGeom prst="rect">
            <a:avLst/>
          </a:prstGeom>
          <a:noFill/>
        </p:spPr>
        <p:txBody>
          <a:bodyPr wrap="none" rtlCol="0">
            <a:spAutoFit/>
          </a:bodyPr>
          <a:lstStyle/>
          <a:p>
            <a:r>
              <a:rPr lang="en-AU" sz="2800" b="1" cap="small" dirty="0">
                <a:solidFill>
                  <a:schemeClr val="bg1"/>
                </a:solidFill>
                <a:latin typeface="+mj-lt"/>
              </a:rPr>
              <a:t>1.5 Elementary functions</a:t>
            </a:r>
            <a:endParaRPr lang="en-GB" sz="2800" b="1" cap="small" dirty="0">
              <a:solidFill>
                <a:schemeClr val="bg1"/>
              </a:solidFill>
              <a:latin typeface="+mj-lt"/>
            </a:endParaRPr>
          </a:p>
        </p:txBody>
      </p:sp>
      <p:sp>
        <p:nvSpPr>
          <p:cNvPr id="2" name="TextBox 1">
            <a:extLst>
              <a:ext uri="{FF2B5EF4-FFF2-40B4-BE49-F238E27FC236}">
                <a16:creationId xmlns:a16="http://schemas.microsoft.com/office/drawing/2014/main" id="{334C49E2-30E7-4808-BEE2-A91F5138A2E2}"/>
              </a:ext>
            </a:extLst>
          </p:cNvPr>
          <p:cNvSpPr txBox="1"/>
          <p:nvPr/>
        </p:nvSpPr>
        <p:spPr>
          <a:xfrm>
            <a:off x="301020" y="1048888"/>
            <a:ext cx="2409827" cy="461665"/>
          </a:xfrm>
          <a:prstGeom prst="rect">
            <a:avLst/>
          </a:prstGeom>
          <a:noFill/>
          <a:ln>
            <a:solidFill>
              <a:schemeClr val="accent2">
                <a:lumMod val="50000"/>
              </a:schemeClr>
            </a:solidFill>
          </a:ln>
        </p:spPr>
        <p:txBody>
          <a:bodyPr wrap="none" rtlCol="0">
            <a:spAutoFit/>
          </a:bodyPr>
          <a:lstStyle/>
          <a:p>
            <a:r>
              <a:rPr lang="en-AU" sz="2400" dirty="0">
                <a:latin typeface="+mj-lt"/>
              </a:rPr>
              <a:t>Rational functions</a:t>
            </a:r>
            <a:endParaRPr lang="en-GB" sz="2400" dirty="0">
              <a:latin typeface="+mj-lt"/>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69344509-F72A-42B6-BEFC-98E5BF337B0B}"/>
                  </a:ext>
                </a:extLst>
              </p:cNvPr>
              <p:cNvSpPr txBox="1"/>
              <p:nvPr/>
            </p:nvSpPr>
            <p:spPr>
              <a:xfrm>
                <a:off x="301020" y="1858807"/>
                <a:ext cx="11710929" cy="3862148"/>
              </a:xfrm>
              <a:prstGeom prst="rect">
                <a:avLst/>
              </a:prstGeom>
              <a:noFill/>
            </p:spPr>
            <p:txBody>
              <a:bodyPr wrap="square" rtlCol="0">
                <a:spAutoFit/>
              </a:bodyPr>
              <a:lstStyle/>
              <a:p>
                <a:r>
                  <a:rPr lang="en-AU" sz="2400" dirty="0">
                    <a:latin typeface="+mj-lt"/>
                  </a:rPr>
                  <a:t>A rational function </a:t>
                </a:r>
                <a14:m>
                  <m:oMath xmlns:m="http://schemas.openxmlformats.org/officeDocument/2006/math">
                    <m:r>
                      <a:rPr lang="en-AU" sz="2400" b="0" i="1" smtClean="0">
                        <a:latin typeface="Cambria Math" panose="02040503050406030204" pitchFamily="18" charset="0"/>
                      </a:rPr>
                      <m:t>𝑅</m:t>
                    </m:r>
                    <m:r>
                      <a:rPr lang="en-AU" sz="2400" b="0" i="1" smtClean="0">
                        <a:latin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ℝ</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ℝ</m:t>
                    </m:r>
                  </m:oMath>
                </a14:m>
                <a:r>
                  <a:rPr lang="en-GB" sz="2400" dirty="0">
                    <a:latin typeface="+mj-lt"/>
                  </a:rPr>
                  <a:t> </a:t>
                </a:r>
                <a:r>
                  <a:rPr lang="en-AU" sz="2400" dirty="0">
                    <a:latin typeface="+mj-lt"/>
                  </a:rPr>
                  <a:t>is the ratio of two polynomials, generally of different degrees, </a:t>
                </a:r>
                <a14:m>
                  <m:oMath xmlns:m="http://schemas.openxmlformats.org/officeDocument/2006/math">
                    <m:r>
                      <a:rPr lang="en-AU" sz="2400" b="0" i="1" smtClean="0">
                        <a:latin typeface="Cambria Math" panose="02040503050406030204" pitchFamily="18" charset="0"/>
                      </a:rPr>
                      <m:t>𝑃</m:t>
                    </m:r>
                  </m:oMath>
                </a14:m>
                <a:r>
                  <a:rPr lang="en-GB" sz="2400" dirty="0">
                    <a:latin typeface="+mj-lt"/>
                  </a:rPr>
                  <a:t> and </a:t>
                </a:r>
                <a14:m>
                  <m:oMath xmlns:m="http://schemas.openxmlformats.org/officeDocument/2006/math">
                    <m:r>
                      <a:rPr lang="en-AU" sz="2400" b="0" i="1" smtClean="0">
                        <a:latin typeface="Cambria Math" panose="02040503050406030204" pitchFamily="18" charset="0"/>
                      </a:rPr>
                      <m:t>𝑄</m:t>
                    </m:r>
                  </m:oMath>
                </a14:m>
                <a:r>
                  <a:rPr lang="en-GB" sz="2400" dirty="0">
                    <a:latin typeface="+mj-lt"/>
                  </a:rPr>
                  <a:t>. If </a:t>
                </a:r>
                <a14:m>
                  <m:oMath xmlns:m="http://schemas.openxmlformats.org/officeDocument/2006/math">
                    <m:r>
                      <a:rPr lang="en-AU" sz="2400" i="1">
                        <a:latin typeface="Cambria Math" panose="02040503050406030204" pitchFamily="18" charset="0"/>
                      </a:rPr>
                      <m:t>𝑃</m:t>
                    </m:r>
                  </m:oMath>
                </a14:m>
                <a:r>
                  <a:rPr lang="en-GB" sz="2400" dirty="0">
                    <a:latin typeface="+mj-lt"/>
                  </a:rPr>
                  <a:t> is of order </a:t>
                </a:r>
                <a14:m>
                  <m:oMath xmlns:m="http://schemas.openxmlformats.org/officeDocument/2006/math">
                    <m:r>
                      <a:rPr lang="en-AU" sz="2400" b="0" i="1" smtClean="0">
                        <a:latin typeface="Cambria Math" panose="02040503050406030204" pitchFamily="18" charset="0"/>
                      </a:rPr>
                      <m:t>𝑛</m:t>
                    </m:r>
                  </m:oMath>
                </a14:m>
                <a:r>
                  <a:rPr lang="en-GB" sz="2400" dirty="0">
                    <a:latin typeface="+mj-lt"/>
                  </a:rPr>
                  <a:t> and </a:t>
                </a:r>
                <a14:m>
                  <m:oMath xmlns:m="http://schemas.openxmlformats.org/officeDocument/2006/math">
                    <m:r>
                      <a:rPr lang="en-AU" sz="2400" i="1">
                        <a:latin typeface="Cambria Math" panose="02040503050406030204" pitchFamily="18" charset="0"/>
                      </a:rPr>
                      <m:t>𝑄</m:t>
                    </m:r>
                  </m:oMath>
                </a14:m>
                <a:r>
                  <a:rPr lang="en-GB" sz="2400" dirty="0">
                    <a:latin typeface="+mj-lt"/>
                  </a:rPr>
                  <a:t> is of order </a:t>
                </a:r>
                <a14:m>
                  <m:oMath xmlns:m="http://schemas.openxmlformats.org/officeDocument/2006/math">
                    <m:r>
                      <a:rPr lang="en-AU" sz="2400" b="0" i="1" smtClean="0">
                        <a:latin typeface="Cambria Math" panose="02040503050406030204" pitchFamily="18" charset="0"/>
                      </a:rPr>
                      <m:t>𝑚</m:t>
                    </m:r>
                  </m:oMath>
                </a14:m>
                <a:r>
                  <a:rPr lang="en-GB" sz="2400" dirty="0">
                    <a:latin typeface="+mj-lt"/>
                  </a:rPr>
                  <a:t>, with generally </a:t>
                </a:r>
                <a14:m>
                  <m:oMath xmlns:m="http://schemas.openxmlformats.org/officeDocument/2006/math">
                    <m:r>
                      <a:rPr lang="en-AU" sz="2400" b="0" i="1" smtClean="0">
                        <a:latin typeface="Cambria Math" panose="02040503050406030204" pitchFamily="18" charset="0"/>
                      </a:rPr>
                      <m:t>𝑛</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𝑚</m:t>
                    </m:r>
                  </m:oMath>
                </a14:m>
                <a:r>
                  <a:rPr lang="en-GB" sz="2400" dirty="0">
                    <a:latin typeface="+mj-lt"/>
                  </a:rPr>
                  <a:t>, the general expression of a rational function is:</a:t>
                </a:r>
              </a:p>
              <a:p>
                <a:endParaRPr lang="en-GB" sz="2400" dirty="0">
                  <a:latin typeface="+mj-lt"/>
                </a:endParaRPr>
              </a:p>
              <a:p>
                <a:pPr/>
                <a14:m>
                  <m:oMathPara xmlns:m="http://schemas.openxmlformats.org/officeDocument/2006/math">
                    <m:oMathParaPr>
                      <m:jc m:val="centerGroup"/>
                    </m:oMathParaPr>
                    <m:oMath xmlns:m="http://schemas.openxmlformats.org/officeDocument/2006/math">
                      <m:r>
                        <a:rPr lang="en-AU" sz="2400" b="0" i="1" smtClean="0">
                          <a:latin typeface="Cambria Math" panose="02040503050406030204" pitchFamily="18" charset="0"/>
                        </a:rPr>
                        <m:t>𝑅</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r>
                        <a:rPr lang="en-AU" sz="2400" b="0" i="1" smtClean="0">
                          <a:latin typeface="Cambria Math" panose="02040503050406030204" pitchFamily="18" charset="0"/>
                        </a:rPr>
                        <m:t>=</m:t>
                      </m:r>
                      <m:f>
                        <m:fPr>
                          <m:ctrlPr>
                            <a:rPr lang="en-AU" sz="2400" b="0" i="1" smtClean="0">
                              <a:latin typeface="Cambria Math" panose="02040503050406030204" pitchFamily="18" charset="0"/>
                            </a:rPr>
                          </m:ctrlPr>
                        </m:fPr>
                        <m:num>
                          <m:r>
                            <a:rPr lang="en-AU" sz="2400" b="0" i="1" smtClean="0">
                              <a:latin typeface="Cambria Math" panose="02040503050406030204" pitchFamily="18" charset="0"/>
                            </a:rPr>
                            <m:t>𝑃</m:t>
                          </m:r>
                          <m:r>
                            <a:rPr lang="en-AU" sz="2400" b="0" i="1" smtClean="0">
                              <a:latin typeface="Cambria Math" panose="02040503050406030204" pitchFamily="18" charset="0"/>
                            </a:rPr>
                            <m:t>(</m:t>
                          </m:r>
                          <m:r>
                            <a:rPr lang="en-AU" sz="2400" b="0" i="1" smtClean="0">
                              <a:latin typeface="Cambria Math" panose="02040503050406030204" pitchFamily="18" charset="0"/>
                            </a:rPr>
                            <m:t>𝑥</m:t>
                          </m:r>
                          <m:r>
                            <a:rPr lang="en-AU" sz="2400" b="0" i="1" smtClean="0">
                              <a:latin typeface="Cambria Math" panose="02040503050406030204" pitchFamily="18" charset="0"/>
                            </a:rPr>
                            <m:t>)</m:t>
                          </m:r>
                        </m:num>
                        <m:den>
                          <m:r>
                            <a:rPr lang="en-AU" sz="2400" b="0" i="1" smtClean="0">
                              <a:latin typeface="Cambria Math" panose="02040503050406030204" pitchFamily="18" charset="0"/>
                            </a:rPr>
                            <m:t>𝑄</m:t>
                          </m:r>
                          <m:r>
                            <a:rPr lang="en-AU" sz="2400" b="0" i="1" smtClean="0">
                              <a:latin typeface="Cambria Math" panose="02040503050406030204" pitchFamily="18" charset="0"/>
                            </a:rPr>
                            <m:t>(</m:t>
                          </m:r>
                          <m:r>
                            <a:rPr lang="en-AU" sz="2400" b="0" i="1" smtClean="0">
                              <a:latin typeface="Cambria Math" panose="02040503050406030204" pitchFamily="18" charset="0"/>
                            </a:rPr>
                            <m:t>𝑥</m:t>
                          </m:r>
                          <m:r>
                            <a:rPr lang="en-AU" sz="2400" b="0" i="1" smtClean="0">
                              <a:latin typeface="Cambria Math" panose="02040503050406030204" pitchFamily="18" charset="0"/>
                            </a:rPr>
                            <m:t>)</m:t>
                          </m:r>
                        </m:den>
                      </m:f>
                      <m:r>
                        <a:rPr lang="en-AU" sz="2400" b="0" i="1" smtClean="0">
                          <a:latin typeface="Cambria Math" panose="02040503050406030204" pitchFamily="18" charset="0"/>
                        </a:rPr>
                        <m:t>=</m:t>
                      </m:r>
                      <m:f>
                        <m:fPr>
                          <m:ctrlPr>
                            <a:rPr lang="en-AU" sz="2400" b="0" i="1" smtClean="0">
                              <a:latin typeface="Cambria Math" panose="02040503050406030204" pitchFamily="18" charset="0"/>
                            </a:rPr>
                          </m:ctrlPr>
                        </m:fPr>
                        <m:num>
                          <m:sSub>
                            <m:sSubPr>
                              <m:ctrlPr>
                                <a:rPr lang="en-AU" sz="2400" i="1">
                                  <a:latin typeface="Cambria Math" panose="02040503050406030204" pitchFamily="18" charset="0"/>
                                </a:rPr>
                              </m:ctrlPr>
                            </m:sSubPr>
                            <m:e>
                              <m:r>
                                <a:rPr lang="en-AU" sz="2400" i="1">
                                  <a:latin typeface="Cambria Math" panose="02040503050406030204" pitchFamily="18" charset="0"/>
                                </a:rPr>
                                <m:t>𝑎</m:t>
                              </m:r>
                            </m:e>
                            <m:sub>
                              <m:r>
                                <a:rPr lang="en-AU" sz="2400" i="1">
                                  <a:latin typeface="Cambria Math" panose="02040503050406030204" pitchFamily="18" charset="0"/>
                                </a:rPr>
                                <m:t>𝑛</m:t>
                              </m:r>
                            </m:sub>
                          </m:sSub>
                          <m:sSup>
                            <m:sSupPr>
                              <m:ctrlPr>
                                <a:rPr lang="en-AU" sz="2400" i="1">
                                  <a:latin typeface="Cambria Math" panose="02040503050406030204" pitchFamily="18" charset="0"/>
                                </a:rPr>
                              </m:ctrlPr>
                            </m:sSupPr>
                            <m:e>
                              <m:r>
                                <a:rPr lang="en-AU" sz="2400" i="1">
                                  <a:latin typeface="Cambria Math" panose="02040503050406030204" pitchFamily="18" charset="0"/>
                                </a:rPr>
                                <m:t>𝑥</m:t>
                              </m:r>
                            </m:e>
                            <m:sup>
                              <m:r>
                                <a:rPr lang="en-AU" sz="2400" i="1">
                                  <a:latin typeface="Cambria Math" panose="02040503050406030204" pitchFamily="18" charset="0"/>
                                </a:rPr>
                                <m:t>𝑛</m:t>
                              </m:r>
                            </m:sup>
                          </m:sSup>
                          <m:r>
                            <a:rPr lang="en-AU" sz="2400" i="1">
                              <a:latin typeface="Cambria Math" panose="02040503050406030204" pitchFamily="18" charset="0"/>
                            </a:rPr>
                            <m:t>+</m:t>
                          </m:r>
                          <m:sSub>
                            <m:sSubPr>
                              <m:ctrlPr>
                                <a:rPr lang="en-AU" sz="2400" i="1">
                                  <a:latin typeface="Cambria Math" panose="02040503050406030204" pitchFamily="18" charset="0"/>
                                </a:rPr>
                              </m:ctrlPr>
                            </m:sSubPr>
                            <m:e>
                              <m:r>
                                <a:rPr lang="en-AU" sz="2400" i="1">
                                  <a:latin typeface="Cambria Math" panose="02040503050406030204" pitchFamily="18" charset="0"/>
                                </a:rPr>
                                <m:t>𝑎</m:t>
                              </m:r>
                            </m:e>
                            <m:sub>
                              <m:r>
                                <a:rPr lang="en-AU" sz="2400" i="1">
                                  <a:latin typeface="Cambria Math" panose="02040503050406030204" pitchFamily="18" charset="0"/>
                                </a:rPr>
                                <m:t>𝑛</m:t>
                              </m:r>
                              <m:r>
                                <a:rPr lang="en-AU" sz="2400" i="1">
                                  <a:latin typeface="Cambria Math" panose="02040503050406030204" pitchFamily="18" charset="0"/>
                                </a:rPr>
                                <m:t>−1</m:t>
                              </m:r>
                            </m:sub>
                          </m:sSub>
                          <m:sSup>
                            <m:sSupPr>
                              <m:ctrlPr>
                                <a:rPr lang="en-AU" sz="2400" i="1">
                                  <a:latin typeface="Cambria Math" panose="02040503050406030204" pitchFamily="18" charset="0"/>
                                </a:rPr>
                              </m:ctrlPr>
                            </m:sSupPr>
                            <m:e>
                              <m:r>
                                <a:rPr lang="en-AU" sz="2400" i="1">
                                  <a:latin typeface="Cambria Math" panose="02040503050406030204" pitchFamily="18" charset="0"/>
                                </a:rPr>
                                <m:t>𝑥</m:t>
                              </m:r>
                            </m:e>
                            <m:sup>
                              <m:r>
                                <a:rPr lang="en-AU" sz="2400" i="1">
                                  <a:latin typeface="Cambria Math" panose="02040503050406030204" pitchFamily="18" charset="0"/>
                                </a:rPr>
                                <m:t>𝑛</m:t>
                              </m:r>
                              <m:r>
                                <a:rPr lang="en-AU" sz="2400" i="1">
                                  <a:latin typeface="Cambria Math" panose="02040503050406030204" pitchFamily="18" charset="0"/>
                                </a:rPr>
                                <m:t>−1</m:t>
                              </m:r>
                            </m:sup>
                          </m:sSup>
                          <m:r>
                            <a:rPr lang="en-AU" sz="2400" i="1">
                              <a:latin typeface="Cambria Math" panose="02040503050406030204" pitchFamily="18" charset="0"/>
                            </a:rPr>
                            <m:t>+…+</m:t>
                          </m:r>
                          <m:sSub>
                            <m:sSubPr>
                              <m:ctrlPr>
                                <a:rPr lang="en-AU" sz="2400" i="1">
                                  <a:latin typeface="Cambria Math" panose="02040503050406030204" pitchFamily="18" charset="0"/>
                                </a:rPr>
                              </m:ctrlPr>
                            </m:sSubPr>
                            <m:e>
                              <m:r>
                                <a:rPr lang="en-AU" sz="2400" i="1">
                                  <a:latin typeface="Cambria Math" panose="02040503050406030204" pitchFamily="18" charset="0"/>
                                </a:rPr>
                                <m:t>𝑎</m:t>
                              </m:r>
                            </m:e>
                            <m:sub>
                              <m:r>
                                <a:rPr lang="en-AU" sz="2400" i="1">
                                  <a:latin typeface="Cambria Math" panose="02040503050406030204" pitchFamily="18" charset="0"/>
                                </a:rPr>
                                <m:t>2</m:t>
                              </m:r>
                            </m:sub>
                          </m:sSub>
                          <m:sSup>
                            <m:sSupPr>
                              <m:ctrlPr>
                                <a:rPr lang="en-AU" sz="2400" i="1">
                                  <a:latin typeface="Cambria Math" panose="02040503050406030204" pitchFamily="18" charset="0"/>
                                </a:rPr>
                              </m:ctrlPr>
                            </m:sSupPr>
                            <m:e>
                              <m:r>
                                <a:rPr lang="en-AU" sz="2400" i="1">
                                  <a:latin typeface="Cambria Math" panose="02040503050406030204" pitchFamily="18" charset="0"/>
                                </a:rPr>
                                <m:t>𝑥</m:t>
                              </m:r>
                            </m:e>
                            <m:sup>
                              <m:r>
                                <a:rPr lang="en-AU" sz="2400" i="1">
                                  <a:latin typeface="Cambria Math" panose="02040503050406030204" pitchFamily="18" charset="0"/>
                                </a:rPr>
                                <m:t>2</m:t>
                              </m:r>
                            </m:sup>
                          </m:sSup>
                          <m:r>
                            <a:rPr lang="en-AU" sz="2400" i="1">
                              <a:latin typeface="Cambria Math" panose="02040503050406030204" pitchFamily="18" charset="0"/>
                            </a:rPr>
                            <m:t>+</m:t>
                          </m:r>
                          <m:sSub>
                            <m:sSubPr>
                              <m:ctrlPr>
                                <a:rPr lang="en-AU" sz="2400" i="1">
                                  <a:latin typeface="Cambria Math" panose="02040503050406030204" pitchFamily="18" charset="0"/>
                                </a:rPr>
                              </m:ctrlPr>
                            </m:sSubPr>
                            <m:e>
                              <m:r>
                                <a:rPr lang="en-AU" sz="2400" i="1">
                                  <a:latin typeface="Cambria Math" panose="02040503050406030204" pitchFamily="18" charset="0"/>
                                </a:rPr>
                                <m:t>𝑎</m:t>
                              </m:r>
                            </m:e>
                            <m:sub>
                              <m:r>
                                <a:rPr lang="en-AU" sz="2400" i="1">
                                  <a:latin typeface="Cambria Math" panose="02040503050406030204" pitchFamily="18" charset="0"/>
                                </a:rPr>
                                <m:t>1</m:t>
                              </m:r>
                            </m:sub>
                          </m:sSub>
                          <m:r>
                            <a:rPr lang="en-AU" sz="2400" i="1">
                              <a:latin typeface="Cambria Math" panose="02040503050406030204" pitchFamily="18" charset="0"/>
                            </a:rPr>
                            <m:t>𝑥</m:t>
                          </m:r>
                          <m:r>
                            <a:rPr lang="en-AU" sz="2400">
                              <a:latin typeface="Cambria Math" panose="02040503050406030204" pitchFamily="18" charset="0"/>
                            </a:rPr>
                            <m:t>+</m:t>
                          </m:r>
                          <m:sSub>
                            <m:sSubPr>
                              <m:ctrlPr>
                                <a:rPr lang="en-AU" sz="2400" i="1">
                                  <a:latin typeface="Cambria Math" panose="02040503050406030204" pitchFamily="18" charset="0"/>
                                </a:rPr>
                              </m:ctrlPr>
                            </m:sSubPr>
                            <m:e>
                              <m:r>
                                <a:rPr lang="en-AU" sz="2400" i="1">
                                  <a:latin typeface="Cambria Math" panose="02040503050406030204" pitchFamily="18" charset="0"/>
                                </a:rPr>
                                <m:t>𝑎</m:t>
                              </m:r>
                            </m:e>
                            <m:sub>
                              <m:r>
                                <a:rPr lang="en-AU" sz="2400" i="1">
                                  <a:latin typeface="Cambria Math" panose="02040503050406030204" pitchFamily="18" charset="0"/>
                                </a:rPr>
                                <m:t>0</m:t>
                              </m:r>
                            </m:sub>
                          </m:sSub>
                        </m:num>
                        <m:den>
                          <m:sSub>
                            <m:sSubPr>
                              <m:ctrlPr>
                                <a:rPr lang="en-AU" sz="2400" i="1">
                                  <a:latin typeface="Cambria Math" panose="02040503050406030204" pitchFamily="18" charset="0"/>
                                </a:rPr>
                              </m:ctrlPr>
                            </m:sSubPr>
                            <m:e>
                              <m:r>
                                <a:rPr lang="en-AU" sz="2400" b="0" i="1" smtClean="0">
                                  <a:latin typeface="Cambria Math" panose="02040503050406030204" pitchFamily="18" charset="0"/>
                                </a:rPr>
                                <m:t>𝑏</m:t>
                              </m:r>
                            </m:e>
                            <m:sub>
                              <m:r>
                                <a:rPr lang="en-AU" sz="2400" b="0" i="1" smtClean="0">
                                  <a:latin typeface="Cambria Math" panose="02040503050406030204" pitchFamily="18" charset="0"/>
                                </a:rPr>
                                <m:t>𝑚</m:t>
                              </m:r>
                            </m:sub>
                          </m:sSub>
                          <m:sSup>
                            <m:sSupPr>
                              <m:ctrlPr>
                                <a:rPr lang="en-AU" sz="2400" i="1">
                                  <a:latin typeface="Cambria Math" panose="02040503050406030204" pitchFamily="18" charset="0"/>
                                </a:rPr>
                              </m:ctrlPr>
                            </m:sSupPr>
                            <m:e>
                              <m:r>
                                <a:rPr lang="en-AU" sz="2400" i="1">
                                  <a:latin typeface="Cambria Math" panose="02040503050406030204" pitchFamily="18" charset="0"/>
                                </a:rPr>
                                <m:t>𝑥</m:t>
                              </m:r>
                            </m:e>
                            <m:sup>
                              <m:r>
                                <a:rPr lang="en-AU" sz="2400" b="0" i="1" smtClean="0">
                                  <a:latin typeface="Cambria Math" panose="02040503050406030204" pitchFamily="18" charset="0"/>
                                </a:rPr>
                                <m:t>𝑚</m:t>
                              </m:r>
                            </m:sup>
                          </m:sSup>
                          <m:r>
                            <a:rPr lang="en-AU" sz="2400" i="1">
                              <a:latin typeface="Cambria Math" panose="02040503050406030204" pitchFamily="18" charset="0"/>
                            </a:rPr>
                            <m:t>+</m:t>
                          </m:r>
                          <m:sSub>
                            <m:sSubPr>
                              <m:ctrlPr>
                                <a:rPr lang="en-AU" sz="2400" i="1">
                                  <a:latin typeface="Cambria Math" panose="02040503050406030204" pitchFamily="18" charset="0"/>
                                </a:rPr>
                              </m:ctrlPr>
                            </m:sSubPr>
                            <m:e>
                              <m:r>
                                <a:rPr lang="en-AU" sz="2400" b="0" i="1" smtClean="0">
                                  <a:latin typeface="Cambria Math" panose="02040503050406030204" pitchFamily="18" charset="0"/>
                                </a:rPr>
                                <m:t>𝑏</m:t>
                              </m:r>
                            </m:e>
                            <m:sub>
                              <m:r>
                                <a:rPr lang="en-AU" sz="2400" b="0" i="1" smtClean="0">
                                  <a:latin typeface="Cambria Math" panose="02040503050406030204" pitchFamily="18" charset="0"/>
                                </a:rPr>
                                <m:t>𝑚</m:t>
                              </m:r>
                              <m:r>
                                <a:rPr lang="en-AU" sz="2400" i="1">
                                  <a:latin typeface="Cambria Math" panose="02040503050406030204" pitchFamily="18" charset="0"/>
                                </a:rPr>
                                <m:t>−1</m:t>
                              </m:r>
                            </m:sub>
                          </m:sSub>
                          <m:sSup>
                            <m:sSupPr>
                              <m:ctrlPr>
                                <a:rPr lang="en-AU" sz="2400" i="1">
                                  <a:latin typeface="Cambria Math" panose="02040503050406030204" pitchFamily="18" charset="0"/>
                                </a:rPr>
                              </m:ctrlPr>
                            </m:sSupPr>
                            <m:e>
                              <m:r>
                                <a:rPr lang="en-AU" sz="2400" i="1">
                                  <a:latin typeface="Cambria Math" panose="02040503050406030204" pitchFamily="18" charset="0"/>
                                </a:rPr>
                                <m:t>𝑥</m:t>
                              </m:r>
                            </m:e>
                            <m:sup>
                              <m:r>
                                <a:rPr lang="en-AU" sz="2400" b="0" i="1" smtClean="0">
                                  <a:latin typeface="Cambria Math" panose="02040503050406030204" pitchFamily="18" charset="0"/>
                                </a:rPr>
                                <m:t>𝑚</m:t>
                              </m:r>
                              <m:r>
                                <a:rPr lang="en-AU" sz="2400" i="1">
                                  <a:latin typeface="Cambria Math" panose="02040503050406030204" pitchFamily="18" charset="0"/>
                                </a:rPr>
                                <m:t>−1</m:t>
                              </m:r>
                            </m:sup>
                          </m:sSup>
                          <m:r>
                            <a:rPr lang="en-AU" sz="2400" i="1">
                              <a:latin typeface="Cambria Math" panose="02040503050406030204" pitchFamily="18" charset="0"/>
                            </a:rPr>
                            <m:t>+…+</m:t>
                          </m:r>
                          <m:sSub>
                            <m:sSubPr>
                              <m:ctrlPr>
                                <a:rPr lang="en-AU" sz="2400" i="1">
                                  <a:latin typeface="Cambria Math" panose="02040503050406030204" pitchFamily="18" charset="0"/>
                                </a:rPr>
                              </m:ctrlPr>
                            </m:sSubPr>
                            <m:e>
                              <m:r>
                                <a:rPr lang="en-AU" sz="2400" b="0" i="1" smtClean="0">
                                  <a:latin typeface="Cambria Math" panose="02040503050406030204" pitchFamily="18" charset="0"/>
                                </a:rPr>
                                <m:t>𝑏</m:t>
                              </m:r>
                            </m:e>
                            <m:sub>
                              <m:r>
                                <a:rPr lang="en-AU" sz="2400" i="1">
                                  <a:latin typeface="Cambria Math" panose="02040503050406030204" pitchFamily="18" charset="0"/>
                                </a:rPr>
                                <m:t>2</m:t>
                              </m:r>
                            </m:sub>
                          </m:sSub>
                          <m:sSup>
                            <m:sSupPr>
                              <m:ctrlPr>
                                <a:rPr lang="en-AU" sz="2400" i="1">
                                  <a:latin typeface="Cambria Math" panose="02040503050406030204" pitchFamily="18" charset="0"/>
                                </a:rPr>
                              </m:ctrlPr>
                            </m:sSupPr>
                            <m:e>
                              <m:r>
                                <a:rPr lang="en-AU" sz="2400" i="1">
                                  <a:latin typeface="Cambria Math" panose="02040503050406030204" pitchFamily="18" charset="0"/>
                                </a:rPr>
                                <m:t>𝑥</m:t>
                              </m:r>
                            </m:e>
                            <m:sup>
                              <m:r>
                                <a:rPr lang="en-AU" sz="2400" i="1">
                                  <a:latin typeface="Cambria Math" panose="02040503050406030204" pitchFamily="18" charset="0"/>
                                </a:rPr>
                                <m:t>2</m:t>
                              </m:r>
                            </m:sup>
                          </m:sSup>
                          <m:r>
                            <a:rPr lang="en-AU" sz="2400" i="1">
                              <a:latin typeface="Cambria Math" panose="02040503050406030204" pitchFamily="18" charset="0"/>
                            </a:rPr>
                            <m:t>+</m:t>
                          </m:r>
                          <m:sSub>
                            <m:sSubPr>
                              <m:ctrlPr>
                                <a:rPr lang="en-AU" sz="2400" i="1">
                                  <a:latin typeface="Cambria Math" panose="02040503050406030204" pitchFamily="18" charset="0"/>
                                </a:rPr>
                              </m:ctrlPr>
                            </m:sSubPr>
                            <m:e>
                              <m:r>
                                <a:rPr lang="en-AU" sz="2400" b="0" i="1" smtClean="0">
                                  <a:latin typeface="Cambria Math" panose="02040503050406030204" pitchFamily="18" charset="0"/>
                                </a:rPr>
                                <m:t>𝑏</m:t>
                              </m:r>
                            </m:e>
                            <m:sub>
                              <m:r>
                                <a:rPr lang="en-AU" sz="2400" i="1">
                                  <a:latin typeface="Cambria Math" panose="02040503050406030204" pitchFamily="18" charset="0"/>
                                </a:rPr>
                                <m:t>1</m:t>
                              </m:r>
                            </m:sub>
                          </m:sSub>
                          <m:r>
                            <a:rPr lang="en-AU" sz="2400" i="1">
                              <a:latin typeface="Cambria Math" panose="02040503050406030204" pitchFamily="18" charset="0"/>
                            </a:rPr>
                            <m:t>𝑥</m:t>
                          </m:r>
                          <m:r>
                            <a:rPr lang="en-AU" sz="2400">
                              <a:latin typeface="Cambria Math" panose="02040503050406030204" pitchFamily="18" charset="0"/>
                            </a:rPr>
                            <m:t>+</m:t>
                          </m:r>
                          <m:sSub>
                            <m:sSubPr>
                              <m:ctrlPr>
                                <a:rPr lang="en-AU" sz="2400" i="1">
                                  <a:latin typeface="Cambria Math" panose="02040503050406030204" pitchFamily="18" charset="0"/>
                                </a:rPr>
                              </m:ctrlPr>
                            </m:sSubPr>
                            <m:e>
                              <m:r>
                                <a:rPr lang="en-AU" sz="2400" b="0" i="1" smtClean="0">
                                  <a:latin typeface="Cambria Math" panose="02040503050406030204" pitchFamily="18" charset="0"/>
                                </a:rPr>
                                <m:t>𝑏</m:t>
                              </m:r>
                            </m:e>
                            <m:sub>
                              <m:r>
                                <a:rPr lang="en-AU" sz="2400" i="1">
                                  <a:latin typeface="Cambria Math" panose="02040503050406030204" pitchFamily="18" charset="0"/>
                                </a:rPr>
                                <m:t>0</m:t>
                              </m:r>
                            </m:sub>
                          </m:sSub>
                        </m:den>
                      </m:f>
                    </m:oMath>
                  </m:oMathPara>
                </a14:m>
                <a:endParaRPr lang="en-AU" sz="2400" b="0" dirty="0">
                  <a:latin typeface="+mj-lt"/>
                </a:endParaRPr>
              </a:p>
              <a:p>
                <a:endParaRPr lang="en-AU" sz="2400" b="0" i="1" dirty="0">
                  <a:latin typeface="Cambria Math" panose="02040503050406030204" pitchFamily="18" charset="0"/>
                </a:endParaRPr>
              </a:p>
              <a:p>
                <a14:m>
                  <m:oMath xmlns:m="http://schemas.openxmlformats.org/officeDocument/2006/math">
                    <m:r>
                      <a:rPr lang="en-AU" sz="2400" b="0" i="1" smtClean="0">
                        <a:latin typeface="Cambria Math" panose="02040503050406030204" pitchFamily="18" charset="0"/>
                      </a:rPr>
                      <m:t>𝑅</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oMath>
                </a14:m>
                <a:r>
                  <a:rPr lang="en-GB" sz="2400" dirty="0">
                    <a:latin typeface="+mj-lt"/>
                  </a:rPr>
                  <a:t> is undefined for all those </a:t>
                </a:r>
                <a14:m>
                  <m:oMath xmlns:m="http://schemas.openxmlformats.org/officeDocument/2006/math">
                    <m:sSub>
                      <m:sSubPr>
                        <m:ctrlPr>
                          <a:rPr lang="en-GB" sz="2400" i="1" smtClean="0">
                            <a:latin typeface="Cambria Math" panose="02040503050406030204" pitchFamily="18" charset="0"/>
                          </a:rPr>
                        </m:ctrlPr>
                      </m:sSubPr>
                      <m:e>
                        <m:r>
                          <a:rPr lang="en-AU" sz="2400" b="0" i="1" smtClean="0">
                            <a:latin typeface="Cambria Math" panose="02040503050406030204" pitchFamily="18" charset="0"/>
                          </a:rPr>
                          <m:t>𝑥</m:t>
                        </m:r>
                      </m:e>
                      <m:sub>
                        <m:r>
                          <a:rPr lang="en-AU" sz="2400" b="0" i="1" smtClean="0">
                            <a:latin typeface="Cambria Math" panose="02040503050406030204" pitchFamily="18" charset="0"/>
                          </a:rPr>
                          <m:t>0</m:t>
                        </m:r>
                      </m:sub>
                    </m:sSub>
                    <m:r>
                      <a:rPr lang="en-GB" sz="2400" i="1" smtClean="0">
                        <a:latin typeface="Cambria Math" panose="02040503050406030204" pitchFamily="18" charset="0"/>
                        <a:ea typeface="Cambria Math" panose="02040503050406030204" pitchFamily="18" charset="0"/>
                      </a:rPr>
                      <m:t>∈</m:t>
                    </m:r>
                    <m:r>
                      <a:rPr lang="en-GB" sz="2400" i="1" smtClean="0">
                        <a:latin typeface="Cambria Math" panose="02040503050406030204" pitchFamily="18" charset="0"/>
                        <a:ea typeface="Cambria Math" panose="02040503050406030204" pitchFamily="18" charset="0"/>
                      </a:rPr>
                      <m:t>ℝ</m:t>
                    </m:r>
                  </m:oMath>
                </a14:m>
                <a:r>
                  <a:rPr lang="en-GB" sz="2400" dirty="0">
                    <a:latin typeface="+mj-lt"/>
                  </a:rPr>
                  <a:t> that are solutions to </a:t>
                </a:r>
                <a14:m>
                  <m:oMath xmlns:m="http://schemas.openxmlformats.org/officeDocument/2006/math">
                    <m:r>
                      <a:rPr lang="en-AU" sz="2400" i="1">
                        <a:latin typeface="Cambria Math" panose="02040503050406030204" pitchFamily="18" charset="0"/>
                      </a:rPr>
                      <m:t>𝑄</m:t>
                    </m:r>
                    <m:d>
                      <m:dPr>
                        <m:ctrlPr>
                          <a:rPr lang="en-AU" sz="2400" i="1">
                            <a:latin typeface="Cambria Math" panose="02040503050406030204" pitchFamily="18" charset="0"/>
                          </a:rPr>
                        </m:ctrlPr>
                      </m:dPr>
                      <m:e>
                        <m:r>
                          <a:rPr lang="en-AU" sz="2400" i="1">
                            <a:latin typeface="Cambria Math" panose="02040503050406030204" pitchFamily="18" charset="0"/>
                          </a:rPr>
                          <m:t>𝑥</m:t>
                        </m:r>
                      </m:e>
                    </m:d>
                    <m:r>
                      <a:rPr lang="en-AU" sz="2400" b="0" i="1" smtClean="0">
                        <a:latin typeface="Cambria Math" panose="02040503050406030204" pitchFamily="18" charset="0"/>
                      </a:rPr>
                      <m:t>=0</m:t>
                    </m:r>
                  </m:oMath>
                </a14:m>
                <a:r>
                  <a:rPr lang="en-GB" sz="2400" dirty="0">
                    <a:latin typeface="+mj-lt"/>
                  </a:rPr>
                  <a:t>, i.e.</a:t>
                </a:r>
              </a:p>
              <a:p>
                <a:endParaRPr lang="en-GB" sz="2400" dirty="0">
                  <a:latin typeface="+mj-lt"/>
                </a:endParaRPr>
              </a:p>
              <a:p>
                <a:pPr/>
                <a14:m>
                  <m:oMathPara xmlns:m="http://schemas.openxmlformats.org/officeDocument/2006/math">
                    <m:oMathParaPr>
                      <m:jc m:val="centerGroup"/>
                    </m:oMathParaPr>
                    <m:oMath xmlns:m="http://schemas.openxmlformats.org/officeDocument/2006/math">
                      <m:sSub>
                        <m:sSubPr>
                          <m:ctrlPr>
                            <a:rPr lang="en-AU" sz="2400" i="1" smtClean="0">
                              <a:latin typeface="Cambria Math" panose="02040503050406030204" pitchFamily="18" charset="0"/>
                            </a:rPr>
                          </m:ctrlPr>
                        </m:sSubPr>
                        <m:e>
                          <m:r>
                            <a:rPr lang="en-AU" sz="2400" b="0" i="1" smtClean="0">
                              <a:latin typeface="Cambria Math" panose="02040503050406030204" pitchFamily="18" charset="0"/>
                            </a:rPr>
                            <m:t>𝑏</m:t>
                          </m:r>
                        </m:e>
                        <m:sub>
                          <m:r>
                            <a:rPr lang="en-AU" sz="2400" b="0" i="1" smtClean="0">
                              <a:latin typeface="Cambria Math" panose="02040503050406030204" pitchFamily="18" charset="0"/>
                            </a:rPr>
                            <m:t>𝑚</m:t>
                          </m:r>
                        </m:sub>
                      </m:sSub>
                      <m:sSubSup>
                        <m:sSubSupPr>
                          <m:ctrlPr>
                            <a:rPr lang="en-AU" sz="2400" b="0" i="1" smtClean="0">
                              <a:latin typeface="Cambria Math" panose="02040503050406030204" pitchFamily="18" charset="0"/>
                            </a:rPr>
                          </m:ctrlPr>
                        </m:sSubSupPr>
                        <m:e>
                          <m:r>
                            <a:rPr lang="en-AU" sz="2400" b="0" i="1" smtClean="0">
                              <a:latin typeface="Cambria Math" panose="02040503050406030204" pitchFamily="18" charset="0"/>
                            </a:rPr>
                            <m:t>𝑥</m:t>
                          </m:r>
                        </m:e>
                        <m:sub>
                          <m:r>
                            <a:rPr lang="en-AU" sz="2400" b="0" i="1" smtClean="0">
                              <a:latin typeface="Cambria Math" panose="02040503050406030204" pitchFamily="18" charset="0"/>
                            </a:rPr>
                            <m:t>0</m:t>
                          </m:r>
                        </m:sub>
                        <m:sup>
                          <m:r>
                            <a:rPr lang="en-AU" sz="2400" b="0" i="1" smtClean="0">
                              <a:latin typeface="Cambria Math" panose="02040503050406030204" pitchFamily="18" charset="0"/>
                            </a:rPr>
                            <m:t>𝑚</m:t>
                          </m:r>
                        </m:sup>
                      </m:sSubSup>
                      <m:r>
                        <a:rPr lang="en-AU" sz="2400" i="1">
                          <a:latin typeface="Cambria Math" panose="02040503050406030204" pitchFamily="18" charset="0"/>
                        </a:rPr>
                        <m:t>+</m:t>
                      </m:r>
                      <m:sSub>
                        <m:sSubPr>
                          <m:ctrlPr>
                            <a:rPr lang="en-AU" sz="2400" i="1">
                              <a:latin typeface="Cambria Math" panose="02040503050406030204" pitchFamily="18" charset="0"/>
                            </a:rPr>
                          </m:ctrlPr>
                        </m:sSubPr>
                        <m:e>
                          <m:r>
                            <a:rPr lang="en-AU" sz="2400" b="0" i="1" smtClean="0">
                              <a:latin typeface="Cambria Math" panose="02040503050406030204" pitchFamily="18" charset="0"/>
                            </a:rPr>
                            <m:t>𝑏</m:t>
                          </m:r>
                        </m:e>
                        <m:sub>
                          <m:r>
                            <a:rPr lang="en-AU" sz="2400" b="0" i="1" smtClean="0">
                              <a:latin typeface="Cambria Math" panose="02040503050406030204" pitchFamily="18" charset="0"/>
                            </a:rPr>
                            <m:t>𝑚</m:t>
                          </m:r>
                          <m:r>
                            <a:rPr lang="en-AU" sz="2400" i="1">
                              <a:latin typeface="Cambria Math" panose="02040503050406030204" pitchFamily="18" charset="0"/>
                            </a:rPr>
                            <m:t>−1</m:t>
                          </m:r>
                        </m:sub>
                      </m:sSub>
                      <m:sSubSup>
                        <m:sSubSupPr>
                          <m:ctrlPr>
                            <a:rPr lang="en-AU" sz="2400" i="1" smtClean="0">
                              <a:latin typeface="Cambria Math" panose="02040503050406030204" pitchFamily="18" charset="0"/>
                            </a:rPr>
                          </m:ctrlPr>
                        </m:sSubSupPr>
                        <m:e>
                          <m:r>
                            <a:rPr lang="en-AU" sz="2400" i="1">
                              <a:latin typeface="Cambria Math" panose="02040503050406030204" pitchFamily="18" charset="0"/>
                            </a:rPr>
                            <m:t>𝑥</m:t>
                          </m:r>
                        </m:e>
                        <m:sub>
                          <m:r>
                            <a:rPr lang="en-AU" sz="2400" b="0" i="1" smtClean="0">
                              <a:latin typeface="Cambria Math" panose="02040503050406030204" pitchFamily="18" charset="0"/>
                            </a:rPr>
                            <m:t>0</m:t>
                          </m:r>
                        </m:sub>
                        <m:sup>
                          <m:r>
                            <a:rPr lang="en-AU" sz="2400" i="1">
                              <a:latin typeface="Cambria Math" panose="02040503050406030204" pitchFamily="18" charset="0"/>
                            </a:rPr>
                            <m:t>𝑚</m:t>
                          </m:r>
                          <m:r>
                            <a:rPr lang="en-AU" sz="2400" i="1">
                              <a:latin typeface="Cambria Math" panose="02040503050406030204" pitchFamily="18" charset="0"/>
                            </a:rPr>
                            <m:t>−1</m:t>
                          </m:r>
                        </m:sup>
                      </m:sSubSup>
                      <m:r>
                        <a:rPr lang="en-AU" sz="2400" i="1">
                          <a:latin typeface="Cambria Math" panose="02040503050406030204" pitchFamily="18" charset="0"/>
                        </a:rPr>
                        <m:t>+…+</m:t>
                      </m:r>
                      <m:sSub>
                        <m:sSubPr>
                          <m:ctrlPr>
                            <a:rPr lang="en-AU" sz="2400" i="1">
                              <a:latin typeface="Cambria Math" panose="02040503050406030204" pitchFamily="18" charset="0"/>
                            </a:rPr>
                          </m:ctrlPr>
                        </m:sSubPr>
                        <m:e>
                          <m:r>
                            <a:rPr lang="en-AU" sz="2400" b="0" i="1" smtClean="0">
                              <a:latin typeface="Cambria Math" panose="02040503050406030204" pitchFamily="18" charset="0"/>
                            </a:rPr>
                            <m:t>𝑏</m:t>
                          </m:r>
                        </m:e>
                        <m:sub>
                          <m:r>
                            <a:rPr lang="en-AU" sz="2400" i="1">
                              <a:latin typeface="Cambria Math" panose="02040503050406030204" pitchFamily="18" charset="0"/>
                            </a:rPr>
                            <m:t>2</m:t>
                          </m:r>
                        </m:sub>
                      </m:sSub>
                      <m:sSubSup>
                        <m:sSubSupPr>
                          <m:ctrlPr>
                            <a:rPr lang="en-AU" sz="2400" i="1" smtClean="0">
                              <a:latin typeface="Cambria Math" panose="02040503050406030204" pitchFamily="18" charset="0"/>
                            </a:rPr>
                          </m:ctrlPr>
                        </m:sSubSupPr>
                        <m:e>
                          <m:r>
                            <a:rPr lang="en-AU" sz="2400" b="0" i="1" smtClean="0">
                              <a:latin typeface="Cambria Math" panose="02040503050406030204" pitchFamily="18" charset="0"/>
                            </a:rPr>
                            <m:t>𝑥</m:t>
                          </m:r>
                        </m:e>
                        <m:sub>
                          <m:r>
                            <a:rPr lang="en-AU" sz="2400" b="0" i="1" smtClean="0">
                              <a:latin typeface="Cambria Math" panose="02040503050406030204" pitchFamily="18" charset="0"/>
                            </a:rPr>
                            <m:t>0</m:t>
                          </m:r>
                        </m:sub>
                        <m:sup>
                          <m:r>
                            <a:rPr lang="en-AU" sz="2400" b="0" i="1" smtClean="0">
                              <a:latin typeface="Cambria Math" panose="02040503050406030204" pitchFamily="18" charset="0"/>
                            </a:rPr>
                            <m:t>2</m:t>
                          </m:r>
                        </m:sup>
                      </m:sSubSup>
                      <m:r>
                        <a:rPr lang="en-AU" sz="2400" i="1">
                          <a:latin typeface="Cambria Math" panose="02040503050406030204" pitchFamily="18" charset="0"/>
                        </a:rPr>
                        <m:t>+</m:t>
                      </m:r>
                      <m:sSub>
                        <m:sSubPr>
                          <m:ctrlPr>
                            <a:rPr lang="en-AU" sz="2400" i="1">
                              <a:latin typeface="Cambria Math" panose="02040503050406030204" pitchFamily="18" charset="0"/>
                            </a:rPr>
                          </m:ctrlPr>
                        </m:sSubPr>
                        <m:e>
                          <m:r>
                            <a:rPr lang="en-AU" sz="2400" b="0" i="1" smtClean="0">
                              <a:latin typeface="Cambria Math" panose="02040503050406030204" pitchFamily="18" charset="0"/>
                            </a:rPr>
                            <m:t>𝑏</m:t>
                          </m:r>
                        </m:e>
                        <m:sub>
                          <m:r>
                            <a:rPr lang="en-AU" sz="2400" i="1">
                              <a:latin typeface="Cambria Math" panose="02040503050406030204" pitchFamily="18" charset="0"/>
                            </a:rPr>
                            <m:t>1</m:t>
                          </m:r>
                        </m:sub>
                      </m:sSub>
                      <m:sSub>
                        <m:sSubPr>
                          <m:ctrlPr>
                            <a:rPr lang="en-AU" sz="2400" i="1" smtClean="0">
                              <a:latin typeface="Cambria Math" panose="02040503050406030204" pitchFamily="18" charset="0"/>
                            </a:rPr>
                          </m:ctrlPr>
                        </m:sSubPr>
                        <m:e>
                          <m:r>
                            <a:rPr lang="en-AU" sz="2400" i="1">
                              <a:latin typeface="Cambria Math" panose="02040503050406030204" pitchFamily="18" charset="0"/>
                            </a:rPr>
                            <m:t>𝑥</m:t>
                          </m:r>
                        </m:e>
                        <m:sub>
                          <m:r>
                            <a:rPr lang="en-AU" sz="2400" b="0" i="1" smtClean="0">
                              <a:latin typeface="Cambria Math" panose="02040503050406030204" pitchFamily="18" charset="0"/>
                            </a:rPr>
                            <m:t>0</m:t>
                          </m:r>
                        </m:sub>
                      </m:sSub>
                      <m:r>
                        <a:rPr lang="en-AU" sz="2400">
                          <a:latin typeface="Cambria Math" panose="02040503050406030204" pitchFamily="18" charset="0"/>
                        </a:rPr>
                        <m:t>+</m:t>
                      </m:r>
                      <m:sSub>
                        <m:sSubPr>
                          <m:ctrlPr>
                            <a:rPr lang="en-AU" sz="2400" i="1">
                              <a:latin typeface="Cambria Math" panose="02040503050406030204" pitchFamily="18" charset="0"/>
                            </a:rPr>
                          </m:ctrlPr>
                        </m:sSubPr>
                        <m:e>
                          <m:r>
                            <a:rPr lang="en-AU" sz="2400" b="0" i="1" smtClean="0">
                              <a:latin typeface="Cambria Math" panose="02040503050406030204" pitchFamily="18" charset="0"/>
                            </a:rPr>
                            <m:t>𝑏</m:t>
                          </m:r>
                        </m:e>
                        <m:sub>
                          <m:r>
                            <a:rPr lang="en-AU" sz="2400" i="1">
                              <a:latin typeface="Cambria Math" panose="02040503050406030204" pitchFamily="18" charset="0"/>
                            </a:rPr>
                            <m:t>0</m:t>
                          </m:r>
                        </m:sub>
                      </m:sSub>
                      <m:r>
                        <a:rPr lang="en-AU" sz="2400" b="0" i="1" smtClean="0">
                          <a:latin typeface="Cambria Math" panose="02040503050406030204" pitchFamily="18" charset="0"/>
                        </a:rPr>
                        <m:t>=0</m:t>
                      </m:r>
                    </m:oMath>
                  </m:oMathPara>
                </a14:m>
                <a:endParaRPr lang="en-GB" sz="2400" dirty="0">
                  <a:latin typeface="+mj-lt"/>
                </a:endParaRPr>
              </a:p>
            </p:txBody>
          </p:sp>
        </mc:Choice>
        <mc:Fallback xmlns="">
          <p:sp>
            <p:nvSpPr>
              <p:cNvPr id="4" name="TextBox 3">
                <a:extLst>
                  <a:ext uri="{FF2B5EF4-FFF2-40B4-BE49-F238E27FC236}">
                    <a16:creationId xmlns:a16="http://schemas.microsoft.com/office/drawing/2014/main" id="{69344509-F72A-42B6-BEFC-98E5BF337B0B}"/>
                  </a:ext>
                </a:extLst>
              </p:cNvPr>
              <p:cNvSpPr txBox="1">
                <a:spLocks noRot="1" noChangeAspect="1" noMove="1" noResize="1" noEditPoints="1" noAdjustHandles="1" noChangeArrowheads="1" noChangeShapeType="1" noTextEdit="1"/>
              </p:cNvSpPr>
              <p:nvPr/>
            </p:nvSpPr>
            <p:spPr>
              <a:xfrm>
                <a:off x="301020" y="1858807"/>
                <a:ext cx="11710929" cy="3862148"/>
              </a:xfrm>
              <a:prstGeom prst="rect">
                <a:avLst/>
              </a:prstGeom>
              <a:blipFill>
                <a:blip r:embed="rId2"/>
                <a:stretch>
                  <a:fillRect l="-781" t="-1264" r="-1353"/>
                </a:stretch>
              </a:blipFill>
            </p:spPr>
            <p:txBody>
              <a:bodyPr/>
              <a:lstStyle/>
              <a:p>
                <a:r>
                  <a:rPr lang="en-GB">
                    <a:noFill/>
                  </a:rPr>
                  <a:t> </a:t>
                </a:r>
              </a:p>
            </p:txBody>
          </p:sp>
        </mc:Fallback>
      </mc:AlternateContent>
    </p:spTree>
    <p:extLst>
      <p:ext uri="{BB962C8B-B14F-4D97-AF65-F5344CB8AC3E}">
        <p14:creationId xmlns:p14="http://schemas.microsoft.com/office/powerpoint/2010/main" val="25423435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3661067" cy="523220"/>
          </a:xfrm>
          <a:prstGeom prst="rect">
            <a:avLst/>
          </a:prstGeom>
          <a:noFill/>
        </p:spPr>
        <p:txBody>
          <a:bodyPr wrap="none" rtlCol="0">
            <a:spAutoFit/>
          </a:bodyPr>
          <a:lstStyle/>
          <a:p>
            <a:r>
              <a:rPr lang="en-AU" sz="2800" b="1" cap="small" dirty="0">
                <a:solidFill>
                  <a:schemeClr val="bg1"/>
                </a:solidFill>
                <a:latin typeface="+mj-lt"/>
              </a:rPr>
              <a:t>1.5 Elementary functions</a:t>
            </a:r>
            <a:endParaRPr lang="en-GB" sz="2800" b="1" cap="small" dirty="0">
              <a:solidFill>
                <a:schemeClr val="bg1"/>
              </a:solidFill>
              <a:latin typeface="+mj-lt"/>
            </a:endParaRPr>
          </a:p>
        </p:txBody>
      </p:sp>
      <p:sp>
        <p:nvSpPr>
          <p:cNvPr id="2" name="TextBox 1">
            <a:extLst>
              <a:ext uri="{FF2B5EF4-FFF2-40B4-BE49-F238E27FC236}">
                <a16:creationId xmlns:a16="http://schemas.microsoft.com/office/drawing/2014/main" id="{334C49E2-30E7-4808-BEE2-A91F5138A2E2}"/>
              </a:ext>
            </a:extLst>
          </p:cNvPr>
          <p:cNvSpPr txBox="1"/>
          <p:nvPr/>
        </p:nvSpPr>
        <p:spPr>
          <a:xfrm>
            <a:off x="301020" y="1048888"/>
            <a:ext cx="2409827" cy="461665"/>
          </a:xfrm>
          <a:prstGeom prst="rect">
            <a:avLst/>
          </a:prstGeom>
          <a:noFill/>
          <a:ln>
            <a:solidFill>
              <a:schemeClr val="accent2">
                <a:lumMod val="50000"/>
              </a:schemeClr>
            </a:solidFill>
          </a:ln>
        </p:spPr>
        <p:txBody>
          <a:bodyPr wrap="none" rtlCol="0">
            <a:spAutoFit/>
          </a:bodyPr>
          <a:lstStyle/>
          <a:p>
            <a:r>
              <a:rPr lang="en-AU" sz="2400" dirty="0">
                <a:latin typeface="+mj-lt"/>
              </a:rPr>
              <a:t>Rational functions</a:t>
            </a:r>
            <a:endParaRPr lang="en-GB" sz="2400" dirty="0">
              <a:latin typeface="+mj-lt"/>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69344509-F72A-42B6-BEFC-98E5BF337B0B}"/>
                  </a:ext>
                </a:extLst>
              </p:cNvPr>
              <p:cNvSpPr txBox="1"/>
              <p:nvPr/>
            </p:nvSpPr>
            <p:spPr>
              <a:xfrm>
                <a:off x="301020" y="1858807"/>
                <a:ext cx="11710929" cy="3799566"/>
              </a:xfrm>
              <a:prstGeom prst="rect">
                <a:avLst/>
              </a:prstGeom>
              <a:noFill/>
            </p:spPr>
            <p:txBody>
              <a:bodyPr wrap="square" rtlCol="0">
                <a:spAutoFit/>
              </a:bodyPr>
              <a:lstStyle/>
              <a:p>
                <a:r>
                  <a:rPr lang="en-AU" sz="2400" dirty="0">
                    <a:latin typeface="+mj-lt"/>
                  </a:rPr>
                  <a:t>If the degree of </a:t>
                </a:r>
                <a14:m>
                  <m:oMath xmlns:m="http://schemas.openxmlformats.org/officeDocument/2006/math">
                    <m:r>
                      <a:rPr lang="en-AU" sz="2400" b="0" i="1" smtClean="0">
                        <a:latin typeface="Cambria Math" panose="02040503050406030204" pitchFamily="18" charset="0"/>
                      </a:rPr>
                      <m:t>𝑃</m:t>
                    </m:r>
                    <m:r>
                      <a:rPr lang="en-AU" sz="2400" b="0" i="1" smtClean="0">
                        <a:latin typeface="Cambria Math" panose="02040503050406030204" pitchFamily="18" charset="0"/>
                      </a:rPr>
                      <m:t>(</m:t>
                    </m:r>
                    <m:r>
                      <a:rPr lang="en-AU" sz="2400" b="0" i="1" smtClean="0">
                        <a:latin typeface="Cambria Math" panose="02040503050406030204" pitchFamily="18" charset="0"/>
                      </a:rPr>
                      <m:t>𝑥</m:t>
                    </m:r>
                    <m:r>
                      <a:rPr lang="en-AU" sz="2400" b="0" i="1" smtClean="0">
                        <a:latin typeface="Cambria Math" panose="02040503050406030204" pitchFamily="18" charset="0"/>
                      </a:rPr>
                      <m:t>)</m:t>
                    </m:r>
                  </m:oMath>
                </a14:m>
                <a:r>
                  <a:rPr lang="en-GB" sz="2400" dirty="0">
                    <a:latin typeface="+mj-lt"/>
                  </a:rPr>
                  <a:t> is less than the degree of </a:t>
                </a:r>
                <a14:m>
                  <m:oMath xmlns:m="http://schemas.openxmlformats.org/officeDocument/2006/math">
                    <m:r>
                      <a:rPr lang="en-AU" sz="2400" i="1">
                        <a:latin typeface="Cambria Math" panose="02040503050406030204" pitchFamily="18" charset="0"/>
                      </a:rPr>
                      <m:t>𝑄</m:t>
                    </m:r>
                    <m:r>
                      <a:rPr lang="en-AU" sz="2400" i="1">
                        <a:latin typeface="Cambria Math" panose="02040503050406030204" pitchFamily="18" charset="0"/>
                      </a:rPr>
                      <m:t>(</m:t>
                    </m:r>
                    <m:r>
                      <a:rPr lang="en-AU" sz="2400" i="1">
                        <a:latin typeface="Cambria Math" panose="02040503050406030204" pitchFamily="18" charset="0"/>
                      </a:rPr>
                      <m:t>𝑥</m:t>
                    </m:r>
                    <m:r>
                      <a:rPr lang="en-AU" sz="2400" i="1">
                        <a:latin typeface="Cambria Math" panose="02040503050406030204" pitchFamily="18" charset="0"/>
                      </a:rPr>
                      <m:t>)</m:t>
                    </m:r>
                  </m:oMath>
                </a14:m>
                <a:r>
                  <a:rPr lang="en-GB" sz="2400" dirty="0">
                    <a:latin typeface="+mj-lt"/>
                  </a:rPr>
                  <a:t>, the rational function is “proper”. If the degree of </a:t>
                </a:r>
                <a14:m>
                  <m:oMath xmlns:m="http://schemas.openxmlformats.org/officeDocument/2006/math">
                    <m:r>
                      <a:rPr lang="en-AU" sz="2400" b="0" i="1" smtClean="0">
                        <a:latin typeface="Cambria Math" panose="02040503050406030204" pitchFamily="18" charset="0"/>
                      </a:rPr>
                      <m:t>𝑃</m:t>
                    </m:r>
                    <m:r>
                      <a:rPr lang="en-AU" sz="2400" i="1">
                        <a:latin typeface="Cambria Math" panose="02040503050406030204" pitchFamily="18" charset="0"/>
                      </a:rPr>
                      <m:t>(</m:t>
                    </m:r>
                    <m:r>
                      <a:rPr lang="en-AU" sz="2400" i="1">
                        <a:latin typeface="Cambria Math" panose="02040503050406030204" pitchFamily="18" charset="0"/>
                      </a:rPr>
                      <m:t>𝑥</m:t>
                    </m:r>
                    <m:r>
                      <a:rPr lang="en-AU" sz="2400" b="0" i="1" smtClean="0">
                        <a:latin typeface="Cambria Math" panose="02040503050406030204" pitchFamily="18" charset="0"/>
                      </a:rPr>
                      <m:t>)</m:t>
                    </m:r>
                  </m:oMath>
                </a14:m>
                <a:r>
                  <a:rPr lang="en-GB" sz="2400" dirty="0">
                    <a:latin typeface="+mj-lt"/>
                  </a:rPr>
                  <a:t> is greater that the degree of </a:t>
                </a:r>
                <a14:m>
                  <m:oMath xmlns:m="http://schemas.openxmlformats.org/officeDocument/2006/math">
                    <m:r>
                      <a:rPr lang="en-AU" sz="2400" i="1">
                        <a:latin typeface="Cambria Math" panose="02040503050406030204" pitchFamily="18" charset="0"/>
                      </a:rPr>
                      <m:t>𝑄</m:t>
                    </m:r>
                    <m:r>
                      <a:rPr lang="en-AU" sz="2400" i="1">
                        <a:latin typeface="Cambria Math" panose="02040503050406030204" pitchFamily="18" charset="0"/>
                      </a:rPr>
                      <m:t>(</m:t>
                    </m:r>
                    <m:r>
                      <a:rPr lang="en-AU" sz="2400" i="1">
                        <a:latin typeface="Cambria Math" panose="02040503050406030204" pitchFamily="18" charset="0"/>
                      </a:rPr>
                      <m:t>𝑥</m:t>
                    </m:r>
                    <m:r>
                      <a:rPr lang="en-AU" sz="2400" i="1">
                        <a:latin typeface="Cambria Math" panose="02040503050406030204" pitchFamily="18" charset="0"/>
                      </a:rPr>
                      <m:t>)</m:t>
                    </m:r>
                  </m:oMath>
                </a14:m>
                <a:r>
                  <a:rPr lang="en-GB" sz="2400" dirty="0">
                    <a:latin typeface="+mj-lt"/>
                  </a:rPr>
                  <a:t>, then the rational function is “improper”.</a:t>
                </a:r>
              </a:p>
              <a:p>
                <a:r>
                  <a:rPr lang="en-GB" sz="2400" dirty="0">
                    <a:latin typeface="+mj-lt"/>
                  </a:rPr>
                  <a:t>Improper rational functions can always be rewritten as the sum of a polynomial </a:t>
                </a:r>
                <a14:m>
                  <m:oMath xmlns:m="http://schemas.openxmlformats.org/officeDocument/2006/math">
                    <m:r>
                      <a:rPr lang="en-AU" sz="2400" i="1">
                        <a:latin typeface="Cambria Math" panose="02040503050406030204" pitchFamily="18" charset="0"/>
                      </a:rPr>
                      <m:t>𝑆</m:t>
                    </m:r>
                    <m:r>
                      <a:rPr lang="en-AU" sz="2400" b="0" i="1" smtClean="0">
                        <a:latin typeface="Cambria Math" panose="02040503050406030204" pitchFamily="18" charset="0"/>
                      </a:rPr>
                      <m:t>(</m:t>
                    </m:r>
                    <m:r>
                      <a:rPr lang="en-AU" sz="2400" b="0" i="1" smtClean="0">
                        <a:latin typeface="Cambria Math" panose="02040503050406030204" pitchFamily="18" charset="0"/>
                      </a:rPr>
                      <m:t>𝑥</m:t>
                    </m:r>
                    <m:r>
                      <a:rPr lang="en-AU" sz="2400" b="0" i="1" smtClean="0">
                        <a:latin typeface="Cambria Math" panose="02040503050406030204" pitchFamily="18" charset="0"/>
                      </a:rPr>
                      <m:t>)</m:t>
                    </m:r>
                  </m:oMath>
                </a14:m>
                <a:r>
                  <a:rPr lang="en-GB" sz="2400" dirty="0">
                    <a:latin typeface="+mj-lt"/>
                  </a:rPr>
                  <a:t> and a proper rational function </a:t>
                </a:r>
                <a14:m>
                  <m:oMath xmlns:m="http://schemas.openxmlformats.org/officeDocument/2006/math">
                    <m:r>
                      <a:rPr lang="en-AU" sz="2400" b="0" i="1" smtClean="0">
                        <a:latin typeface="Cambria Math" panose="02040503050406030204" pitchFamily="18" charset="0"/>
                      </a:rPr>
                      <m:t>𝑇</m:t>
                    </m:r>
                    <m:r>
                      <a:rPr lang="en-AU" sz="2400" i="1">
                        <a:latin typeface="Cambria Math" panose="02040503050406030204" pitchFamily="18" charset="0"/>
                      </a:rPr>
                      <m:t>(</m:t>
                    </m:r>
                    <m:r>
                      <a:rPr lang="en-AU" sz="2400" i="1">
                        <a:latin typeface="Cambria Math" panose="02040503050406030204" pitchFamily="18" charset="0"/>
                      </a:rPr>
                      <m:t>𝑥</m:t>
                    </m:r>
                    <m:r>
                      <a:rPr lang="en-AU" sz="2400" i="1">
                        <a:latin typeface="Cambria Math" panose="02040503050406030204" pitchFamily="18" charset="0"/>
                      </a:rPr>
                      <m:t>)/</m:t>
                    </m:r>
                    <m:r>
                      <a:rPr lang="en-AU" sz="2400" b="0" i="1" smtClean="0">
                        <a:latin typeface="Cambria Math" panose="02040503050406030204" pitchFamily="18" charset="0"/>
                      </a:rPr>
                      <m:t>𝑄</m:t>
                    </m:r>
                    <m:r>
                      <a:rPr lang="en-AU" sz="2400" b="0" i="1" smtClean="0">
                        <a:latin typeface="Cambria Math" panose="02040503050406030204" pitchFamily="18" charset="0"/>
                      </a:rPr>
                      <m:t>(</m:t>
                    </m:r>
                    <m:r>
                      <a:rPr lang="en-AU" sz="2400" b="0" i="1" smtClean="0">
                        <a:latin typeface="Cambria Math" panose="02040503050406030204" pitchFamily="18" charset="0"/>
                      </a:rPr>
                      <m:t>𝑥</m:t>
                    </m:r>
                    <m:r>
                      <a:rPr lang="en-AU" sz="2400" b="0" i="1" smtClean="0">
                        <a:latin typeface="Cambria Math" panose="02040503050406030204" pitchFamily="18" charset="0"/>
                      </a:rPr>
                      <m:t>)</m:t>
                    </m:r>
                  </m:oMath>
                </a14:m>
                <a:r>
                  <a:rPr lang="en-GB" sz="2400" dirty="0">
                    <a:latin typeface="+mj-lt"/>
                  </a:rPr>
                  <a:t>, for example:</a:t>
                </a:r>
              </a:p>
              <a:p>
                <a:endParaRPr lang="en-GB" sz="2400" dirty="0">
                  <a:latin typeface="+mj-lt"/>
                </a:endParaRPr>
              </a:p>
              <a:p>
                <a:pPr/>
                <a14:m>
                  <m:oMathPara xmlns:m="http://schemas.openxmlformats.org/officeDocument/2006/math">
                    <m:oMathParaPr>
                      <m:jc m:val="centerGroup"/>
                    </m:oMathParaPr>
                    <m:oMath xmlns:m="http://schemas.openxmlformats.org/officeDocument/2006/math">
                      <m:r>
                        <a:rPr lang="en-AU" sz="2400" b="0" i="1" smtClean="0">
                          <a:latin typeface="Cambria Math" panose="02040503050406030204" pitchFamily="18" charset="0"/>
                        </a:rPr>
                        <m:t>𝑅</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r>
                        <a:rPr lang="en-AU" sz="2400" b="0" i="1" smtClean="0">
                          <a:latin typeface="Cambria Math" panose="02040503050406030204" pitchFamily="18" charset="0"/>
                        </a:rPr>
                        <m:t>=</m:t>
                      </m:r>
                      <m:f>
                        <m:fPr>
                          <m:ctrlPr>
                            <a:rPr lang="en-AU" sz="2400" b="0" i="1" smtClean="0">
                              <a:latin typeface="Cambria Math" panose="02040503050406030204" pitchFamily="18" charset="0"/>
                            </a:rPr>
                          </m:ctrlPr>
                        </m:fPr>
                        <m:num>
                          <m:r>
                            <a:rPr lang="en-AU" sz="2400" b="0" i="1" smtClean="0">
                              <a:latin typeface="Cambria Math" panose="02040503050406030204" pitchFamily="18" charset="0"/>
                            </a:rPr>
                            <m:t>2</m:t>
                          </m:r>
                          <m:sSup>
                            <m:sSupPr>
                              <m:ctrlPr>
                                <a:rPr lang="en-AU" sz="2400" i="1">
                                  <a:latin typeface="Cambria Math" panose="02040503050406030204" pitchFamily="18" charset="0"/>
                                </a:rPr>
                              </m:ctrlPr>
                            </m:sSupPr>
                            <m:e>
                              <m:r>
                                <a:rPr lang="en-AU" sz="2400" i="1">
                                  <a:latin typeface="Cambria Math" panose="02040503050406030204" pitchFamily="18" charset="0"/>
                                </a:rPr>
                                <m:t>𝑥</m:t>
                              </m:r>
                            </m:e>
                            <m:sup>
                              <m:r>
                                <a:rPr lang="en-AU" sz="2400" b="0" i="1" smtClean="0">
                                  <a:latin typeface="Cambria Math" panose="02040503050406030204" pitchFamily="18" charset="0"/>
                                </a:rPr>
                                <m:t>5</m:t>
                              </m:r>
                            </m:sup>
                          </m:sSup>
                          <m:r>
                            <a:rPr lang="en-AU" sz="2400" b="0" i="1" smtClean="0">
                              <a:latin typeface="Cambria Math" panose="02040503050406030204" pitchFamily="18" charset="0"/>
                            </a:rPr>
                            <m:t>−3</m:t>
                          </m:r>
                          <m:sSup>
                            <m:sSupPr>
                              <m:ctrlPr>
                                <a:rPr lang="en-AU" sz="2400" i="1">
                                  <a:latin typeface="Cambria Math" panose="02040503050406030204" pitchFamily="18" charset="0"/>
                                </a:rPr>
                              </m:ctrlPr>
                            </m:sSupPr>
                            <m:e>
                              <m:r>
                                <a:rPr lang="en-AU" sz="2400" i="1">
                                  <a:latin typeface="Cambria Math" panose="02040503050406030204" pitchFamily="18" charset="0"/>
                                </a:rPr>
                                <m:t>𝑥</m:t>
                              </m:r>
                            </m:e>
                            <m:sup>
                              <m:r>
                                <a:rPr lang="en-AU" sz="2400" b="0" i="1" smtClean="0">
                                  <a:latin typeface="Cambria Math" panose="02040503050406030204" pitchFamily="18" charset="0"/>
                                </a:rPr>
                                <m:t>3</m:t>
                              </m:r>
                            </m:sup>
                          </m:sSup>
                          <m:r>
                            <a:rPr lang="en-AU" sz="2400" b="0" i="1" smtClean="0">
                              <a:latin typeface="Cambria Math" panose="02040503050406030204" pitchFamily="18" charset="0"/>
                            </a:rPr>
                            <m:t>+7</m:t>
                          </m:r>
                          <m:sSup>
                            <m:sSupPr>
                              <m:ctrlPr>
                                <a:rPr lang="en-AU" sz="2400" i="1">
                                  <a:latin typeface="Cambria Math" panose="02040503050406030204" pitchFamily="18" charset="0"/>
                                </a:rPr>
                              </m:ctrlPr>
                            </m:sSupPr>
                            <m:e>
                              <m:r>
                                <a:rPr lang="en-AU" sz="2400" i="1">
                                  <a:latin typeface="Cambria Math" panose="02040503050406030204" pitchFamily="18" charset="0"/>
                                </a:rPr>
                                <m:t>𝑥</m:t>
                              </m:r>
                            </m:e>
                            <m:sup>
                              <m:r>
                                <a:rPr lang="en-AU" sz="2400" i="1">
                                  <a:latin typeface="Cambria Math" panose="02040503050406030204" pitchFamily="18" charset="0"/>
                                </a:rPr>
                                <m:t>2</m:t>
                              </m:r>
                            </m:sup>
                          </m:sSup>
                          <m:r>
                            <a:rPr lang="en-AU" sz="2400" i="1">
                              <a:latin typeface="Cambria Math" panose="02040503050406030204" pitchFamily="18" charset="0"/>
                            </a:rPr>
                            <m:t>+</m:t>
                          </m:r>
                          <m:r>
                            <a:rPr lang="en-AU" sz="2400" b="0" i="1" smtClean="0">
                              <a:latin typeface="Cambria Math" panose="02040503050406030204" pitchFamily="18" charset="0"/>
                            </a:rPr>
                            <m:t>8</m:t>
                          </m:r>
                        </m:num>
                        <m:den>
                          <m:sSup>
                            <m:sSupPr>
                              <m:ctrlPr>
                                <a:rPr lang="en-AU" sz="2400" i="1">
                                  <a:latin typeface="Cambria Math" panose="02040503050406030204" pitchFamily="18" charset="0"/>
                                </a:rPr>
                              </m:ctrlPr>
                            </m:sSupPr>
                            <m:e>
                              <m:r>
                                <a:rPr lang="en-AU" sz="2400" i="1">
                                  <a:latin typeface="Cambria Math" panose="02040503050406030204" pitchFamily="18" charset="0"/>
                                </a:rPr>
                                <m:t>𝑥</m:t>
                              </m:r>
                            </m:e>
                            <m:sup>
                              <m:r>
                                <a:rPr lang="en-AU" sz="2400" b="0" i="1" smtClean="0">
                                  <a:latin typeface="Cambria Math" panose="02040503050406030204" pitchFamily="18" charset="0"/>
                                </a:rPr>
                                <m:t>3</m:t>
                              </m:r>
                            </m:sup>
                          </m:sSup>
                          <m:r>
                            <a:rPr lang="en-AU" sz="2400" b="0" i="1" smtClean="0">
                              <a:latin typeface="Cambria Math" panose="02040503050406030204" pitchFamily="18" charset="0"/>
                            </a:rPr>
                            <m:t>−</m:t>
                          </m:r>
                          <m:sSup>
                            <m:sSupPr>
                              <m:ctrlPr>
                                <a:rPr lang="en-AU" sz="2400" b="0" i="1" smtClean="0">
                                  <a:latin typeface="Cambria Math" panose="02040503050406030204" pitchFamily="18" charset="0"/>
                                </a:rPr>
                              </m:ctrlPr>
                            </m:sSupPr>
                            <m:e>
                              <m:r>
                                <a:rPr lang="en-AU" sz="2400" i="1" smtClean="0">
                                  <a:latin typeface="Cambria Math" panose="02040503050406030204" pitchFamily="18" charset="0"/>
                                </a:rPr>
                                <m:t>𝑥</m:t>
                              </m:r>
                            </m:e>
                            <m:sup>
                              <m:r>
                                <a:rPr lang="en-AU" sz="2400" b="0" i="1" smtClean="0">
                                  <a:latin typeface="Cambria Math" panose="02040503050406030204" pitchFamily="18" charset="0"/>
                                </a:rPr>
                                <m:t>2</m:t>
                              </m:r>
                            </m:sup>
                          </m:sSup>
                          <m:r>
                            <a:rPr lang="en-AU" sz="2400" i="1" smtClean="0">
                              <a:latin typeface="Cambria Math" panose="02040503050406030204" pitchFamily="18" charset="0"/>
                            </a:rPr>
                            <m:t>+</m:t>
                          </m:r>
                          <m:r>
                            <a:rPr lang="en-AU" sz="2400" b="0" i="1" smtClean="0">
                              <a:latin typeface="Cambria Math" panose="02040503050406030204" pitchFamily="18" charset="0"/>
                            </a:rPr>
                            <m:t>2</m:t>
                          </m:r>
                          <m:r>
                            <a:rPr lang="en-AU" sz="2400" b="0" i="1" smtClean="0">
                              <a:latin typeface="Cambria Math" panose="02040503050406030204" pitchFamily="18" charset="0"/>
                            </a:rPr>
                            <m:t>𝑥</m:t>
                          </m:r>
                          <m:r>
                            <a:rPr lang="en-AU" sz="2400" b="0" i="1" smtClean="0">
                              <a:latin typeface="Cambria Math" panose="02040503050406030204" pitchFamily="18" charset="0"/>
                            </a:rPr>
                            <m:t>−8</m:t>
                          </m:r>
                        </m:den>
                      </m:f>
                      <m:r>
                        <a:rPr lang="en-AU" sz="2400" b="0" i="1" smtClean="0">
                          <a:latin typeface="Cambria Math" panose="02040503050406030204" pitchFamily="18" charset="0"/>
                        </a:rPr>
                        <m:t>=</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2</m:t>
                          </m:r>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𝑥</m:t>
                              </m:r>
                            </m:e>
                            <m:sup>
                              <m:r>
                                <a:rPr lang="en-AU" sz="2400" b="0" i="1" smtClean="0">
                                  <a:latin typeface="Cambria Math" panose="02040503050406030204" pitchFamily="18" charset="0"/>
                                </a:rPr>
                                <m:t>2</m:t>
                              </m:r>
                            </m:sup>
                          </m:sSup>
                          <m:r>
                            <a:rPr lang="en-AU" sz="2400" b="0" i="1" smtClean="0">
                              <a:latin typeface="Cambria Math" panose="02040503050406030204" pitchFamily="18" charset="0"/>
                            </a:rPr>
                            <m:t>+2</m:t>
                          </m:r>
                          <m:r>
                            <a:rPr lang="en-AU" sz="2400" b="0" i="1" smtClean="0">
                              <a:latin typeface="Cambria Math" panose="02040503050406030204" pitchFamily="18" charset="0"/>
                            </a:rPr>
                            <m:t>𝑥</m:t>
                          </m:r>
                          <m:r>
                            <a:rPr lang="en-AU" sz="2400" b="0" i="1" smtClean="0">
                              <a:latin typeface="Cambria Math" panose="02040503050406030204" pitchFamily="18" charset="0"/>
                            </a:rPr>
                            <m:t>−5</m:t>
                          </m:r>
                        </m:e>
                      </m:d>
                      <m:r>
                        <a:rPr lang="en-AU" sz="2400" b="0" i="1" smtClean="0">
                          <a:latin typeface="Cambria Math" panose="02040503050406030204" pitchFamily="18" charset="0"/>
                        </a:rPr>
                        <m:t>+</m:t>
                      </m:r>
                      <m:f>
                        <m:fPr>
                          <m:ctrlPr>
                            <a:rPr lang="en-AU" sz="2400" b="0" i="1" smtClean="0">
                              <a:latin typeface="Cambria Math" panose="02040503050406030204" pitchFamily="18" charset="0"/>
                            </a:rPr>
                          </m:ctrlPr>
                        </m:fPr>
                        <m:num>
                          <m:r>
                            <a:rPr lang="en-AU" sz="2400" b="0" i="1" smtClean="0">
                              <a:latin typeface="Cambria Math" panose="02040503050406030204" pitchFamily="18" charset="0"/>
                            </a:rPr>
                            <m:t>14</m:t>
                          </m:r>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𝑥</m:t>
                              </m:r>
                            </m:e>
                            <m:sup>
                              <m:r>
                                <a:rPr lang="en-AU" sz="2400" b="0" i="1" smtClean="0">
                                  <a:latin typeface="Cambria Math" panose="02040503050406030204" pitchFamily="18" charset="0"/>
                                </a:rPr>
                                <m:t>2</m:t>
                              </m:r>
                            </m:sup>
                          </m:sSup>
                          <m:r>
                            <a:rPr lang="en-AU" sz="2400" b="0" i="1" smtClean="0">
                              <a:latin typeface="Cambria Math" panose="02040503050406030204" pitchFamily="18" charset="0"/>
                            </a:rPr>
                            <m:t>+26</m:t>
                          </m:r>
                          <m:r>
                            <a:rPr lang="en-AU" sz="2400" b="0" i="1" smtClean="0">
                              <a:latin typeface="Cambria Math" panose="02040503050406030204" pitchFamily="18" charset="0"/>
                            </a:rPr>
                            <m:t>𝑥</m:t>
                          </m:r>
                          <m:r>
                            <a:rPr lang="en-AU" sz="2400" b="0" i="1" smtClean="0">
                              <a:latin typeface="Cambria Math" panose="02040503050406030204" pitchFamily="18" charset="0"/>
                            </a:rPr>
                            <m:t>−32</m:t>
                          </m:r>
                        </m:num>
                        <m:den>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𝑥</m:t>
                              </m:r>
                            </m:e>
                            <m:sup>
                              <m:r>
                                <a:rPr lang="en-AU" sz="2400" b="0" i="1" smtClean="0">
                                  <a:latin typeface="Cambria Math" panose="02040503050406030204" pitchFamily="18" charset="0"/>
                                </a:rPr>
                                <m:t>3</m:t>
                              </m:r>
                            </m:sup>
                          </m:sSup>
                          <m:r>
                            <a:rPr lang="en-AU" sz="2400" b="0" i="1" smtClean="0">
                              <a:latin typeface="Cambria Math" panose="02040503050406030204" pitchFamily="18" charset="0"/>
                            </a:rPr>
                            <m:t>−</m:t>
                          </m:r>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𝑥</m:t>
                              </m:r>
                            </m:e>
                            <m:sup>
                              <m:r>
                                <a:rPr lang="en-AU" sz="2400" b="0" i="1" smtClean="0">
                                  <a:latin typeface="Cambria Math" panose="02040503050406030204" pitchFamily="18" charset="0"/>
                                </a:rPr>
                                <m:t>2</m:t>
                              </m:r>
                            </m:sup>
                          </m:sSup>
                          <m:r>
                            <a:rPr lang="en-AU" sz="2400" b="0" i="1" smtClean="0">
                              <a:latin typeface="Cambria Math" panose="02040503050406030204" pitchFamily="18" charset="0"/>
                            </a:rPr>
                            <m:t>+2</m:t>
                          </m:r>
                          <m:r>
                            <a:rPr lang="en-AU" sz="2400" b="0" i="1" smtClean="0">
                              <a:latin typeface="Cambria Math" panose="02040503050406030204" pitchFamily="18" charset="0"/>
                            </a:rPr>
                            <m:t>𝑥</m:t>
                          </m:r>
                          <m:r>
                            <a:rPr lang="en-AU" sz="2400" b="0" i="1" smtClean="0">
                              <a:latin typeface="Cambria Math" panose="02040503050406030204" pitchFamily="18" charset="0"/>
                            </a:rPr>
                            <m:t>−8</m:t>
                          </m:r>
                        </m:den>
                      </m:f>
                    </m:oMath>
                  </m:oMathPara>
                </a14:m>
                <a:endParaRPr lang="en-AU" sz="2400" b="0" dirty="0">
                  <a:latin typeface="+mj-lt"/>
                </a:endParaRPr>
              </a:p>
              <a:p>
                <a:endParaRPr lang="en-AU" sz="2400" dirty="0">
                  <a:latin typeface="+mj-lt"/>
                </a:endParaRPr>
              </a:p>
              <a:p>
                <a:r>
                  <a:rPr lang="en-AU" sz="2400" b="0" dirty="0">
                    <a:latin typeface="+mj-lt"/>
                  </a:rPr>
                  <a:t>Note that the degree of </a:t>
                </a:r>
                <a14:m>
                  <m:oMath xmlns:m="http://schemas.openxmlformats.org/officeDocument/2006/math">
                    <m:r>
                      <a:rPr lang="en-AU" sz="2400" b="0" i="1" smtClean="0">
                        <a:latin typeface="Cambria Math" panose="02040503050406030204" pitchFamily="18" charset="0"/>
                      </a:rPr>
                      <m:t>𝑆</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r>
                      <a:rPr lang="en-AU" sz="2400" b="0" i="1" smtClean="0">
                        <a:latin typeface="Cambria Math" panose="02040503050406030204" pitchFamily="18" charset="0"/>
                      </a:rPr>
                      <m:t>=</m:t>
                    </m:r>
                    <m:r>
                      <a:rPr lang="en-AU" sz="2400" b="0" i="1" smtClean="0">
                        <a:latin typeface="Cambria Math" panose="02040503050406030204" pitchFamily="18" charset="0"/>
                      </a:rPr>
                      <m:t>𝑛</m:t>
                    </m:r>
                    <m:r>
                      <a:rPr lang="en-AU" sz="2400" b="0" i="1" smtClean="0">
                        <a:latin typeface="Cambria Math" panose="02040503050406030204" pitchFamily="18" charset="0"/>
                      </a:rPr>
                      <m:t>−</m:t>
                    </m:r>
                    <m:r>
                      <a:rPr lang="en-AU" sz="2400" b="0" i="1" smtClean="0">
                        <a:latin typeface="Cambria Math" panose="02040503050406030204" pitchFamily="18" charset="0"/>
                      </a:rPr>
                      <m:t>𝑚</m:t>
                    </m:r>
                    <m:r>
                      <a:rPr lang="en-AU" sz="2400" b="0" i="1" smtClean="0">
                        <a:latin typeface="Cambria Math" panose="02040503050406030204" pitchFamily="18" charset="0"/>
                      </a:rPr>
                      <m:t>=5−3=2</m:t>
                    </m:r>
                  </m:oMath>
                </a14:m>
                <a:r>
                  <a:rPr lang="en-AU" sz="2400" b="0" dirty="0">
                    <a:latin typeface="+mj-lt"/>
                  </a:rPr>
                  <a:t> and the degree of </a:t>
                </a:r>
                <a14:m>
                  <m:oMath xmlns:m="http://schemas.openxmlformats.org/officeDocument/2006/math">
                    <m:r>
                      <a:rPr lang="en-AU" sz="2400" b="0" i="1" smtClean="0">
                        <a:latin typeface="Cambria Math" panose="02040503050406030204" pitchFamily="18" charset="0"/>
                      </a:rPr>
                      <m:t>𝑇</m:t>
                    </m:r>
                    <m:d>
                      <m:dPr>
                        <m:ctrlPr>
                          <a:rPr lang="en-AU" sz="2400" b="0" i="1" smtClean="0">
                            <a:latin typeface="Cambria Math" panose="02040503050406030204" pitchFamily="18" charset="0"/>
                          </a:rPr>
                        </m:ctrlPr>
                      </m:dPr>
                      <m:e>
                        <m:r>
                          <a:rPr lang="en-AU" sz="2400" i="1">
                            <a:latin typeface="Cambria Math" panose="02040503050406030204" pitchFamily="18" charset="0"/>
                          </a:rPr>
                          <m:t>𝑥</m:t>
                        </m:r>
                      </m:e>
                    </m:d>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rPr>
                      <m:t>𝑚</m:t>
                    </m:r>
                    <m:r>
                      <a:rPr lang="en-AU" sz="2400" b="0" i="1" smtClean="0">
                        <a:latin typeface="Cambria Math" panose="02040503050406030204" pitchFamily="18" charset="0"/>
                      </a:rPr>
                      <m:t>−1=3−1=2</m:t>
                    </m:r>
                  </m:oMath>
                </a14:m>
                <a:r>
                  <a:rPr lang="en-AU" sz="2400" b="0" dirty="0">
                    <a:latin typeface="+mj-lt"/>
                  </a:rPr>
                  <a:t>. The degree </a:t>
                </a:r>
                <a:r>
                  <a:rPr lang="en-AU" sz="2400" dirty="0">
                    <a:latin typeface="+mj-lt"/>
                  </a:rPr>
                  <a:t>of </a:t>
                </a:r>
                <a14:m>
                  <m:oMath xmlns:m="http://schemas.openxmlformats.org/officeDocument/2006/math">
                    <m:r>
                      <a:rPr lang="en-AU" sz="2400" i="1">
                        <a:latin typeface="Cambria Math" panose="02040503050406030204" pitchFamily="18" charset="0"/>
                      </a:rPr>
                      <m:t>𝑇</m:t>
                    </m:r>
                    <m:d>
                      <m:dPr>
                        <m:ctrlPr>
                          <a:rPr lang="en-AU" sz="2400" i="1">
                            <a:latin typeface="Cambria Math" panose="02040503050406030204" pitchFamily="18" charset="0"/>
                          </a:rPr>
                        </m:ctrlPr>
                      </m:dPr>
                      <m:e>
                        <m:r>
                          <a:rPr lang="en-AU" sz="2400" i="1">
                            <a:latin typeface="Cambria Math" panose="02040503050406030204" pitchFamily="18" charset="0"/>
                          </a:rPr>
                          <m:t>𝑥</m:t>
                        </m:r>
                      </m:e>
                    </m:d>
                  </m:oMath>
                </a14:m>
                <a:r>
                  <a:rPr lang="en-AU" sz="2400" b="0" dirty="0">
                    <a:latin typeface="+mj-lt"/>
                  </a:rPr>
                  <a:t> will depend on the form of </a:t>
                </a:r>
                <a14:m>
                  <m:oMath xmlns:m="http://schemas.openxmlformats.org/officeDocument/2006/math">
                    <m:r>
                      <a:rPr lang="en-AU" sz="2400" b="0" i="1" smtClean="0">
                        <a:latin typeface="Cambria Math" panose="02040503050406030204" pitchFamily="18" charset="0"/>
                      </a:rPr>
                      <m:t>𝑃</m:t>
                    </m:r>
                    <m:d>
                      <m:dPr>
                        <m:ctrlPr>
                          <a:rPr lang="en-AU" sz="2400" i="1">
                            <a:latin typeface="Cambria Math" panose="02040503050406030204" pitchFamily="18" charset="0"/>
                          </a:rPr>
                        </m:ctrlPr>
                      </m:dPr>
                      <m:e>
                        <m:r>
                          <a:rPr lang="en-AU" sz="2400" i="1">
                            <a:latin typeface="Cambria Math" panose="02040503050406030204" pitchFamily="18" charset="0"/>
                          </a:rPr>
                          <m:t>𝑥</m:t>
                        </m:r>
                      </m:e>
                    </m:d>
                  </m:oMath>
                </a14:m>
                <a:r>
                  <a:rPr lang="en-AU" sz="2400" b="0" dirty="0">
                    <a:latin typeface="+mj-lt"/>
                  </a:rPr>
                  <a:t> and </a:t>
                </a:r>
                <a14:m>
                  <m:oMath xmlns:m="http://schemas.openxmlformats.org/officeDocument/2006/math">
                    <m:r>
                      <a:rPr lang="en-AU" sz="2400" b="0" i="1" smtClean="0">
                        <a:latin typeface="Cambria Math" panose="02040503050406030204" pitchFamily="18" charset="0"/>
                      </a:rPr>
                      <m:t>𝑄</m:t>
                    </m:r>
                    <m:d>
                      <m:dPr>
                        <m:ctrlPr>
                          <a:rPr lang="en-AU" sz="2400" i="1">
                            <a:latin typeface="Cambria Math" panose="02040503050406030204" pitchFamily="18" charset="0"/>
                          </a:rPr>
                        </m:ctrlPr>
                      </m:dPr>
                      <m:e>
                        <m:r>
                          <a:rPr lang="en-AU" sz="2400" i="1">
                            <a:latin typeface="Cambria Math" panose="02040503050406030204" pitchFamily="18" charset="0"/>
                          </a:rPr>
                          <m:t>𝑥</m:t>
                        </m:r>
                      </m:e>
                    </m:d>
                  </m:oMath>
                </a14:m>
                <a:r>
                  <a:rPr lang="en-AU" sz="2400" b="0" dirty="0">
                    <a:latin typeface="+mj-lt"/>
                  </a:rPr>
                  <a:t>.</a:t>
                </a:r>
              </a:p>
            </p:txBody>
          </p:sp>
        </mc:Choice>
        <mc:Fallback xmlns="">
          <p:sp>
            <p:nvSpPr>
              <p:cNvPr id="4" name="TextBox 3">
                <a:extLst>
                  <a:ext uri="{FF2B5EF4-FFF2-40B4-BE49-F238E27FC236}">
                    <a16:creationId xmlns:a16="http://schemas.microsoft.com/office/drawing/2014/main" id="{69344509-F72A-42B6-BEFC-98E5BF337B0B}"/>
                  </a:ext>
                </a:extLst>
              </p:cNvPr>
              <p:cNvSpPr txBox="1">
                <a:spLocks noRot="1" noChangeAspect="1" noMove="1" noResize="1" noEditPoints="1" noAdjustHandles="1" noChangeArrowheads="1" noChangeShapeType="1" noTextEdit="1"/>
              </p:cNvSpPr>
              <p:nvPr/>
            </p:nvSpPr>
            <p:spPr>
              <a:xfrm>
                <a:off x="301020" y="1858807"/>
                <a:ext cx="11710929" cy="3799566"/>
              </a:xfrm>
              <a:prstGeom prst="rect">
                <a:avLst/>
              </a:prstGeom>
              <a:blipFill>
                <a:blip r:embed="rId2"/>
                <a:stretch>
                  <a:fillRect l="-781" t="-1284" b="-2729"/>
                </a:stretch>
              </a:blipFill>
            </p:spPr>
            <p:txBody>
              <a:bodyPr/>
              <a:lstStyle/>
              <a:p>
                <a:r>
                  <a:rPr lang="en-GB">
                    <a:noFill/>
                  </a:rPr>
                  <a:t> </a:t>
                </a:r>
              </a:p>
            </p:txBody>
          </p:sp>
        </mc:Fallback>
      </mc:AlternateContent>
    </p:spTree>
    <p:extLst>
      <p:ext uri="{BB962C8B-B14F-4D97-AF65-F5344CB8AC3E}">
        <p14:creationId xmlns:p14="http://schemas.microsoft.com/office/powerpoint/2010/main" val="11846024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3046603" cy="523220"/>
          </a:xfrm>
          <a:prstGeom prst="rect">
            <a:avLst/>
          </a:prstGeom>
          <a:noFill/>
        </p:spPr>
        <p:txBody>
          <a:bodyPr wrap="none" rtlCol="0">
            <a:spAutoFit/>
          </a:bodyPr>
          <a:lstStyle/>
          <a:p>
            <a:r>
              <a:rPr lang="en-AU" sz="2800" b="1" cap="small" dirty="0">
                <a:solidFill>
                  <a:schemeClr val="bg1"/>
                </a:solidFill>
                <a:latin typeface="+mj-lt"/>
              </a:rPr>
              <a:t>Test your knowledge</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355352F5-DC3F-4F44-B38F-56B38DE6230A}"/>
                  </a:ext>
                </a:extLst>
              </p:cNvPr>
              <p:cNvSpPr txBox="1"/>
              <p:nvPr/>
            </p:nvSpPr>
            <p:spPr>
              <a:xfrm>
                <a:off x="240535" y="1043018"/>
                <a:ext cx="11710929" cy="4662430"/>
              </a:xfrm>
              <a:prstGeom prst="rect">
                <a:avLst/>
              </a:prstGeom>
              <a:noFill/>
            </p:spPr>
            <p:txBody>
              <a:bodyPr wrap="square" rtlCol="0">
                <a:spAutoFit/>
              </a:bodyPr>
              <a:lstStyle/>
              <a:p>
                <a:r>
                  <a:rPr lang="en-AU" sz="2400" dirty="0">
                    <a:latin typeface="+mj-lt"/>
                  </a:rPr>
                  <a:t>1. Which of the following functions is odd?</a:t>
                </a:r>
              </a:p>
              <a:p>
                <a:endParaRPr lang="en-AU" sz="2400" b="0" dirty="0">
                  <a:latin typeface="+mj-lt"/>
                </a:endParaRPr>
              </a:p>
              <a:p>
                <a:r>
                  <a:rPr lang="en-AU" sz="2400" dirty="0">
                    <a:latin typeface="+mj-lt"/>
                  </a:rPr>
                  <a:t>a. </a:t>
                </a:r>
                <a14:m>
                  <m:oMath xmlns:m="http://schemas.openxmlformats.org/officeDocument/2006/math">
                    <m:r>
                      <a:rPr lang="en-AU" sz="2400" b="0" i="1" smtClean="0">
                        <a:latin typeface="Cambria Math" panose="02040503050406030204" pitchFamily="18" charset="0"/>
                      </a:rPr>
                      <m:t>𝑦</m:t>
                    </m:r>
                    <m:r>
                      <a:rPr lang="en-AU" sz="2400" b="0" i="1" smtClean="0">
                        <a:latin typeface="Cambria Math" panose="02040503050406030204" pitchFamily="18" charset="0"/>
                      </a:rPr>
                      <m:t>=2</m:t>
                    </m:r>
                  </m:oMath>
                </a14:m>
                <a:r>
                  <a:rPr lang="en-AU" sz="2400" dirty="0">
                    <a:latin typeface="+mj-lt"/>
                  </a:rPr>
                  <a:t> 	              b. </a:t>
                </a:r>
                <a14:m>
                  <m:oMath xmlns:m="http://schemas.openxmlformats.org/officeDocument/2006/math">
                    <m:r>
                      <a:rPr lang="en-AU" sz="2400" b="0" i="1" smtClean="0">
                        <a:latin typeface="Cambria Math" panose="02040503050406030204" pitchFamily="18" charset="0"/>
                      </a:rPr>
                      <m:t>𝑦</m:t>
                    </m:r>
                    <m:r>
                      <a:rPr lang="en-AU" sz="2400" b="0" i="1" smtClean="0">
                        <a:latin typeface="Cambria Math" panose="02040503050406030204" pitchFamily="18" charset="0"/>
                      </a:rPr>
                      <m:t>=</m:t>
                    </m:r>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𝑥</m:t>
                        </m:r>
                      </m:e>
                      <m:sup>
                        <m:r>
                          <a:rPr lang="en-AU" sz="2400" b="0" i="1" smtClean="0">
                            <a:latin typeface="Cambria Math" panose="02040503050406030204" pitchFamily="18" charset="0"/>
                          </a:rPr>
                          <m:t>1.5</m:t>
                        </m:r>
                      </m:sup>
                    </m:sSup>
                  </m:oMath>
                </a14:m>
                <a:r>
                  <a:rPr lang="en-AU" sz="2400" b="0" dirty="0">
                    <a:latin typeface="+mj-lt"/>
                  </a:rPr>
                  <a:t>		c. </a:t>
                </a:r>
                <a14:m>
                  <m:oMath xmlns:m="http://schemas.openxmlformats.org/officeDocument/2006/math">
                    <m:r>
                      <a:rPr lang="en-AU" sz="2400" b="0" i="1" smtClean="0">
                        <a:latin typeface="Cambria Math" panose="02040503050406030204" pitchFamily="18" charset="0"/>
                      </a:rPr>
                      <m:t>𝑦</m:t>
                    </m:r>
                    <m:r>
                      <a:rPr lang="en-AU" sz="2400" b="0" i="1" smtClean="0">
                        <a:latin typeface="Cambria Math" panose="02040503050406030204" pitchFamily="18" charset="0"/>
                      </a:rPr>
                      <m:t>=</m:t>
                    </m:r>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𝑥</m:t>
                        </m:r>
                      </m:e>
                      <m:sup>
                        <m:f>
                          <m:fPr>
                            <m:ctrlPr>
                              <a:rPr lang="en-AU" sz="2400" b="0" i="1" smtClean="0">
                                <a:latin typeface="Cambria Math" panose="02040503050406030204" pitchFamily="18" charset="0"/>
                              </a:rPr>
                            </m:ctrlPr>
                          </m:fPr>
                          <m:num>
                            <m:r>
                              <a:rPr lang="en-AU" sz="2400" b="0" i="1" smtClean="0">
                                <a:latin typeface="Cambria Math" panose="02040503050406030204" pitchFamily="18" charset="0"/>
                              </a:rPr>
                              <m:t>3</m:t>
                            </m:r>
                          </m:num>
                          <m:den>
                            <m:r>
                              <a:rPr lang="en-AU" sz="2400" b="0" i="1" smtClean="0">
                                <a:latin typeface="Cambria Math" panose="02040503050406030204" pitchFamily="18" charset="0"/>
                              </a:rPr>
                              <m:t>5</m:t>
                            </m:r>
                          </m:den>
                        </m:f>
                      </m:sup>
                    </m:sSup>
                  </m:oMath>
                </a14:m>
                <a:r>
                  <a:rPr lang="en-AU" sz="2400" b="0" dirty="0">
                    <a:latin typeface="+mj-lt"/>
                  </a:rPr>
                  <a:t>		d. </a:t>
                </a:r>
                <a14:m>
                  <m:oMath xmlns:m="http://schemas.openxmlformats.org/officeDocument/2006/math">
                    <m:r>
                      <a:rPr lang="en-AU" sz="2400" b="0" i="1" smtClean="0">
                        <a:latin typeface="Cambria Math" panose="02040503050406030204" pitchFamily="18" charset="0"/>
                      </a:rPr>
                      <m:t>𝑦</m:t>
                    </m:r>
                    <m:r>
                      <a:rPr lang="en-AU" sz="2400" b="0" i="1" smtClean="0">
                        <a:latin typeface="Cambria Math" panose="02040503050406030204" pitchFamily="18" charset="0"/>
                      </a:rPr>
                      <m:t>=</m:t>
                    </m:r>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𝑥</m:t>
                        </m:r>
                      </m:e>
                      <m:sup>
                        <m:r>
                          <a:rPr lang="en-AU" sz="2400" b="0" i="1" smtClean="0">
                            <a:latin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𝜋</m:t>
                        </m:r>
                      </m:sup>
                    </m:sSup>
                  </m:oMath>
                </a14:m>
                <a:endParaRPr lang="en-AU" sz="2400" b="0" dirty="0">
                  <a:latin typeface="+mj-lt"/>
                </a:endParaRPr>
              </a:p>
              <a:p>
                <a:endParaRPr lang="en-AU" sz="2400" b="0" dirty="0">
                  <a:latin typeface="+mj-lt"/>
                </a:endParaRPr>
              </a:p>
              <a:p>
                <a:endParaRPr lang="en-AU" sz="2400" dirty="0">
                  <a:latin typeface="+mj-lt"/>
                </a:endParaRPr>
              </a:p>
              <a:p>
                <a:r>
                  <a:rPr lang="en-AU" sz="2400" b="0" dirty="0">
                    <a:latin typeface="+mj-lt"/>
                  </a:rPr>
                  <a:t>2. Which function is represented in the following graph?</a:t>
                </a:r>
              </a:p>
              <a:p>
                <a:endParaRPr lang="en-AU" sz="2400" dirty="0">
                  <a:latin typeface="+mj-lt"/>
                </a:endParaRPr>
              </a:p>
              <a:p>
                <a:r>
                  <a:rPr lang="en-AU" sz="2400" b="0" dirty="0">
                    <a:latin typeface="+mj-lt"/>
                  </a:rPr>
                  <a:t>a. </a:t>
                </a:r>
                <a14:m>
                  <m:oMath xmlns:m="http://schemas.openxmlformats.org/officeDocument/2006/math">
                    <m:r>
                      <a:rPr lang="en-AU" sz="2400" b="0" i="1" smtClean="0">
                        <a:latin typeface="Cambria Math" panose="02040503050406030204" pitchFamily="18" charset="0"/>
                      </a:rPr>
                      <m:t>𝑓</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r>
                      <a:rPr lang="en-AU" sz="2400" b="0" i="1" smtClean="0">
                        <a:latin typeface="Cambria Math" panose="02040503050406030204" pitchFamily="18" charset="0"/>
                      </a:rPr>
                      <m:t>=</m:t>
                    </m:r>
                    <m:r>
                      <a:rPr lang="en-AU" sz="2400" b="0" i="1" smtClean="0">
                        <a:latin typeface="Cambria Math" panose="02040503050406030204" pitchFamily="18" charset="0"/>
                      </a:rPr>
                      <m:t>𝑥</m:t>
                    </m:r>
                    <m:r>
                      <a:rPr lang="en-AU" sz="2400" b="0" i="1" smtClean="0">
                        <a:latin typeface="Cambria Math" panose="02040503050406030204" pitchFamily="18" charset="0"/>
                      </a:rPr>
                      <m:t>−</m:t>
                    </m:r>
                    <m:d>
                      <m:dPr>
                        <m:begChr m:val="|"/>
                        <m:endChr m:val="|"/>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oMath>
                </a14:m>
                <a:endParaRPr lang="en-AU" sz="2400" b="0" dirty="0">
                  <a:latin typeface="+mj-lt"/>
                </a:endParaRPr>
              </a:p>
              <a:p>
                <a:endParaRPr lang="en-AU" sz="2400" b="0" dirty="0">
                  <a:latin typeface="+mj-lt"/>
                </a:endParaRPr>
              </a:p>
              <a:p>
                <a:r>
                  <a:rPr lang="en-AU" sz="2400" dirty="0">
                    <a:latin typeface="+mj-lt"/>
                  </a:rPr>
                  <a:t>b. </a:t>
                </a:r>
                <a14:m>
                  <m:oMath xmlns:m="http://schemas.openxmlformats.org/officeDocument/2006/math">
                    <m:r>
                      <a:rPr lang="en-AU" sz="2400" b="0" i="1" smtClean="0">
                        <a:latin typeface="Cambria Math" panose="02040503050406030204" pitchFamily="18" charset="0"/>
                      </a:rPr>
                      <m:t>𝑓</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r>
                      <a:rPr lang="en-AU" sz="2400" b="0" i="1" smtClean="0">
                        <a:latin typeface="Cambria Math" panose="02040503050406030204" pitchFamily="18" charset="0"/>
                      </a:rPr>
                      <m:t>=1+</m:t>
                    </m:r>
                    <m:d>
                      <m:dPr>
                        <m:begChr m:val="⌊"/>
                        <m:endChr m:val="⌋"/>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oMath>
                </a14:m>
                <a:endParaRPr lang="en-AU" sz="2400" b="0" dirty="0">
                  <a:latin typeface="+mj-lt"/>
                </a:endParaRPr>
              </a:p>
              <a:p>
                <a:endParaRPr lang="en-AU" sz="2400" dirty="0">
                  <a:latin typeface="+mj-lt"/>
                </a:endParaRPr>
              </a:p>
              <a:p>
                <a:r>
                  <a:rPr lang="en-AU" sz="2400" b="0" dirty="0">
                    <a:latin typeface="+mj-lt"/>
                  </a:rPr>
                  <a:t>c. </a:t>
                </a:r>
                <a14:m>
                  <m:oMath xmlns:m="http://schemas.openxmlformats.org/officeDocument/2006/math">
                    <m:r>
                      <a:rPr lang="en-AU" sz="2400" b="0" i="1" smtClean="0">
                        <a:latin typeface="Cambria Math" panose="02040503050406030204" pitchFamily="18" charset="0"/>
                      </a:rPr>
                      <m:t>𝑓</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r>
                      <a:rPr lang="en-AU" sz="2400" b="0" i="1" smtClean="0">
                        <a:latin typeface="Cambria Math" panose="02040503050406030204" pitchFamily="18" charset="0"/>
                      </a:rPr>
                      <m:t>=</m:t>
                    </m:r>
                    <m:d>
                      <m:dPr>
                        <m:begChr m:val="⌊"/>
                        <m:endChr m:val="⌋"/>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r>
                      <a:rPr lang="en-AU" sz="2400" b="0" i="0" smtClean="0">
                        <a:latin typeface="Cambria Math" panose="02040503050406030204" pitchFamily="18" charset="0"/>
                      </a:rPr>
                      <m:t>−1</m:t>
                    </m:r>
                  </m:oMath>
                </a14:m>
                <a:endParaRPr lang="en-AU" sz="2400" b="0" dirty="0">
                  <a:latin typeface="+mj-lt"/>
                </a:endParaRPr>
              </a:p>
            </p:txBody>
          </p:sp>
        </mc:Choice>
        <mc:Fallback xmlns="">
          <p:sp>
            <p:nvSpPr>
              <p:cNvPr id="2" name="TextBox 1">
                <a:extLst>
                  <a:ext uri="{FF2B5EF4-FFF2-40B4-BE49-F238E27FC236}">
                    <a16:creationId xmlns:a16="http://schemas.microsoft.com/office/drawing/2014/main" id="{355352F5-DC3F-4F44-B38F-56B38DE6230A}"/>
                  </a:ext>
                </a:extLst>
              </p:cNvPr>
              <p:cNvSpPr txBox="1">
                <a:spLocks noRot="1" noChangeAspect="1" noMove="1" noResize="1" noEditPoints="1" noAdjustHandles="1" noChangeArrowheads="1" noChangeShapeType="1" noTextEdit="1"/>
              </p:cNvSpPr>
              <p:nvPr/>
            </p:nvSpPr>
            <p:spPr>
              <a:xfrm>
                <a:off x="240535" y="1043018"/>
                <a:ext cx="11710929" cy="4662430"/>
              </a:xfrm>
              <a:prstGeom prst="rect">
                <a:avLst/>
              </a:prstGeom>
              <a:blipFill>
                <a:blip r:embed="rId2"/>
                <a:stretch>
                  <a:fillRect l="-780" t="-1046" b="-1961"/>
                </a:stretch>
              </a:blipFill>
            </p:spPr>
            <p:txBody>
              <a:bodyPr/>
              <a:lstStyle/>
              <a:p>
                <a:r>
                  <a:rPr lang="en-GB">
                    <a:noFill/>
                  </a:rPr>
                  <a:t> </a:t>
                </a:r>
              </a:p>
            </p:txBody>
          </p:sp>
        </mc:Fallback>
      </mc:AlternateContent>
      <p:pic>
        <p:nvPicPr>
          <p:cNvPr id="5" name="Picture 4" descr="A screenshot of a cell phone&#10;&#10;Description automatically generated">
            <a:extLst>
              <a:ext uri="{FF2B5EF4-FFF2-40B4-BE49-F238E27FC236}">
                <a16:creationId xmlns:a16="http://schemas.microsoft.com/office/drawing/2014/main" id="{457C116E-54F7-42FD-99C6-7907E01D641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73469" y="2649069"/>
            <a:ext cx="4038602" cy="4038602"/>
          </a:xfrm>
          <a:prstGeom prst="rect">
            <a:avLst/>
          </a:prstGeom>
          <a:ln>
            <a:solidFill>
              <a:schemeClr val="tx1"/>
            </a:solidFill>
          </a:ln>
        </p:spPr>
      </p:pic>
    </p:spTree>
    <p:extLst>
      <p:ext uri="{BB962C8B-B14F-4D97-AF65-F5344CB8AC3E}">
        <p14:creationId xmlns:p14="http://schemas.microsoft.com/office/powerpoint/2010/main" val="29309718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3661067" cy="523220"/>
          </a:xfrm>
          <a:prstGeom prst="rect">
            <a:avLst/>
          </a:prstGeom>
          <a:noFill/>
        </p:spPr>
        <p:txBody>
          <a:bodyPr wrap="none" rtlCol="0">
            <a:spAutoFit/>
          </a:bodyPr>
          <a:lstStyle/>
          <a:p>
            <a:r>
              <a:rPr lang="en-AU" sz="2800" b="1" cap="small" dirty="0">
                <a:solidFill>
                  <a:schemeClr val="bg1"/>
                </a:solidFill>
                <a:latin typeface="+mj-lt"/>
              </a:rPr>
              <a:t>1.5 Elementary functions</a:t>
            </a:r>
            <a:endParaRPr lang="en-GB" sz="2800" b="1" cap="small" dirty="0">
              <a:solidFill>
                <a:schemeClr val="bg1"/>
              </a:solidFill>
              <a:latin typeface="+mj-lt"/>
            </a:endParaRPr>
          </a:p>
        </p:txBody>
      </p:sp>
      <p:sp>
        <p:nvSpPr>
          <p:cNvPr id="2" name="TextBox 1">
            <a:extLst>
              <a:ext uri="{FF2B5EF4-FFF2-40B4-BE49-F238E27FC236}">
                <a16:creationId xmlns:a16="http://schemas.microsoft.com/office/drawing/2014/main" id="{334C49E2-30E7-4808-BEE2-A91F5138A2E2}"/>
              </a:ext>
            </a:extLst>
          </p:cNvPr>
          <p:cNvSpPr txBox="1"/>
          <p:nvPr/>
        </p:nvSpPr>
        <p:spPr>
          <a:xfrm>
            <a:off x="301020" y="1048888"/>
            <a:ext cx="2542427" cy="461665"/>
          </a:xfrm>
          <a:prstGeom prst="rect">
            <a:avLst/>
          </a:prstGeom>
          <a:noFill/>
          <a:ln>
            <a:solidFill>
              <a:schemeClr val="accent2">
                <a:lumMod val="50000"/>
              </a:schemeClr>
            </a:solidFill>
          </a:ln>
        </p:spPr>
        <p:txBody>
          <a:bodyPr wrap="none" rtlCol="0">
            <a:spAutoFit/>
          </a:bodyPr>
          <a:lstStyle/>
          <a:p>
            <a:r>
              <a:rPr lang="en-AU" sz="2400" dirty="0">
                <a:latin typeface="+mj-lt"/>
              </a:rPr>
              <a:t>Algebraic functions</a:t>
            </a:r>
            <a:endParaRPr lang="en-GB" sz="2400" dirty="0">
              <a:latin typeface="+mj-lt"/>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F75AA2DF-9391-4F78-9302-4E3BED588924}"/>
                  </a:ext>
                </a:extLst>
              </p:cNvPr>
              <p:cNvSpPr txBox="1"/>
              <p:nvPr/>
            </p:nvSpPr>
            <p:spPr>
              <a:xfrm>
                <a:off x="301020" y="1589866"/>
                <a:ext cx="11710929" cy="3237746"/>
              </a:xfrm>
              <a:prstGeom prst="rect">
                <a:avLst/>
              </a:prstGeom>
              <a:noFill/>
            </p:spPr>
            <p:txBody>
              <a:bodyPr wrap="square" rtlCol="0">
                <a:spAutoFit/>
              </a:bodyPr>
              <a:lstStyle/>
              <a:p>
                <a:r>
                  <a:rPr lang="en-AU" sz="2400" dirty="0">
                    <a:latin typeface="+mj-lt"/>
                  </a:rPr>
                  <a:t>A function </a:t>
                </a:r>
                <a14:m>
                  <m:oMath xmlns:m="http://schemas.openxmlformats.org/officeDocument/2006/math">
                    <m:r>
                      <a:rPr lang="en-AU" sz="2400" b="0" i="1" smtClean="0">
                        <a:latin typeface="Cambria Math" panose="02040503050406030204" pitchFamily="18" charset="0"/>
                      </a:rPr>
                      <m:t>𝑓</m:t>
                    </m:r>
                    <m:r>
                      <a:rPr lang="en-AU" sz="2400" b="0" i="1" smtClean="0">
                        <a:latin typeface="Cambria Math" panose="02040503050406030204" pitchFamily="18" charset="0"/>
                      </a:rPr>
                      <m:t>:</m:t>
                    </m:r>
                    <m:r>
                      <a:rPr lang="en-AU" sz="2400" b="0" i="1" smtClean="0">
                        <a:latin typeface="Cambria Math" panose="02040503050406030204" pitchFamily="18" charset="0"/>
                      </a:rPr>
                      <m:t>𝑋</m:t>
                    </m:r>
                    <m:r>
                      <a:rPr lang="en-AU" sz="2400" b="0" i="1" smtClean="0">
                        <a:latin typeface="Cambria Math" panose="02040503050406030204" pitchFamily="18" charset="0"/>
                      </a:rPr>
                      <m:t>→</m:t>
                    </m:r>
                    <m:r>
                      <a:rPr lang="en-AU" sz="2400" b="0" i="1" smtClean="0">
                        <a:latin typeface="Cambria Math" panose="02040503050406030204" pitchFamily="18" charset="0"/>
                      </a:rPr>
                      <m:t>𝑌</m:t>
                    </m:r>
                  </m:oMath>
                </a14:m>
                <a:r>
                  <a:rPr lang="en-GB" sz="2400" dirty="0">
                    <a:latin typeface="+mj-lt"/>
                  </a:rPr>
                  <a:t> is said to be algebraic, if it satisfies the algebraic equation:</a:t>
                </a:r>
              </a:p>
              <a:p>
                <a:endParaRPr lang="en-GB" sz="2400" dirty="0">
                  <a:latin typeface="+mj-lt"/>
                </a:endParaRPr>
              </a:p>
              <a:p>
                <a:pPr/>
                <a14:m>
                  <m:oMathPara xmlns:m="http://schemas.openxmlformats.org/officeDocument/2006/math">
                    <m:oMathParaPr>
                      <m:jc m:val="centerGroup"/>
                    </m:oMathParaPr>
                    <m:oMath xmlns:m="http://schemas.openxmlformats.org/officeDocument/2006/math">
                      <m:sSub>
                        <m:sSubPr>
                          <m:ctrlPr>
                            <a:rPr lang="en-AU" sz="2400" b="0" i="1" smtClean="0">
                              <a:latin typeface="Cambria Math" panose="02040503050406030204" pitchFamily="18" charset="0"/>
                            </a:rPr>
                          </m:ctrlPr>
                        </m:sSubPr>
                        <m:e>
                          <m:r>
                            <a:rPr lang="en-AU" sz="2400" b="0" i="1" smtClean="0">
                              <a:latin typeface="Cambria Math" panose="02040503050406030204" pitchFamily="18" charset="0"/>
                            </a:rPr>
                            <m:t>𝑃</m:t>
                          </m:r>
                        </m:e>
                        <m:sub>
                          <m:r>
                            <a:rPr lang="en-AU" sz="2400" b="0" i="1" smtClean="0">
                              <a:latin typeface="Cambria Math" panose="02040503050406030204" pitchFamily="18" charset="0"/>
                            </a:rPr>
                            <m:t>𝑛</m:t>
                          </m:r>
                        </m:sub>
                      </m:sSub>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𝑦</m:t>
                          </m:r>
                        </m:e>
                        <m:sup>
                          <m:r>
                            <a:rPr lang="en-AU" sz="2400" b="0" i="1" smtClean="0">
                              <a:latin typeface="Cambria Math" panose="02040503050406030204" pitchFamily="18" charset="0"/>
                            </a:rPr>
                            <m:t>𝑛</m:t>
                          </m:r>
                        </m:sup>
                      </m:sSup>
                      <m:r>
                        <a:rPr lang="en-AU" sz="2400" b="0" i="1" smtClean="0">
                          <a:latin typeface="Cambria Math" panose="02040503050406030204" pitchFamily="18" charset="0"/>
                        </a:rPr>
                        <m:t>+</m:t>
                      </m:r>
                      <m:sSub>
                        <m:sSubPr>
                          <m:ctrlPr>
                            <a:rPr lang="en-AU" sz="2400" b="0" i="1" smtClean="0">
                              <a:latin typeface="Cambria Math" panose="02040503050406030204" pitchFamily="18" charset="0"/>
                            </a:rPr>
                          </m:ctrlPr>
                        </m:sSubPr>
                        <m:e>
                          <m:r>
                            <a:rPr lang="en-AU" sz="2400" b="0" i="1" smtClean="0">
                              <a:latin typeface="Cambria Math" panose="02040503050406030204" pitchFamily="18" charset="0"/>
                            </a:rPr>
                            <m:t>𝑃</m:t>
                          </m:r>
                        </m:e>
                        <m:sub>
                          <m:r>
                            <a:rPr lang="en-AU" sz="2400" b="0" i="1" smtClean="0">
                              <a:latin typeface="Cambria Math" panose="02040503050406030204" pitchFamily="18" charset="0"/>
                            </a:rPr>
                            <m:t>𝑛</m:t>
                          </m:r>
                          <m:r>
                            <a:rPr lang="en-AU" sz="2400" b="0" i="1" smtClean="0">
                              <a:latin typeface="Cambria Math" panose="02040503050406030204" pitchFamily="18" charset="0"/>
                            </a:rPr>
                            <m:t>−1</m:t>
                          </m:r>
                        </m:sub>
                      </m:sSub>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𝑦</m:t>
                          </m:r>
                        </m:e>
                        <m:sup>
                          <m:r>
                            <a:rPr lang="en-AU" sz="2400" b="0" i="1" smtClean="0">
                              <a:latin typeface="Cambria Math" panose="02040503050406030204" pitchFamily="18" charset="0"/>
                            </a:rPr>
                            <m:t>𝑛</m:t>
                          </m:r>
                          <m:r>
                            <a:rPr lang="en-AU" sz="2400" b="0" i="1" smtClean="0">
                              <a:latin typeface="Cambria Math" panose="02040503050406030204" pitchFamily="18" charset="0"/>
                            </a:rPr>
                            <m:t>−1</m:t>
                          </m:r>
                        </m:sup>
                      </m:sSup>
                      <m:r>
                        <a:rPr lang="en-AU" sz="2400" b="0" i="1" smtClean="0">
                          <a:latin typeface="Cambria Math" panose="02040503050406030204" pitchFamily="18" charset="0"/>
                        </a:rPr>
                        <m:t>+…+</m:t>
                      </m:r>
                      <m:sSub>
                        <m:sSubPr>
                          <m:ctrlPr>
                            <a:rPr lang="en-AU" sz="2400" b="0" i="1" smtClean="0">
                              <a:latin typeface="Cambria Math" panose="02040503050406030204" pitchFamily="18" charset="0"/>
                            </a:rPr>
                          </m:ctrlPr>
                        </m:sSubPr>
                        <m:e>
                          <m:r>
                            <a:rPr lang="en-AU" sz="2400" b="0" i="1" smtClean="0">
                              <a:latin typeface="Cambria Math" panose="02040503050406030204" pitchFamily="18" charset="0"/>
                            </a:rPr>
                            <m:t>𝑃</m:t>
                          </m:r>
                        </m:e>
                        <m:sub>
                          <m:r>
                            <a:rPr lang="en-AU" sz="2400" b="0" i="1" smtClean="0">
                              <a:latin typeface="Cambria Math" panose="02040503050406030204" pitchFamily="18" charset="0"/>
                            </a:rPr>
                            <m:t>2</m:t>
                          </m:r>
                        </m:sub>
                      </m:sSub>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𝑦</m:t>
                          </m:r>
                        </m:e>
                        <m:sup>
                          <m:r>
                            <a:rPr lang="en-AU" sz="2400" b="0" i="1" smtClean="0">
                              <a:latin typeface="Cambria Math" panose="02040503050406030204" pitchFamily="18" charset="0"/>
                            </a:rPr>
                            <m:t>2</m:t>
                          </m:r>
                        </m:sup>
                      </m:sSup>
                      <m:r>
                        <a:rPr lang="en-AU" sz="2400" b="0" i="1" smtClean="0">
                          <a:latin typeface="Cambria Math" panose="02040503050406030204" pitchFamily="18" charset="0"/>
                        </a:rPr>
                        <m:t>+</m:t>
                      </m:r>
                      <m:sSub>
                        <m:sSubPr>
                          <m:ctrlPr>
                            <a:rPr lang="en-AU" sz="2400" b="0" i="1" smtClean="0">
                              <a:latin typeface="Cambria Math" panose="02040503050406030204" pitchFamily="18" charset="0"/>
                            </a:rPr>
                          </m:ctrlPr>
                        </m:sSubPr>
                        <m:e>
                          <m:r>
                            <a:rPr lang="en-AU" sz="2400" b="0" i="1" smtClean="0">
                              <a:latin typeface="Cambria Math" panose="02040503050406030204" pitchFamily="18" charset="0"/>
                            </a:rPr>
                            <m:t>𝑃</m:t>
                          </m:r>
                        </m:e>
                        <m:sub>
                          <m:r>
                            <a:rPr lang="en-AU" sz="2400" b="0" i="1" smtClean="0">
                              <a:latin typeface="Cambria Math" panose="02040503050406030204" pitchFamily="18" charset="0"/>
                            </a:rPr>
                            <m:t>1</m:t>
                          </m:r>
                        </m:sub>
                      </m:sSub>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r>
                        <a:rPr lang="en-AU" sz="2400" b="0" i="1" smtClean="0">
                          <a:latin typeface="Cambria Math" panose="02040503050406030204" pitchFamily="18" charset="0"/>
                        </a:rPr>
                        <m:t>𝑦</m:t>
                      </m:r>
                      <m:r>
                        <a:rPr lang="en-AU" sz="2400" b="0" i="1" smtClean="0">
                          <a:latin typeface="Cambria Math" panose="02040503050406030204" pitchFamily="18" charset="0"/>
                        </a:rPr>
                        <m:t>+</m:t>
                      </m:r>
                      <m:sSub>
                        <m:sSubPr>
                          <m:ctrlPr>
                            <a:rPr lang="en-AU" sz="2400" b="0" i="1" smtClean="0">
                              <a:latin typeface="Cambria Math" panose="02040503050406030204" pitchFamily="18" charset="0"/>
                            </a:rPr>
                          </m:ctrlPr>
                        </m:sSubPr>
                        <m:e>
                          <m:r>
                            <a:rPr lang="en-AU" sz="2400" b="0" i="1" smtClean="0">
                              <a:latin typeface="Cambria Math" panose="02040503050406030204" pitchFamily="18" charset="0"/>
                            </a:rPr>
                            <m:t>𝑃</m:t>
                          </m:r>
                        </m:e>
                        <m:sub>
                          <m:r>
                            <a:rPr lang="en-AU" sz="2400" b="0" i="1" smtClean="0">
                              <a:latin typeface="Cambria Math" panose="02040503050406030204" pitchFamily="18" charset="0"/>
                            </a:rPr>
                            <m:t>0</m:t>
                          </m:r>
                        </m:sub>
                      </m:sSub>
                      <m:r>
                        <a:rPr lang="en-AU" sz="2400" b="0" i="1" smtClean="0">
                          <a:latin typeface="Cambria Math" panose="02040503050406030204" pitchFamily="18" charset="0"/>
                        </a:rPr>
                        <m:t>=0</m:t>
                      </m:r>
                    </m:oMath>
                  </m:oMathPara>
                </a14:m>
                <a:endParaRPr lang="en-AU" sz="2400" b="0" dirty="0">
                  <a:latin typeface="+mj-lt"/>
                </a:endParaRPr>
              </a:p>
              <a:p>
                <a:endParaRPr lang="en-AU" sz="2400" dirty="0">
                  <a:latin typeface="+mj-lt"/>
                </a:endParaRPr>
              </a:p>
              <a:p>
                <a:r>
                  <a:rPr lang="en-AU" sz="2400" b="0" dirty="0">
                    <a:latin typeface="+mj-lt"/>
                  </a:rPr>
                  <a:t>for </a:t>
                </a:r>
                <a14:m>
                  <m:oMath xmlns:m="http://schemas.openxmlformats.org/officeDocument/2006/math">
                    <m:r>
                      <a:rPr lang="en-AU" sz="2400" b="0" i="1" smtClean="0">
                        <a:latin typeface="Cambria Math" panose="02040503050406030204" pitchFamily="18" charset="0"/>
                      </a:rPr>
                      <m:t>𝑛</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ℕ</m:t>
                    </m:r>
                  </m:oMath>
                </a14:m>
                <a:r>
                  <a:rPr lang="en-AU" sz="2400" b="0" dirty="0">
                    <a:latin typeface="+mj-lt"/>
                  </a:rPr>
                  <a:t>, where </a:t>
                </a:r>
                <a14:m>
                  <m:oMath xmlns:m="http://schemas.openxmlformats.org/officeDocument/2006/math">
                    <m:sSub>
                      <m:sSubPr>
                        <m:ctrlPr>
                          <a:rPr lang="en-AU" sz="2400" i="1">
                            <a:latin typeface="Cambria Math" panose="02040503050406030204" pitchFamily="18" charset="0"/>
                          </a:rPr>
                        </m:ctrlPr>
                      </m:sSubPr>
                      <m:e>
                        <m:r>
                          <a:rPr lang="en-AU" sz="2400" i="1">
                            <a:latin typeface="Cambria Math" panose="02040503050406030204" pitchFamily="18" charset="0"/>
                          </a:rPr>
                          <m:t>𝑃</m:t>
                        </m:r>
                      </m:e>
                      <m:sub>
                        <m:r>
                          <a:rPr lang="en-AU" sz="2400" i="1">
                            <a:latin typeface="Cambria Math" panose="02040503050406030204" pitchFamily="18" charset="0"/>
                          </a:rPr>
                          <m:t>0</m:t>
                        </m:r>
                      </m:sub>
                    </m:sSub>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r>
                      <a:rPr lang="en-AU" sz="2400" b="0" i="1" smtClean="0">
                        <a:latin typeface="Cambria Math" panose="02040503050406030204" pitchFamily="18" charset="0"/>
                      </a:rPr>
                      <m:t>,…, </m:t>
                    </m:r>
                    <m:sSub>
                      <m:sSubPr>
                        <m:ctrlPr>
                          <a:rPr lang="en-AU" sz="2400" b="0" i="1" smtClean="0">
                            <a:latin typeface="Cambria Math" panose="02040503050406030204" pitchFamily="18" charset="0"/>
                          </a:rPr>
                        </m:ctrlPr>
                      </m:sSubPr>
                      <m:e>
                        <m:r>
                          <a:rPr lang="en-AU" sz="2400" b="0" i="1" smtClean="0">
                            <a:latin typeface="Cambria Math" panose="02040503050406030204" pitchFamily="18" charset="0"/>
                          </a:rPr>
                          <m:t>𝑃</m:t>
                        </m:r>
                      </m:e>
                      <m:sub>
                        <m:r>
                          <a:rPr lang="en-AU" sz="2400" b="0" i="1" smtClean="0">
                            <a:latin typeface="Cambria Math" panose="02040503050406030204" pitchFamily="18" charset="0"/>
                          </a:rPr>
                          <m:t>𝑛</m:t>
                        </m:r>
                      </m:sub>
                    </m:sSub>
                    <m:r>
                      <a:rPr lang="en-AU" sz="2400" b="0" i="1" smtClean="0">
                        <a:latin typeface="Cambria Math" panose="02040503050406030204" pitchFamily="18" charset="0"/>
                      </a:rPr>
                      <m:t>(</m:t>
                    </m:r>
                    <m:r>
                      <a:rPr lang="en-AU" sz="2400" b="0" i="1" smtClean="0">
                        <a:latin typeface="Cambria Math" panose="02040503050406030204" pitchFamily="18" charset="0"/>
                      </a:rPr>
                      <m:t>𝑥</m:t>
                    </m:r>
                    <m:r>
                      <a:rPr lang="en-AU" sz="2400" b="0" i="1" smtClean="0">
                        <a:latin typeface="Cambria Math" panose="02040503050406030204" pitchFamily="18" charset="0"/>
                      </a:rPr>
                      <m:t>)</m:t>
                    </m:r>
                  </m:oMath>
                </a14:m>
                <a:r>
                  <a:rPr lang="en-AU" sz="2400" b="0" dirty="0">
                    <a:latin typeface="+mj-lt"/>
                  </a:rPr>
                  <a:t> are polynomials.</a:t>
                </a:r>
              </a:p>
              <a:p>
                <a:r>
                  <a:rPr lang="en-AU" sz="2400" dirty="0">
                    <a:latin typeface="+mj-lt"/>
                  </a:rPr>
                  <a:t>Example: </a:t>
                </a:r>
                <a14:m>
                  <m:oMath xmlns:m="http://schemas.openxmlformats.org/officeDocument/2006/math">
                    <m:r>
                      <a:rPr lang="en-AU" sz="2400" b="0" i="0" smtClean="0">
                        <a:latin typeface="Cambria Math" panose="02040503050406030204" pitchFamily="18" charset="0"/>
                      </a:rPr>
                      <m:t> </m:t>
                    </m:r>
                    <m:r>
                      <a:rPr lang="en-AU" sz="2400" b="0" i="1" smtClean="0">
                        <a:latin typeface="Cambria Math" panose="02040503050406030204" pitchFamily="18" charset="0"/>
                      </a:rPr>
                      <m:t>𝑓</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r>
                      <a:rPr lang="en-AU" sz="2400" b="0" i="1" smtClean="0">
                        <a:latin typeface="Cambria Math" panose="02040503050406030204" pitchFamily="18" charset="0"/>
                      </a:rPr>
                      <m:t>=</m:t>
                    </m:r>
                    <m:f>
                      <m:fPr>
                        <m:ctrlPr>
                          <a:rPr lang="en-AU" sz="2400" b="0" i="1" smtClean="0">
                            <a:latin typeface="Cambria Math" panose="02040503050406030204" pitchFamily="18" charset="0"/>
                          </a:rPr>
                        </m:ctrlPr>
                      </m:fPr>
                      <m:num>
                        <m:r>
                          <a:rPr lang="en-AU" sz="2400" b="0" i="1" smtClean="0">
                            <a:latin typeface="Cambria Math" panose="02040503050406030204" pitchFamily="18" charset="0"/>
                          </a:rPr>
                          <m:t>1</m:t>
                        </m:r>
                      </m:num>
                      <m:den>
                        <m:rad>
                          <m:radPr>
                            <m:degHide m:val="on"/>
                            <m:ctrlPr>
                              <a:rPr lang="en-AU" sz="2400" b="0" i="1" smtClean="0">
                                <a:latin typeface="Cambria Math" panose="02040503050406030204" pitchFamily="18" charset="0"/>
                              </a:rPr>
                            </m:ctrlPr>
                          </m:radPr>
                          <m:deg/>
                          <m:e>
                            <m:r>
                              <a:rPr lang="en-AU" sz="2400" b="0" i="1" smtClean="0">
                                <a:latin typeface="Cambria Math" panose="02040503050406030204" pitchFamily="18" charset="0"/>
                              </a:rPr>
                              <m:t>𝑥</m:t>
                            </m:r>
                          </m:e>
                        </m:rad>
                        <m:r>
                          <a:rPr lang="en-AU" sz="2400" b="0" i="1" smtClean="0">
                            <a:latin typeface="Cambria Math" panose="02040503050406030204" pitchFamily="18" charset="0"/>
                          </a:rPr>
                          <m:t>+1</m:t>
                        </m:r>
                      </m:den>
                    </m:f>
                  </m:oMath>
                </a14:m>
                <a:r>
                  <a:rPr lang="en-AU" sz="2400" b="0" dirty="0">
                    <a:latin typeface="+mj-lt"/>
                  </a:rPr>
                  <a:t> is an algebraic function, solution to the second order algebraic equation:</a:t>
                </a:r>
              </a:p>
              <a:p>
                <a:pPr/>
                <a14:m>
                  <m:oMathPara xmlns:m="http://schemas.openxmlformats.org/officeDocument/2006/math">
                    <m:oMathParaPr>
                      <m:jc m:val="centerGroup"/>
                    </m:oMathParaPr>
                    <m:oMath xmlns:m="http://schemas.openxmlformats.org/officeDocument/2006/math">
                      <m:d>
                        <m:dPr>
                          <m:ctrlPr>
                            <a:rPr lang="en-AU" sz="2400" b="0" i="1" smtClean="0">
                              <a:latin typeface="Cambria Math" panose="02040503050406030204" pitchFamily="18" charset="0"/>
                            </a:rPr>
                          </m:ctrlPr>
                        </m:dPr>
                        <m:e>
                          <m:r>
                            <a:rPr lang="en-AU" sz="2400" b="0" i="1" smtClean="0">
                              <a:latin typeface="Cambria Math" panose="02040503050406030204" pitchFamily="18" charset="0"/>
                            </a:rPr>
                            <m:t>1−</m:t>
                          </m:r>
                          <m:r>
                            <a:rPr lang="en-AU" sz="2400" b="0" i="1" smtClean="0">
                              <a:latin typeface="Cambria Math" panose="02040503050406030204" pitchFamily="18" charset="0"/>
                            </a:rPr>
                            <m:t>𝑥</m:t>
                          </m:r>
                        </m:e>
                      </m:d>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𝑦</m:t>
                          </m:r>
                        </m:e>
                        <m:sup>
                          <m:r>
                            <a:rPr lang="en-AU" sz="2400" b="0" i="1" smtClean="0">
                              <a:latin typeface="Cambria Math" panose="02040503050406030204" pitchFamily="18" charset="0"/>
                            </a:rPr>
                            <m:t>2</m:t>
                          </m:r>
                        </m:sup>
                      </m:sSup>
                      <m:r>
                        <a:rPr lang="en-AU" sz="2400" b="0" i="1" smtClean="0">
                          <a:latin typeface="Cambria Math" panose="02040503050406030204" pitchFamily="18" charset="0"/>
                        </a:rPr>
                        <m:t>−2</m:t>
                      </m:r>
                      <m:r>
                        <a:rPr lang="en-AU" sz="2400" b="0" i="1" smtClean="0">
                          <a:latin typeface="Cambria Math" panose="02040503050406030204" pitchFamily="18" charset="0"/>
                        </a:rPr>
                        <m:t>𝑦</m:t>
                      </m:r>
                      <m:r>
                        <a:rPr lang="en-AU" sz="2400" b="0" i="1" smtClean="0">
                          <a:latin typeface="Cambria Math" panose="02040503050406030204" pitchFamily="18" charset="0"/>
                        </a:rPr>
                        <m:t>+1=0</m:t>
                      </m:r>
                    </m:oMath>
                  </m:oMathPara>
                </a14:m>
                <a:endParaRPr lang="en-AU" sz="2400" b="0" dirty="0">
                  <a:latin typeface="+mj-lt"/>
                </a:endParaRPr>
              </a:p>
            </p:txBody>
          </p:sp>
        </mc:Choice>
        <mc:Fallback xmlns="">
          <p:sp>
            <p:nvSpPr>
              <p:cNvPr id="3" name="TextBox 2">
                <a:extLst>
                  <a:ext uri="{FF2B5EF4-FFF2-40B4-BE49-F238E27FC236}">
                    <a16:creationId xmlns:a16="http://schemas.microsoft.com/office/drawing/2014/main" id="{F75AA2DF-9391-4F78-9302-4E3BED588924}"/>
                  </a:ext>
                </a:extLst>
              </p:cNvPr>
              <p:cNvSpPr txBox="1">
                <a:spLocks noRot="1" noChangeAspect="1" noMove="1" noResize="1" noEditPoints="1" noAdjustHandles="1" noChangeArrowheads="1" noChangeShapeType="1" noTextEdit="1"/>
              </p:cNvSpPr>
              <p:nvPr/>
            </p:nvSpPr>
            <p:spPr>
              <a:xfrm>
                <a:off x="301020" y="1589866"/>
                <a:ext cx="11710929" cy="3237746"/>
              </a:xfrm>
              <a:prstGeom prst="rect">
                <a:avLst/>
              </a:prstGeom>
              <a:blipFill>
                <a:blip r:embed="rId2"/>
                <a:stretch>
                  <a:fillRect l="-781" t="-1507" b="-1507"/>
                </a:stretch>
              </a:blipFill>
            </p:spPr>
            <p:txBody>
              <a:bodyPr/>
              <a:lstStyle/>
              <a:p>
                <a:r>
                  <a:rPr lang="en-GB">
                    <a:noFill/>
                  </a:rPr>
                  <a:t> </a:t>
                </a:r>
              </a:p>
            </p:txBody>
          </p:sp>
        </mc:Fallback>
      </mc:AlternateContent>
    </p:spTree>
    <p:extLst>
      <p:ext uri="{BB962C8B-B14F-4D97-AF65-F5344CB8AC3E}">
        <p14:creationId xmlns:p14="http://schemas.microsoft.com/office/powerpoint/2010/main" val="29956452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3661067" cy="523220"/>
          </a:xfrm>
          <a:prstGeom prst="rect">
            <a:avLst/>
          </a:prstGeom>
          <a:noFill/>
        </p:spPr>
        <p:txBody>
          <a:bodyPr wrap="none" rtlCol="0">
            <a:spAutoFit/>
          </a:bodyPr>
          <a:lstStyle/>
          <a:p>
            <a:r>
              <a:rPr lang="en-AU" sz="2800" b="1" cap="small" dirty="0">
                <a:solidFill>
                  <a:schemeClr val="bg1"/>
                </a:solidFill>
                <a:latin typeface="+mj-lt"/>
              </a:rPr>
              <a:t>1.5 Elementary functions</a:t>
            </a:r>
            <a:endParaRPr lang="en-GB" sz="2800" b="1" cap="small" dirty="0">
              <a:solidFill>
                <a:schemeClr val="bg1"/>
              </a:solidFill>
              <a:latin typeface="+mj-lt"/>
            </a:endParaRPr>
          </a:p>
        </p:txBody>
      </p:sp>
      <p:sp>
        <p:nvSpPr>
          <p:cNvPr id="2" name="TextBox 1">
            <a:extLst>
              <a:ext uri="{FF2B5EF4-FFF2-40B4-BE49-F238E27FC236}">
                <a16:creationId xmlns:a16="http://schemas.microsoft.com/office/drawing/2014/main" id="{334C49E2-30E7-4808-BEE2-A91F5138A2E2}"/>
              </a:ext>
            </a:extLst>
          </p:cNvPr>
          <p:cNvSpPr txBox="1"/>
          <p:nvPr/>
        </p:nvSpPr>
        <p:spPr>
          <a:xfrm>
            <a:off x="301020" y="1048888"/>
            <a:ext cx="4644798" cy="461665"/>
          </a:xfrm>
          <a:prstGeom prst="rect">
            <a:avLst/>
          </a:prstGeom>
          <a:noFill/>
          <a:ln>
            <a:solidFill>
              <a:schemeClr val="accent2">
                <a:lumMod val="50000"/>
              </a:schemeClr>
            </a:solidFill>
          </a:ln>
        </p:spPr>
        <p:txBody>
          <a:bodyPr wrap="none" rtlCol="0">
            <a:spAutoFit/>
          </a:bodyPr>
          <a:lstStyle/>
          <a:p>
            <a:r>
              <a:rPr lang="en-AU" sz="2400" dirty="0">
                <a:latin typeface="+mj-lt"/>
              </a:rPr>
              <a:t>Exponential and logarithm functions</a:t>
            </a:r>
            <a:endParaRPr lang="en-GB" sz="2400" dirty="0">
              <a:latin typeface="+mj-lt"/>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69344509-F72A-42B6-BEFC-98E5BF337B0B}"/>
                  </a:ext>
                </a:extLst>
              </p:cNvPr>
              <p:cNvSpPr txBox="1"/>
              <p:nvPr/>
            </p:nvSpPr>
            <p:spPr>
              <a:xfrm>
                <a:off x="301020" y="1733766"/>
                <a:ext cx="11801333" cy="3785652"/>
              </a:xfrm>
              <a:prstGeom prst="rect">
                <a:avLst/>
              </a:prstGeom>
              <a:noFill/>
            </p:spPr>
            <p:txBody>
              <a:bodyPr wrap="square" rtlCol="0">
                <a:spAutoFit/>
              </a:bodyPr>
              <a:lstStyle/>
              <a:p>
                <a:r>
                  <a:rPr lang="en-AU" sz="2400" dirty="0">
                    <a:latin typeface="+mj-lt"/>
                  </a:rPr>
                  <a:t>An exponential function is a function of the form </a:t>
                </a:r>
                <a14:m>
                  <m:oMath xmlns:m="http://schemas.openxmlformats.org/officeDocument/2006/math">
                    <m:r>
                      <a:rPr lang="en-AU" sz="2400" b="0" i="1" smtClean="0">
                        <a:latin typeface="Cambria Math" panose="02040503050406030204" pitchFamily="18" charset="0"/>
                      </a:rPr>
                      <m:t>𝑓</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r>
                      <a:rPr lang="en-AU" sz="2400" b="0" i="1" smtClean="0">
                        <a:latin typeface="Cambria Math" panose="02040503050406030204" pitchFamily="18" charset="0"/>
                      </a:rPr>
                      <m:t>=</m:t>
                    </m:r>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𝑎</m:t>
                        </m:r>
                      </m:e>
                      <m:sup>
                        <m:r>
                          <a:rPr lang="en-AU" sz="2400" b="0" i="1" smtClean="0">
                            <a:latin typeface="Cambria Math" panose="02040503050406030204" pitchFamily="18" charset="0"/>
                          </a:rPr>
                          <m:t>𝑥</m:t>
                        </m:r>
                      </m:sup>
                    </m:sSup>
                  </m:oMath>
                </a14:m>
                <a:r>
                  <a:rPr lang="en-GB" sz="2400" dirty="0">
                    <a:latin typeface="+mj-lt"/>
                  </a:rPr>
                  <a:t> where </a:t>
                </a:r>
                <a14:m>
                  <m:oMath xmlns:m="http://schemas.openxmlformats.org/officeDocument/2006/math">
                    <m:r>
                      <a:rPr lang="en-AU" sz="2400" b="0" i="1" smtClean="0">
                        <a:latin typeface="Cambria Math" panose="02040503050406030204" pitchFamily="18" charset="0"/>
                      </a:rPr>
                      <m:t>𝑎</m:t>
                    </m:r>
                    <m:r>
                      <a:rPr lang="en-AU" sz="2400" b="0" i="1" smtClean="0">
                        <a:latin typeface="Cambria Math" panose="02040503050406030204" pitchFamily="18" charset="0"/>
                      </a:rPr>
                      <m:t>&gt;0</m:t>
                    </m:r>
                  </m:oMath>
                </a14:m>
                <a:r>
                  <a:rPr lang="en-GB" sz="2400" dirty="0">
                    <a:latin typeface="+mj-lt"/>
                  </a:rPr>
                  <a:t> is a constant (</a:t>
                </a:r>
                <a14:m>
                  <m:oMath xmlns:m="http://schemas.openxmlformats.org/officeDocument/2006/math">
                    <m:r>
                      <a:rPr lang="en-AU" sz="2400" b="0" i="1" smtClean="0">
                        <a:latin typeface="Cambria Math" panose="02040503050406030204" pitchFamily="18" charset="0"/>
                      </a:rPr>
                      <m:t>𝑎</m:t>
                    </m:r>
                    <m:r>
                      <a:rPr lang="en-AU" sz="2400" b="0" i="1" smtClean="0">
                        <a:latin typeface="Cambria Math" panose="02040503050406030204" pitchFamily="18" charset="0"/>
                        <a:ea typeface="Cambria Math" panose="02040503050406030204" pitchFamily="18" charset="0"/>
                      </a:rPr>
                      <m:t>≠1</m:t>
                    </m:r>
                  </m:oMath>
                </a14:m>
                <a:r>
                  <a:rPr lang="en-GB" sz="2400" dirty="0">
                    <a:latin typeface="+mj-lt"/>
                  </a:rPr>
                  <a:t>)</a:t>
                </a:r>
              </a:p>
              <a:p>
                <a:r>
                  <a:rPr lang="en-GB" sz="2400" dirty="0">
                    <a:latin typeface="+mj-lt"/>
                  </a:rPr>
                  <a:t>Its inverse is the logarithm function with base </a:t>
                </a:r>
                <a14:m>
                  <m:oMath xmlns:m="http://schemas.openxmlformats.org/officeDocument/2006/math">
                    <m:r>
                      <a:rPr lang="en-AU" sz="2400" b="0" i="1" smtClean="0">
                        <a:latin typeface="Cambria Math" panose="02040503050406030204" pitchFamily="18" charset="0"/>
                      </a:rPr>
                      <m:t>𝑎</m:t>
                    </m:r>
                  </m:oMath>
                </a14:m>
                <a:r>
                  <a:rPr lang="en-GB" sz="2400" dirty="0">
                    <a:latin typeface="+mj-lt"/>
                  </a:rPr>
                  <a:t>, indicated as </a:t>
                </a:r>
                <a14:m>
                  <m:oMath xmlns:m="http://schemas.openxmlformats.org/officeDocument/2006/math">
                    <m:r>
                      <a:rPr lang="en-AU" sz="2400" b="0" i="1" smtClean="0">
                        <a:latin typeface="Cambria Math" panose="02040503050406030204" pitchFamily="18" charset="0"/>
                      </a:rPr>
                      <m:t>𝑔</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r>
                      <a:rPr lang="en-AU" sz="2400" b="0" i="1" smtClean="0">
                        <a:latin typeface="Cambria Math" panose="02040503050406030204" pitchFamily="18" charset="0"/>
                      </a:rPr>
                      <m:t>=</m:t>
                    </m:r>
                    <m:func>
                      <m:funcPr>
                        <m:ctrlPr>
                          <a:rPr lang="en-AU" sz="2400" b="0" i="1" smtClean="0">
                            <a:latin typeface="Cambria Math" panose="02040503050406030204" pitchFamily="18" charset="0"/>
                          </a:rPr>
                        </m:ctrlPr>
                      </m:funcPr>
                      <m:fName>
                        <m:sSub>
                          <m:sSubPr>
                            <m:ctrlPr>
                              <a:rPr lang="en-AU" sz="2400" b="0" i="1" smtClean="0">
                                <a:latin typeface="Cambria Math" panose="02040503050406030204" pitchFamily="18" charset="0"/>
                              </a:rPr>
                            </m:ctrlPr>
                          </m:sSubPr>
                          <m:e>
                            <m:r>
                              <m:rPr>
                                <m:sty m:val="p"/>
                              </m:rPr>
                              <a:rPr lang="en-AU" sz="2400">
                                <a:latin typeface="Cambria Math" panose="02040503050406030204" pitchFamily="18" charset="0"/>
                              </a:rPr>
                              <m:t>log</m:t>
                            </m:r>
                          </m:e>
                          <m:sub>
                            <m:r>
                              <a:rPr lang="en-AU" sz="2400" b="0" i="1" smtClean="0">
                                <a:latin typeface="Cambria Math" panose="02040503050406030204" pitchFamily="18" charset="0"/>
                              </a:rPr>
                              <m:t>𝑎</m:t>
                            </m:r>
                          </m:sub>
                        </m:sSub>
                      </m:fName>
                      <m:e>
                        <m:r>
                          <a:rPr lang="en-AU" sz="2400" b="0" i="1" smtClean="0">
                            <a:latin typeface="Cambria Math" panose="02040503050406030204" pitchFamily="18" charset="0"/>
                          </a:rPr>
                          <m:t>𝑥</m:t>
                        </m:r>
                      </m:e>
                    </m:func>
                  </m:oMath>
                </a14:m>
                <a:r>
                  <a:rPr lang="en-GB" sz="2400" dirty="0">
                    <a:latin typeface="+mj-lt"/>
                  </a:rPr>
                  <a:t>. They have the following properties:</a:t>
                </a:r>
              </a:p>
              <a:p>
                <a:pPr marL="342900" indent="-342900">
                  <a:buFont typeface="Arial" panose="020B0604020202020204" pitchFamily="34" charset="0"/>
                  <a:buChar char="•"/>
                </a:pPr>
                <a:r>
                  <a:rPr lang="en-GB" sz="2400" dirty="0">
                    <a:latin typeface="+mj-lt"/>
                  </a:rPr>
                  <a:t>The exponential is always positive. It is increasing for </a:t>
                </a:r>
                <a14:m>
                  <m:oMath xmlns:m="http://schemas.openxmlformats.org/officeDocument/2006/math">
                    <m:r>
                      <a:rPr lang="en-AU" sz="2400" b="0" i="1" smtClean="0">
                        <a:latin typeface="Cambria Math" panose="02040503050406030204" pitchFamily="18" charset="0"/>
                      </a:rPr>
                      <m:t>𝑎</m:t>
                    </m:r>
                    <m:r>
                      <a:rPr lang="en-AU" sz="2400" b="0" i="1" smtClean="0">
                        <a:latin typeface="Cambria Math" panose="02040503050406030204" pitchFamily="18" charset="0"/>
                      </a:rPr>
                      <m:t>&gt;1</m:t>
                    </m:r>
                  </m:oMath>
                </a14:m>
                <a:r>
                  <a:rPr lang="en-GB" sz="2400" dirty="0">
                    <a:latin typeface="+mj-lt"/>
                  </a:rPr>
                  <a:t>, decreasing for </a:t>
                </a:r>
                <a14:m>
                  <m:oMath xmlns:m="http://schemas.openxmlformats.org/officeDocument/2006/math">
                    <m:r>
                      <a:rPr lang="en-AU" sz="2400" b="0" i="1" smtClean="0">
                        <a:latin typeface="Cambria Math" panose="02040503050406030204" pitchFamily="18" charset="0"/>
                      </a:rPr>
                      <m:t>0&lt;</m:t>
                    </m:r>
                    <m:r>
                      <a:rPr lang="en-AU" sz="2400" b="0" i="1" smtClean="0">
                        <a:latin typeface="Cambria Math" panose="02040503050406030204" pitchFamily="18" charset="0"/>
                      </a:rPr>
                      <m:t>𝑎</m:t>
                    </m:r>
                    <m:r>
                      <a:rPr lang="en-AU" sz="2400" b="0" i="1" smtClean="0">
                        <a:latin typeface="Cambria Math" panose="02040503050406030204" pitchFamily="18" charset="0"/>
                      </a:rPr>
                      <m:t>&lt;1</m:t>
                    </m:r>
                  </m:oMath>
                </a14:m>
                <a:endParaRPr lang="en-GB" sz="2400" dirty="0">
                  <a:latin typeface="+mj-lt"/>
                </a:endParaRPr>
              </a:p>
              <a:p>
                <a:pPr marL="342900" indent="-342900">
                  <a:buFont typeface="Arial" panose="020B0604020202020204" pitchFamily="34" charset="0"/>
                  <a:buChar char="•"/>
                </a:pPr>
                <a:r>
                  <a:rPr lang="en-GB" sz="2400" dirty="0">
                    <a:latin typeface="+mj-lt"/>
                  </a:rPr>
                  <a:t>If the exponential is a number </a:t>
                </a:r>
                <a14:m>
                  <m:oMath xmlns:m="http://schemas.openxmlformats.org/officeDocument/2006/math">
                    <m:r>
                      <a:rPr lang="en-AU" sz="2400" b="0" i="1" smtClean="0">
                        <a:latin typeface="Cambria Math" panose="02040503050406030204" pitchFamily="18" charset="0"/>
                      </a:rPr>
                      <m:t>𝑦</m:t>
                    </m:r>
                  </m:oMath>
                </a14:m>
                <a:r>
                  <a:rPr lang="en-GB" sz="2400" dirty="0">
                    <a:latin typeface="+mj-lt"/>
                  </a:rPr>
                  <a:t> given by </a:t>
                </a:r>
                <a14:m>
                  <m:oMath xmlns:m="http://schemas.openxmlformats.org/officeDocument/2006/math">
                    <m:r>
                      <a:rPr lang="en-AU" sz="2400" b="0" i="1" smtClean="0">
                        <a:latin typeface="Cambria Math" panose="02040503050406030204" pitchFamily="18" charset="0"/>
                      </a:rPr>
                      <m:t>𝑦</m:t>
                    </m:r>
                    <m:r>
                      <a:rPr lang="en-AU" sz="2400" b="0" i="1" smtClean="0">
                        <a:latin typeface="Cambria Math" panose="02040503050406030204" pitchFamily="18" charset="0"/>
                      </a:rPr>
                      <m:t>=</m:t>
                    </m:r>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𝑎</m:t>
                        </m:r>
                      </m:e>
                      <m:sup>
                        <m:r>
                          <a:rPr lang="en-AU" sz="2400" b="0" i="1" smtClean="0">
                            <a:latin typeface="Cambria Math" panose="02040503050406030204" pitchFamily="18" charset="0"/>
                          </a:rPr>
                          <m:t>𝑝</m:t>
                        </m:r>
                      </m:sup>
                    </m:sSup>
                  </m:oMath>
                </a14:m>
                <a:r>
                  <a:rPr lang="en-GB" sz="2400" dirty="0">
                    <a:latin typeface="+mj-lt"/>
                  </a:rPr>
                  <a:t>, the logarithm to base </a:t>
                </a:r>
                <a14:m>
                  <m:oMath xmlns:m="http://schemas.openxmlformats.org/officeDocument/2006/math">
                    <m:r>
                      <a:rPr lang="en-AU" sz="2400" b="0" i="1" smtClean="0">
                        <a:latin typeface="Cambria Math" panose="02040503050406030204" pitchFamily="18" charset="0"/>
                      </a:rPr>
                      <m:t>𝑎</m:t>
                    </m:r>
                  </m:oMath>
                </a14:m>
                <a:r>
                  <a:rPr lang="en-GB" sz="2400" dirty="0">
                    <a:latin typeface="+mj-lt"/>
                  </a:rPr>
                  <a:t> of </a:t>
                </a:r>
                <a14:m>
                  <m:oMath xmlns:m="http://schemas.openxmlformats.org/officeDocument/2006/math">
                    <m:r>
                      <a:rPr lang="en-AU" sz="2400" b="0" i="1" smtClean="0">
                        <a:latin typeface="Cambria Math" panose="02040503050406030204" pitchFamily="18" charset="0"/>
                      </a:rPr>
                      <m:t>𝑦</m:t>
                    </m:r>
                  </m:oMath>
                </a14:m>
                <a:r>
                  <a:rPr lang="en-GB" sz="2400" dirty="0">
                    <a:latin typeface="+mj-lt"/>
                  </a:rPr>
                  <a:t> is </a:t>
                </a:r>
                <a14:m>
                  <m:oMath xmlns:m="http://schemas.openxmlformats.org/officeDocument/2006/math">
                    <m:r>
                      <a:rPr lang="en-AU" sz="2400" b="0" i="1" smtClean="0">
                        <a:latin typeface="Cambria Math" panose="02040503050406030204" pitchFamily="18" charset="0"/>
                      </a:rPr>
                      <m:t>𝑝</m:t>
                    </m:r>
                  </m:oMath>
                </a14:m>
                <a:r>
                  <a:rPr lang="en-GB" sz="2400" dirty="0">
                    <a:latin typeface="+mj-lt"/>
                  </a:rPr>
                  <a:t>, i.e. </a:t>
                </a:r>
                <a14:m>
                  <m:oMath xmlns:m="http://schemas.openxmlformats.org/officeDocument/2006/math">
                    <m:func>
                      <m:funcPr>
                        <m:ctrlPr>
                          <a:rPr lang="en-AU" sz="2400" i="1">
                            <a:latin typeface="Cambria Math" panose="02040503050406030204" pitchFamily="18" charset="0"/>
                          </a:rPr>
                        </m:ctrlPr>
                      </m:funcPr>
                      <m:fName>
                        <m:sSub>
                          <m:sSubPr>
                            <m:ctrlPr>
                              <a:rPr lang="en-AU" sz="2400" i="1">
                                <a:latin typeface="Cambria Math" panose="02040503050406030204" pitchFamily="18" charset="0"/>
                              </a:rPr>
                            </m:ctrlPr>
                          </m:sSubPr>
                          <m:e>
                            <m:r>
                              <m:rPr>
                                <m:sty m:val="p"/>
                              </m:rPr>
                              <a:rPr lang="en-AU" sz="2400">
                                <a:latin typeface="Cambria Math" panose="02040503050406030204" pitchFamily="18" charset="0"/>
                              </a:rPr>
                              <m:t>log</m:t>
                            </m:r>
                          </m:e>
                          <m:sub>
                            <m:r>
                              <a:rPr lang="en-AU" sz="2400" i="1">
                                <a:latin typeface="Cambria Math" panose="02040503050406030204" pitchFamily="18" charset="0"/>
                              </a:rPr>
                              <m:t>𝑎</m:t>
                            </m:r>
                          </m:sub>
                        </m:sSub>
                      </m:fName>
                      <m:e>
                        <m:r>
                          <a:rPr lang="en-AU" sz="2400" b="0" i="1" smtClean="0">
                            <a:latin typeface="Cambria Math" panose="02040503050406030204" pitchFamily="18" charset="0"/>
                          </a:rPr>
                          <m:t>𝑦</m:t>
                        </m:r>
                      </m:e>
                    </m:func>
                    <m:r>
                      <a:rPr lang="en-AU" sz="2400" b="0" i="1" smtClean="0">
                        <a:latin typeface="Cambria Math" panose="02040503050406030204" pitchFamily="18" charset="0"/>
                      </a:rPr>
                      <m:t>=</m:t>
                    </m:r>
                    <m:r>
                      <a:rPr lang="en-AU" sz="2400" b="0" i="1" smtClean="0">
                        <a:latin typeface="Cambria Math" panose="02040503050406030204" pitchFamily="18" charset="0"/>
                      </a:rPr>
                      <m:t>𝑝</m:t>
                    </m:r>
                  </m:oMath>
                </a14:m>
                <a:r>
                  <a:rPr lang="en-GB" sz="2400" dirty="0">
                    <a:latin typeface="+mj-lt"/>
                  </a:rPr>
                  <a:t>.</a:t>
                </a:r>
              </a:p>
              <a:p>
                <a:pPr marL="342900" indent="-342900">
                  <a:buFont typeface="Arial" panose="020B0604020202020204" pitchFamily="34" charset="0"/>
                  <a:buChar char="•"/>
                </a:pPr>
                <a:r>
                  <a:rPr lang="en-GB" sz="2400" dirty="0">
                    <a:latin typeface="+mj-lt"/>
                  </a:rPr>
                  <a:t>The logarithm is defined only for positive values of its argument.</a:t>
                </a:r>
              </a:p>
              <a:p>
                <a:pPr marL="342900" indent="-342900">
                  <a:buFont typeface="Arial" panose="020B0604020202020204" pitchFamily="34" charset="0"/>
                  <a:buChar char="•"/>
                </a:pPr>
                <a:r>
                  <a:rPr lang="en-GB" sz="2400" dirty="0">
                    <a:latin typeface="+mj-lt"/>
                  </a:rPr>
                  <a:t>If </a:t>
                </a:r>
                <a14:m>
                  <m:oMath xmlns:m="http://schemas.openxmlformats.org/officeDocument/2006/math">
                    <m:r>
                      <a:rPr lang="en-AU" sz="2400" b="0" i="1" smtClean="0">
                        <a:latin typeface="Cambria Math" panose="02040503050406030204" pitchFamily="18" charset="0"/>
                      </a:rPr>
                      <m:t>𝑎</m:t>
                    </m:r>
                    <m:r>
                      <a:rPr lang="en-AU" sz="2400" b="0" i="1" smtClean="0">
                        <a:latin typeface="Cambria Math" panose="02040503050406030204" pitchFamily="18" charset="0"/>
                      </a:rPr>
                      <m:t>&gt;1</m:t>
                    </m:r>
                  </m:oMath>
                </a14:m>
                <a:r>
                  <a:rPr lang="en-GB" sz="2400" dirty="0">
                    <a:latin typeface="+mj-lt"/>
                  </a:rPr>
                  <a:t>, then </a:t>
                </a:r>
                <a14:m>
                  <m:oMath xmlns:m="http://schemas.openxmlformats.org/officeDocument/2006/math">
                    <m:func>
                      <m:funcPr>
                        <m:ctrlPr>
                          <a:rPr lang="en-AU" sz="2400" i="1">
                            <a:latin typeface="Cambria Math" panose="02040503050406030204" pitchFamily="18" charset="0"/>
                          </a:rPr>
                        </m:ctrlPr>
                      </m:funcPr>
                      <m:fName>
                        <m:sSub>
                          <m:sSubPr>
                            <m:ctrlPr>
                              <a:rPr lang="en-AU" sz="2400" i="1">
                                <a:latin typeface="Cambria Math" panose="02040503050406030204" pitchFamily="18" charset="0"/>
                              </a:rPr>
                            </m:ctrlPr>
                          </m:sSubPr>
                          <m:e>
                            <m:r>
                              <m:rPr>
                                <m:sty m:val="p"/>
                              </m:rPr>
                              <a:rPr lang="en-AU" sz="2400">
                                <a:latin typeface="Cambria Math" panose="02040503050406030204" pitchFamily="18" charset="0"/>
                              </a:rPr>
                              <m:t>log</m:t>
                            </m:r>
                          </m:e>
                          <m:sub>
                            <m:r>
                              <a:rPr lang="en-AU" sz="2400" i="1">
                                <a:latin typeface="Cambria Math" panose="02040503050406030204" pitchFamily="18" charset="0"/>
                              </a:rPr>
                              <m:t>𝑎</m:t>
                            </m:r>
                          </m:sub>
                        </m:sSub>
                      </m:fName>
                      <m:e>
                        <m:r>
                          <a:rPr lang="en-AU" sz="2400" i="1">
                            <a:latin typeface="Cambria Math" panose="02040503050406030204" pitchFamily="18" charset="0"/>
                          </a:rPr>
                          <m:t>𝑥</m:t>
                        </m:r>
                      </m:e>
                    </m:func>
                    <m:r>
                      <a:rPr lang="en-AU" sz="240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0</m:t>
                    </m:r>
                  </m:oMath>
                </a14:m>
                <a:r>
                  <a:rPr lang="en-GB" sz="2400" dirty="0">
                    <a:latin typeface="+mj-lt"/>
                  </a:rPr>
                  <a:t>, </a:t>
                </a:r>
                <a14:m>
                  <m:oMath xmlns:m="http://schemas.openxmlformats.org/officeDocument/2006/math">
                    <m:func>
                      <m:funcPr>
                        <m:ctrlPr>
                          <a:rPr lang="en-AU" sz="2400" i="1">
                            <a:latin typeface="Cambria Math" panose="02040503050406030204" pitchFamily="18" charset="0"/>
                          </a:rPr>
                        </m:ctrlPr>
                      </m:funcPr>
                      <m:fName>
                        <m:sSub>
                          <m:sSubPr>
                            <m:ctrlPr>
                              <a:rPr lang="en-AU" sz="2400" i="1">
                                <a:latin typeface="Cambria Math" panose="02040503050406030204" pitchFamily="18" charset="0"/>
                              </a:rPr>
                            </m:ctrlPr>
                          </m:sSubPr>
                          <m:e>
                            <m:r>
                              <m:rPr>
                                <m:sty m:val="p"/>
                              </m:rPr>
                              <a:rPr lang="en-AU" sz="2400">
                                <a:latin typeface="Cambria Math" panose="02040503050406030204" pitchFamily="18" charset="0"/>
                              </a:rPr>
                              <m:t>log</m:t>
                            </m:r>
                          </m:e>
                          <m:sub>
                            <m:r>
                              <a:rPr lang="en-AU" sz="2400" i="1">
                                <a:latin typeface="Cambria Math" panose="02040503050406030204" pitchFamily="18" charset="0"/>
                              </a:rPr>
                              <m:t>𝑎</m:t>
                            </m:r>
                          </m:sub>
                        </m:sSub>
                      </m:fName>
                      <m:e>
                        <m:r>
                          <a:rPr lang="en-AU" sz="2400" i="1">
                            <a:latin typeface="Cambria Math" panose="02040503050406030204" pitchFamily="18" charset="0"/>
                          </a:rPr>
                          <m:t>𝑥</m:t>
                        </m:r>
                      </m:e>
                    </m:func>
                    <m:r>
                      <a:rPr lang="en-AU" sz="2400" b="0" i="1" smtClean="0">
                        <a:latin typeface="Cambria Math" panose="02040503050406030204" pitchFamily="18" charset="0"/>
                      </a:rPr>
                      <m:t>&lt;0</m:t>
                    </m:r>
                  </m:oMath>
                </a14:m>
                <a:r>
                  <a:rPr lang="en-GB" sz="2400" dirty="0">
                    <a:latin typeface="+mj-lt"/>
                  </a:rPr>
                  <a:t> for </a:t>
                </a:r>
                <a14:m>
                  <m:oMath xmlns:m="http://schemas.openxmlformats.org/officeDocument/2006/math">
                    <m:r>
                      <a:rPr lang="en-AU" sz="2400" b="0" i="1" smtClean="0">
                        <a:latin typeface="Cambria Math" panose="02040503050406030204" pitchFamily="18" charset="0"/>
                      </a:rPr>
                      <m:t>0&lt;</m:t>
                    </m:r>
                    <m:r>
                      <a:rPr lang="en-AU" sz="2400" b="0" i="1" smtClean="0">
                        <a:latin typeface="Cambria Math" panose="02040503050406030204" pitchFamily="18" charset="0"/>
                      </a:rPr>
                      <m:t>𝑥</m:t>
                    </m:r>
                    <m:r>
                      <a:rPr lang="en-AU" sz="2400" b="0" i="1" smtClean="0">
                        <a:latin typeface="Cambria Math" panose="02040503050406030204" pitchFamily="18" charset="0"/>
                      </a:rPr>
                      <m:t>&lt;1</m:t>
                    </m:r>
                  </m:oMath>
                </a14:m>
                <a:r>
                  <a:rPr lang="en-GB" sz="2400" dirty="0">
                    <a:latin typeface="+mj-lt"/>
                  </a:rPr>
                  <a:t>. The logarithm is always increasing for </a:t>
                </a:r>
                <a14:m>
                  <m:oMath xmlns:m="http://schemas.openxmlformats.org/officeDocument/2006/math">
                    <m:r>
                      <a:rPr lang="en-AU" sz="2400" i="1">
                        <a:latin typeface="Cambria Math" panose="02040503050406030204" pitchFamily="18" charset="0"/>
                      </a:rPr>
                      <m:t>𝑎</m:t>
                    </m:r>
                    <m:r>
                      <a:rPr lang="en-AU" sz="2400" i="1">
                        <a:latin typeface="Cambria Math" panose="02040503050406030204" pitchFamily="18" charset="0"/>
                      </a:rPr>
                      <m:t>&gt;1</m:t>
                    </m:r>
                  </m:oMath>
                </a14:m>
                <a:r>
                  <a:rPr lang="en-GB" sz="2400" dirty="0">
                    <a:latin typeface="+mj-lt"/>
                  </a:rPr>
                  <a:t>. For a base </a:t>
                </a:r>
                <a14:m>
                  <m:oMath xmlns:m="http://schemas.openxmlformats.org/officeDocument/2006/math">
                    <m:r>
                      <a:rPr lang="en-AU" sz="2400" i="1">
                        <a:latin typeface="Cambria Math" panose="02040503050406030204" pitchFamily="18" charset="0"/>
                      </a:rPr>
                      <m:t>0&lt;</m:t>
                    </m:r>
                    <m:r>
                      <a:rPr lang="en-AU" sz="2400" b="0" i="1" smtClean="0">
                        <a:latin typeface="Cambria Math" panose="02040503050406030204" pitchFamily="18" charset="0"/>
                      </a:rPr>
                      <m:t>𝑎</m:t>
                    </m:r>
                    <m:r>
                      <a:rPr lang="en-AU" sz="2400" i="1">
                        <a:latin typeface="Cambria Math" panose="02040503050406030204" pitchFamily="18" charset="0"/>
                      </a:rPr>
                      <m:t>&lt;1</m:t>
                    </m:r>
                  </m:oMath>
                </a14:m>
                <a:r>
                  <a:rPr lang="en-GB" sz="2400" dirty="0">
                    <a:latin typeface="+mj-lt"/>
                  </a:rPr>
                  <a:t>, the opposite statements are true.</a:t>
                </a:r>
              </a:p>
              <a:p>
                <a:pPr marL="342900" indent="-342900">
                  <a:buFont typeface="Arial" panose="020B0604020202020204" pitchFamily="34" charset="0"/>
                  <a:buChar char="•"/>
                </a:pPr>
                <a:r>
                  <a:rPr lang="en-GB" sz="2400" dirty="0">
                    <a:latin typeface="+mj-lt"/>
                  </a:rPr>
                  <a:t>The most common bases are 10 and </a:t>
                </a:r>
                <a14:m>
                  <m:oMath xmlns:m="http://schemas.openxmlformats.org/officeDocument/2006/math">
                    <m:r>
                      <a:rPr lang="en-AU" sz="2400" b="0" i="1" smtClean="0">
                        <a:latin typeface="Cambria Math" panose="02040503050406030204" pitchFamily="18" charset="0"/>
                      </a:rPr>
                      <m:t>𝑒</m:t>
                    </m:r>
                  </m:oMath>
                </a14:m>
                <a:r>
                  <a:rPr lang="en-GB" sz="2400" dirty="0">
                    <a:latin typeface="+mj-lt"/>
                  </a:rPr>
                  <a:t>.</a:t>
                </a:r>
              </a:p>
            </p:txBody>
          </p:sp>
        </mc:Choice>
        <mc:Fallback xmlns="">
          <p:sp>
            <p:nvSpPr>
              <p:cNvPr id="4" name="TextBox 3">
                <a:extLst>
                  <a:ext uri="{FF2B5EF4-FFF2-40B4-BE49-F238E27FC236}">
                    <a16:creationId xmlns:a16="http://schemas.microsoft.com/office/drawing/2014/main" id="{69344509-F72A-42B6-BEFC-98E5BF337B0B}"/>
                  </a:ext>
                </a:extLst>
              </p:cNvPr>
              <p:cNvSpPr txBox="1">
                <a:spLocks noRot="1" noChangeAspect="1" noMove="1" noResize="1" noEditPoints="1" noAdjustHandles="1" noChangeArrowheads="1" noChangeShapeType="1" noTextEdit="1"/>
              </p:cNvSpPr>
              <p:nvPr/>
            </p:nvSpPr>
            <p:spPr>
              <a:xfrm>
                <a:off x="301020" y="1733766"/>
                <a:ext cx="11801333" cy="3785652"/>
              </a:xfrm>
              <a:prstGeom prst="rect">
                <a:avLst/>
              </a:prstGeom>
              <a:blipFill>
                <a:blip r:embed="rId2"/>
                <a:stretch>
                  <a:fillRect l="-775" t="-1288" r="-362" b="-2738"/>
                </a:stretch>
              </a:blipFill>
            </p:spPr>
            <p:txBody>
              <a:bodyPr/>
              <a:lstStyle/>
              <a:p>
                <a:r>
                  <a:rPr lang="en-GB">
                    <a:noFill/>
                  </a:rPr>
                  <a:t> </a:t>
                </a:r>
              </a:p>
            </p:txBody>
          </p:sp>
        </mc:Fallback>
      </mc:AlternateContent>
    </p:spTree>
    <p:extLst>
      <p:ext uri="{BB962C8B-B14F-4D97-AF65-F5344CB8AC3E}">
        <p14:creationId xmlns:p14="http://schemas.microsoft.com/office/powerpoint/2010/main" val="3456039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3661067" cy="523220"/>
          </a:xfrm>
          <a:prstGeom prst="rect">
            <a:avLst/>
          </a:prstGeom>
          <a:noFill/>
        </p:spPr>
        <p:txBody>
          <a:bodyPr wrap="none" rtlCol="0">
            <a:spAutoFit/>
          </a:bodyPr>
          <a:lstStyle/>
          <a:p>
            <a:r>
              <a:rPr lang="en-AU" sz="2800" b="1" cap="small" dirty="0">
                <a:solidFill>
                  <a:schemeClr val="bg1"/>
                </a:solidFill>
                <a:latin typeface="+mj-lt"/>
              </a:rPr>
              <a:t>1.5 Elementary functions</a:t>
            </a:r>
            <a:endParaRPr lang="en-GB" sz="2800" b="1" cap="small" dirty="0">
              <a:solidFill>
                <a:schemeClr val="bg1"/>
              </a:solidFill>
              <a:latin typeface="+mj-lt"/>
            </a:endParaRPr>
          </a:p>
        </p:txBody>
      </p:sp>
      <p:sp>
        <p:nvSpPr>
          <p:cNvPr id="10" name="TextBox 9">
            <a:extLst>
              <a:ext uri="{FF2B5EF4-FFF2-40B4-BE49-F238E27FC236}">
                <a16:creationId xmlns:a16="http://schemas.microsoft.com/office/drawing/2014/main" id="{B7FA0DAD-D0AB-4903-873A-CD36FB0ED036}"/>
              </a:ext>
            </a:extLst>
          </p:cNvPr>
          <p:cNvSpPr txBox="1"/>
          <p:nvPr/>
        </p:nvSpPr>
        <p:spPr>
          <a:xfrm>
            <a:off x="301020" y="1048888"/>
            <a:ext cx="4442626" cy="461665"/>
          </a:xfrm>
          <a:prstGeom prst="rect">
            <a:avLst/>
          </a:prstGeom>
          <a:noFill/>
          <a:ln>
            <a:solidFill>
              <a:schemeClr val="accent2">
                <a:lumMod val="50000"/>
              </a:schemeClr>
            </a:solidFill>
          </a:ln>
        </p:spPr>
        <p:txBody>
          <a:bodyPr wrap="none" rtlCol="0">
            <a:spAutoFit/>
          </a:bodyPr>
          <a:lstStyle/>
          <a:p>
            <a:r>
              <a:rPr lang="en-AU" sz="2400" dirty="0">
                <a:latin typeface="+mj-lt"/>
              </a:rPr>
              <a:t>Trigonometric or circular functions</a:t>
            </a:r>
            <a:endParaRPr lang="en-GB" sz="2400" dirty="0">
              <a:latin typeface="+mj-lt"/>
            </a:endParaRP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31E77652-8767-4DBA-A5E8-951D152E6136}"/>
                  </a:ext>
                </a:extLst>
              </p:cNvPr>
              <p:cNvSpPr txBox="1"/>
              <p:nvPr/>
            </p:nvSpPr>
            <p:spPr>
              <a:xfrm>
                <a:off x="301020" y="1608739"/>
                <a:ext cx="11801333" cy="2308324"/>
              </a:xfrm>
              <a:prstGeom prst="rect">
                <a:avLst/>
              </a:prstGeom>
              <a:noFill/>
            </p:spPr>
            <p:txBody>
              <a:bodyPr wrap="square" rtlCol="0">
                <a:spAutoFit/>
              </a:bodyPr>
              <a:lstStyle/>
              <a:p>
                <a:r>
                  <a:rPr lang="en-AU" sz="2400" dirty="0">
                    <a:latin typeface="+mj-lt"/>
                  </a:rPr>
                  <a:t>Trigonometric functions are examples of a more general class of functions so-called “periodic” functions.</a:t>
                </a:r>
              </a:p>
              <a:p>
                <a:r>
                  <a:rPr lang="en-AU" sz="2400" dirty="0">
                    <a:latin typeface="+mj-lt"/>
                  </a:rPr>
                  <a:t>A function </a:t>
                </a:r>
                <a14:m>
                  <m:oMath xmlns:m="http://schemas.openxmlformats.org/officeDocument/2006/math">
                    <m:r>
                      <a:rPr lang="en-AU" sz="2400" b="0" i="1" smtClean="0">
                        <a:latin typeface="Cambria Math" panose="02040503050406030204" pitchFamily="18" charset="0"/>
                      </a:rPr>
                      <m:t>𝑓</m:t>
                    </m:r>
                    <m:r>
                      <a:rPr lang="en-AU" sz="2400" b="0" i="1" smtClean="0">
                        <a:latin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𝑋</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𝑌</m:t>
                    </m:r>
                  </m:oMath>
                </a14:m>
                <a:r>
                  <a:rPr lang="en-GB" sz="2400" dirty="0">
                    <a:latin typeface="+mj-lt"/>
                  </a:rPr>
                  <a:t> is periodic with period </a:t>
                </a:r>
                <a14:m>
                  <m:oMath xmlns:m="http://schemas.openxmlformats.org/officeDocument/2006/math">
                    <m:r>
                      <a:rPr lang="en-AU" sz="2400" b="0" i="1" smtClean="0">
                        <a:latin typeface="Cambria Math" panose="02040503050406030204" pitchFamily="18" charset="0"/>
                      </a:rPr>
                      <m:t>𝑇</m:t>
                    </m:r>
                  </m:oMath>
                </a14:m>
                <a:r>
                  <a:rPr lang="en-GB" sz="2400" dirty="0">
                    <a:latin typeface="+mj-lt"/>
                  </a:rPr>
                  <a:t>, if there exists a number </a:t>
                </a:r>
                <a14:m>
                  <m:oMath xmlns:m="http://schemas.openxmlformats.org/officeDocument/2006/math">
                    <m:r>
                      <a:rPr lang="en-AU" sz="2400" b="0" i="1" smtClean="0">
                        <a:latin typeface="Cambria Math" panose="02040503050406030204" pitchFamily="18" charset="0"/>
                      </a:rPr>
                      <m:t>𝑇</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ℝ</m:t>
                    </m:r>
                  </m:oMath>
                </a14:m>
                <a:r>
                  <a:rPr lang="en-GB" sz="2400" dirty="0">
                    <a:latin typeface="+mj-lt"/>
                  </a:rPr>
                  <a:t> such that, for every </a:t>
                </a:r>
                <a14:m>
                  <m:oMath xmlns:m="http://schemas.openxmlformats.org/officeDocument/2006/math">
                    <m:r>
                      <a:rPr lang="en-AU" sz="2400" b="0" i="1" smtClean="0">
                        <a:latin typeface="Cambria Math" panose="02040503050406030204" pitchFamily="18" charset="0"/>
                      </a:rPr>
                      <m:t>𝑥</m:t>
                    </m:r>
                    <m:r>
                      <a:rPr lang="en-AU" sz="2400" b="0" i="1" smtClean="0">
                        <a:latin typeface="Cambria Math" panose="02040503050406030204" pitchFamily="18" charset="0"/>
                        <a:ea typeface="Cambria Math" panose="02040503050406030204" pitchFamily="18" charset="0"/>
                      </a:rPr>
                      <m:t>𝜖</m:t>
                    </m:r>
                    <m:r>
                      <a:rPr lang="en-AU" sz="2400" b="0" i="1" smtClean="0">
                        <a:latin typeface="Cambria Math" panose="02040503050406030204" pitchFamily="18" charset="0"/>
                        <a:ea typeface="Cambria Math" panose="02040503050406030204" pitchFamily="18" charset="0"/>
                      </a:rPr>
                      <m:t>𝑋</m:t>
                    </m:r>
                  </m:oMath>
                </a14:m>
                <a:r>
                  <a:rPr lang="en-GB" sz="2400" dirty="0">
                    <a:latin typeface="+mj-lt"/>
                  </a:rPr>
                  <a:t> we have </a:t>
                </a:r>
                <a14:m>
                  <m:oMath xmlns:m="http://schemas.openxmlformats.org/officeDocument/2006/math">
                    <m:r>
                      <a:rPr lang="en-AU" sz="2400" b="0" i="1" smtClean="0">
                        <a:latin typeface="Cambria Math" panose="02040503050406030204" pitchFamily="18" charset="0"/>
                      </a:rPr>
                      <m:t>𝑓</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r>
                          <a:rPr lang="en-AU" sz="2400" b="0" i="1" smtClean="0">
                            <a:latin typeface="Cambria Math" panose="02040503050406030204" pitchFamily="18" charset="0"/>
                          </a:rPr>
                          <m:t>+</m:t>
                        </m:r>
                        <m:r>
                          <a:rPr lang="en-AU" sz="2400" b="0" i="1" smtClean="0">
                            <a:latin typeface="Cambria Math" panose="02040503050406030204" pitchFamily="18" charset="0"/>
                          </a:rPr>
                          <m:t>𝑇</m:t>
                        </m:r>
                      </m:e>
                    </m:d>
                    <m:r>
                      <a:rPr lang="en-AU" sz="2400" b="0" i="1" smtClean="0">
                        <a:latin typeface="Cambria Math" panose="02040503050406030204" pitchFamily="18" charset="0"/>
                      </a:rPr>
                      <m:t>=</m:t>
                    </m:r>
                    <m:r>
                      <a:rPr lang="en-AU" sz="2400" b="0" i="1" smtClean="0">
                        <a:latin typeface="Cambria Math" panose="02040503050406030204" pitchFamily="18" charset="0"/>
                      </a:rPr>
                      <m:t>𝑓</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oMath>
                </a14:m>
                <a:r>
                  <a:rPr lang="en-GB" sz="2400" dirty="0">
                    <a:latin typeface="+mj-lt"/>
                  </a:rPr>
                  <a:t>.</a:t>
                </a:r>
              </a:p>
              <a:p>
                <a:r>
                  <a:rPr lang="en-GB" sz="2400" dirty="0">
                    <a:latin typeface="+mj-lt"/>
                  </a:rPr>
                  <a:t>Trigonometric functions are also called circular because they are defined as special properties of the unit circle.</a:t>
                </a:r>
              </a:p>
            </p:txBody>
          </p:sp>
        </mc:Choice>
        <mc:Fallback xmlns="">
          <p:sp>
            <p:nvSpPr>
              <p:cNvPr id="11" name="TextBox 10">
                <a:extLst>
                  <a:ext uri="{FF2B5EF4-FFF2-40B4-BE49-F238E27FC236}">
                    <a16:creationId xmlns:a16="http://schemas.microsoft.com/office/drawing/2014/main" id="{31E77652-8767-4DBA-A5E8-951D152E6136}"/>
                  </a:ext>
                </a:extLst>
              </p:cNvPr>
              <p:cNvSpPr txBox="1">
                <a:spLocks noRot="1" noChangeAspect="1" noMove="1" noResize="1" noEditPoints="1" noAdjustHandles="1" noChangeArrowheads="1" noChangeShapeType="1" noTextEdit="1"/>
              </p:cNvSpPr>
              <p:nvPr/>
            </p:nvSpPr>
            <p:spPr>
              <a:xfrm>
                <a:off x="301020" y="1608739"/>
                <a:ext cx="11801333" cy="2308324"/>
              </a:xfrm>
              <a:prstGeom prst="rect">
                <a:avLst/>
              </a:prstGeom>
              <a:blipFill>
                <a:blip r:embed="rId2"/>
                <a:stretch>
                  <a:fillRect l="-775" t="-2111" b="-5013"/>
                </a:stretch>
              </a:blipFill>
            </p:spPr>
            <p:txBody>
              <a:bodyPr/>
              <a:lstStyle/>
              <a:p>
                <a:r>
                  <a:rPr lang="en-GB">
                    <a:noFill/>
                  </a:rPr>
                  <a:t> </a:t>
                </a:r>
              </a:p>
            </p:txBody>
          </p:sp>
        </mc:Fallback>
      </mc:AlternateContent>
      <p:pic>
        <p:nvPicPr>
          <p:cNvPr id="3" name="Picture 2">
            <a:extLst>
              <a:ext uri="{FF2B5EF4-FFF2-40B4-BE49-F238E27FC236}">
                <a16:creationId xmlns:a16="http://schemas.microsoft.com/office/drawing/2014/main" id="{D48B636F-C384-4435-89A5-DBF6FE1FA74D}"/>
              </a:ext>
            </a:extLst>
          </p:cNvPr>
          <p:cNvPicPr>
            <a:picLocks noChangeAspect="1"/>
          </p:cNvPicPr>
          <p:nvPr/>
        </p:nvPicPr>
        <p:blipFill>
          <a:blip r:embed="rId3"/>
          <a:stretch>
            <a:fillRect/>
          </a:stretch>
        </p:blipFill>
        <p:spPr>
          <a:xfrm>
            <a:off x="2790940" y="3768255"/>
            <a:ext cx="3305060" cy="2710149"/>
          </a:xfrm>
          <a:prstGeom prst="rect">
            <a:avLst/>
          </a:prstGeom>
        </p:spPr>
      </p:pic>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DF08CE8D-EA86-4C85-AACE-D81E40966869}"/>
                  </a:ext>
                </a:extLst>
              </p:cNvPr>
              <p:cNvSpPr txBox="1"/>
              <p:nvPr/>
            </p:nvSpPr>
            <p:spPr>
              <a:xfrm>
                <a:off x="6499411" y="4041630"/>
                <a:ext cx="3777637" cy="2111284"/>
              </a:xfrm>
              <a:prstGeom prst="rect">
                <a:avLst/>
              </a:prstGeom>
              <a:noFill/>
            </p:spPr>
            <p:txBody>
              <a:bodyPr wrap="none" rtlCol="0">
                <a:spAutoFit/>
              </a:bodyPr>
              <a:lstStyle/>
              <a:p>
                <a:r>
                  <a:rPr lang="en-AU" sz="2400" dirty="0">
                    <a:latin typeface="+mj-lt"/>
                  </a:rPr>
                  <a:t>The </a:t>
                </a:r>
                <a14:m>
                  <m:oMath xmlns:m="http://schemas.openxmlformats.org/officeDocument/2006/math">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sin</m:t>
                        </m:r>
                      </m:fName>
                      <m:e>
                        <m:r>
                          <a:rPr lang="en-AU" sz="2400" b="0" i="1" smtClean="0">
                            <a:latin typeface="Cambria Math" panose="02040503050406030204" pitchFamily="18" charset="0"/>
                            <a:ea typeface="Cambria Math" panose="02040503050406030204" pitchFamily="18" charset="0"/>
                          </a:rPr>
                          <m:t>𝜃</m:t>
                        </m:r>
                      </m:e>
                    </m:func>
                  </m:oMath>
                </a14:m>
                <a:r>
                  <a:rPr lang="en-GB" sz="2400" dirty="0">
                    <a:latin typeface="+mj-lt"/>
                  </a:rPr>
                  <a:t> is the ordinate of </a:t>
                </a:r>
                <a14:m>
                  <m:oMath xmlns:m="http://schemas.openxmlformats.org/officeDocument/2006/math">
                    <m:r>
                      <a:rPr lang="en-AU" sz="2400" b="0" i="1" smtClean="0">
                        <a:latin typeface="Cambria Math" panose="02040503050406030204" pitchFamily="18" charset="0"/>
                      </a:rPr>
                      <m:t>𝑃</m:t>
                    </m:r>
                  </m:oMath>
                </a14:m>
                <a:endParaRPr lang="en-GB" sz="2400" dirty="0">
                  <a:latin typeface="+mj-lt"/>
                </a:endParaRPr>
              </a:p>
              <a:p>
                <a:endParaRPr lang="en-GB" sz="2400" dirty="0">
                  <a:latin typeface="+mj-lt"/>
                </a:endParaRPr>
              </a:p>
              <a:p>
                <a:r>
                  <a:rPr lang="en-GB" sz="2400" dirty="0">
                    <a:latin typeface="+mj-lt"/>
                  </a:rPr>
                  <a:t>The </a:t>
                </a:r>
                <a14:m>
                  <m:oMath xmlns:m="http://schemas.openxmlformats.org/officeDocument/2006/math">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cos</m:t>
                        </m:r>
                      </m:fName>
                      <m:e>
                        <m:r>
                          <a:rPr lang="en-AU" sz="2400" b="0" i="1" smtClean="0">
                            <a:latin typeface="Cambria Math" panose="02040503050406030204" pitchFamily="18" charset="0"/>
                            <a:ea typeface="Cambria Math" panose="02040503050406030204" pitchFamily="18" charset="0"/>
                          </a:rPr>
                          <m:t>𝜃</m:t>
                        </m:r>
                      </m:e>
                    </m:func>
                  </m:oMath>
                </a14:m>
                <a:r>
                  <a:rPr lang="en-GB" sz="2400" dirty="0">
                    <a:latin typeface="+mj-lt"/>
                  </a:rPr>
                  <a:t> is the abscissa of </a:t>
                </a:r>
                <a14:m>
                  <m:oMath xmlns:m="http://schemas.openxmlformats.org/officeDocument/2006/math">
                    <m:r>
                      <a:rPr lang="en-AU" sz="2400" i="1">
                        <a:latin typeface="Cambria Math" panose="02040503050406030204" pitchFamily="18" charset="0"/>
                      </a:rPr>
                      <m:t>𝑃</m:t>
                    </m:r>
                  </m:oMath>
                </a14:m>
                <a:endParaRPr lang="en-GB" sz="2400" dirty="0">
                  <a:latin typeface="+mj-lt"/>
                </a:endParaRPr>
              </a:p>
              <a:p>
                <a:endParaRPr lang="en-GB" sz="2400" dirty="0">
                  <a:latin typeface="+mj-lt"/>
                </a:endParaRPr>
              </a:p>
              <a:p>
                <a:r>
                  <a:rPr lang="en-GB" sz="2400" dirty="0">
                    <a:latin typeface="+mj-lt"/>
                  </a:rPr>
                  <a:t>The </a:t>
                </a:r>
                <a14:m>
                  <m:oMath xmlns:m="http://schemas.openxmlformats.org/officeDocument/2006/math">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tan</m:t>
                        </m:r>
                      </m:fName>
                      <m:e>
                        <m:r>
                          <a:rPr lang="en-AU" sz="2400" b="0" i="1" smtClean="0">
                            <a:latin typeface="Cambria Math" panose="02040503050406030204" pitchFamily="18" charset="0"/>
                            <a:ea typeface="Cambria Math" panose="02040503050406030204" pitchFamily="18" charset="0"/>
                          </a:rPr>
                          <m:t>𝜃</m:t>
                        </m:r>
                      </m:e>
                    </m:func>
                    <m:r>
                      <a:rPr lang="en-AU" sz="2400" b="0" i="1" smtClean="0">
                        <a:latin typeface="Cambria Math" panose="02040503050406030204" pitchFamily="18" charset="0"/>
                      </a:rPr>
                      <m:t>=</m:t>
                    </m:r>
                    <m:f>
                      <m:fPr>
                        <m:ctrlPr>
                          <a:rPr lang="en-AU" sz="2400" b="0" i="1" smtClean="0">
                            <a:latin typeface="Cambria Math" panose="02040503050406030204" pitchFamily="18" charset="0"/>
                          </a:rPr>
                        </m:ctrlPr>
                      </m:fPr>
                      <m:num>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sin</m:t>
                            </m:r>
                          </m:fName>
                          <m:e>
                            <m:r>
                              <a:rPr lang="en-AU" sz="2400" b="0" i="1" smtClean="0">
                                <a:latin typeface="Cambria Math" panose="02040503050406030204" pitchFamily="18" charset="0"/>
                                <a:ea typeface="Cambria Math" panose="02040503050406030204" pitchFamily="18" charset="0"/>
                              </a:rPr>
                              <m:t>𝜃</m:t>
                            </m:r>
                          </m:e>
                        </m:func>
                      </m:num>
                      <m:den>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cos</m:t>
                            </m:r>
                          </m:fName>
                          <m:e>
                            <m:r>
                              <a:rPr lang="en-AU" sz="2400" b="0" i="1" smtClean="0">
                                <a:latin typeface="Cambria Math" panose="02040503050406030204" pitchFamily="18" charset="0"/>
                                <a:ea typeface="Cambria Math" panose="02040503050406030204" pitchFamily="18" charset="0"/>
                              </a:rPr>
                              <m:t>𝜃</m:t>
                            </m:r>
                          </m:e>
                        </m:func>
                      </m:den>
                    </m:f>
                  </m:oMath>
                </a14:m>
                <a:endParaRPr lang="en-GB" sz="2400" dirty="0">
                  <a:latin typeface="+mj-lt"/>
                </a:endParaRPr>
              </a:p>
            </p:txBody>
          </p:sp>
        </mc:Choice>
        <mc:Fallback xmlns="">
          <p:sp>
            <p:nvSpPr>
              <p:cNvPr id="4" name="TextBox 3">
                <a:extLst>
                  <a:ext uri="{FF2B5EF4-FFF2-40B4-BE49-F238E27FC236}">
                    <a16:creationId xmlns:a16="http://schemas.microsoft.com/office/drawing/2014/main" id="{DF08CE8D-EA86-4C85-AACE-D81E40966869}"/>
                  </a:ext>
                </a:extLst>
              </p:cNvPr>
              <p:cNvSpPr txBox="1">
                <a:spLocks noRot="1" noChangeAspect="1" noMove="1" noResize="1" noEditPoints="1" noAdjustHandles="1" noChangeArrowheads="1" noChangeShapeType="1" noTextEdit="1"/>
              </p:cNvSpPr>
              <p:nvPr/>
            </p:nvSpPr>
            <p:spPr>
              <a:xfrm>
                <a:off x="6499411" y="4041630"/>
                <a:ext cx="3777637" cy="2111284"/>
              </a:xfrm>
              <a:prstGeom prst="rect">
                <a:avLst/>
              </a:prstGeom>
              <a:blipFill>
                <a:blip r:embed="rId4"/>
                <a:stretch>
                  <a:fillRect l="-2419" t="-2312" b="-2312"/>
                </a:stretch>
              </a:blipFill>
            </p:spPr>
            <p:txBody>
              <a:bodyPr/>
              <a:lstStyle/>
              <a:p>
                <a:r>
                  <a:rPr lang="en-GB">
                    <a:noFill/>
                  </a:rPr>
                  <a:t> </a:t>
                </a:r>
              </a:p>
            </p:txBody>
          </p:sp>
        </mc:Fallback>
      </mc:AlternateContent>
    </p:spTree>
    <p:extLst>
      <p:ext uri="{BB962C8B-B14F-4D97-AF65-F5344CB8AC3E}">
        <p14:creationId xmlns:p14="http://schemas.microsoft.com/office/powerpoint/2010/main" val="2154814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3661067" cy="523220"/>
          </a:xfrm>
          <a:prstGeom prst="rect">
            <a:avLst/>
          </a:prstGeom>
          <a:noFill/>
        </p:spPr>
        <p:txBody>
          <a:bodyPr wrap="none" rtlCol="0">
            <a:spAutoFit/>
          </a:bodyPr>
          <a:lstStyle/>
          <a:p>
            <a:r>
              <a:rPr lang="en-AU" sz="2800" b="1" cap="small" dirty="0">
                <a:solidFill>
                  <a:schemeClr val="bg1"/>
                </a:solidFill>
                <a:latin typeface="+mj-lt"/>
              </a:rPr>
              <a:t>1.5 Elementary functions</a:t>
            </a:r>
            <a:endParaRPr lang="en-GB" sz="2800" b="1" cap="small" dirty="0">
              <a:solidFill>
                <a:schemeClr val="bg1"/>
              </a:solidFill>
              <a:latin typeface="+mj-lt"/>
            </a:endParaRPr>
          </a:p>
        </p:txBody>
      </p:sp>
      <p:sp>
        <p:nvSpPr>
          <p:cNvPr id="10" name="TextBox 9">
            <a:extLst>
              <a:ext uri="{FF2B5EF4-FFF2-40B4-BE49-F238E27FC236}">
                <a16:creationId xmlns:a16="http://schemas.microsoft.com/office/drawing/2014/main" id="{B7FA0DAD-D0AB-4903-873A-CD36FB0ED036}"/>
              </a:ext>
            </a:extLst>
          </p:cNvPr>
          <p:cNvSpPr txBox="1"/>
          <p:nvPr/>
        </p:nvSpPr>
        <p:spPr>
          <a:xfrm>
            <a:off x="301020" y="1048888"/>
            <a:ext cx="4442626" cy="461665"/>
          </a:xfrm>
          <a:prstGeom prst="rect">
            <a:avLst/>
          </a:prstGeom>
          <a:noFill/>
          <a:ln>
            <a:solidFill>
              <a:schemeClr val="accent2">
                <a:lumMod val="50000"/>
              </a:schemeClr>
            </a:solidFill>
          </a:ln>
        </p:spPr>
        <p:txBody>
          <a:bodyPr wrap="none" rtlCol="0">
            <a:spAutoFit/>
          </a:bodyPr>
          <a:lstStyle/>
          <a:p>
            <a:r>
              <a:rPr lang="en-AU" sz="2400" dirty="0">
                <a:latin typeface="+mj-lt"/>
              </a:rPr>
              <a:t>Trigonometric or circular functions</a:t>
            </a:r>
            <a:endParaRPr lang="en-GB" sz="2400" dirty="0">
              <a:latin typeface="+mj-lt"/>
            </a:endParaRP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31E77652-8767-4DBA-A5E8-951D152E6136}"/>
                  </a:ext>
                </a:extLst>
              </p:cNvPr>
              <p:cNvSpPr txBox="1"/>
              <p:nvPr/>
            </p:nvSpPr>
            <p:spPr>
              <a:xfrm>
                <a:off x="301020" y="1608739"/>
                <a:ext cx="11801333" cy="2308324"/>
              </a:xfrm>
              <a:prstGeom prst="rect">
                <a:avLst/>
              </a:prstGeom>
              <a:noFill/>
            </p:spPr>
            <p:txBody>
              <a:bodyPr wrap="square" rtlCol="0">
                <a:spAutoFit/>
              </a:bodyPr>
              <a:lstStyle/>
              <a:p>
                <a:r>
                  <a:rPr lang="en-AU" sz="2400" dirty="0">
                    <a:latin typeface="+mj-lt"/>
                  </a:rPr>
                  <a:t>Some important points:</a:t>
                </a:r>
              </a:p>
              <a:p>
                <a:pPr marL="342900" indent="-342900">
                  <a:buFont typeface="Arial" panose="020B0604020202020204" pitchFamily="34" charset="0"/>
                  <a:buChar char="•"/>
                </a:pPr>
                <a:r>
                  <a:rPr lang="en-AU" sz="2400" dirty="0">
                    <a:latin typeface="+mj-lt"/>
                  </a:rPr>
                  <a:t>A positive angle </a:t>
                </a:r>
                <a14:m>
                  <m:oMath xmlns:m="http://schemas.openxmlformats.org/officeDocument/2006/math">
                    <m:r>
                      <a:rPr lang="en-AU" sz="2400" i="1" smtClean="0">
                        <a:latin typeface="Cambria Math" panose="02040503050406030204" pitchFamily="18" charset="0"/>
                        <a:ea typeface="Cambria Math" panose="02040503050406030204" pitchFamily="18" charset="0"/>
                      </a:rPr>
                      <m:t>𝜃</m:t>
                    </m:r>
                  </m:oMath>
                </a14:m>
                <a:r>
                  <a:rPr lang="en-GB" sz="2400" dirty="0">
                    <a:latin typeface="+mj-lt"/>
                  </a:rPr>
                  <a:t> is measured in a counter-clockwise fashion, while a negative angle </a:t>
                </a:r>
                <a14:m>
                  <m:oMath xmlns:m="http://schemas.openxmlformats.org/officeDocument/2006/math">
                    <m:r>
                      <a:rPr lang="en-AU" sz="2400" i="1">
                        <a:latin typeface="Cambria Math" panose="02040503050406030204" pitchFamily="18" charset="0"/>
                        <a:ea typeface="Cambria Math" panose="02040503050406030204" pitchFamily="18" charset="0"/>
                      </a:rPr>
                      <m:t>𝜃</m:t>
                    </m:r>
                  </m:oMath>
                </a14:m>
                <a:r>
                  <a:rPr lang="en-GB" sz="2400" dirty="0">
                    <a:latin typeface="+mj-lt"/>
                  </a:rPr>
                  <a:t> is measured in a clockwise fashion.</a:t>
                </a:r>
              </a:p>
              <a:p>
                <a:pPr marL="342900" indent="-342900">
                  <a:buFont typeface="Arial" panose="020B0604020202020204" pitchFamily="34" charset="0"/>
                  <a:buChar char="•"/>
                </a:pPr>
                <a:r>
                  <a:rPr lang="en-GB" sz="2400" dirty="0">
                    <a:latin typeface="+mj-lt"/>
                  </a:rPr>
                  <a:t>The angle is measured in radians. One radian is the angle corresponding to the arc whose length is equal to the radius of the circle. Hence, the length of an arc of a circle making an angle </a:t>
                </a:r>
                <a14:m>
                  <m:oMath xmlns:m="http://schemas.openxmlformats.org/officeDocument/2006/math">
                    <m:r>
                      <a:rPr lang="en-GB" sz="2400" i="1" smtClean="0">
                        <a:latin typeface="Cambria Math" panose="02040503050406030204" pitchFamily="18" charset="0"/>
                        <a:ea typeface="Cambria Math" panose="02040503050406030204" pitchFamily="18" charset="0"/>
                      </a:rPr>
                      <m:t>𝜃</m:t>
                    </m:r>
                  </m:oMath>
                </a14:m>
                <a:r>
                  <a:rPr lang="en-GB" sz="2400" dirty="0">
                    <a:latin typeface="+mj-lt"/>
                  </a:rPr>
                  <a:t> is simply </a:t>
                </a:r>
                <a14:m>
                  <m:oMath xmlns:m="http://schemas.openxmlformats.org/officeDocument/2006/math">
                    <m:r>
                      <a:rPr lang="en-AU" sz="2400" b="0" i="1" smtClean="0">
                        <a:latin typeface="Cambria Math" panose="02040503050406030204" pitchFamily="18" charset="0"/>
                      </a:rPr>
                      <m:t>𝑠</m:t>
                    </m:r>
                    <m:r>
                      <a:rPr lang="en-AU" sz="2400" b="0" i="1" smtClean="0">
                        <a:latin typeface="Cambria Math" panose="02040503050406030204" pitchFamily="18" charset="0"/>
                      </a:rPr>
                      <m:t>=</m:t>
                    </m:r>
                    <m:r>
                      <a:rPr lang="en-AU" sz="2400" b="0" i="1" smtClean="0">
                        <a:latin typeface="Cambria Math" panose="02040503050406030204" pitchFamily="18" charset="0"/>
                      </a:rPr>
                      <m:t>𝑟</m:t>
                    </m:r>
                    <m:r>
                      <a:rPr lang="en-AU" sz="2400" b="0" i="1" smtClean="0">
                        <a:latin typeface="Cambria Math" panose="02040503050406030204" pitchFamily="18" charset="0"/>
                        <a:ea typeface="Cambria Math" panose="02040503050406030204" pitchFamily="18" charset="0"/>
                      </a:rPr>
                      <m:t>𝜃</m:t>
                    </m:r>
                  </m:oMath>
                </a14:m>
                <a:r>
                  <a:rPr lang="en-GB" sz="2400" dirty="0">
                    <a:latin typeface="+mj-lt"/>
                  </a:rPr>
                  <a:t>.</a:t>
                </a:r>
              </a:p>
            </p:txBody>
          </p:sp>
        </mc:Choice>
        <mc:Fallback xmlns="">
          <p:sp>
            <p:nvSpPr>
              <p:cNvPr id="11" name="TextBox 10">
                <a:extLst>
                  <a:ext uri="{FF2B5EF4-FFF2-40B4-BE49-F238E27FC236}">
                    <a16:creationId xmlns:a16="http://schemas.microsoft.com/office/drawing/2014/main" id="{31E77652-8767-4DBA-A5E8-951D152E6136}"/>
                  </a:ext>
                </a:extLst>
              </p:cNvPr>
              <p:cNvSpPr txBox="1">
                <a:spLocks noRot="1" noChangeAspect="1" noMove="1" noResize="1" noEditPoints="1" noAdjustHandles="1" noChangeArrowheads="1" noChangeShapeType="1" noTextEdit="1"/>
              </p:cNvSpPr>
              <p:nvPr/>
            </p:nvSpPr>
            <p:spPr>
              <a:xfrm>
                <a:off x="301020" y="1608739"/>
                <a:ext cx="11801333" cy="2308324"/>
              </a:xfrm>
              <a:prstGeom prst="rect">
                <a:avLst/>
              </a:prstGeom>
              <a:blipFill>
                <a:blip r:embed="rId2"/>
                <a:stretch>
                  <a:fillRect l="-775" t="-2111" b="-5013"/>
                </a:stretch>
              </a:blipFill>
            </p:spPr>
            <p:txBody>
              <a:bodyPr/>
              <a:lstStyle/>
              <a:p>
                <a:r>
                  <a:rPr lang="en-GB">
                    <a:noFill/>
                  </a:rPr>
                  <a:t> </a:t>
                </a:r>
              </a:p>
            </p:txBody>
          </p:sp>
        </mc:Fallback>
      </mc:AlternateContent>
      <p:pic>
        <p:nvPicPr>
          <p:cNvPr id="2" name="Picture 2" descr="Image result for radian">
            <a:extLst>
              <a:ext uri="{FF2B5EF4-FFF2-40B4-BE49-F238E27FC236}">
                <a16:creationId xmlns:a16="http://schemas.microsoft.com/office/drawing/2014/main" id="{1915C862-CC98-4598-B4AD-0578875B03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8174" y="4015249"/>
            <a:ext cx="1956391" cy="1956391"/>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E14F8659-19E0-42EC-AE6B-6E3E20964541}"/>
                  </a:ext>
                </a:extLst>
              </p:cNvPr>
              <p:cNvSpPr txBox="1"/>
              <p:nvPr/>
            </p:nvSpPr>
            <p:spPr>
              <a:xfrm>
                <a:off x="5970494" y="3852721"/>
                <a:ext cx="5782234" cy="2703625"/>
              </a:xfrm>
              <a:prstGeom prst="rect">
                <a:avLst/>
              </a:prstGeom>
              <a:noFill/>
            </p:spPr>
            <p:txBody>
              <a:bodyPr wrap="square" rtlCol="0">
                <a:spAutoFit/>
              </a:bodyPr>
              <a:lstStyle/>
              <a:p>
                <a:pPr marL="342900" indent="-342900">
                  <a:buFont typeface="Arial" panose="020B0604020202020204" pitchFamily="34" charset="0"/>
                  <a:buChar char="•"/>
                </a:pPr>
                <a:r>
                  <a:rPr lang="en-AU" sz="2400" dirty="0">
                    <a:latin typeface="+mj-lt"/>
                  </a:rPr>
                  <a:t>The area of a sector of a circle of angle </a:t>
                </a:r>
                <a14:m>
                  <m:oMath xmlns:m="http://schemas.openxmlformats.org/officeDocument/2006/math">
                    <m:r>
                      <a:rPr lang="en-GB" sz="2400" i="1" smtClean="0">
                        <a:latin typeface="Cambria Math" panose="02040503050406030204" pitchFamily="18" charset="0"/>
                        <a:ea typeface="Cambria Math" panose="02040503050406030204" pitchFamily="18" charset="0"/>
                      </a:rPr>
                      <m:t>𝜃</m:t>
                    </m:r>
                  </m:oMath>
                </a14:m>
                <a:r>
                  <a:rPr lang="en-AU" sz="2400" dirty="0">
                    <a:latin typeface="+mj-lt"/>
                  </a:rPr>
                  <a:t> is </a:t>
                </a:r>
                <a14:m>
                  <m:oMath xmlns:m="http://schemas.openxmlformats.org/officeDocument/2006/math">
                    <m:r>
                      <a:rPr lang="en-AU" sz="2400" b="0" i="1" smtClean="0">
                        <a:latin typeface="Cambria Math" panose="02040503050406030204" pitchFamily="18" charset="0"/>
                      </a:rPr>
                      <m:t>𝐴</m:t>
                    </m:r>
                    <m:r>
                      <a:rPr lang="en-AU" sz="2400" b="0" i="1" smtClean="0">
                        <a:latin typeface="Cambria Math" panose="02040503050406030204" pitchFamily="18" charset="0"/>
                      </a:rPr>
                      <m:t>=</m:t>
                    </m:r>
                    <m:f>
                      <m:fPr>
                        <m:ctrlPr>
                          <a:rPr lang="en-AU" sz="2400" b="0" i="1" smtClean="0">
                            <a:latin typeface="Cambria Math" panose="02040503050406030204" pitchFamily="18" charset="0"/>
                          </a:rPr>
                        </m:ctrlPr>
                      </m:fPr>
                      <m:num>
                        <m:r>
                          <a:rPr lang="en-AU" sz="2400" b="0" i="1" smtClean="0">
                            <a:latin typeface="Cambria Math" panose="02040503050406030204" pitchFamily="18" charset="0"/>
                          </a:rPr>
                          <m:t>1</m:t>
                        </m:r>
                      </m:num>
                      <m:den>
                        <m:r>
                          <a:rPr lang="en-AU" sz="2400" b="0" i="1" smtClean="0">
                            <a:latin typeface="Cambria Math" panose="02040503050406030204" pitchFamily="18" charset="0"/>
                          </a:rPr>
                          <m:t>2</m:t>
                        </m:r>
                      </m:den>
                    </m:f>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𝑟</m:t>
                        </m:r>
                      </m:e>
                      <m:sup>
                        <m:r>
                          <a:rPr lang="en-AU" sz="2400" b="0" i="1" smtClean="0">
                            <a:latin typeface="Cambria Math" panose="02040503050406030204" pitchFamily="18" charset="0"/>
                          </a:rPr>
                          <m:t>2</m:t>
                        </m:r>
                      </m:sup>
                    </m:sSup>
                    <m:r>
                      <a:rPr lang="en-AU" sz="2400" b="0" i="1" smtClean="0">
                        <a:latin typeface="Cambria Math" panose="02040503050406030204" pitchFamily="18" charset="0"/>
                        <a:ea typeface="Cambria Math" panose="02040503050406030204" pitchFamily="18" charset="0"/>
                      </a:rPr>
                      <m:t>𝜃</m:t>
                    </m:r>
                  </m:oMath>
                </a14:m>
                <a:endParaRPr lang="en-AU" sz="2400" dirty="0">
                  <a:latin typeface="+mj-lt"/>
                </a:endParaRPr>
              </a:p>
              <a:p>
                <a:pPr marL="342900" indent="-342900">
                  <a:buFont typeface="Arial" panose="020B0604020202020204" pitchFamily="34" charset="0"/>
                  <a:buChar char="•"/>
                </a:pPr>
                <a:r>
                  <a:rPr lang="en-AU" sz="2400" dirty="0">
                    <a:latin typeface="+mj-lt"/>
                  </a:rPr>
                  <a:t>In ordinary sexagesimal system (base 60), a round angle is </a:t>
                </a:r>
                <a14:m>
                  <m:oMath xmlns:m="http://schemas.openxmlformats.org/officeDocument/2006/math">
                    <m:sSup>
                      <m:sSupPr>
                        <m:ctrlPr>
                          <a:rPr lang="en-AU" sz="2400" b="0" i="1" smtClean="0">
                            <a:latin typeface="Cambria Math" panose="02040503050406030204" pitchFamily="18" charset="0"/>
                          </a:rPr>
                        </m:ctrlPr>
                      </m:sSupPr>
                      <m:e>
                        <m:r>
                          <a:rPr lang="en-AU" sz="2400" i="1">
                            <a:latin typeface="Cambria Math" panose="02040503050406030204" pitchFamily="18" charset="0"/>
                          </a:rPr>
                          <m:t>360</m:t>
                        </m:r>
                      </m:e>
                      <m:sup>
                        <m:r>
                          <a:rPr lang="en-AU" sz="2400" b="0" i="1" smtClean="0">
                            <a:latin typeface="Cambria Math" panose="02040503050406030204" pitchFamily="18" charset="0"/>
                          </a:rPr>
                          <m:t>𝑜</m:t>
                        </m:r>
                      </m:sup>
                    </m:sSup>
                  </m:oMath>
                </a14:m>
                <a:r>
                  <a:rPr lang="en-AU" sz="2400" dirty="0">
                    <a:latin typeface="+mj-lt"/>
                  </a:rPr>
                  <a:t>.</a:t>
                </a:r>
              </a:p>
              <a:p>
                <a:pPr marL="342900" indent="-342900">
                  <a:buFont typeface="Arial" panose="020B0604020202020204" pitchFamily="34" charset="0"/>
                  <a:buChar char="•"/>
                </a:pPr>
                <a:r>
                  <a:rPr lang="en-AU" sz="2400" dirty="0">
                    <a:latin typeface="+mj-lt"/>
                  </a:rPr>
                  <a:t>Notable angles are: </a:t>
                </a:r>
                <a14:m>
                  <m:oMath xmlns:m="http://schemas.openxmlformats.org/officeDocument/2006/math">
                    <m:sSup>
                      <m:sSupPr>
                        <m:ctrlPr>
                          <a:rPr lang="en-AU" sz="2400" i="1" smtClean="0">
                            <a:latin typeface="Cambria Math" panose="02040503050406030204" pitchFamily="18" charset="0"/>
                          </a:rPr>
                        </m:ctrlPr>
                      </m:sSupPr>
                      <m:e>
                        <m:r>
                          <a:rPr lang="en-AU" sz="2400" b="0" i="1" smtClean="0">
                            <a:latin typeface="Cambria Math" panose="02040503050406030204" pitchFamily="18" charset="0"/>
                          </a:rPr>
                          <m:t>180</m:t>
                        </m:r>
                      </m:e>
                      <m:sup>
                        <m:r>
                          <a:rPr lang="en-AU" sz="2400" b="0" i="1" smtClean="0">
                            <a:latin typeface="Cambria Math" panose="02040503050406030204" pitchFamily="18" charset="0"/>
                          </a:rPr>
                          <m:t>𝑜</m:t>
                        </m:r>
                      </m:sup>
                    </m:sSup>
                    <m:r>
                      <a:rPr lang="en-AU" sz="2400" b="0" i="1" smtClean="0">
                        <a:latin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𝜋</m:t>
                    </m:r>
                  </m:oMath>
                </a14:m>
                <a:r>
                  <a:rPr lang="en-GB" sz="2400" dirty="0">
                    <a:latin typeface="+mj-lt"/>
                  </a:rPr>
                  <a:t>, </a:t>
                </a:r>
                <a14:m>
                  <m:oMath xmlns:m="http://schemas.openxmlformats.org/officeDocument/2006/math">
                    <m:sSup>
                      <m:sSupPr>
                        <m:ctrlPr>
                          <a:rPr lang="en-GB" sz="2400" i="1" smtClean="0">
                            <a:latin typeface="Cambria Math" panose="02040503050406030204" pitchFamily="18" charset="0"/>
                          </a:rPr>
                        </m:ctrlPr>
                      </m:sSupPr>
                      <m:e>
                        <m:r>
                          <a:rPr lang="en-AU" sz="2400" b="0" i="1" smtClean="0">
                            <a:latin typeface="Cambria Math" panose="02040503050406030204" pitchFamily="18" charset="0"/>
                          </a:rPr>
                          <m:t>90</m:t>
                        </m:r>
                      </m:e>
                      <m:sup>
                        <m:r>
                          <a:rPr lang="en-AU" sz="2400" b="0" i="1" smtClean="0">
                            <a:latin typeface="Cambria Math" panose="02040503050406030204" pitchFamily="18" charset="0"/>
                          </a:rPr>
                          <m:t>𝑜</m:t>
                        </m:r>
                      </m:sup>
                    </m:sSup>
                    <m:r>
                      <a:rPr lang="en-AU" sz="2400" b="0" i="1" smtClean="0">
                        <a:latin typeface="Cambria Math" panose="02040503050406030204" pitchFamily="18" charset="0"/>
                      </a:rPr>
                      <m:t>=</m:t>
                    </m:r>
                    <m:f>
                      <m:fPr>
                        <m:ctrlPr>
                          <a:rPr lang="en-AU" sz="2400" b="0" i="1" smtClean="0">
                            <a:latin typeface="Cambria Math" panose="02040503050406030204" pitchFamily="18" charset="0"/>
                          </a:rPr>
                        </m:ctrlPr>
                      </m:fPr>
                      <m:num>
                        <m:r>
                          <a:rPr lang="en-AU" sz="2400" b="0" i="1" smtClean="0">
                            <a:latin typeface="Cambria Math" panose="02040503050406030204" pitchFamily="18" charset="0"/>
                            <a:ea typeface="Cambria Math" panose="02040503050406030204" pitchFamily="18" charset="0"/>
                          </a:rPr>
                          <m:t>𝜋</m:t>
                        </m:r>
                      </m:num>
                      <m:den>
                        <m:r>
                          <a:rPr lang="en-AU" sz="2400" b="0" i="1" smtClean="0">
                            <a:latin typeface="Cambria Math" panose="02040503050406030204" pitchFamily="18" charset="0"/>
                          </a:rPr>
                          <m:t>2</m:t>
                        </m:r>
                      </m:den>
                    </m:f>
                  </m:oMath>
                </a14:m>
                <a:r>
                  <a:rPr lang="en-GB" sz="2400" dirty="0">
                    <a:latin typeface="+mj-lt"/>
                  </a:rPr>
                  <a:t>, </a:t>
                </a:r>
                <a14:m>
                  <m:oMath xmlns:m="http://schemas.openxmlformats.org/officeDocument/2006/math">
                    <m:sSup>
                      <m:sSupPr>
                        <m:ctrlPr>
                          <a:rPr lang="en-GB" sz="2400" i="1" smtClean="0">
                            <a:latin typeface="Cambria Math" panose="02040503050406030204" pitchFamily="18" charset="0"/>
                          </a:rPr>
                        </m:ctrlPr>
                      </m:sSupPr>
                      <m:e>
                        <m:r>
                          <a:rPr lang="en-AU" sz="2400" b="0" i="1" smtClean="0">
                            <a:latin typeface="Cambria Math" panose="02040503050406030204" pitchFamily="18" charset="0"/>
                          </a:rPr>
                          <m:t>60</m:t>
                        </m:r>
                      </m:e>
                      <m:sup>
                        <m:r>
                          <a:rPr lang="en-AU" sz="2400" b="0" i="1" smtClean="0">
                            <a:latin typeface="Cambria Math" panose="02040503050406030204" pitchFamily="18" charset="0"/>
                          </a:rPr>
                          <m:t>𝑜</m:t>
                        </m:r>
                      </m:sup>
                    </m:sSup>
                    <m:r>
                      <a:rPr lang="en-AU" sz="2400" b="0" i="1" smtClean="0">
                        <a:latin typeface="Cambria Math" panose="02040503050406030204" pitchFamily="18" charset="0"/>
                      </a:rPr>
                      <m:t>=</m:t>
                    </m:r>
                    <m:f>
                      <m:fPr>
                        <m:ctrlPr>
                          <a:rPr lang="en-AU" sz="2400" b="0" i="1" smtClean="0">
                            <a:latin typeface="Cambria Math" panose="02040503050406030204" pitchFamily="18" charset="0"/>
                          </a:rPr>
                        </m:ctrlPr>
                      </m:fPr>
                      <m:num>
                        <m:r>
                          <a:rPr lang="en-AU" sz="2400" b="0" i="1" smtClean="0">
                            <a:latin typeface="Cambria Math" panose="02040503050406030204" pitchFamily="18" charset="0"/>
                            <a:ea typeface="Cambria Math" panose="02040503050406030204" pitchFamily="18" charset="0"/>
                          </a:rPr>
                          <m:t>𝜋</m:t>
                        </m:r>
                      </m:num>
                      <m:den>
                        <m:r>
                          <a:rPr lang="en-AU" sz="2400" b="0" i="1" smtClean="0">
                            <a:latin typeface="Cambria Math" panose="02040503050406030204" pitchFamily="18" charset="0"/>
                          </a:rPr>
                          <m:t>3</m:t>
                        </m:r>
                      </m:den>
                    </m:f>
                  </m:oMath>
                </a14:m>
                <a:r>
                  <a:rPr lang="en-GB" sz="2400" dirty="0">
                    <a:latin typeface="+mj-lt"/>
                  </a:rPr>
                  <a:t>, </a:t>
                </a:r>
                <a14:m>
                  <m:oMath xmlns:m="http://schemas.openxmlformats.org/officeDocument/2006/math">
                    <m:sSup>
                      <m:sSupPr>
                        <m:ctrlPr>
                          <a:rPr lang="en-GB" sz="2400" i="1" smtClean="0">
                            <a:latin typeface="Cambria Math" panose="02040503050406030204" pitchFamily="18" charset="0"/>
                          </a:rPr>
                        </m:ctrlPr>
                      </m:sSupPr>
                      <m:e>
                        <m:r>
                          <a:rPr lang="en-AU" sz="2400" b="0" i="1" smtClean="0">
                            <a:latin typeface="Cambria Math" panose="02040503050406030204" pitchFamily="18" charset="0"/>
                          </a:rPr>
                          <m:t>45</m:t>
                        </m:r>
                      </m:e>
                      <m:sup>
                        <m:r>
                          <a:rPr lang="en-AU" sz="2400" b="0" i="1" smtClean="0">
                            <a:latin typeface="Cambria Math" panose="02040503050406030204" pitchFamily="18" charset="0"/>
                          </a:rPr>
                          <m:t>𝑜</m:t>
                        </m:r>
                      </m:sup>
                    </m:sSup>
                    <m:r>
                      <a:rPr lang="en-AU" sz="2400" b="0" i="1" smtClean="0">
                        <a:latin typeface="Cambria Math" panose="02040503050406030204" pitchFamily="18" charset="0"/>
                      </a:rPr>
                      <m:t>=</m:t>
                    </m:r>
                    <m:f>
                      <m:fPr>
                        <m:ctrlPr>
                          <a:rPr lang="en-AU" sz="2400" b="0" i="1" smtClean="0">
                            <a:latin typeface="Cambria Math" panose="02040503050406030204" pitchFamily="18" charset="0"/>
                          </a:rPr>
                        </m:ctrlPr>
                      </m:fPr>
                      <m:num>
                        <m:r>
                          <a:rPr lang="en-AU" sz="2400" b="0" i="1" smtClean="0">
                            <a:latin typeface="Cambria Math" panose="02040503050406030204" pitchFamily="18" charset="0"/>
                            <a:ea typeface="Cambria Math" panose="02040503050406030204" pitchFamily="18" charset="0"/>
                          </a:rPr>
                          <m:t>𝜋</m:t>
                        </m:r>
                      </m:num>
                      <m:den>
                        <m:r>
                          <a:rPr lang="en-AU" sz="2400" b="0" i="1" smtClean="0">
                            <a:latin typeface="Cambria Math" panose="02040503050406030204" pitchFamily="18" charset="0"/>
                          </a:rPr>
                          <m:t>4</m:t>
                        </m:r>
                      </m:den>
                    </m:f>
                  </m:oMath>
                </a14:m>
                <a:endParaRPr lang="en-GB" sz="2400" dirty="0">
                  <a:latin typeface="+mj-lt"/>
                </a:endParaRPr>
              </a:p>
            </p:txBody>
          </p:sp>
        </mc:Choice>
        <mc:Fallback xmlns="">
          <p:sp>
            <p:nvSpPr>
              <p:cNvPr id="13" name="TextBox 12">
                <a:extLst>
                  <a:ext uri="{FF2B5EF4-FFF2-40B4-BE49-F238E27FC236}">
                    <a16:creationId xmlns:a16="http://schemas.microsoft.com/office/drawing/2014/main" id="{E14F8659-19E0-42EC-AE6B-6E3E20964541}"/>
                  </a:ext>
                </a:extLst>
              </p:cNvPr>
              <p:cNvSpPr txBox="1">
                <a:spLocks noRot="1" noChangeAspect="1" noMove="1" noResize="1" noEditPoints="1" noAdjustHandles="1" noChangeArrowheads="1" noChangeShapeType="1" noTextEdit="1"/>
              </p:cNvSpPr>
              <p:nvPr/>
            </p:nvSpPr>
            <p:spPr>
              <a:xfrm>
                <a:off x="5970494" y="3852721"/>
                <a:ext cx="5782234" cy="2703625"/>
              </a:xfrm>
              <a:prstGeom prst="rect">
                <a:avLst/>
              </a:prstGeom>
              <a:blipFill>
                <a:blip r:embed="rId4"/>
                <a:stretch>
                  <a:fillRect l="-1370" t="-1802" r="-2634" b="-1351"/>
                </a:stretch>
              </a:blipFill>
            </p:spPr>
            <p:txBody>
              <a:bodyPr/>
              <a:lstStyle/>
              <a:p>
                <a:r>
                  <a:rPr lang="en-GB">
                    <a:noFill/>
                  </a:rPr>
                  <a:t> </a:t>
                </a:r>
              </a:p>
            </p:txBody>
          </p:sp>
        </mc:Fallback>
      </mc:AlternateContent>
      <p:sp>
        <p:nvSpPr>
          <p:cNvPr id="3" name="Oval 2">
            <a:extLst>
              <a:ext uri="{FF2B5EF4-FFF2-40B4-BE49-F238E27FC236}">
                <a16:creationId xmlns:a16="http://schemas.microsoft.com/office/drawing/2014/main" id="{CE6B55E2-B2E2-449B-AFBA-89B75902156D}"/>
              </a:ext>
            </a:extLst>
          </p:cNvPr>
          <p:cNvSpPr/>
          <p:nvPr/>
        </p:nvSpPr>
        <p:spPr>
          <a:xfrm>
            <a:off x="3186953" y="3895077"/>
            <a:ext cx="2501153" cy="2501153"/>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5" name="Straight Connector 4">
            <a:extLst>
              <a:ext uri="{FF2B5EF4-FFF2-40B4-BE49-F238E27FC236}">
                <a16:creationId xmlns:a16="http://schemas.microsoft.com/office/drawing/2014/main" id="{D5BB396B-0297-4EDC-BB5E-BD9955A2B70F}"/>
              </a:ext>
            </a:extLst>
          </p:cNvPr>
          <p:cNvCxnSpPr>
            <a:stCxn id="3" idx="6"/>
          </p:cNvCxnSpPr>
          <p:nvPr/>
        </p:nvCxnSpPr>
        <p:spPr>
          <a:xfrm flipH="1" flipV="1">
            <a:off x="4464424" y="5127812"/>
            <a:ext cx="1223682" cy="17842"/>
          </a:xfrm>
          <a:prstGeom prst="line">
            <a:avLst/>
          </a:prstGeom>
          <a:ln w="19050"/>
        </p:spPr>
        <p:style>
          <a:lnRef idx="1">
            <a:schemeClr val="dk1"/>
          </a:lnRef>
          <a:fillRef idx="0">
            <a:schemeClr val="dk1"/>
          </a:fillRef>
          <a:effectRef idx="0">
            <a:schemeClr val="dk1"/>
          </a:effectRef>
          <a:fontRef idx="minor">
            <a:schemeClr val="tx1"/>
          </a:fontRef>
        </p:style>
      </p:cxnSp>
      <p:sp>
        <p:nvSpPr>
          <p:cNvPr id="12" name="TextBox 11">
            <a:extLst>
              <a:ext uri="{FF2B5EF4-FFF2-40B4-BE49-F238E27FC236}">
                <a16:creationId xmlns:a16="http://schemas.microsoft.com/office/drawing/2014/main" id="{8B4DB23D-6861-4123-8ECB-5F4A52C6AC63}"/>
              </a:ext>
            </a:extLst>
          </p:cNvPr>
          <p:cNvSpPr txBox="1"/>
          <p:nvPr/>
        </p:nvSpPr>
        <p:spPr>
          <a:xfrm>
            <a:off x="4833293" y="5127812"/>
            <a:ext cx="339342" cy="369332"/>
          </a:xfrm>
          <a:prstGeom prst="rect">
            <a:avLst/>
          </a:prstGeom>
          <a:noFill/>
        </p:spPr>
        <p:txBody>
          <a:bodyPr wrap="square" rtlCol="0">
            <a:spAutoFit/>
          </a:bodyPr>
          <a:lstStyle/>
          <a:p>
            <a:r>
              <a:rPr lang="en-AU" dirty="0"/>
              <a:t>1</a:t>
            </a:r>
            <a:endParaRPr lang="en-GB" dirty="0"/>
          </a:p>
        </p:txBody>
      </p:sp>
    </p:spTree>
    <p:extLst>
      <p:ext uri="{BB962C8B-B14F-4D97-AF65-F5344CB8AC3E}">
        <p14:creationId xmlns:p14="http://schemas.microsoft.com/office/powerpoint/2010/main" val="24913710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3661067" cy="523220"/>
          </a:xfrm>
          <a:prstGeom prst="rect">
            <a:avLst/>
          </a:prstGeom>
          <a:noFill/>
        </p:spPr>
        <p:txBody>
          <a:bodyPr wrap="none" rtlCol="0">
            <a:spAutoFit/>
          </a:bodyPr>
          <a:lstStyle/>
          <a:p>
            <a:r>
              <a:rPr lang="en-AU" sz="2800" b="1" cap="small" dirty="0">
                <a:solidFill>
                  <a:schemeClr val="bg1"/>
                </a:solidFill>
                <a:latin typeface="+mj-lt"/>
              </a:rPr>
              <a:t>1.5 Elementary functions</a:t>
            </a:r>
            <a:endParaRPr lang="en-GB" sz="2800" b="1" cap="small" dirty="0">
              <a:solidFill>
                <a:schemeClr val="bg1"/>
              </a:solidFill>
              <a:latin typeface="+mj-lt"/>
            </a:endParaRPr>
          </a:p>
        </p:txBody>
      </p:sp>
      <p:sp>
        <p:nvSpPr>
          <p:cNvPr id="10" name="TextBox 9">
            <a:extLst>
              <a:ext uri="{FF2B5EF4-FFF2-40B4-BE49-F238E27FC236}">
                <a16:creationId xmlns:a16="http://schemas.microsoft.com/office/drawing/2014/main" id="{B7FA0DAD-D0AB-4903-873A-CD36FB0ED036}"/>
              </a:ext>
            </a:extLst>
          </p:cNvPr>
          <p:cNvSpPr txBox="1"/>
          <p:nvPr/>
        </p:nvSpPr>
        <p:spPr>
          <a:xfrm>
            <a:off x="301020" y="1048888"/>
            <a:ext cx="4442626" cy="461665"/>
          </a:xfrm>
          <a:prstGeom prst="rect">
            <a:avLst/>
          </a:prstGeom>
          <a:noFill/>
          <a:ln>
            <a:solidFill>
              <a:schemeClr val="accent2">
                <a:lumMod val="50000"/>
              </a:schemeClr>
            </a:solidFill>
          </a:ln>
        </p:spPr>
        <p:txBody>
          <a:bodyPr wrap="none" rtlCol="0">
            <a:spAutoFit/>
          </a:bodyPr>
          <a:lstStyle/>
          <a:p>
            <a:r>
              <a:rPr lang="en-AU" sz="2400" dirty="0">
                <a:latin typeface="+mj-lt"/>
              </a:rPr>
              <a:t>Trigonometric or circular functions</a:t>
            </a:r>
            <a:endParaRPr lang="en-GB" sz="2400" dirty="0">
              <a:latin typeface="+mj-lt"/>
            </a:endParaRP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31E77652-8767-4DBA-A5E8-951D152E6136}"/>
                  </a:ext>
                </a:extLst>
              </p:cNvPr>
              <p:cNvSpPr txBox="1"/>
              <p:nvPr/>
            </p:nvSpPr>
            <p:spPr>
              <a:xfrm>
                <a:off x="301020" y="1608739"/>
                <a:ext cx="11801333" cy="4600170"/>
              </a:xfrm>
              <a:prstGeom prst="rect">
                <a:avLst/>
              </a:prstGeom>
              <a:noFill/>
            </p:spPr>
            <p:txBody>
              <a:bodyPr wrap="square" rtlCol="0">
                <a:spAutoFit/>
              </a:bodyPr>
              <a:lstStyle/>
              <a:p>
                <a:r>
                  <a:rPr lang="en-AU" sz="2400" dirty="0">
                    <a:latin typeface="+mj-lt"/>
                  </a:rPr>
                  <a:t>Some properties:</a:t>
                </a:r>
              </a:p>
              <a:p>
                <a:pPr marL="342900" indent="-342900">
                  <a:buFont typeface="Arial" panose="020B0604020202020204" pitchFamily="34" charset="0"/>
                  <a:buChar char="•"/>
                </a:pPr>
                <a:r>
                  <a:rPr lang="en-AU" sz="2400" dirty="0">
                    <a:latin typeface="+mj-lt"/>
                  </a:rPr>
                  <a:t>Sine, cosine and tangent are periodic, with period </a:t>
                </a:r>
                <a14:m>
                  <m:oMath xmlns:m="http://schemas.openxmlformats.org/officeDocument/2006/math">
                    <m:r>
                      <a:rPr lang="en-AU" sz="2400" b="0" i="1" smtClean="0">
                        <a:latin typeface="Cambria Math" panose="02040503050406030204" pitchFamily="18" charset="0"/>
                      </a:rPr>
                      <m:t>𝑇</m:t>
                    </m:r>
                    <m:r>
                      <a:rPr lang="en-AU" sz="2400" b="0" i="1" smtClean="0">
                        <a:latin typeface="Cambria Math" panose="02040503050406030204" pitchFamily="18" charset="0"/>
                      </a:rPr>
                      <m:t>=2</m:t>
                    </m:r>
                    <m:r>
                      <a:rPr lang="en-AU" sz="2400" b="0" i="1" smtClean="0">
                        <a:latin typeface="Cambria Math" panose="02040503050406030204" pitchFamily="18" charset="0"/>
                        <a:ea typeface="Cambria Math" panose="02040503050406030204" pitchFamily="18" charset="0"/>
                      </a:rPr>
                      <m:t>𝜋</m:t>
                    </m:r>
                  </m:oMath>
                </a14:m>
                <a:r>
                  <a:rPr lang="en-AU" sz="2400" dirty="0">
                    <a:latin typeface="+mj-lt"/>
                  </a:rPr>
                  <a:t> for sine and cosine, </a:t>
                </a:r>
                <a14:m>
                  <m:oMath xmlns:m="http://schemas.openxmlformats.org/officeDocument/2006/math">
                    <m:r>
                      <a:rPr lang="en-AU" sz="2400" b="0" i="1" smtClean="0">
                        <a:latin typeface="Cambria Math" panose="02040503050406030204" pitchFamily="18" charset="0"/>
                      </a:rPr>
                      <m:t>𝑇</m:t>
                    </m:r>
                    <m:r>
                      <a:rPr lang="en-AU" sz="2400" b="0" i="1" smtClean="0">
                        <a:latin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𝜋</m:t>
                    </m:r>
                  </m:oMath>
                </a14:m>
                <a:r>
                  <a:rPr lang="en-AU" sz="2400" dirty="0">
                    <a:latin typeface="+mj-lt"/>
                  </a:rPr>
                  <a:t> for tangent.</a:t>
                </a:r>
              </a:p>
              <a:p>
                <a:pPr marL="342900" indent="-342900">
                  <a:buFont typeface="Arial" panose="020B0604020202020204" pitchFamily="34" charset="0"/>
                  <a:buChar char="•"/>
                </a:pPr>
                <a14:m>
                  <m:oMath xmlns:m="http://schemas.openxmlformats.org/officeDocument/2006/math">
                    <m:d>
                      <m:dPr>
                        <m:begChr m:val="|"/>
                        <m:endChr m:val="|"/>
                        <m:ctrlPr>
                          <a:rPr lang="en-AU" sz="2400" i="1" smtClean="0">
                            <a:latin typeface="Cambria Math" panose="02040503050406030204" pitchFamily="18" charset="0"/>
                          </a:rPr>
                        </m:ctrlPr>
                      </m:dPr>
                      <m:e>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sin</m:t>
                            </m:r>
                          </m:fName>
                          <m:e>
                            <m:r>
                              <a:rPr lang="en-AU" sz="2400" b="0" i="1" smtClean="0">
                                <a:latin typeface="Cambria Math" panose="02040503050406030204" pitchFamily="18" charset="0"/>
                              </a:rPr>
                              <m:t>𝑥</m:t>
                            </m:r>
                          </m:e>
                        </m:func>
                      </m:e>
                    </m:d>
                    <m:r>
                      <a:rPr lang="en-AU" sz="240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1</m:t>
                    </m:r>
                  </m:oMath>
                </a14:m>
                <a:r>
                  <a:rPr lang="en-AU" sz="2400" dirty="0">
                    <a:latin typeface="+mj-lt"/>
                  </a:rPr>
                  <a:t>, </a:t>
                </a:r>
                <a14:m>
                  <m:oMath xmlns:m="http://schemas.openxmlformats.org/officeDocument/2006/math">
                    <m:d>
                      <m:dPr>
                        <m:begChr m:val="|"/>
                        <m:endChr m:val="|"/>
                        <m:ctrlPr>
                          <a:rPr lang="en-AU" sz="2400" i="1">
                            <a:latin typeface="Cambria Math" panose="02040503050406030204" pitchFamily="18" charset="0"/>
                          </a:rPr>
                        </m:ctrlPr>
                      </m:dPr>
                      <m:e>
                        <m:func>
                          <m:funcPr>
                            <m:ctrlPr>
                              <a:rPr lang="en-AU" sz="2400" i="1">
                                <a:latin typeface="Cambria Math" panose="02040503050406030204" pitchFamily="18" charset="0"/>
                              </a:rPr>
                            </m:ctrlPr>
                          </m:funcPr>
                          <m:fName>
                            <m:r>
                              <m:rPr>
                                <m:sty m:val="p"/>
                              </m:rPr>
                              <a:rPr lang="en-AU" sz="2400" b="0" i="0" smtClean="0">
                                <a:latin typeface="Cambria Math" panose="02040503050406030204" pitchFamily="18" charset="0"/>
                              </a:rPr>
                              <m:t>cos</m:t>
                            </m:r>
                          </m:fName>
                          <m:e>
                            <m:r>
                              <a:rPr lang="en-AU" sz="2400" i="1">
                                <a:latin typeface="Cambria Math" panose="02040503050406030204" pitchFamily="18" charset="0"/>
                              </a:rPr>
                              <m:t>𝑥</m:t>
                            </m:r>
                          </m:e>
                        </m:func>
                      </m:e>
                    </m:d>
                    <m:r>
                      <a:rPr lang="en-AU" sz="2400" i="1">
                        <a:latin typeface="Cambria Math" panose="02040503050406030204" pitchFamily="18" charset="0"/>
                        <a:ea typeface="Cambria Math" panose="02040503050406030204" pitchFamily="18" charset="0"/>
                      </a:rPr>
                      <m:t>≤1</m:t>
                    </m:r>
                  </m:oMath>
                </a14:m>
                <a:r>
                  <a:rPr lang="en-AU" sz="2400" dirty="0">
                    <a:latin typeface="+mj-lt"/>
                  </a:rPr>
                  <a:t>. </a:t>
                </a:r>
                <a14:m>
                  <m:oMath xmlns:m="http://schemas.openxmlformats.org/officeDocument/2006/math">
                    <m:r>
                      <a:rPr lang="en-AU" sz="2400" b="0" i="1" smtClean="0">
                        <a:latin typeface="Cambria Math" panose="02040503050406030204" pitchFamily="18" charset="0"/>
                      </a:rPr>
                      <m:t>𝑟𝑎𝑛</m:t>
                    </m:r>
                    <m:r>
                      <a:rPr lang="en-AU" sz="2400" b="0" i="1" smtClean="0">
                        <a:latin typeface="Cambria Math" panose="02040503050406030204" pitchFamily="18" charset="0"/>
                      </a:rPr>
                      <m:t>(</m:t>
                    </m:r>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tan</m:t>
                        </m:r>
                      </m:fName>
                      <m:e>
                        <m:r>
                          <a:rPr lang="en-AU" sz="2400" b="0" i="1" smtClean="0">
                            <a:latin typeface="Cambria Math" panose="02040503050406030204" pitchFamily="18" charset="0"/>
                          </a:rPr>
                          <m:t>𝑥</m:t>
                        </m:r>
                        <m:r>
                          <a:rPr lang="en-AU" sz="2400" b="0" i="1" smtClean="0">
                            <a:latin typeface="Cambria Math" panose="02040503050406030204" pitchFamily="18" charset="0"/>
                          </a:rPr>
                          <m:t>)</m:t>
                        </m:r>
                      </m:e>
                    </m:func>
                    <m:r>
                      <a:rPr lang="en-AU" sz="2400" b="0" i="1" smtClean="0">
                        <a:latin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ℝ</m:t>
                    </m:r>
                  </m:oMath>
                </a14:m>
                <a:r>
                  <a:rPr lang="en-AU" sz="2400" dirty="0">
                    <a:latin typeface="+mj-lt"/>
                  </a:rPr>
                  <a:t>. The sine and cosine are defined for all real values whereas the tangent is not defined for </a:t>
                </a:r>
                <a14:m>
                  <m:oMath xmlns:m="http://schemas.openxmlformats.org/officeDocument/2006/math">
                    <m:r>
                      <a:rPr lang="en-AU" sz="2400" b="0" i="1" smtClean="0">
                        <a:latin typeface="Cambria Math" panose="02040503050406030204" pitchFamily="18" charset="0"/>
                      </a:rPr>
                      <m:t>𝑥</m:t>
                    </m:r>
                    <m:r>
                      <a:rPr lang="en-AU" sz="2400" b="0" i="1" smtClean="0">
                        <a:latin typeface="Cambria Math" panose="02040503050406030204" pitchFamily="18" charset="0"/>
                      </a:rPr>
                      <m:t>=</m:t>
                    </m:r>
                    <m:f>
                      <m:fPr>
                        <m:ctrlPr>
                          <a:rPr lang="en-AU" sz="2400" b="0" i="1" smtClean="0">
                            <a:latin typeface="Cambria Math" panose="02040503050406030204" pitchFamily="18" charset="0"/>
                          </a:rPr>
                        </m:ctrlPr>
                      </m:fPr>
                      <m:num>
                        <m:r>
                          <a:rPr lang="en-AU" sz="2400" b="0" i="1" smtClean="0">
                            <a:latin typeface="Cambria Math" panose="02040503050406030204" pitchFamily="18" charset="0"/>
                            <a:ea typeface="Cambria Math" panose="02040503050406030204" pitchFamily="18" charset="0"/>
                          </a:rPr>
                          <m:t>𝜋</m:t>
                        </m:r>
                      </m:num>
                      <m:den>
                        <m:r>
                          <a:rPr lang="en-AU" sz="2400" b="0" i="1" smtClean="0">
                            <a:latin typeface="Cambria Math" panose="02040503050406030204" pitchFamily="18" charset="0"/>
                          </a:rPr>
                          <m:t>2</m:t>
                        </m:r>
                      </m:den>
                    </m:f>
                    <m:r>
                      <a:rPr lang="en-AU" sz="2400" b="0" i="1" smtClean="0">
                        <a:latin typeface="Cambria Math" panose="02040503050406030204" pitchFamily="18" charset="0"/>
                      </a:rPr>
                      <m:t>+</m:t>
                    </m:r>
                    <m:r>
                      <a:rPr lang="en-AU" sz="2400" b="0" i="1" smtClean="0">
                        <a:latin typeface="Cambria Math" panose="02040503050406030204" pitchFamily="18" charset="0"/>
                      </a:rPr>
                      <m:t>𝑘</m:t>
                    </m:r>
                    <m:r>
                      <a:rPr lang="en-AU" sz="2400" b="0" i="1" smtClean="0">
                        <a:latin typeface="Cambria Math" panose="02040503050406030204" pitchFamily="18" charset="0"/>
                        <a:ea typeface="Cambria Math" panose="02040503050406030204" pitchFamily="18" charset="0"/>
                      </a:rPr>
                      <m:t>𝜋</m:t>
                    </m:r>
                  </m:oMath>
                </a14:m>
                <a:r>
                  <a:rPr lang="en-AU" sz="2400" dirty="0">
                    <a:latin typeface="+mj-lt"/>
                  </a:rPr>
                  <a:t>, with </a:t>
                </a:r>
                <a14:m>
                  <m:oMath xmlns:m="http://schemas.openxmlformats.org/officeDocument/2006/math">
                    <m:r>
                      <a:rPr lang="en-AU" sz="2400" b="0" i="1" smtClean="0">
                        <a:latin typeface="Cambria Math" panose="02040503050406030204" pitchFamily="18" charset="0"/>
                      </a:rPr>
                      <m:t>𝑘</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ℤ</m:t>
                    </m:r>
                  </m:oMath>
                </a14:m>
                <a:r>
                  <a:rPr lang="en-AU" sz="2400" dirty="0">
                    <a:latin typeface="+mj-lt"/>
                  </a:rPr>
                  <a:t>.</a:t>
                </a:r>
              </a:p>
              <a:p>
                <a:pPr marL="342900" indent="-342900">
                  <a:buFont typeface="Arial" panose="020B0604020202020204" pitchFamily="34" charset="0"/>
                  <a:buChar char="•"/>
                </a:pPr>
                <a:r>
                  <a:rPr lang="en-AU" sz="2400" dirty="0">
                    <a:latin typeface="+mj-lt"/>
                  </a:rPr>
                  <a:t>Sine and tangent are odd functions, the cosine is an even function.</a:t>
                </a:r>
              </a:p>
              <a:p>
                <a:pPr marL="342900" indent="-342900">
                  <a:buFont typeface="Arial" panose="020B0604020202020204" pitchFamily="34" charset="0"/>
                  <a:buChar char="•"/>
                </a:pPr>
                <a:r>
                  <a:rPr lang="en-AU" sz="2400" dirty="0">
                    <a:latin typeface="+mj-lt"/>
                  </a:rPr>
                  <a:t>Other useful functions that are defined in terms of sine and cosine are the cotangent, secant and cosecant (csc):</a:t>
                </a:r>
              </a:p>
              <a:p>
                <a:pPr/>
                <a14:m>
                  <m:oMathPara xmlns:m="http://schemas.openxmlformats.org/officeDocument/2006/math">
                    <m:oMathParaPr>
                      <m:jc m:val="centerGroup"/>
                    </m:oMathParaPr>
                    <m:oMath xmlns:m="http://schemas.openxmlformats.org/officeDocument/2006/math">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cot</m:t>
                          </m:r>
                        </m:fName>
                        <m:e>
                          <m:r>
                            <a:rPr lang="en-AU" sz="2400" b="0" i="1" smtClean="0">
                              <a:latin typeface="Cambria Math" panose="02040503050406030204" pitchFamily="18" charset="0"/>
                            </a:rPr>
                            <m:t>𝑥</m:t>
                          </m:r>
                          <m:r>
                            <a:rPr lang="en-AU" sz="2400" b="0" i="1" smtClean="0">
                              <a:latin typeface="Cambria Math" panose="02040503050406030204" pitchFamily="18" charset="0"/>
                            </a:rPr>
                            <m:t>=</m:t>
                          </m:r>
                          <m:f>
                            <m:fPr>
                              <m:ctrlPr>
                                <a:rPr lang="en-AU" sz="2400" b="0" i="1" smtClean="0">
                                  <a:latin typeface="Cambria Math" panose="02040503050406030204" pitchFamily="18" charset="0"/>
                                </a:rPr>
                              </m:ctrlPr>
                            </m:fPr>
                            <m:num>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cos</m:t>
                                  </m:r>
                                </m:fName>
                                <m:e>
                                  <m:r>
                                    <a:rPr lang="en-AU" sz="2400" b="0" i="1" smtClean="0">
                                      <a:latin typeface="Cambria Math" panose="02040503050406030204" pitchFamily="18" charset="0"/>
                                    </a:rPr>
                                    <m:t>𝑥</m:t>
                                  </m:r>
                                </m:e>
                              </m:func>
                            </m:num>
                            <m:den>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sin</m:t>
                                  </m:r>
                                </m:fName>
                                <m:e>
                                  <m:r>
                                    <a:rPr lang="en-AU" sz="2400" b="0" i="1" smtClean="0">
                                      <a:latin typeface="Cambria Math" panose="02040503050406030204" pitchFamily="18" charset="0"/>
                                    </a:rPr>
                                    <m:t>𝑥</m:t>
                                  </m:r>
                                </m:e>
                              </m:func>
                            </m:den>
                          </m:f>
                          <m:r>
                            <a:rPr lang="en-AU" sz="2400" b="0" i="1" smtClean="0">
                              <a:latin typeface="Cambria Math" panose="02040503050406030204" pitchFamily="18" charset="0"/>
                            </a:rPr>
                            <m:t>,   </m:t>
                          </m:r>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sec</m:t>
                              </m:r>
                            </m:fName>
                            <m:e>
                              <m:r>
                                <a:rPr lang="en-AU" sz="2400" b="0" i="1" smtClean="0">
                                  <a:latin typeface="Cambria Math" panose="02040503050406030204" pitchFamily="18" charset="0"/>
                                </a:rPr>
                                <m:t>𝑥</m:t>
                              </m:r>
                            </m:e>
                          </m:func>
                          <m:r>
                            <a:rPr lang="en-AU" sz="2400" b="0" i="1" smtClean="0">
                              <a:latin typeface="Cambria Math" panose="02040503050406030204" pitchFamily="18" charset="0"/>
                            </a:rPr>
                            <m:t>=</m:t>
                          </m:r>
                          <m:f>
                            <m:fPr>
                              <m:ctrlPr>
                                <a:rPr lang="en-AU" sz="2400" b="0" i="1" smtClean="0">
                                  <a:latin typeface="Cambria Math" panose="02040503050406030204" pitchFamily="18" charset="0"/>
                                </a:rPr>
                              </m:ctrlPr>
                            </m:fPr>
                            <m:num>
                              <m:r>
                                <a:rPr lang="en-AU" sz="2400" b="0" i="1" smtClean="0">
                                  <a:latin typeface="Cambria Math" panose="02040503050406030204" pitchFamily="18" charset="0"/>
                                </a:rPr>
                                <m:t>1</m:t>
                              </m:r>
                            </m:num>
                            <m:den>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cos</m:t>
                                  </m:r>
                                </m:fName>
                                <m:e>
                                  <m:r>
                                    <a:rPr lang="en-AU" sz="2400" b="0" i="1" smtClean="0">
                                      <a:latin typeface="Cambria Math" panose="02040503050406030204" pitchFamily="18" charset="0"/>
                                    </a:rPr>
                                    <m:t>𝑥</m:t>
                                  </m:r>
                                </m:e>
                              </m:func>
                            </m:den>
                          </m:f>
                          <m:r>
                            <a:rPr lang="en-AU" sz="2400" b="0" i="1" smtClean="0">
                              <a:latin typeface="Cambria Math" panose="02040503050406030204" pitchFamily="18" charset="0"/>
                            </a:rPr>
                            <m:t>,    </m:t>
                          </m:r>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csc</m:t>
                              </m:r>
                            </m:fName>
                            <m:e>
                              <m:r>
                                <a:rPr lang="en-AU" sz="2400" b="0" i="1" smtClean="0">
                                  <a:latin typeface="Cambria Math" panose="02040503050406030204" pitchFamily="18" charset="0"/>
                                </a:rPr>
                                <m:t>𝑥</m:t>
                              </m:r>
                            </m:e>
                          </m:func>
                          <m:r>
                            <a:rPr lang="en-AU" sz="2400" b="0" i="1" smtClean="0">
                              <a:latin typeface="Cambria Math" panose="02040503050406030204" pitchFamily="18" charset="0"/>
                            </a:rPr>
                            <m:t>=</m:t>
                          </m:r>
                          <m:f>
                            <m:fPr>
                              <m:ctrlPr>
                                <a:rPr lang="en-AU" sz="2400" b="0" i="1" smtClean="0">
                                  <a:latin typeface="Cambria Math" panose="02040503050406030204" pitchFamily="18" charset="0"/>
                                </a:rPr>
                              </m:ctrlPr>
                            </m:fPr>
                            <m:num>
                              <m:r>
                                <a:rPr lang="en-AU" sz="2400" b="0" i="1" smtClean="0">
                                  <a:latin typeface="Cambria Math" panose="02040503050406030204" pitchFamily="18" charset="0"/>
                                </a:rPr>
                                <m:t>1</m:t>
                              </m:r>
                            </m:num>
                            <m:den>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sin</m:t>
                                  </m:r>
                                </m:fName>
                                <m:e>
                                  <m:r>
                                    <a:rPr lang="en-AU" sz="2400" b="0" i="1" smtClean="0">
                                      <a:latin typeface="Cambria Math" panose="02040503050406030204" pitchFamily="18" charset="0"/>
                                    </a:rPr>
                                    <m:t>𝑥</m:t>
                                  </m:r>
                                </m:e>
                              </m:func>
                            </m:den>
                          </m:f>
                        </m:e>
                      </m:func>
                    </m:oMath>
                  </m:oMathPara>
                </a14:m>
                <a:endParaRPr lang="en-AU" sz="2400" dirty="0">
                  <a:latin typeface="+mj-lt"/>
                </a:endParaRPr>
              </a:p>
              <a:p>
                <a:pPr marL="342900" indent="-342900">
                  <a:buFont typeface="Arial" panose="020B0604020202020204" pitchFamily="34" charset="0"/>
                  <a:buChar char="•"/>
                </a:pPr>
                <a:endParaRPr lang="en-AU" sz="2400" dirty="0">
                  <a:latin typeface="+mj-lt"/>
                </a:endParaRPr>
              </a:p>
              <a:p>
                <a:pPr marL="342900" indent="-342900">
                  <a:buFont typeface="Arial" panose="020B0604020202020204" pitchFamily="34" charset="0"/>
                  <a:buChar char="•"/>
                </a:pPr>
                <a:r>
                  <a:rPr lang="en-AU" sz="2400" dirty="0">
                    <a:latin typeface="+mj-lt"/>
                  </a:rPr>
                  <a:t>Basic trigonometric identities: </a:t>
                </a:r>
                <a14:m>
                  <m:oMath xmlns:m="http://schemas.openxmlformats.org/officeDocument/2006/math">
                    <m:func>
                      <m:funcPr>
                        <m:ctrlPr>
                          <a:rPr lang="en-AU" sz="2400" b="0" i="1" smtClean="0">
                            <a:latin typeface="Cambria Math" panose="02040503050406030204" pitchFamily="18" charset="0"/>
                          </a:rPr>
                        </m:ctrlPr>
                      </m:funcPr>
                      <m:fName>
                        <m:sSup>
                          <m:sSupPr>
                            <m:ctrlPr>
                              <a:rPr lang="en-AU" sz="2400" b="0" i="1" smtClean="0">
                                <a:latin typeface="Cambria Math" panose="02040503050406030204" pitchFamily="18" charset="0"/>
                              </a:rPr>
                            </m:ctrlPr>
                          </m:sSupPr>
                          <m:e>
                            <m:r>
                              <m:rPr>
                                <m:sty m:val="p"/>
                              </m:rPr>
                              <a:rPr lang="en-AU" sz="2400">
                                <a:latin typeface="Cambria Math" panose="02040503050406030204" pitchFamily="18" charset="0"/>
                              </a:rPr>
                              <m:t>cos</m:t>
                            </m:r>
                          </m:e>
                          <m:sup>
                            <m:r>
                              <a:rPr lang="en-AU" sz="2400" b="0" i="1" smtClean="0">
                                <a:latin typeface="Cambria Math" panose="02040503050406030204" pitchFamily="18" charset="0"/>
                              </a:rPr>
                              <m:t>2</m:t>
                            </m:r>
                          </m:sup>
                        </m:sSup>
                      </m:fName>
                      <m:e>
                        <m:r>
                          <a:rPr lang="en-AU" sz="2400" b="0" i="1" smtClean="0">
                            <a:latin typeface="Cambria Math" panose="02040503050406030204" pitchFamily="18" charset="0"/>
                          </a:rPr>
                          <m:t>𝑥</m:t>
                        </m:r>
                      </m:e>
                    </m:func>
                    <m:r>
                      <a:rPr lang="en-AU" sz="2400" b="0" i="1" smtClean="0">
                        <a:latin typeface="Cambria Math" panose="02040503050406030204" pitchFamily="18" charset="0"/>
                      </a:rPr>
                      <m:t>+</m:t>
                    </m:r>
                    <m:func>
                      <m:funcPr>
                        <m:ctrlPr>
                          <a:rPr lang="en-AU" sz="2400" b="0" i="1" smtClean="0">
                            <a:latin typeface="Cambria Math" panose="02040503050406030204" pitchFamily="18" charset="0"/>
                          </a:rPr>
                        </m:ctrlPr>
                      </m:funcPr>
                      <m:fName>
                        <m:sSup>
                          <m:sSupPr>
                            <m:ctrlPr>
                              <a:rPr lang="en-AU" sz="2400" b="0" i="1" smtClean="0">
                                <a:latin typeface="Cambria Math" panose="02040503050406030204" pitchFamily="18" charset="0"/>
                              </a:rPr>
                            </m:ctrlPr>
                          </m:sSupPr>
                          <m:e>
                            <m:r>
                              <m:rPr>
                                <m:sty m:val="p"/>
                              </m:rPr>
                              <a:rPr lang="en-AU" sz="2400">
                                <a:latin typeface="Cambria Math" panose="02040503050406030204" pitchFamily="18" charset="0"/>
                              </a:rPr>
                              <m:t>sin</m:t>
                            </m:r>
                          </m:e>
                          <m:sup>
                            <m:r>
                              <a:rPr lang="en-AU" sz="2400" b="0" i="1" smtClean="0">
                                <a:latin typeface="Cambria Math" panose="02040503050406030204" pitchFamily="18" charset="0"/>
                              </a:rPr>
                              <m:t>2</m:t>
                            </m:r>
                          </m:sup>
                        </m:sSup>
                      </m:fName>
                      <m:e>
                        <m:r>
                          <a:rPr lang="en-AU" sz="2400" b="0" i="1" smtClean="0">
                            <a:latin typeface="Cambria Math" panose="02040503050406030204" pitchFamily="18" charset="0"/>
                          </a:rPr>
                          <m:t>𝑥</m:t>
                        </m:r>
                      </m:e>
                    </m:func>
                    <m:r>
                      <a:rPr lang="en-AU" sz="2400" b="0" i="1" smtClean="0">
                        <a:latin typeface="Cambria Math" panose="02040503050406030204" pitchFamily="18" charset="0"/>
                      </a:rPr>
                      <m:t>=1,  </m:t>
                    </m:r>
                    <m:func>
                      <m:funcPr>
                        <m:ctrlPr>
                          <a:rPr lang="en-AU" sz="2400" b="0" i="1" smtClean="0">
                            <a:latin typeface="Cambria Math" panose="02040503050406030204" pitchFamily="18" charset="0"/>
                          </a:rPr>
                        </m:ctrlPr>
                      </m:funcPr>
                      <m:fName>
                        <m:sSup>
                          <m:sSupPr>
                            <m:ctrlPr>
                              <a:rPr lang="en-AU" sz="2400" b="0" i="1" smtClean="0">
                                <a:latin typeface="Cambria Math" panose="02040503050406030204" pitchFamily="18" charset="0"/>
                              </a:rPr>
                            </m:ctrlPr>
                          </m:sSupPr>
                          <m:e>
                            <m:r>
                              <m:rPr>
                                <m:sty m:val="p"/>
                              </m:rPr>
                              <a:rPr lang="en-AU" sz="2400">
                                <a:latin typeface="Cambria Math" panose="02040503050406030204" pitchFamily="18" charset="0"/>
                              </a:rPr>
                              <m:t>sec</m:t>
                            </m:r>
                          </m:e>
                          <m:sup>
                            <m:r>
                              <a:rPr lang="en-AU" sz="2400" b="0" i="1" smtClean="0">
                                <a:latin typeface="Cambria Math" panose="02040503050406030204" pitchFamily="18" charset="0"/>
                              </a:rPr>
                              <m:t>2</m:t>
                            </m:r>
                          </m:sup>
                        </m:sSup>
                      </m:fName>
                      <m:e>
                        <m:r>
                          <a:rPr lang="en-AU" sz="2400" b="0" i="1" smtClean="0">
                            <a:latin typeface="Cambria Math" panose="02040503050406030204" pitchFamily="18" charset="0"/>
                          </a:rPr>
                          <m:t>𝑥</m:t>
                        </m:r>
                      </m:e>
                    </m:func>
                    <m:r>
                      <a:rPr lang="en-AU" sz="2400" b="0" i="1" smtClean="0">
                        <a:latin typeface="Cambria Math" panose="02040503050406030204" pitchFamily="18" charset="0"/>
                      </a:rPr>
                      <m:t>−</m:t>
                    </m:r>
                    <m:func>
                      <m:funcPr>
                        <m:ctrlPr>
                          <a:rPr lang="en-AU" sz="2400" b="0" i="1" smtClean="0">
                            <a:latin typeface="Cambria Math" panose="02040503050406030204" pitchFamily="18" charset="0"/>
                          </a:rPr>
                        </m:ctrlPr>
                      </m:funcPr>
                      <m:fName>
                        <m:sSup>
                          <m:sSupPr>
                            <m:ctrlPr>
                              <a:rPr lang="en-AU" sz="2400" b="0" i="1" smtClean="0">
                                <a:latin typeface="Cambria Math" panose="02040503050406030204" pitchFamily="18" charset="0"/>
                              </a:rPr>
                            </m:ctrlPr>
                          </m:sSupPr>
                          <m:e>
                            <m:r>
                              <m:rPr>
                                <m:sty m:val="p"/>
                              </m:rPr>
                              <a:rPr lang="en-AU" sz="2400">
                                <a:latin typeface="Cambria Math" panose="02040503050406030204" pitchFamily="18" charset="0"/>
                              </a:rPr>
                              <m:t>tan</m:t>
                            </m:r>
                          </m:e>
                          <m:sup>
                            <m:r>
                              <a:rPr lang="en-AU" sz="2400" b="0" i="1" smtClean="0">
                                <a:latin typeface="Cambria Math" panose="02040503050406030204" pitchFamily="18" charset="0"/>
                              </a:rPr>
                              <m:t>2</m:t>
                            </m:r>
                          </m:sup>
                        </m:sSup>
                      </m:fName>
                      <m:e>
                        <m:r>
                          <a:rPr lang="en-AU" sz="2400" b="0" i="1" smtClean="0">
                            <a:latin typeface="Cambria Math" panose="02040503050406030204" pitchFamily="18" charset="0"/>
                          </a:rPr>
                          <m:t>𝑥</m:t>
                        </m:r>
                      </m:e>
                    </m:func>
                    <m:r>
                      <a:rPr lang="en-AU" sz="2400" b="0" i="1" smtClean="0">
                        <a:latin typeface="Cambria Math" panose="02040503050406030204" pitchFamily="18" charset="0"/>
                      </a:rPr>
                      <m:t>=1</m:t>
                    </m:r>
                  </m:oMath>
                </a14:m>
                <a:endParaRPr lang="en-AU" sz="2400" dirty="0">
                  <a:latin typeface="+mj-lt"/>
                </a:endParaRPr>
              </a:p>
            </p:txBody>
          </p:sp>
        </mc:Choice>
        <mc:Fallback xmlns="">
          <p:sp>
            <p:nvSpPr>
              <p:cNvPr id="11" name="TextBox 10">
                <a:extLst>
                  <a:ext uri="{FF2B5EF4-FFF2-40B4-BE49-F238E27FC236}">
                    <a16:creationId xmlns:a16="http://schemas.microsoft.com/office/drawing/2014/main" id="{31E77652-8767-4DBA-A5E8-951D152E6136}"/>
                  </a:ext>
                </a:extLst>
              </p:cNvPr>
              <p:cNvSpPr txBox="1">
                <a:spLocks noRot="1" noChangeAspect="1" noMove="1" noResize="1" noEditPoints="1" noAdjustHandles="1" noChangeArrowheads="1" noChangeShapeType="1" noTextEdit="1"/>
              </p:cNvSpPr>
              <p:nvPr/>
            </p:nvSpPr>
            <p:spPr>
              <a:xfrm>
                <a:off x="301020" y="1608739"/>
                <a:ext cx="11801333" cy="4600170"/>
              </a:xfrm>
              <a:prstGeom prst="rect">
                <a:avLst/>
              </a:prstGeom>
              <a:blipFill>
                <a:blip r:embed="rId2"/>
                <a:stretch>
                  <a:fillRect l="-775" t="-1060" r="-1291" b="-2119"/>
                </a:stretch>
              </a:blipFill>
            </p:spPr>
            <p:txBody>
              <a:bodyPr/>
              <a:lstStyle/>
              <a:p>
                <a:r>
                  <a:rPr lang="en-GB">
                    <a:noFill/>
                  </a:rPr>
                  <a:t> </a:t>
                </a:r>
              </a:p>
            </p:txBody>
          </p:sp>
        </mc:Fallback>
      </mc:AlternateContent>
      <p:sp>
        <p:nvSpPr>
          <p:cNvPr id="4" name="TextBox 3">
            <a:extLst>
              <a:ext uri="{FF2B5EF4-FFF2-40B4-BE49-F238E27FC236}">
                <a16:creationId xmlns:a16="http://schemas.microsoft.com/office/drawing/2014/main" id="{ACBB07AD-1B90-45BF-A0DC-03A1254B0F9A}"/>
              </a:ext>
            </a:extLst>
          </p:cNvPr>
          <p:cNvSpPr txBox="1"/>
          <p:nvPr/>
        </p:nvSpPr>
        <p:spPr>
          <a:xfrm>
            <a:off x="4202441" y="6208909"/>
            <a:ext cx="4762264" cy="369332"/>
          </a:xfrm>
          <a:prstGeom prst="rect">
            <a:avLst/>
          </a:prstGeom>
          <a:noFill/>
        </p:spPr>
        <p:txBody>
          <a:bodyPr wrap="square" rtlCol="0">
            <a:spAutoFit/>
          </a:bodyPr>
          <a:lstStyle/>
          <a:p>
            <a:r>
              <a:rPr lang="en-GB" dirty="0">
                <a:latin typeface="+mj-lt"/>
                <a:hlinkClick r:id="rId3"/>
              </a:rPr>
              <a:t>https://www.geogebra.org/m/Cb2jWUPS</a:t>
            </a:r>
            <a:endParaRPr lang="en-GB" dirty="0"/>
          </a:p>
        </p:txBody>
      </p:sp>
    </p:spTree>
    <p:extLst>
      <p:ext uri="{BB962C8B-B14F-4D97-AF65-F5344CB8AC3E}">
        <p14:creationId xmlns:p14="http://schemas.microsoft.com/office/powerpoint/2010/main" val="5843568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3661067" cy="523220"/>
          </a:xfrm>
          <a:prstGeom prst="rect">
            <a:avLst/>
          </a:prstGeom>
          <a:noFill/>
        </p:spPr>
        <p:txBody>
          <a:bodyPr wrap="none" rtlCol="0">
            <a:spAutoFit/>
          </a:bodyPr>
          <a:lstStyle/>
          <a:p>
            <a:r>
              <a:rPr lang="en-AU" sz="2800" b="1" cap="small" dirty="0">
                <a:solidFill>
                  <a:schemeClr val="bg1"/>
                </a:solidFill>
                <a:latin typeface="+mj-lt"/>
              </a:rPr>
              <a:t>1.5 Elementary functions</a:t>
            </a:r>
            <a:endParaRPr lang="en-GB" sz="2800" b="1" cap="small" dirty="0">
              <a:solidFill>
                <a:schemeClr val="bg1"/>
              </a:solidFill>
              <a:latin typeface="+mj-lt"/>
            </a:endParaRPr>
          </a:p>
        </p:txBody>
      </p:sp>
      <p:sp>
        <p:nvSpPr>
          <p:cNvPr id="10" name="TextBox 9">
            <a:extLst>
              <a:ext uri="{FF2B5EF4-FFF2-40B4-BE49-F238E27FC236}">
                <a16:creationId xmlns:a16="http://schemas.microsoft.com/office/drawing/2014/main" id="{B7FA0DAD-D0AB-4903-873A-CD36FB0ED036}"/>
              </a:ext>
            </a:extLst>
          </p:cNvPr>
          <p:cNvSpPr txBox="1"/>
          <p:nvPr/>
        </p:nvSpPr>
        <p:spPr>
          <a:xfrm>
            <a:off x="301020" y="1048888"/>
            <a:ext cx="4442626" cy="461665"/>
          </a:xfrm>
          <a:prstGeom prst="rect">
            <a:avLst/>
          </a:prstGeom>
          <a:noFill/>
          <a:ln>
            <a:solidFill>
              <a:schemeClr val="accent2">
                <a:lumMod val="50000"/>
              </a:schemeClr>
            </a:solidFill>
          </a:ln>
        </p:spPr>
        <p:txBody>
          <a:bodyPr wrap="none" rtlCol="0">
            <a:spAutoFit/>
          </a:bodyPr>
          <a:lstStyle/>
          <a:p>
            <a:r>
              <a:rPr lang="en-AU" sz="2400" dirty="0">
                <a:latin typeface="+mj-lt"/>
              </a:rPr>
              <a:t>Trigonometric or circular functions</a:t>
            </a:r>
            <a:endParaRPr lang="en-GB" sz="2400" dirty="0">
              <a:latin typeface="+mj-lt"/>
            </a:endParaRPr>
          </a:p>
        </p:txBody>
      </p:sp>
      <p:sp>
        <p:nvSpPr>
          <p:cNvPr id="11" name="TextBox 10">
            <a:extLst>
              <a:ext uri="{FF2B5EF4-FFF2-40B4-BE49-F238E27FC236}">
                <a16:creationId xmlns:a16="http://schemas.microsoft.com/office/drawing/2014/main" id="{31E77652-8767-4DBA-A5E8-951D152E6136}"/>
              </a:ext>
            </a:extLst>
          </p:cNvPr>
          <p:cNvSpPr txBox="1"/>
          <p:nvPr/>
        </p:nvSpPr>
        <p:spPr>
          <a:xfrm>
            <a:off x="301020" y="1608739"/>
            <a:ext cx="11801333" cy="461665"/>
          </a:xfrm>
          <a:prstGeom prst="rect">
            <a:avLst/>
          </a:prstGeom>
          <a:noFill/>
        </p:spPr>
        <p:txBody>
          <a:bodyPr wrap="square" rtlCol="0">
            <a:spAutoFit/>
          </a:bodyPr>
          <a:lstStyle/>
          <a:p>
            <a:r>
              <a:rPr lang="en-AU" sz="2400" dirty="0">
                <a:latin typeface="+mj-lt"/>
              </a:rPr>
              <a:t>Important formulae:</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7A8650CC-C7D9-4236-8F77-BDB67434CF2E}"/>
                  </a:ext>
                </a:extLst>
              </p:cNvPr>
              <p:cNvSpPr txBox="1"/>
              <p:nvPr/>
            </p:nvSpPr>
            <p:spPr>
              <a:xfrm>
                <a:off x="301020" y="2392792"/>
                <a:ext cx="5047831" cy="34163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sin</m:t>
                          </m:r>
                        </m:fName>
                        <m:e>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r>
                                <a:rPr lang="en-AU" sz="2400" b="0" i="1" smtClean="0">
                                  <a:latin typeface="Cambria Math" panose="02040503050406030204" pitchFamily="18" charset="0"/>
                                </a:rPr>
                                <m:t>+</m:t>
                              </m:r>
                              <m:r>
                                <a:rPr lang="en-AU" sz="2400" b="0" i="1" smtClean="0">
                                  <a:latin typeface="Cambria Math" panose="02040503050406030204" pitchFamily="18" charset="0"/>
                                </a:rPr>
                                <m:t>𝑦</m:t>
                              </m:r>
                            </m:e>
                          </m:d>
                        </m:e>
                      </m:func>
                      <m:r>
                        <a:rPr lang="en-AU" sz="2400" b="0" i="1" smtClean="0">
                          <a:latin typeface="Cambria Math" panose="02040503050406030204" pitchFamily="18" charset="0"/>
                        </a:rPr>
                        <m:t>=</m:t>
                      </m:r>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sin</m:t>
                          </m:r>
                        </m:fName>
                        <m:e>
                          <m:r>
                            <a:rPr lang="en-AU" sz="2400" b="0" i="1" smtClean="0">
                              <a:latin typeface="Cambria Math" panose="02040503050406030204" pitchFamily="18" charset="0"/>
                            </a:rPr>
                            <m:t>𝑥</m:t>
                          </m:r>
                        </m:e>
                      </m:func>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cos</m:t>
                          </m:r>
                        </m:fName>
                        <m:e>
                          <m:r>
                            <a:rPr lang="en-AU" sz="2400" b="0" i="1" smtClean="0">
                              <a:latin typeface="Cambria Math" panose="02040503050406030204" pitchFamily="18" charset="0"/>
                            </a:rPr>
                            <m:t>𝑦</m:t>
                          </m:r>
                        </m:e>
                      </m:func>
                      <m:r>
                        <a:rPr lang="en-AU" sz="2400" b="0" i="1" smtClean="0">
                          <a:latin typeface="Cambria Math" panose="02040503050406030204" pitchFamily="18" charset="0"/>
                        </a:rPr>
                        <m:t>+</m:t>
                      </m:r>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sin</m:t>
                          </m:r>
                        </m:fName>
                        <m:e>
                          <m:r>
                            <a:rPr lang="en-AU" sz="2400" b="0" i="1" smtClean="0">
                              <a:latin typeface="Cambria Math" panose="02040503050406030204" pitchFamily="18" charset="0"/>
                            </a:rPr>
                            <m:t>𝑦</m:t>
                          </m:r>
                        </m:e>
                      </m:func>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cos</m:t>
                          </m:r>
                        </m:fName>
                        <m:e>
                          <m:r>
                            <a:rPr lang="en-AU" sz="2400" b="0" i="1" smtClean="0">
                              <a:latin typeface="Cambria Math" panose="02040503050406030204" pitchFamily="18" charset="0"/>
                            </a:rPr>
                            <m:t>𝑥</m:t>
                          </m:r>
                        </m:e>
                      </m:func>
                    </m:oMath>
                  </m:oMathPara>
                </a14:m>
                <a:endParaRPr lang="en-AU" sz="2400" dirty="0">
                  <a:latin typeface="+mj-lt"/>
                </a:endParaRPr>
              </a:p>
              <a:p>
                <a:pPr/>
                <a14:m>
                  <m:oMathPara xmlns:m="http://schemas.openxmlformats.org/officeDocument/2006/math">
                    <m:oMathParaPr>
                      <m:jc m:val="centerGroup"/>
                    </m:oMathParaPr>
                    <m:oMath xmlns:m="http://schemas.openxmlformats.org/officeDocument/2006/math">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sin</m:t>
                          </m:r>
                        </m:fName>
                        <m:e>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r>
                                <a:rPr lang="en-AU" sz="2400" b="0" i="1" smtClean="0">
                                  <a:latin typeface="Cambria Math" panose="02040503050406030204" pitchFamily="18" charset="0"/>
                                </a:rPr>
                                <m:t>−</m:t>
                              </m:r>
                              <m:r>
                                <a:rPr lang="en-AU" sz="2400" b="0" i="1" smtClean="0">
                                  <a:latin typeface="Cambria Math" panose="02040503050406030204" pitchFamily="18" charset="0"/>
                                </a:rPr>
                                <m:t>𝑦</m:t>
                              </m:r>
                            </m:e>
                          </m:d>
                        </m:e>
                      </m:func>
                      <m:r>
                        <a:rPr lang="en-AU" sz="2400" b="0" i="1" smtClean="0">
                          <a:latin typeface="Cambria Math" panose="02040503050406030204" pitchFamily="18" charset="0"/>
                        </a:rPr>
                        <m:t>=</m:t>
                      </m:r>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sin</m:t>
                          </m:r>
                        </m:fName>
                        <m:e>
                          <m:r>
                            <a:rPr lang="en-AU" sz="2400" b="0" i="1" smtClean="0">
                              <a:latin typeface="Cambria Math" panose="02040503050406030204" pitchFamily="18" charset="0"/>
                            </a:rPr>
                            <m:t>𝑥</m:t>
                          </m:r>
                        </m:e>
                      </m:func>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cos</m:t>
                          </m:r>
                        </m:fName>
                        <m:e>
                          <m:r>
                            <a:rPr lang="en-AU" sz="2400" b="0" i="1" smtClean="0">
                              <a:latin typeface="Cambria Math" panose="02040503050406030204" pitchFamily="18" charset="0"/>
                            </a:rPr>
                            <m:t>𝑦</m:t>
                          </m:r>
                        </m:e>
                      </m:func>
                      <m:r>
                        <a:rPr lang="en-AU" sz="2400" b="0" i="1" smtClean="0">
                          <a:latin typeface="Cambria Math" panose="02040503050406030204" pitchFamily="18" charset="0"/>
                        </a:rPr>
                        <m:t>−</m:t>
                      </m:r>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sin</m:t>
                          </m:r>
                        </m:fName>
                        <m:e>
                          <m:r>
                            <a:rPr lang="en-AU" sz="2400" b="0" i="1" smtClean="0">
                              <a:latin typeface="Cambria Math" panose="02040503050406030204" pitchFamily="18" charset="0"/>
                            </a:rPr>
                            <m:t>𝑦</m:t>
                          </m:r>
                        </m:e>
                      </m:func>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cos</m:t>
                          </m:r>
                        </m:fName>
                        <m:e>
                          <m:r>
                            <a:rPr lang="en-AU" sz="2400" b="0" i="1" smtClean="0">
                              <a:latin typeface="Cambria Math" panose="02040503050406030204" pitchFamily="18" charset="0"/>
                            </a:rPr>
                            <m:t>𝑥</m:t>
                          </m:r>
                        </m:e>
                      </m:func>
                    </m:oMath>
                  </m:oMathPara>
                </a14:m>
                <a:endParaRPr lang="en-AU" sz="2400" dirty="0">
                  <a:latin typeface="+mj-lt"/>
                </a:endParaRPr>
              </a:p>
              <a:p>
                <a:pPr/>
                <a14:m>
                  <m:oMathPara xmlns:m="http://schemas.openxmlformats.org/officeDocument/2006/math">
                    <m:oMathParaPr>
                      <m:jc m:val="centerGroup"/>
                    </m:oMathParaPr>
                    <m:oMath xmlns:m="http://schemas.openxmlformats.org/officeDocument/2006/math">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cos</m:t>
                          </m:r>
                        </m:fName>
                        <m:e>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r>
                                <a:rPr lang="en-AU" sz="2400" b="0" i="1" smtClean="0">
                                  <a:latin typeface="Cambria Math" panose="02040503050406030204" pitchFamily="18" charset="0"/>
                                </a:rPr>
                                <m:t>+</m:t>
                              </m:r>
                              <m:r>
                                <a:rPr lang="en-AU" sz="2400" b="0" i="1" smtClean="0">
                                  <a:latin typeface="Cambria Math" panose="02040503050406030204" pitchFamily="18" charset="0"/>
                                </a:rPr>
                                <m:t>𝑦</m:t>
                              </m:r>
                            </m:e>
                          </m:d>
                        </m:e>
                      </m:func>
                      <m:r>
                        <a:rPr lang="en-AU" sz="2400" b="0" i="1" smtClean="0">
                          <a:latin typeface="Cambria Math" panose="02040503050406030204" pitchFamily="18" charset="0"/>
                        </a:rPr>
                        <m:t>=</m:t>
                      </m:r>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cos</m:t>
                          </m:r>
                        </m:fName>
                        <m:e>
                          <m:r>
                            <a:rPr lang="en-AU" sz="2400" b="0" i="1" smtClean="0">
                              <a:latin typeface="Cambria Math" panose="02040503050406030204" pitchFamily="18" charset="0"/>
                            </a:rPr>
                            <m:t>𝑥</m:t>
                          </m:r>
                        </m:e>
                      </m:func>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cos</m:t>
                          </m:r>
                        </m:fName>
                        <m:e>
                          <m:r>
                            <a:rPr lang="en-AU" sz="2400" b="0" i="1" smtClean="0">
                              <a:latin typeface="Cambria Math" panose="02040503050406030204" pitchFamily="18" charset="0"/>
                            </a:rPr>
                            <m:t>𝑦</m:t>
                          </m:r>
                        </m:e>
                      </m:func>
                      <m:r>
                        <a:rPr lang="en-AU" sz="2400" b="0" i="1" smtClean="0">
                          <a:latin typeface="Cambria Math" panose="02040503050406030204" pitchFamily="18" charset="0"/>
                        </a:rPr>
                        <m:t>−</m:t>
                      </m:r>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sin</m:t>
                          </m:r>
                        </m:fName>
                        <m:e>
                          <m:r>
                            <a:rPr lang="en-AU" sz="2400" b="0" i="1" smtClean="0">
                              <a:latin typeface="Cambria Math" panose="02040503050406030204" pitchFamily="18" charset="0"/>
                            </a:rPr>
                            <m:t>𝑥</m:t>
                          </m:r>
                        </m:e>
                      </m:func>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sin</m:t>
                          </m:r>
                        </m:fName>
                        <m:e>
                          <m:r>
                            <a:rPr lang="en-AU" sz="2400" b="0" i="1" smtClean="0">
                              <a:latin typeface="Cambria Math" panose="02040503050406030204" pitchFamily="18" charset="0"/>
                            </a:rPr>
                            <m:t>𝑦</m:t>
                          </m:r>
                        </m:e>
                      </m:func>
                    </m:oMath>
                  </m:oMathPara>
                </a14:m>
                <a:endParaRPr lang="en-AU" sz="2400" dirty="0">
                  <a:latin typeface="+mj-lt"/>
                </a:endParaRPr>
              </a:p>
              <a:p>
                <a:pPr/>
                <a14:m>
                  <m:oMathPara xmlns:m="http://schemas.openxmlformats.org/officeDocument/2006/math">
                    <m:oMathParaPr>
                      <m:jc m:val="centerGroup"/>
                    </m:oMathParaPr>
                    <m:oMath xmlns:m="http://schemas.openxmlformats.org/officeDocument/2006/math">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cos</m:t>
                          </m:r>
                        </m:fName>
                        <m:e>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r>
                                <a:rPr lang="en-AU" sz="2400" b="0" i="1" smtClean="0">
                                  <a:latin typeface="Cambria Math" panose="02040503050406030204" pitchFamily="18" charset="0"/>
                                </a:rPr>
                                <m:t>−</m:t>
                              </m:r>
                              <m:r>
                                <a:rPr lang="en-AU" sz="2400" b="0" i="1" smtClean="0">
                                  <a:latin typeface="Cambria Math" panose="02040503050406030204" pitchFamily="18" charset="0"/>
                                </a:rPr>
                                <m:t>𝑦</m:t>
                              </m:r>
                            </m:e>
                          </m:d>
                        </m:e>
                      </m:func>
                      <m:r>
                        <a:rPr lang="en-AU" sz="2400" b="0" i="1" smtClean="0">
                          <a:latin typeface="Cambria Math" panose="02040503050406030204" pitchFamily="18" charset="0"/>
                        </a:rPr>
                        <m:t>=</m:t>
                      </m:r>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cos</m:t>
                          </m:r>
                        </m:fName>
                        <m:e>
                          <m:r>
                            <a:rPr lang="en-AU" sz="2400" b="0" i="1" smtClean="0">
                              <a:latin typeface="Cambria Math" panose="02040503050406030204" pitchFamily="18" charset="0"/>
                            </a:rPr>
                            <m:t>𝑥</m:t>
                          </m:r>
                        </m:e>
                      </m:func>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cos</m:t>
                          </m:r>
                        </m:fName>
                        <m:e>
                          <m:r>
                            <a:rPr lang="en-AU" sz="2400" b="0" i="1" smtClean="0">
                              <a:latin typeface="Cambria Math" panose="02040503050406030204" pitchFamily="18" charset="0"/>
                            </a:rPr>
                            <m:t>𝑦</m:t>
                          </m:r>
                        </m:e>
                      </m:func>
                      <m:r>
                        <a:rPr lang="en-AU" sz="2400" b="0" i="1" smtClean="0">
                          <a:latin typeface="Cambria Math" panose="02040503050406030204" pitchFamily="18" charset="0"/>
                        </a:rPr>
                        <m:t>+</m:t>
                      </m:r>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sin</m:t>
                          </m:r>
                        </m:fName>
                        <m:e>
                          <m:r>
                            <a:rPr lang="en-AU" sz="2400" b="0" i="1" smtClean="0">
                              <a:latin typeface="Cambria Math" panose="02040503050406030204" pitchFamily="18" charset="0"/>
                            </a:rPr>
                            <m:t>𝑥</m:t>
                          </m:r>
                        </m:e>
                      </m:func>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sin</m:t>
                          </m:r>
                        </m:fName>
                        <m:e>
                          <m:r>
                            <a:rPr lang="en-AU" sz="2400" b="0" i="1" smtClean="0">
                              <a:latin typeface="Cambria Math" panose="02040503050406030204" pitchFamily="18" charset="0"/>
                            </a:rPr>
                            <m:t>𝑦</m:t>
                          </m:r>
                        </m:e>
                      </m:func>
                    </m:oMath>
                  </m:oMathPara>
                </a14:m>
                <a:endParaRPr lang="en-AU" sz="2400" dirty="0">
                  <a:latin typeface="+mj-lt"/>
                </a:endParaRPr>
              </a:p>
              <a:p>
                <a:endParaRPr lang="en-AU" sz="2400" dirty="0">
                  <a:latin typeface="+mj-lt"/>
                </a:endParaRPr>
              </a:p>
              <a:p>
                <a:pPr/>
                <a14:m>
                  <m:oMathPara xmlns:m="http://schemas.openxmlformats.org/officeDocument/2006/math">
                    <m:oMathParaPr>
                      <m:jc m:val="centerGroup"/>
                    </m:oMathParaPr>
                    <m:oMath xmlns:m="http://schemas.openxmlformats.org/officeDocument/2006/math">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sin</m:t>
                          </m:r>
                        </m:fName>
                        <m:e>
                          <m:r>
                            <a:rPr lang="en-AU" sz="2400" b="0" i="1" smtClean="0">
                              <a:latin typeface="Cambria Math" panose="02040503050406030204" pitchFamily="18" charset="0"/>
                            </a:rPr>
                            <m:t>(2</m:t>
                          </m:r>
                          <m:r>
                            <a:rPr lang="en-AU" sz="2400" b="0" i="1" smtClean="0">
                              <a:latin typeface="Cambria Math" panose="02040503050406030204" pitchFamily="18" charset="0"/>
                            </a:rPr>
                            <m:t>𝑥</m:t>
                          </m:r>
                          <m:r>
                            <a:rPr lang="en-AU" sz="2400" b="0" i="1" smtClean="0">
                              <a:latin typeface="Cambria Math" panose="02040503050406030204" pitchFamily="18" charset="0"/>
                            </a:rPr>
                            <m:t>)</m:t>
                          </m:r>
                        </m:e>
                      </m:func>
                      <m:r>
                        <a:rPr lang="en-AU" sz="2400" b="0" i="1" smtClean="0">
                          <a:latin typeface="Cambria Math" panose="02040503050406030204" pitchFamily="18" charset="0"/>
                        </a:rPr>
                        <m:t>=2</m:t>
                      </m:r>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sin</m:t>
                          </m:r>
                        </m:fName>
                        <m:e>
                          <m:r>
                            <a:rPr lang="en-AU" sz="2400" b="0" i="1" smtClean="0">
                              <a:latin typeface="Cambria Math" panose="02040503050406030204" pitchFamily="18" charset="0"/>
                            </a:rPr>
                            <m:t>𝑥</m:t>
                          </m:r>
                        </m:e>
                      </m:func>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cos</m:t>
                          </m:r>
                        </m:fName>
                        <m:e>
                          <m:r>
                            <a:rPr lang="en-AU" sz="2400" b="0" i="1" smtClean="0">
                              <a:latin typeface="Cambria Math" panose="02040503050406030204" pitchFamily="18" charset="0"/>
                            </a:rPr>
                            <m:t>𝑥</m:t>
                          </m:r>
                        </m:e>
                      </m:func>
                    </m:oMath>
                  </m:oMathPara>
                </a14:m>
                <a:endParaRPr lang="en-AU" sz="2400" b="0" dirty="0">
                  <a:latin typeface="+mj-lt"/>
                </a:endParaRPr>
              </a:p>
              <a:p>
                <a:pPr/>
                <a14:m>
                  <m:oMathPara xmlns:m="http://schemas.openxmlformats.org/officeDocument/2006/math">
                    <m:oMathParaPr>
                      <m:jc m:val="centerGroup"/>
                    </m:oMathParaPr>
                    <m:oMath xmlns:m="http://schemas.openxmlformats.org/officeDocument/2006/math">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cos</m:t>
                          </m:r>
                        </m:fName>
                        <m:e>
                          <m:d>
                            <m:dPr>
                              <m:ctrlPr>
                                <a:rPr lang="en-AU" sz="2400" b="0" i="1" smtClean="0">
                                  <a:latin typeface="Cambria Math" panose="02040503050406030204" pitchFamily="18" charset="0"/>
                                </a:rPr>
                              </m:ctrlPr>
                            </m:dPr>
                            <m:e>
                              <m:r>
                                <a:rPr lang="en-AU" sz="2400" b="0" i="1" smtClean="0">
                                  <a:latin typeface="Cambria Math" panose="02040503050406030204" pitchFamily="18" charset="0"/>
                                </a:rPr>
                                <m:t>2</m:t>
                              </m:r>
                              <m:r>
                                <a:rPr lang="en-AU" sz="2400" b="0" i="1" smtClean="0">
                                  <a:latin typeface="Cambria Math" panose="02040503050406030204" pitchFamily="18" charset="0"/>
                                </a:rPr>
                                <m:t>𝑥</m:t>
                              </m:r>
                            </m:e>
                          </m:d>
                        </m:e>
                      </m:func>
                      <m:r>
                        <a:rPr lang="en-AU" sz="2400" b="0" i="1" smtClean="0">
                          <a:latin typeface="Cambria Math" panose="02040503050406030204" pitchFamily="18" charset="0"/>
                        </a:rPr>
                        <m:t>=</m:t>
                      </m:r>
                      <m:func>
                        <m:funcPr>
                          <m:ctrlPr>
                            <a:rPr lang="en-AU" sz="2400" b="0" i="1" smtClean="0">
                              <a:latin typeface="Cambria Math" panose="02040503050406030204" pitchFamily="18" charset="0"/>
                            </a:rPr>
                          </m:ctrlPr>
                        </m:funcPr>
                        <m:fName>
                          <m:sSup>
                            <m:sSupPr>
                              <m:ctrlPr>
                                <a:rPr lang="en-AU" sz="2400" b="0" i="1" smtClean="0">
                                  <a:latin typeface="Cambria Math" panose="02040503050406030204" pitchFamily="18" charset="0"/>
                                </a:rPr>
                              </m:ctrlPr>
                            </m:sSupPr>
                            <m:e>
                              <m:r>
                                <m:rPr>
                                  <m:sty m:val="p"/>
                                </m:rPr>
                                <a:rPr lang="en-AU" sz="2400">
                                  <a:latin typeface="Cambria Math" panose="02040503050406030204" pitchFamily="18" charset="0"/>
                                </a:rPr>
                                <m:t>cos</m:t>
                              </m:r>
                            </m:e>
                            <m:sup>
                              <m:r>
                                <a:rPr lang="en-AU" sz="2400" b="0" i="1" smtClean="0">
                                  <a:latin typeface="Cambria Math" panose="02040503050406030204" pitchFamily="18" charset="0"/>
                                </a:rPr>
                                <m:t>2</m:t>
                              </m:r>
                            </m:sup>
                          </m:sSup>
                        </m:fName>
                        <m:e>
                          <m:r>
                            <a:rPr lang="en-AU" sz="2400" b="0" i="1" smtClean="0">
                              <a:latin typeface="Cambria Math" panose="02040503050406030204" pitchFamily="18" charset="0"/>
                            </a:rPr>
                            <m:t>𝑥</m:t>
                          </m:r>
                        </m:e>
                      </m:func>
                      <m:r>
                        <a:rPr lang="en-AU" sz="2400" b="0" i="1" smtClean="0">
                          <a:latin typeface="Cambria Math" panose="02040503050406030204" pitchFamily="18" charset="0"/>
                        </a:rPr>
                        <m:t>−</m:t>
                      </m:r>
                      <m:func>
                        <m:funcPr>
                          <m:ctrlPr>
                            <a:rPr lang="en-AU" sz="2400" b="0" i="1" smtClean="0">
                              <a:latin typeface="Cambria Math" panose="02040503050406030204" pitchFamily="18" charset="0"/>
                            </a:rPr>
                          </m:ctrlPr>
                        </m:funcPr>
                        <m:fName>
                          <m:sSup>
                            <m:sSupPr>
                              <m:ctrlPr>
                                <a:rPr lang="en-AU" sz="2400" b="0" i="1" smtClean="0">
                                  <a:latin typeface="Cambria Math" panose="02040503050406030204" pitchFamily="18" charset="0"/>
                                </a:rPr>
                              </m:ctrlPr>
                            </m:sSupPr>
                            <m:e>
                              <m:r>
                                <m:rPr>
                                  <m:sty m:val="p"/>
                                </m:rPr>
                                <a:rPr lang="en-AU" sz="2400">
                                  <a:latin typeface="Cambria Math" panose="02040503050406030204" pitchFamily="18" charset="0"/>
                                </a:rPr>
                                <m:t>sin</m:t>
                              </m:r>
                            </m:e>
                            <m:sup>
                              <m:r>
                                <a:rPr lang="en-AU" sz="2400" b="0" i="1" smtClean="0">
                                  <a:latin typeface="Cambria Math" panose="02040503050406030204" pitchFamily="18" charset="0"/>
                                </a:rPr>
                                <m:t>2</m:t>
                              </m:r>
                            </m:sup>
                          </m:sSup>
                        </m:fName>
                        <m:e>
                          <m:r>
                            <a:rPr lang="en-AU" sz="2400" b="0" i="1" smtClean="0">
                              <a:latin typeface="Cambria Math" panose="02040503050406030204" pitchFamily="18" charset="0"/>
                            </a:rPr>
                            <m:t>𝑥</m:t>
                          </m:r>
                        </m:e>
                      </m:func>
                    </m:oMath>
                  </m:oMathPara>
                </a14:m>
                <a:endParaRPr lang="en-AU" sz="2400" b="0" dirty="0">
                  <a:latin typeface="+mj-lt"/>
                </a:endParaRPr>
              </a:p>
              <a:p>
                <a:pPr/>
                <a14:m>
                  <m:oMathPara xmlns:m="http://schemas.openxmlformats.org/officeDocument/2006/math">
                    <m:oMathParaPr>
                      <m:jc m:val="centerGroup"/>
                    </m:oMathParaPr>
                    <m:oMath xmlns:m="http://schemas.openxmlformats.org/officeDocument/2006/math">
                      <m:r>
                        <a:rPr lang="en-AU" sz="2400" b="0" i="1" smtClean="0">
                          <a:latin typeface="Cambria Math" panose="02040503050406030204" pitchFamily="18" charset="0"/>
                        </a:rPr>
                        <m:t>=2</m:t>
                      </m:r>
                      <m:func>
                        <m:funcPr>
                          <m:ctrlPr>
                            <a:rPr lang="en-AU" sz="2400" b="0" i="1" smtClean="0">
                              <a:latin typeface="Cambria Math" panose="02040503050406030204" pitchFamily="18" charset="0"/>
                            </a:rPr>
                          </m:ctrlPr>
                        </m:funcPr>
                        <m:fName>
                          <m:sSup>
                            <m:sSupPr>
                              <m:ctrlPr>
                                <a:rPr lang="en-AU" sz="2400" b="0" i="1" smtClean="0">
                                  <a:latin typeface="Cambria Math" panose="02040503050406030204" pitchFamily="18" charset="0"/>
                                </a:rPr>
                              </m:ctrlPr>
                            </m:sSupPr>
                            <m:e>
                              <m:r>
                                <m:rPr>
                                  <m:sty m:val="p"/>
                                </m:rPr>
                                <a:rPr lang="en-AU" sz="2400">
                                  <a:latin typeface="Cambria Math" panose="02040503050406030204" pitchFamily="18" charset="0"/>
                                </a:rPr>
                                <m:t>cos</m:t>
                              </m:r>
                            </m:e>
                            <m:sup>
                              <m:r>
                                <a:rPr lang="en-AU" sz="2400" b="0" i="1" smtClean="0">
                                  <a:latin typeface="Cambria Math" panose="02040503050406030204" pitchFamily="18" charset="0"/>
                                </a:rPr>
                                <m:t>2</m:t>
                              </m:r>
                            </m:sup>
                          </m:sSup>
                        </m:fName>
                        <m:e>
                          <m:r>
                            <a:rPr lang="en-AU" sz="2400" b="0" i="1" smtClean="0">
                              <a:latin typeface="Cambria Math" panose="02040503050406030204" pitchFamily="18" charset="0"/>
                            </a:rPr>
                            <m:t>𝑥</m:t>
                          </m:r>
                        </m:e>
                      </m:func>
                      <m:r>
                        <a:rPr lang="en-AU" sz="2400" b="0" i="1" smtClean="0">
                          <a:latin typeface="Cambria Math" panose="02040503050406030204" pitchFamily="18" charset="0"/>
                        </a:rPr>
                        <m:t>−1</m:t>
                      </m:r>
                    </m:oMath>
                  </m:oMathPara>
                </a14:m>
                <a:endParaRPr lang="en-AU" sz="2400" b="0" dirty="0">
                  <a:latin typeface="+mj-lt"/>
                </a:endParaRPr>
              </a:p>
              <a:p>
                <a:pPr/>
                <a14:m>
                  <m:oMathPara xmlns:m="http://schemas.openxmlformats.org/officeDocument/2006/math">
                    <m:oMathParaPr>
                      <m:jc m:val="centerGroup"/>
                    </m:oMathParaPr>
                    <m:oMath xmlns:m="http://schemas.openxmlformats.org/officeDocument/2006/math">
                      <m:r>
                        <a:rPr lang="en-AU" sz="2400" b="0" i="1" smtClean="0">
                          <a:latin typeface="Cambria Math" panose="02040503050406030204" pitchFamily="18" charset="0"/>
                        </a:rPr>
                        <m:t>=1−2</m:t>
                      </m:r>
                      <m:func>
                        <m:funcPr>
                          <m:ctrlPr>
                            <a:rPr lang="en-AU" sz="2400" b="0" i="1" smtClean="0">
                              <a:latin typeface="Cambria Math" panose="02040503050406030204" pitchFamily="18" charset="0"/>
                            </a:rPr>
                          </m:ctrlPr>
                        </m:funcPr>
                        <m:fName>
                          <m:sSup>
                            <m:sSupPr>
                              <m:ctrlPr>
                                <a:rPr lang="en-AU" sz="2400" b="0" i="1" smtClean="0">
                                  <a:latin typeface="Cambria Math" panose="02040503050406030204" pitchFamily="18" charset="0"/>
                                </a:rPr>
                              </m:ctrlPr>
                            </m:sSupPr>
                            <m:e>
                              <m:r>
                                <m:rPr>
                                  <m:sty m:val="p"/>
                                </m:rPr>
                                <a:rPr lang="en-AU" sz="2400">
                                  <a:latin typeface="Cambria Math" panose="02040503050406030204" pitchFamily="18" charset="0"/>
                                </a:rPr>
                                <m:t>sin</m:t>
                              </m:r>
                            </m:e>
                            <m:sup>
                              <m:r>
                                <a:rPr lang="en-AU" sz="2400" b="0" i="1" smtClean="0">
                                  <a:latin typeface="Cambria Math" panose="02040503050406030204" pitchFamily="18" charset="0"/>
                                </a:rPr>
                                <m:t>2</m:t>
                              </m:r>
                            </m:sup>
                          </m:sSup>
                        </m:fName>
                        <m:e>
                          <m:r>
                            <a:rPr lang="en-AU" sz="2400" b="0" i="1" smtClean="0">
                              <a:latin typeface="Cambria Math" panose="02040503050406030204" pitchFamily="18" charset="0"/>
                            </a:rPr>
                            <m:t>𝑥</m:t>
                          </m:r>
                        </m:e>
                      </m:func>
                    </m:oMath>
                  </m:oMathPara>
                </a14:m>
                <a:endParaRPr lang="en-AU" sz="2400" b="0" dirty="0">
                  <a:latin typeface="+mj-lt"/>
                </a:endParaRPr>
              </a:p>
            </p:txBody>
          </p:sp>
        </mc:Choice>
        <mc:Fallback xmlns="">
          <p:sp>
            <p:nvSpPr>
              <p:cNvPr id="12" name="TextBox 11">
                <a:extLst>
                  <a:ext uri="{FF2B5EF4-FFF2-40B4-BE49-F238E27FC236}">
                    <a16:creationId xmlns:a16="http://schemas.microsoft.com/office/drawing/2014/main" id="{7A8650CC-C7D9-4236-8F77-BDB67434CF2E}"/>
                  </a:ext>
                </a:extLst>
              </p:cNvPr>
              <p:cNvSpPr txBox="1">
                <a:spLocks noRot="1" noChangeAspect="1" noMove="1" noResize="1" noEditPoints="1" noAdjustHandles="1" noChangeArrowheads="1" noChangeShapeType="1" noTextEdit="1"/>
              </p:cNvSpPr>
              <p:nvPr/>
            </p:nvSpPr>
            <p:spPr>
              <a:xfrm>
                <a:off x="301020" y="2392792"/>
                <a:ext cx="5047831" cy="3416320"/>
              </a:xfrm>
              <a:prstGeom prst="rect">
                <a:avLst/>
              </a:prstGeom>
              <a:blipFill>
                <a:blip r:embed="rId2"/>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19966044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3661067" cy="523220"/>
          </a:xfrm>
          <a:prstGeom prst="rect">
            <a:avLst/>
          </a:prstGeom>
          <a:noFill/>
        </p:spPr>
        <p:txBody>
          <a:bodyPr wrap="none" rtlCol="0">
            <a:spAutoFit/>
          </a:bodyPr>
          <a:lstStyle/>
          <a:p>
            <a:r>
              <a:rPr lang="en-AU" sz="2800" b="1" cap="small" dirty="0">
                <a:solidFill>
                  <a:schemeClr val="bg1"/>
                </a:solidFill>
                <a:latin typeface="+mj-lt"/>
              </a:rPr>
              <a:t>1.5 Elementary functions</a:t>
            </a:r>
            <a:endParaRPr lang="en-GB" sz="2800" b="1" cap="small" dirty="0">
              <a:solidFill>
                <a:schemeClr val="bg1"/>
              </a:solidFill>
              <a:latin typeface="+mj-lt"/>
            </a:endParaRPr>
          </a:p>
        </p:txBody>
      </p:sp>
      <p:sp>
        <p:nvSpPr>
          <p:cNvPr id="10" name="TextBox 9">
            <a:extLst>
              <a:ext uri="{FF2B5EF4-FFF2-40B4-BE49-F238E27FC236}">
                <a16:creationId xmlns:a16="http://schemas.microsoft.com/office/drawing/2014/main" id="{B7FA0DAD-D0AB-4903-873A-CD36FB0ED036}"/>
              </a:ext>
            </a:extLst>
          </p:cNvPr>
          <p:cNvSpPr txBox="1"/>
          <p:nvPr/>
        </p:nvSpPr>
        <p:spPr>
          <a:xfrm>
            <a:off x="301020" y="1048888"/>
            <a:ext cx="4083362" cy="461665"/>
          </a:xfrm>
          <a:prstGeom prst="rect">
            <a:avLst/>
          </a:prstGeom>
          <a:noFill/>
          <a:ln>
            <a:solidFill>
              <a:schemeClr val="accent2">
                <a:lumMod val="50000"/>
              </a:schemeClr>
            </a:solidFill>
          </a:ln>
        </p:spPr>
        <p:txBody>
          <a:bodyPr wrap="none" rtlCol="0">
            <a:spAutoFit/>
          </a:bodyPr>
          <a:lstStyle/>
          <a:p>
            <a:r>
              <a:rPr lang="en-AU" sz="2400" dirty="0">
                <a:latin typeface="+mj-lt"/>
              </a:rPr>
              <a:t>Inverse Trigonometric functions</a:t>
            </a:r>
            <a:endParaRPr lang="en-GB" sz="2400" dirty="0">
              <a:latin typeface="+mj-lt"/>
            </a:endParaRP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31E77652-8767-4DBA-A5E8-951D152E6136}"/>
                  </a:ext>
                </a:extLst>
              </p:cNvPr>
              <p:cNvSpPr txBox="1"/>
              <p:nvPr/>
            </p:nvSpPr>
            <p:spPr>
              <a:xfrm>
                <a:off x="301020" y="1608739"/>
                <a:ext cx="11801333" cy="4533933"/>
              </a:xfrm>
              <a:prstGeom prst="rect">
                <a:avLst/>
              </a:prstGeom>
              <a:noFill/>
            </p:spPr>
            <p:txBody>
              <a:bodyPr wrap="square" rtlCol="0">
                <a:spAutoFit/>
              </a:bodyPr>
              <a:lstStyle/>
              <a:p>
                <a:r>
                  <a:rPr lang="en-AU" sz="2400" dirty="0">
                    <a:latin typeface="+mj-lt"/>
                  </a:rPr>
                  <a:t>By restricting the sine, cosine and tangent to appropriate domains, these functions can be inverted:</a:t>
                </a:r>
              </a:p>
              <a:p>
                <a:pPr marL="342900" indent="-342900">
                  <a:buFont typeface="Arial" panose="020B0604020202020204" pitchFamily="34" charset="0"/>
                  <a:buChar char="•"/>
                </a:pPr>
                <a14:m>
                  <m:oMath xmlns:m="http://schemas.openxmlformats.org/officeDocument/2006/math">
                    <m:func>
                      <m:funcPr>
                        <m:ctrlPr>
                          <a:rPr lang="en-AU" sz="2400" b="0" i="1" smtClean="0">
                            <a:latin typeface="Cambria Math" panose="02040503050406030204" pitchFamily="18" charset="0"/>
                          </a:rPr>
                        </m:ctrlPr>
                      </m:funcPr>
                      <m:fName>
                        <m:r>
                          <a:rPr lang="en-AU" sz="2400" b="0" i="1" smtClean="0">
                            <a:latin typeface="Cambria Math" panose="02040503050406030204" pitchFamily="18" charset="0"/>
                          </a:rPr>
                          <m:t>𝑦</m:t>
                        </m:r>
                        <m:r>
                          <a:rPr lang="en-AU" sz="2400" b="0" i="1" smtClean="0">
                            <a:latin typeface="Cambria Math" panose="02040503050406030204" pitchFamily="18" charset="0"/>
                          </a:rPr>
                          <m:t>=</m:t>
                        </m:r>
                        <m:sSup>
                          <m:sSupPr>
                            <m:ctrlPr>
                              <a:rPr lang="en-AU" sz="2400" b="0" i="1" smtClean="0">
                                <a:latin typeface="Cambria Math" panose="02040503050406030204" pitchFamily="18" charset="0"/>
                              </a:rPr>
                            </m:ctrlPr>
                          </m:sSupPr>
                          <m:e>
                            <m:r>
                              <m:rPr>
                                <m:sty m:val="p"/>
                              </m:rPr>
                              <a:rPr lang="en-AU" sz="2400">
                                <a:latin typeface="Cambria Math" panose="02040503050406030204" pitchFamily="18" charset="0"/>
                              </a:rPr>
                              <m:t>sin</m:t>
                            </m:r>
                          </m:e>
                          <m:sup>
                            <m:r>
                              <a:rPr lang="en-AU" sz="2400" b="0" i="1" smtClean="0">
                                <a:latin typeface="Cambria Math" panose="02040503050406030204" pitchFamily="18" charset="0"/>
                              </a:rPr>
                              <m:t>−1</m:t>
                            </m:r>
                          </m:sup>
                        </m:sSup>
                      </m:fName>
                      <m:e>
                        <m:r>
                          <a:rPr lang="en-AU" sz="2400" b="0" i="1" smtClean="0">
                            <a:latin typeface="Cambria Math" panose="02040503050406030204" pitchFamily="18" charset="0"/>
                          </a:rPr>
                          <m:t>𝑥</m:t>
                        </m:r>
                      </m:e>
                    </m:func>
                    <m:r>
                      <a:rPr lang="en-AU" sz="2400" b="0" i="1" smtClean="0">
                        <a:latin typeface="Cambria Math" panose="02040503050406030204" pitchFamily="18" charset="0"/>
                      </a:rPr>
                      <m:t>=</m:t>
                    </m:r>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arcsin</m:t>
                        </m:r>
                      </m:fName>
                      <m:e>
                        <m:r>
                          <a:rPr lang="en-AU" sz="2400" b="0" i="1" smtClean="0">
                            <a:latin typeface="Cambria Math" panose="02040503050406030204" pitchFamily="18" charset="0"/>
                          </a:rPr>
                          <m:t>𝑥</m:t>
                        </m:r>
                      </m:e>
                    </m:func>
                  </m:oMath>
                </a14:m>
                <a:r>
                  <a:rPr lang="en-AU" sz="2400" dirty="0">
                    <a:latin typeface="+mj-lt"/>
                  </a:rPr>
                  <a:t>	,   </a:t>
                </a:r>
                <a14:m>
                  <m:oMath xmlns:m="http://schemas.openxmlformats.org/officeDocument/2006/math">
                    <m:r>
                      <m:rPr>
                        <m:sty m:val="p"/>
                      </m:rPr>
                      <a:rPr lang="en-AU" sz="2400" b="0" i="0" smtClean="0">
                        <a:latin typeface="Cambria Math" panose="02040503050406030204" pitchFamily="18" charset="0"/>
                      </a:rPr>
                      <m:t>dom</m:t>
                    </m:r>
                    <m:d>
                      <m:dPr>
                        <m:ctrlPr>
                          <a:rPr lang="en-AU" sz="2400" b="0" i="1" smtClean="0">
                            <a:latin typeface="Cambria Math" panose="02040503050406030204" pitchFamily="18" charset="0"/>
                          </a:rPr>
                        </m:ctrlPr>
                      </m:dPr>
                      <m:e>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arcsin</m:t>
                            </m:r>
                          </m:fName>
                          <m:e>
                            <m:r>
                              <a:rPr lang="en-AU" sz="2400" b="0" i="1" smtClean="0">
                                <a:latin typeface="Cambria Math" panose="02040503050406030204" pitchFamily="18" charset="0"/>
                              </a:rPr>
                              <m:t>𝑥</m:t>
                            </m:r>
                          </m:e>
                        </m:func>
                      </m:e>
                    </m:d>
                    <m:r>
                      <a:rPr lang="en-AU" sz="2400" b="0" i="1" smtClean="0">
                        <a:latin typeface="Cambria Math" panose="02040503050406030204" pitchFamily="18" charset="0"/>
                      </a:rPr>
                      <m:t>=</m:t>
                    </m:r>
                    <m:d>
                      <m:dPr>
                        <m:begChr m:val="["/>
                        <m:endChr m:val="]"/>
                        <m:ctrlPr>
                          <a:rPr lang="en-AU" sz="2400" b="0" i="1" smtClean="0">
                            <a:latin typeface="Cambria Math" panose="02040503050406030204" pitchFamily="18" charset="0"/>
                          </a:rPr>
                        </m:ctrlPr>
                      </m:dPr>
                      <m:e>
                        <m:r>
                          <a:rPr lang="en-AU" sz="2400" b="0" i="1" smtClean="0">
                            <a:latin typeface="Cambria Math" panose="02040503050406030204" pitchFamily="18" charset="0"/>
                          </a:rPr>
                          <m:t>−1,1</m:t>
                        </m:r>
                      </m:e>
                    </m:d>
                    <m:r>
                      <a:rPr lang="en-AU" sz="2400" b="0" i="1" smtClean="0">
                        <a:latin typeface="Cambria Math" panose="02040503050406030204" pitchFamily="18" charset="0"/>
                      </a:rPr>
                      <m:t>, </m:t>
                    </m:r>
                    <m:r>
                      <m:rPr>
                        <m:sty m:val="p"/>
                      </m:rPr>
                      <a:rPr lang="en-AU" sz="2400" b="0" i="0" smtClean="0">
                        <a:latin typeface="Cambria Math" panose="02040503050406030204" pitchFamily="18" charset="0"/>
                      </a:rPr>
                      <m:t>ran</m:t>
                    </m:r>
                    <m:d>
                      <m:dPr>
                        <m:ctrlPr>
                          <a:rPr lang="en-AU" sz="2400" b="0" i="1" smtClean="0">
                            <a:latin typeface="Cambria Math" panose="02040503050406030204" pitchFamily="18" charset="0"/>
                          </a:rPr>
                        </m:ctrlPr>
                      </m:dPr>
                      <m:e>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arcsin</m:t>
                            </m:r>
                          </m:fName>
                          <m:e>
                            <m:r>
                              <a:rPr lang="en-AU" sz="2400" b="0" i="1" smtClean="0">
                                <a:latin typeface="Cambria Math" panose="02040503050406030204" pitchFamily="18" charset="0"/>
                              </a:rPr>
                              <m:t>𝑥</m:t>
                            </m:r>
                          </m:e>
                        </m:func>
                      </m:e>
                    </m:d>
                    <m:r>
                      <a:rPr lang="en-AU" sz="2400" b="0" i="1" smtClean="0">
                        <a:latin typeface="Cambria Math" panose="02040503050406030204" pitchFamily="18" charset="0"/>
                      </a:rPr>
                      <m:t>=</m:t>
                    </m:r>
                    <m:d>
                      <m:dPr>
                        <m:begChr m:val="["/>
                        <m:endChr m:val="]"/>
                        <m:ctrlPr>
                          <a:rPr lang="en-AU" sz="2400" b="0" i="1" smtClean="0">
                            <a:latin typeface="Cambria Math" panose="02040503050406030204" pitchFamily="18" charset="0"/>
                          </a:rPr>
                        </m:ctrlPr>
                      </m:dPr>
                      <m:e>
                        <m:r>
                          <a:rPr lang="en-AU" sz="2400" b="0" i="1" smtClean="0">
                            <a:latin typeface="Cambria Math" panose="02040503050406030204" pitchFamily="18" charset="0"/>
                          </a:rPr>
                          <m:t>−</m:t>
                        </m:r>
                        <m:f>
                          <m:fPr>
                            <m:ctrlPr>
                              <a:rPr lang="en-AU" sz="2400" b="0" i="1" smtClean="0">
                                <a:latin typeface="Cambria Math" panose="02040503050406030204" pitchFamily="18" charset="0"/>
                                <a:ea typeface="Cambria Math" panose="02040503050406030204" pitchFamily="18" charset="0"/>
                              </a:rPr>
                            </m:ctrlPr>
                          </m:fPr>
                          <m:num>
                            <m:r>
                              <a:rPr lang="en-AU" sz="2400" b="0" i="1" smtClean="0">
                                <a:latin typeface="Cambria Math" panose="02040503050406030204" pitchFamily="18" charset="0"/>
                                <a:ea typeface="Cambria Math" panose="02040503050406030204" pitchFamily="18" charset="0"/>
                              </a:rPr>
                              <m:t>𝜋</m:t>
                            </m:r>
                          </m:num>
                          <m:den>
                            <m:r>
                              <a:rPr lang="en-AU" sz="2400" b="0" i="1" smtClean="0">
                                <a:latin typeface="Cambria Math" panose="02040503050406030204" pitchFamily="18" charset="0"/>
                                <a:ea typeface="Cambria Math" panose="02040503050406030204" pitchFamily="18" charset="0"/>
                              </a:rPr>
                              <m:t>2</m:t>
                            </m:r>
                          </m:den>
                        </m:f>
                        <m:r>
                          <a:rPr lang="en-AU" sz="2400" b="0" i="1" smtClean="0">
                            <a:latin typeface="Cambria Math" panose="02040503050406030204" pitchFamily="18" charset="0"/>
                            <a:ea typeface="Cambria Math" panose="02040503050406030204" pitchFamily="18" charset="0"/>
                          </a:rPr>
                          <m:t>,</m:t>
                        </m:r>
                        <m:f>
                          <m:fPr>
                            <m:ctrlPr>
                              <a:rPr lang="en-AU" sz="2400" b="0" i="1" smtClean="0">
                                <a:latin typeface="Cambria Math" panose="02040503050406030204" pitchFamily="18" charset="0"/>
                                <a:ea typeface="Cambria Math" panose="02040503050406030204" pitchFamily="18" charset="0"/>
                              </a:rPr>
                            </m:ctrlPr>
                          </m:fPr>
                          <m:num>
                            <m:r>
                              <a:rPr lang="en-AU" sz="2400" b="0" i="1" smtClean="0">
                                <a:latin typeface="Cambria Math" panose="02040503050406030204" pitchFamily="18" charset="0"/>
                                <a:ea typeface="Cambria Math" panose="02040503050406030204" pitchFamily="18" charset="0"/>
                              </a:rPr>
                              <m:t>𝜋</m:t>
                            </m:r>
                          </m:num>
                          <m:den>
                            <m:r>
                              <a:rPr lang="en-AU" sz="2400" b="0" i="1" smtClean="0">
                                <a:latin typeface="Cambria Math" panose="02040503050406030204" pitchFamily="18" charset="0"/>
                                <a:ea typeface="Cambria Math" panose="02040503050406030204" pitchFamily="18" charset="0"/>
                              </a:rPr>
                              <m:t>2</m:t>
                            </m:r>
                          </m:den>
                        </m:f>
                      </m:e>
                    </m:d>
                  </m:oMath>
                </a14:m>
                <a:r>
                  <a:rPr lang="en-AU" sz="2400" dirty="0">
                    <a:latin typeface="+mj-lt"/>
                  </a:rPr>
                  <a:t>. It is read “the arc (or angle) whose sine is </a:t>
                </a:r>
                <a14:m>
                  <m:oMath xmlns:m="http://schemas.openxmlformats.org/officeDocument/2006/math">
                    <m:r>
                      <a:rPr lang="en-AU" sz="2400" b="0" i="1" smtClean="0">
                        <a:latin typeface="Cambria Math" panose="02040503050406030204" pitchFamily="18" charset="0"/>
                      </a:rPr>
                      <m:t>𝑥</m:t>
                    </m:r>
                  </m:oMath>
                </a14:m>
                <a:r>
                  <a:rPr lang="en-AU" sz="2400" dirty="0">
                    <a:latin typeface="+mj-lt"/>
                  </a:rPr>
                  <a:t>” (in the range of the function).</a:t>
                </a:r>
              </a:p>
              <a:p>
                <a:pPr marL="342900" indent="-342900">
                  <a:buFont typeface="Arial" panose="020B0604020202020204" pitchFamily="34" charset="0"/>
                  <a:buChar char="•"/>
                </a:pPr>
                <a:endParaRPr lang="en-AU" sz="2400" dirty="0">
                  <a:latin typeface="+mj-lt"/>
                </a:endParaRPr>
              </a:p>
              <a:p>
                <a:pPr algn="ctr"/>
                <a:r>
                  <a:rPr lang="en-AU" sz="2400" dirty="0">
                    <a:latin typeface="+mj-lt"/>
                  </a:rPr>
                  <a:t>Find </a:t>
                </a:r>
                <a14:m>
                  <m:oMath xmlns:m="http://schemas.openxmlformats.org/officeDocument/2006/math">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arcsin</m:t>
                        </m:r>
                      </m:fName>
                      <m:e>
                        <m:d>
                          <m:dPr>
                            <m:ctrlPr>
                              <a:rPr lang="en-AU" sz="2400" b="0" i="1" smtClean="0">
                                <a:latin typeface="Cambria Math" panose="02040503050406030204" pitchFamily="18" charset="0"/>
                              </a:rPr>
                            </m:ctrlPr>
                          </m:dPr>
                          <m:e>
                            <m:r>
                              <a:rPr lang="en-AU" sz="2400" i="1">
                                <a:latin typeface="Cambria Math" panose="02040503050406030204" pitchFamily="18" charset="0"/>
                              </a:rPr>
                              <m:t>−</m:t>
                            </m:r>
                            <m:f>
                              <m:fPr>
                                <m:ctrlPr>
                                  <a:rPr lang="en-AU" sz="2400" i="1">
                                    <a:latin typeface="Cambria Math" panose="02040503050406030204" pitchFamily="18" charset="0"/>
                                  </a:rPr>
                                </m:ctrlPr>
                              </m:fPr>
                              <m:num>
                                <m:rad>
                                  <m:radPr>
                                    <m:degHide m:val="on"/>
                                    <m:ctrlPr>
                                      <a:rPr lang="en-AU" sz="2400" i="1">
                                        <a:latin typeface="Cambria Math" panose="02040503050406030204" pitchFamily="18" charset="0"/>
                                      </a:rPr>
                                    </m:ctrlPr>
                                  </m:radPr>
                                  <m:deg/>
                                  <m:e>
                                    <m:r>
                                      <a:rPr lang="en-AU" sz="2400" i="1">
                                        <a:latin typeface="Cambria Math" panose="02040503050406030204" pitchFamily="18" charset="0"/>
                                      </a:rPr>
                                      <m:t>3</m:t>
                                    </m:r>
                                  </m:e>
                                </m:rad>
                              </m:num>
                              <m:den>
                                <m:r>
                                  <a:rPr lang="en-AU" sz="2400" i="1">
                                    <a:latin typeface="Cambria Math" panose="02040503050406030204" pitchFamily="18" charset="0"/>
                                  </a:rPr>
                                  <m:t>2</m:t>
                                </m:r>
                              </m:den>
                            </m:f>
                          </m:e>
                        </m:d>
                      </m:e>
                    </m:func>
                  </m:oMath>
                </a14:m>
                <a:r>
                  <a:rPr lang="en-AU" sz="2400" dirty="0">
                    <a:latin typeface="+mj-lt"/>
                  </a:rPr>
                  <a:t>, </a:t>
                </a:r>
                <a14:m>
                  <m:oMath xmlns:m="http://schemas.openxmlformats.org/officeDocument/2006/math">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arcsin</m:t>
                        </m:r>
                      </m:fName>
                      <m:e>
                        <m:d>
                          <m:dPr>
                            <m:ctrlPr>
                              <a:rPr lang="en-AU" sz="2400" b="0" i="1" smtClean="0">
                                <a:latin typeface="Cambria Math" panose="02040503050406030204" pitchFamily="18" charset="0"/>
                              </a:rPr>
                            </m:ctrlPr>
                          </m:dPr>
                          <m:e>
                            <m:f>
                              <m:fPr>
                                <m:ctrlPr>
                                  <a:rPr lang="en-AU" sz="2400" b="0" i="1" smtClean="0">
                                    <a:latin typeface="Cambria Math" panose="02040503050406030204" pitchFamily="18" charset="0"/>
                                  </a:rPr>
                                </m:ctrlPr>
                              </m:fPr>
                              <m:num>
                                <m:r>
                                  <a:rPr lang="en-AU" sz="2400" b="0" i="1" smtClean="0">
                                    <a:latin typeface="Cambria Math" panose="02040503050406030204" pitchFamily="18" charset="0"/>
                                  </a:rPr>
                                  <m:t>1</m:t>
                                </m:r>
                              </m:num>
                              <m:den>
                                <m:r>
                                  <a:rPr lang="en-AU" sz="2400" b="0" i="1" smtClean="0">
                                    <a:latin typeface="Cambria Math" panose="02040503050406030204" pitchFamily="18" charset="0"/>
                                  </a:rPr>
                                  <m:t>2</m:t>
                                </m:r>
                              </m:den>
                            </m:f>
                          </m:e>
                        </m:d>
                      </m:e>
                    </m:func>
                  </m:oMath>
                </a14:m>
                <a:r>
                  <a:rPr lang="en-AU" sz="2400" dirty="0">
                    <a:latin typeface="+mj-lt"/>
                  </a:rPr>
                  <a:t>, </a:t>
                </a:r>
                <a14:m>
                  <m:oMath xmlns:m="http://schemas.openxmlformats.org/officeDocument/2006/math">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arcsin</m:t>
                        </m:r>
                      </m:fName>
                      <m:e>
                        <m:d>
                          <m:dPr>
                            <m:ctrlPr>
                              <a:rPr lang="en-AU" sz="2400" b="0" i="1" smtClean="0">
                                <a:latin typeface="Cambria Math" panose="02040503050406030204" pitchFamily="18" charset="0"/>
                              </a:rPr>
                            </m:ctrlPr>
                          </m:dPr>
                          <m:e>
                            <m:r>
                              <a:rPr lang="en-AU" sz="2400" b="0" i="1" smtClean="0">
                                <a:latin typeface="Cambria Math" panose="02040503050406030204" pitchFamily="18" charset="0"/>
                              </a:rPr>
                              <m:t>−</m:t>
                            </m:r>
                            <m:f>
                              <m:fPr>
                                <m:ctrlPr>
                                  <a:rPr lang="en-AU" sz="2400" b="0" i="1" smtClean="0">
                                    <a:latin typeface="Cambria Math" panose="02040503050406030204" pitchFamily="18" charset="0"/>
                                  </a:rPr>
                                </m:ctrlPr>
                              </m:fPr>
                              <m:num>
                                <m:rad>
                                  <m:radPr>
                                    <m:degHide m:val="on"/>
                                    <m:ctrlPr>
                                      <a:rPr lang="en-AU" sz="2400" b="0" i="1" smtClean="0">
                                        <a:latin typeface="Cambria Math" panose="02040503050406030204" pitchFamily="18" charset="0"/>
                                      </a:rPr>
                                    </m:ctrlPr>
                                  </m:radPr>
                                  <m:deg/>
                                  <m:e>
                                    <m:r>
                                      <a:rPr lang="en-AU" sz="2400" b="0" i="1" smtClean="0">
                                        <a:latin typeface="Cambria Math" panose="02040503050406030204" pitchFamily="18" charset="0"/>
                                      </a:rPr>
                                      <m:t>2</m:t>
                                    </m:r>
                                  </m:e>
                                </m:rad>
                              </m:num>
                              <m:den>
                                <m:r>
                                  <a:rPr lang="en-AU" sz="2400" b="0" i="1" smtClean="0">
                                    <a:latin typeface="Cambria Math" panose="02040503050406030204" pitchFamily="18" charset="0"/>
                                  </a:rPr>
                                  <m:t>2</m:t>
                                </m:r>
                              </m:den>
                            </m:f>
                          </m:e>
                        </m:d>
                      </m:e>
                    </m:func>
                  </m:oMath>
                </a14:m>
                <a:endParaRPr lang="en-AU" sz="2400" dirty="0">
                  <a:latin typeface="+mj-lt"/>
                </a:endParaRPr>
              </a:p>
              <a:p>
                <a:pPr marL="342900" indent="-342900">
                  <a:buFont typeface="Arial" panose="020B0604020202020204" pitchFamily="34" charset="0"/>
                  <a:buChar char="•"/>
                </a:pPr>
                <a:endParaRPr lang="en-AU" sz="2400" b="0" i="1" dirty="0">
                  <a:latin typeface="Cambria Math" panose="02040503050406030204" pitchFamily="18" charset="0"/>
                </a:endParaRPr>
              </a:p>
              <a:p>
                <a:pPr marL="342900" indent="-342900">
                  <a:buFont typeface="Arial" panose="020B0604020202020204" pitchFamily="34" charset="0"/>
                  <a:buChar char="•"/>
                </a:pPr>
                <a14:m>
                  <m:oMath xmlns:m="http://schemas.openxmlformats.org/officeDocument/2006/math">
                    <m:r>
                      <a:rPr lang="en-AU" sz="2400" b="0" i="1" smtClean="0">
                        <a:latin typeface="Cambria Math" panose="02040503050406030204" pitchFamily="18" charset="0"/>
                      </a:rPr>
                      <m:t>𝑦</m:t>
                    </m:r>
                    <m:r>
                      <a:rPr lang="en-AU" sz="2400" b="0" i="1" smtClean="0">
                        <a:latin typeface="Cambria Math" panose="02040503050406030204" pitchFamily="18" charset="0"/>
                      </a:rPr>
                      <m:t>=</m:t>
                    </m:r>
                    <m:func>
                      <m:funcPr>
                        <m:ctrlPr>
                          <a:rPr lang="en-AU" sz="2400" b="0" i="1" smtClean="0">
                            <a:latin typeface="Cambria Math" panose="02040503050406030204" pitchFamily="18" charset="0"/>
                          </a:rPr>
                        </m:ctrlPr>
                      </m:funcPr>
                      <m:fName>
                        <m:sSup>
                          <m:sSupPr>
                            <m:ctrlPr>
                              <a:rPr lang="en-AU" sz="2400" b="0" i="1" smtClean="0">
                                <a:latin typeface="Cambria Math" panose="02040503050406030204" pitchFamily="18" charset="0"/>
                              </a:rPr>
                            </m:ctrlPr>
                          </m:sSupPr>
                          <m:e>
                            <m:r>
                              <m:rPr>
                                <m:sty m:val="p"/>
                              </m:rPr>
                              <a:rPr lang="en-AU" sz="2400">
                                <a:latin typeface="Cambria Math" panose="02040503050406030204" pitchFamily="18" charset="0"/>
                              </a:rPr>
                              <m:t>cos</m:t>
                            </m:r>
                          </m:e>
                          <m:sup>
                            <m:r>
                              <a:rPr lang="en-AU" sz="2400" b="0" i="1" smtClean="0">
                                <a:latin typeface="Cambria Math" panose="02040503050406030204" pitchFamily="18" charset="0"/>
                              </a:rPr>
                              <m:t>−1</m:t>
                            </m:r>
                          </m:sup>
                        </m:sSup>
                      </m:fName>
                      <m:e>
                        <m:r>
                          <a:rPr lang="en-AU" sz="2400" b="0" i="1" smtClean="0">
                            <a:latin typeface="Cambria Math" panose="02040503050406030204" pitchFamily="18" charset="0"/>
                          </a:rPr>
                          <m:t>𝑥</m:t>
                        </m:r>
                      </m:e>
                    </m:func>
                    <m:r>
                      <a:rPr lang="en-AU" sz="2400" b="0" i="1" smtClean="0">
                        <a:latin typeface="Cambria Math" panose="02040503050406030204" pitchFamily="18" charset="0"/>
                      </a:rPr>
                      <m:t>=</m:t>
                    </m:r>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arccos</m:t>
                        </m:r>
                      </m:fName>
                      <m:e>
                        <m:r>
                          <a:rPr lang="en-AU" sz="2400" b="0" i="1" smtClean="0">
                            <a:latin typeface="Cambria Math" panose="02040503050406030204" pitchFamily="18" charset="0"/>
                          </a:rPr>
                          <m:t>𝑥</m:t>
                        </m:r>
                      </m:e>
                    </m:func>
                  </m:oMath>
                </a14:m>
                <a:r>
                  <a:rPr lang="en-AU" sz="2400" dirty="0">
                    <a:latin typeface="+mj-lt"/>
                  </a:rPr>
                  <a:t>     ,    </a:t>
                </a:r>
                <a14:m>
                  <m:oMath xmlns:m="http://schemas.openxmlformats.org/officeDocument/2006/math">
                    <m:r>
                      <a:rPr lang="en-AU" sz="2400" b="0" i="1" smtClean="0">
                        <a:latin typeface="Cambria Math" panose="02040503050406030204" pitchFamily="18" charset="0"/>
                      </a:rPr>
                      <m:t>𝑑𝑜𝑚</m:t>
                    </m:r>
                    <m:d>
                      <m:dPr>
                        <m:ctrlPr>
                          <a:rPr lang="en-AU" sz="2400" b="0" i="1" smtClean="0">
                            <a:latin typeface="Cambria Math" panose="02040503050406030204" pitchFamily="18" charset="0"/>
                          </a:rPr>
                        </m:ctrlPr>
                      </m:dPr>
                      <m:e>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arccos</m:t>
                            </m:r>
                          </m:fName>
                          <m:e>
                            <m:r>
                              <a:rPr lang="en-AU" sz="2400" b="0" i="1" smtClean="0">
                                <a:latin typeface="Cambria Math" panose="02040503050406030204" pitchFamily="18" charset="0"/>
                              </a:rPr>
                              <m:t>𝑥</m:t>
                            </m:r>
                          </m:e>
                        </m:func>
                      </m:e>
                    </m:d>
                    <m:r>
                      <a:rPr lang="en-AU" sz="2400" b="0" i="1" smtClean="0">
                        <a:latin typeface="Cambria Math" panose="02040503050406030204" pitchFamily="18" charset="0"/>
                      </a:rPr>
                      <m:t>=</m:t>
                    </m:r>
                    <m:d>
                      <m:dPr>
                        <m:begChr m:val="["/>
                        <m:endChr m:val="]"/>
                        <m:ctrlPr>
                          <a:rPr lang="en-AU" sz="2400" b="0" i="1" smtClean="0">
                            <a:latin typeface="Cambria Math" panose="02040503050406030204" pitchFamily="18" charset="0"/>
                          </a:rPr>
                        </m:ctrlPr>
                      </m:dPr>
                      <m:e>
                        <m:r>
                          <a:rPr lang="en-AU" sz="2400" b="0" i="1" smtClean="0">
                            <a:latin typeface="Cambria Math" panose="02040503050406030204" pitchFamily="18" charset="0"/>
                          </a:rPr>
                          <m:t>−1,1</m:t>
                        </m:r>
                      </m:e>
                    </m:d>
                    <m:r>
                      <a:rPr lang="en-AU" sz="2400" b="0" i="1" smtClean="0">
                        <a:latin typeface="Cambria Math" panose="02040503050406030204" pitchFamily="18" charset="0"/>
                      </a:rPr>
                      <m:t>, </m:t>
                    </m:r>
                    <m:r>
                      <a:rPr lang="en-AU" sz="2400" b="0" i="1" smtClean="0">
                        <a:latin typeface="Cambria Math" panose="02040503050406030204" pitchFamily="18" charset="0"/>
                      </a:rPr>
                      <m:t>𝑟𝑎𝑛</m:t>
                    </m:r>
                    <m:d>
                      <m:dPr>
                        <m:ctrlPr>
                          <a:rPr lang="en-AU" sz="2400" b="0" i="1" smtClean="0">
                            <a:latin typeface="Cambria Math" panose="02040503050406030204" pitchFamily="18" charset="0"/>
                          </a:rPr>
                        </m:ctrlPr>
                      </m:dPr>
                      <m:e>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arccos</m:t>
                            </m:r>
                          </m:fName>
                          <m:e>
                            <m:r>
                              <a:rPr lang="en-AU" sz="2400" b="0" i="1" smtClean="0">
                                <a:latin typeface="Cambria Math" panose="02040503050406030204" pitchFamily="18" charset="0"/>
                              </a:rPr>
                              <m:t>𝑥</m:t>
                            </m:r>
                          </m:e>
                        </m:func>
                      </m:e>
                    </m:d>
                    <m:r>
                      <a:rPr lang="en-AU" sz="2400" b="0" i="1" smtClean="0">
                        <a:latin typeface="Cambria Math" panose="02040503050406030204" pitchFamily="18" charset="0"/>
                      </a:rPr>
                      <m:t>=[0,</m:t>
                    </m:r>
                    <m:r>
                      <a:rPr lang="en-AU" sz="2400" b="0" i="1" smtClean="0">
                        <a:latin typeface="Cambria Math" panose="02040503050406030204" pitchFamily="18" charset="0"/>
                        <a:ea typeface="Cambria Math" panose="02040503050406030204" pitchFamily="18" charset="0"/>
                      </a:rPr>
                      <m:t>𝜋</m:t>
                    </m:r>
                    <m:r>
                      <a:rPr lang="en-AU" sz="2400" b="0" i="1" smtClean="0">
                        <a:latin typeface="Cambria Math" panose="02040503050406030204" pitchFamily="18" charset="0"/>
                        <a:ea typeface="Cambria Math" panose="02040503050406030204" pitchFamily="18" charset="0"/>
                      </a:rPr>
                      <m:t>]</m:t>
                    </m:r>
                  </m:oMath>
                </a14:m>
                <a:endParaRPr lang="en-AU" sz="2400" dirty="0">
                  <a:latin typeface="+mj-lt"/>
                </a:endParaRPr>
              </a:p>
              <a:p>
                <a:pPr algn="ctr"/>
                <a:endParaRPr lang="en-AU" sz="2400" dirty="0">
                  <a:latin typeface="+mj-lt"/>
                </a:endParaRPr>
              </a:p>
              <a:p>
                <a:pPr algn="ctr"/>
                <a:r>
                  <a:rPr lang="en-AU" sz="2400" dirty="0"/>
                  <a:t>Find </a:t>
                </a:r>
                <a14:m>
                  <m:oMath xmlns:m="http://schemas.openxmlformats.org/officeDocument/2006/math">
                    <m:func>
                      <m:funcPr>
                        <m:ctrlPr>
                          <a:rPr lang="en-AU" sz="2400" i="1">
                            <a:latin typeface="Cambria Math" panose="02040503050406030204" pitchFamily="18" charset="0"/>
                          </a:rPr>
                        </m:ctrlPr>
                      </m:funcPr>
                      <m:fName>
                        <m:r>
                          <m:rPr>
                            <m:sty m:val="p"/>
                          </m:rPr>
                          <a:rPr lang="en-AU" sz="2400">
                            <a:latin typeface="Cambria Math" panose="02040503050406030204" pitchFamily="18" charset="0"/>
                          </a:rPr>
                          <m:t>arc</m:t>
                        </m:r>
                        <m:r>
                          <m:rPr>
                            <m:sty m:val="p"/>
                          </m:rPr>
                          <a:rPr lang="en-AU" sz="2400" b="0" i="0" smtClean="0">
                            <a:latin typeface="Cambria Math" panose="02040503050406030204" pitchFamily="18" charset="0"/>
                          </a:rPr>
                          <m:t>cos</m:t>
                        </m:r>
                      </m:fName>
                      <m:e>
                        <m:d>
                          <m:dPr>
                            <m:ctrlPr>
                              <a:rPr lang="en-AU" sz="2400" i="1">
                                <a:latin typeface="Cambria Math" panose="02040503050406030204" pitchFamily="18" charset="0"/>
                              </a:rPr>
                            </m:ctrlPr>
                          </m:dPr>
                          <m:e>
                            <m:r>
                              <a:rPr lang="en-AU" sz="2400" i="1">
                                <a:latin typeface="Cambria Math" panose="02040503050406030204" pitchFamily="18" charset="0"/>
                              </a:rPr>
                              <m:t>−</m:t>
                            </m:r>
                            <m:f>
                              <m:fPr>
                                <m:ctrlPr>
                                  <a:rPr lang="en-AU" sz="2400" i="1">
                                    <a:latin typeface="Cambria Math" panose="02040503050406030204" pitchFamily="18" charset="0"/>
                                  </a:rPr>
                                </m:ctrlPr>
                              </m:fPr>
                              <m:num>
                                <m:rad>
                                  <m:radPr>
                                    <m:degHide m:val="on"/>
                                    <m:ctrlPr>
                                      <a:rPr lang="en-AU" sz="2400" i="1">
                                        <a:latin typeface="Cambria Math" panose="02040503050406030204" pitchFamily="18" charset="0"/>
                                      </a:rPr>
                                    </m:ctrlPr>
                                  </m:radPr>
                                  <m:deg/>
                                  <m:e>
                                    <m:r>
                                      <a:rPr lang="en-AU" sz="2400" i="1">
                                        <a:latin typeface="Cambria Math" panose="02040503050406030204" pitchFamily="18" charset="0"/>
                                      </a:rPr>
                                      <m:t>3</m:t>
                                    </m:r>
                                  </m:e>
                                </m:rad>
                              </m:num>
                              <m:den>
                                <m:r>
                                  <a:rPr lang="en-AU" sz="2400" i="1">
                                    <a:latin typeface="Cambria Math" panose="02040503050406030204" pitchFamily="18" charset="0"/>
                                  </a:rPr>
                                  <m:t>2</m:t>
                                </m:r>
                              </m:den>
                            </m:f>
                          </m:e>
                        </m:d>
                      </m:e>
                    </m:func>
                  </m:oMath>
                </a14:m>
                <a:r>
                  <a:rPr lang="en-AU" sz="2400" dirty="0"/>
                  <a:t>, </a:t>
                </a:r>
                <a14:m>
                  <m:oMath xmlns:m="http://schemas.openxmlformats.org/officeDocument/2006/math">
                    <m:func>
                      <m:funcPr>
                        <m:ctrlPr>
                          <a:rPr lang="en-AU" sz="2400" i="1">
                            <a:latin typeface="Cambria Math" panose="02040503050406030204" pitchFamily="18" charset="0"/>
                          </a:rPr>
                        </m:ctrlPr>
                      </m:funcPr>
                      <m:fName>
                        <m:r>
                          <m:rPr>
                            <m:sty m:val="p"/>
                          </m:rPr>
                          <a:rPr lang="en-AU" sz="2400">
                            <a:latin typeface="Cambria Math" panose="02040503050406030204" pitchFamily="18" charset="0"/>
                          </a:rPr>
                          <m:t>arc</m:t>
                        </m:r>
                        <m:r>
                          <m:rPr>
                            <m:sty m:val="p"/>
                          </m:rPr>
                          <a:rPr lang="en-AU" sz="2400" b="0" i="0" smtClean="0">
                            <a:latin typeface="Cambria Math" panose="02040503050406030204" pitchFamily="18" charset="0"/>
                          </a:rPr>
                          <m:t>cos</m:t>
                        </m:r>
                      </m:fName>
                      <m:e>
                        <m:d>
                          <m:dPr>
                            <m:ctrlPr>
                              <a:rPr lang="en-AU" sz="2400" i="1">
                                <a:latin typeface="Cambria Math" panose="02040503050406030204" pitchFamily="18" charset="0"/>
                              </a:rPr>
                            </m:ctrlPr>
                          </m:dPr>
                          <m:e>
                            <m:f>
                              <m:fPr>
                                <m:ctrlPr>
                                  <a:rPr lang="en-AU" sz="2400" i="1">
                                    <a:latin typeface="Cambria Math" panose="02040503050406030204" pitchFamily="18" charset="0"/>
                                  </a:rPr>
                                </m:ctrlPr>
                              </m:fPr>
                              <m:num>
                                <m:r>
                                  <a:rPr lang="en-AU" sz="2400" i="1">
                                    <a:latin typeface="Cambria Math" panose="02040503050406030204" pitchFamily="18" charset="0"/>
                                  </a:rPr>
                                  <m:t>1</m:t>
                                </m:r>
                              </m:num>
                              <m:den>
                                <m:r>
                                  <a:rPr lang="en-AU" sz="2400" i="1">
                                    <a:latin typeface="Cambria Math" panose="02040503050406030204" pitchFamily="18" charset="0"/>
                                  </a:rPr>
                                  <m:t>2</m:t>
                                </m:r>
                              </m:den>
                            </m:f>
                          </m:e>
                        </m:d>
                      </m:e>
                    </m:func>
                  </m:oMath>
                </a14:m>
                <a:r>
                  <a:rPr lang="en-AU" sz="2400" dirty="0"/>
                  <a:t>, </a:t>
                </a:r>
                <a14:m>
                  <m:oMath xmlns:m="http://schemas.openxmlformats.org/officeDocument/2006/math">
                    <m:func>
                      <m:funcPr>
                        <m:ctrlPr>
                          <a:rPr lang="en-AU" sz="2400" i="1">
                            <a:latin typeface="Cambria Math" panose="02040503050406030204" pitchFamily="18" charset="0"/>
                          </a:rPr>
                        </m:ctrlPr>
                      </m:funcPr>
                      <m:fName>
                        <m:r>
                          <m:rPr>
                            <m:sty m:val="p"/>
                          </m:rPr>
                          <a:rPr lang="en-AU" sz="2400">
                            <a:latin typeface="Cambria Math" panose="02040503050406030204" pitchFamily="18" charset="0"/>
                          </a:rPr>
                          <m:t>arc</m:t>
                        </m:r>
                        <m:r>
                          <m:rPr>
                            <m:sty m:val="p"/>
                          </m:rPr>
                          <a:rPr lang="en-AU" sz="2400" b="0" i="0" smtClean="0">
                            <a:latin typeface="Cambria Math" panose="02040503050406030204" pitchFamily="18" charset="0"/>
                          </a:rPr>
                          <m:t>cos</m:t>
                        </m:r>
                      </m:fName>
                      <m:e>
                        <m:d>
                          <m:dPr>
                            <m:ctrlPr>
                              <a:rPr lang="en-AU" sz="2400" i="1">
                                <a:latin typeface="Cambria Math" panose="02040503050406030204" pitchFamily="18" charset="0"/>
                              </a:rPr>
                            </m:ctrlPr>
                          </m:dPr>
                          <m:e>
                            <m:r>
                              <a:rPr lang="en-AU" sz="2400" i="1">
                                <a:latin typeface="Cambria Math" panose="02040503050406030204" pitchFamily="18" charset="0"/>
                              </a:rPr>
                              <m:t>−</m:t>
                            </m:r>
                            <m:f>
                              <m:fPr>
                                <m:ctrlPr>
                                  <a:rPr lang="en-AU" sz="2400" i="1">
                                    <a:latin typeface="Cambria Math" panose="02040503050406030204" pitchFamily="18" charset="0"/>
                                  </a:rPr>
                                </m:ctrlPr>
                              </m:fPr>
                              <m:num>
                                <m:rad>
                                  <m:radPr>
                                    <m:degHide m:val="on"/>
                                    <m:ctrlPr>
                                      <a:rPr lang="en-AU" sz="2400" i="1">
                                        <a:latin typeface="Cambria Math" panose="02040503050406030204" pitchFamily="18" charset="0"/>
                                      </a:rPr>
                                    </m:ctrlPr>
                                  </m:radPr>
                                  <m:deg/>
                                  <m:e>
                                    <m:r>
                                      <a:rPr lang="en-AU" sz="2400" i="1">
                                        <a:latin typeface="Cambria Math" panose="02040503050406030204" pitchFamily="18" charset="0"/>
                                      </a:rPr>
                                      <m:t>2</m:t>
                                    </m:r>
                                  </m:e>
                                </m:rad>
                              </m:num>
                              <m:den>
                                <m:r>
                                  <a:rPr lang="en-AU" sz="2400" i="1">
                                    <a:latin typeface="Cambria Math" panose="02040503050406030204" pitchFamily="18" charset="0"/>
                                  </a:rPr>
                                  <m:t>2</m:t>
                                </m:r>
                              </m:den>
                            </m:f>
                          </m:e>
                        </m:d>
                      </m:e>
                    </m:func>
                  </m:oMath>
                </a14:m>
                <a:endParaRPr lang="en-AU" sz="2400" dirty="0">
                  <a:latin typeface="+mj-lt"/>
                </a:endParaRPr>
              </a:p>
            </p:txBody>
          </p:sp>
        </mc:Choice>
        <mc:Fallback xmlns="">
          <p:sp>
            <p:nvSpPr>
              <p:cNvPr id="11" name="TextBox 10">
                <a:extLst>
                  <a:ext uri="{FF2B5EF4-FFF2-40B4-BE49-F238E27FC236}">
                    <a16:creationId xmlns:a16="http://schemas.microsoft.com/office/drawing/2014/main" id="{31E77652-8767-4DBA-A5E8-951D152E6136}"/>
                  </a:ext>
                </a:extLst>
              </p:cNvPr>
              <p:cNvSpPr txBox="1">
                <a:spLocks noRot="1" noChangeAspect="1" noMove="1" noResize="1" noEditPoints="1" noAdjustHandles="1" noChangeArrowheads="1" noChangeShapeType="1" noTextEdit="1"/>
              </p:cNvSpPr>
              <p:nvPr/>
            </p:nvSpPr>
            <p:spPr>
              <a:xfrm>
                <a:off x="301020" y="1608739"/>
                <a:ext cx="11801333" cy="4533933"/>
              </a:xfrm>
              <a:prstGeom prst="rect">
                <a:avLst/>
              </a:prstGeom>
              <a:blipFill>
                <a:blip r:embed="rId2"/>
                <a:stretch>
                  <a:fillRect l="-775" t="-107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B935EBD-980C-4567-8390-DB182DC666F9}"/>
                  </a:ext>
                </a:extLst>
              </p:cNvPr>
              <p:cNvSpPr txBox="1"/>
              <p:nvPr/>
            </p:nvSpPr>
            <p:spPr>
              <a:xfrm>
                <a:off x="9466730" y="3693460"/>
                <a:ext cx="1334404" cy="56477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AU" b="0" i="1" smtClean="0">
                          <a:solidFill>
                            <a:srgbClr val="FF0000"/>
                          </a:solidFill>
                          <a:latin typeface="Cambria Math" panose="02040503050406030204" pitchFamily="18" charset="0"/>
                        </a:rPr>
                        <m:t>−</m:t>
                      </m:r>
                      <m:f>
                        <m:fPr>
                          <m:ctrlPr>
                            <a:rPr lang="en-AU" b="0" i="1" smtClean="0">
                              <a:solidFill>
                                <a:srgbClr val="FF0000"/>
                              </a:solidFill>
                              <a:latin typeface="Cambria Math" panose="02040503050406030204" pitchFamily="18" charset="0"/>
                              <a:ea typeface="Cambria Math" panose="02040503050406030204" pitchFamily="18" charset="0"/>
                            </a:rPr>
                          </m:ctrlPr>
                        </m:fPr>
                        <m:num>
                          <m:r>
                            <a:rPr lang="en-AU" b="0" i="1" smtClean="0">
                              <a:solidFill>
                                <a:srgbClr val="FF0000"/>
                              </a:solidFill>
                              <a:latin typeface="Cambria Math" panose="02040503050406030204" pitchFamily="18" charset="0"/>
                              <a:ea typeface="Cambria Math" panose="02040503050406030204" pitchFamily="18" charset="0"/>
                            </a:rPr>
                            <m:t>𝜋</m:t>
                          </m:r>
                        </m:num>
                        <m:den>
                          <m:r>
                            <a:rPr lang="en-AU" b="0" i="1" smtClean="0">
                              <a:solidFill>
                                <a:srgbClr val="FF0000"/>
                              </a:solidFill>
                              <a:latin typeface="Cambria Math" panose="02040503050406030204" pitchFamily="18" charset="0"/>
                              <a:ea typeface="Cambria Math" panose="02040503050406030204" pitchFamily="18" charset="0"/>
                            </a:rPr>
                            <m:t>3</m:t>
                          </m:r>
                        </m:den>
                      </m:f>
                      <m:r>
                        <a:rPr lang="en-AU" b="0" i="1" smtClean="0">
                          <a:solidFill>
                            <a:srgbClr val="FF0000"/>
                          </a:solidFill>
                          <a:latin typeface="Cambria Math" panose="02040503050406030204" pitchFamily="18" charset="0"/>
                          <a:ea typeface="Cambria Math" panose="02040503050406030204" pitchFamily="18" charset="0"/>
                        </a:rPr>
                        <m:t>,</m:t>
                      </m:r>
                      <m:f>
                        <m:fPr>
                          <m:ctrlPr>
                            <a:rPr lang="en-AU" b="0" i="1" smtClean="0">
                              <a:solidFill>
                                <a:srgbClr val="FF0000"/>
                              </a:solidFill>
                              <a:latin typeface="Cambria Math" panose="02040503050406030204" pitchFamily="18" charset="0"/>
                              <a:ea typeface="Cambria Math" panose="02040503050406030204" pitchFamily="18" charset="0"/>
                            </a:rPr>
                          </m:ctrlPr>
                        </m:fPr>
                        <m:num>
                          <m:r>
                            <a:rPr lang="en-AU" b="0" i="1" smtClean="0">
                              <a:solidFill>
                                <a:srgbClr val="FF0000"/>
                              </a:solidFill>
                              <a:latin typeface="Cambria Math" panose="02040503050406030204" pitchFamily="18" charset="0"/>
                              <a:ea typeface="Cambria Math" panose="02040503050406030204" pitchFamily="18" charset="0"/>
                            </a:rPr>
                            <m:t>𝜋</m:t>
                          </m:r>
                        </m:num>
                        <m:den>
                          <m:r>
                            <a:rPr lang="en-AU" b="0" i="1" smtClean="0">
                              <a:solidFill>
                                <a:srgbClr val="FF0000"/>
                              </a:solidFill>
                              <a:latin typeface="Cambria Math" panose="02040503050406030204" pitchFamily="18" charset="0"/>
                              <a:ea typeface="Cambria Math" panose="02040503050406030204" pitchFamily="18" charset="0"/>
                            </a:rPr>
                            <m:t>6</m:t>
                          </m:r>
                        </m:den>
                      </m:f>
                      <m:r>
                        <a:rPr lang="en-AU" b="0" i="1" smtClean="0">
                          <a:solidFill>
                            <a:srgbClr val="FF0000"/>
                          </a:solidFill>
                          <a:latin typeface="Cambria Math" panose="02040503050406030204" pitchFamily="18" charset="0"/>
                          <a:ea typeface="Cambria Math" panose="02040503050406030204" pitchFamily="18" charset="0"/>
                        </a:rPr>
                        <m:t>,−</m:t>
                      </m:r>
                      <m:f>
                        <m:fPr>
                          <m:ctrlPr>
                            <a:rPr lang="en-AU" b="0" i="1" smtClean="0">
                              <a:solidFill>
                                <a:srgbClr val="FF0000"/>
                              </a:solidFill>
                              <a:latin typeface="Cambria Math" panose="02040503050406030204" pitchFamily="18" charset="0"/>
                              <a:ea typeface="Cambria Math" panose="02040503050406030204" pitchFamily="18" charset="0"/>
                            </a:rPr>
                          </m:ctrlPr>
                        </m:fPr>
                        <m:num>
                          <m:r>
                            <a:rPr lang="en-AU" b="0" i="1" smtClean="0">
                              <a:solidFill>
                                <a:srgbClr val="FF0000"/>
                              </a:solidFill>
                              <a:latin typeface="Cambria Math" panose="02040503050406030204" pitchFamily="18" charset="0"/>
                              <a:ea typeface="Cambria Math" panose="02040503050406030204" pitchFamily="18" charset="0"/>
                            </a:rPr>
                            <m:t>𝜋</m:t>
                          </m:r>
                        </m:num>
                        <m:den>
                          <m:r>
                            <a:rPr lang="en-AU" b="0" i="1" smtClean="0">
                              <a:solidFill>
                                <a:srgbClr val="FF0000"/>
                              </a:solidFill>
                              <a:latin typeface="Cambria Math" panose="02040503050406030204" pitchFamily="18" charset="0"/>
                              <a:ea typeface="Cambria Math" panose="02040503050406030204" pitchFamily="18" charset="0"/>
                            </a:rPr>
                            <m:t>4</m:t>
                          </m:r>
                        </m:den>
                      </m:f>
                    </m:oMath>
                  </m:oMathPara>
                </a14:m>
                <a:endParaRPr lang="en-GB" dirty="0">
                  <a:solidFill>
                    <a:srgbClr val="FF0000"/>
                  </a:solidFill>
                </a:endParaRPr>
              </a:p>
            </p:txBody>
          </p:sp>
        </mc:Choice>
        <mc:Fallback xmlns="">
          <p:sp>
            <p:nvSpPr>
              <p:cNvPr id="2" name="TextBox 1">
                <a:extLst>
                  <a:ext uri="{FF2B5EF4-FFF2-40B4-BE49-F238E27FC236}">
                    <a16:creationId xmlns:a16="http://schemas.microsoft.com/office/drawing/2014/main" id="{6B935EBD-980C-4567-8390-DB182DC666F9}"/>
                  </a:ext>
                </a:extLst>
              </p:cNvPr>
              <p:cNvSpPr txBox="1">
                <a:spLocks noRot="1" noChangeAspect="1" noMove="1" noResize="1" noEditPoints="1" noAdjustHandles="1" noChangeArrowheads="1" noChangeShapeType="1" noTextEdit="1"/>
              </p:cNvSpPr>
              <p:nvPr/>
            </p:nvSpPr>
            <p:spPr>
              <a:xfrm>
                <a:off x="9466730" y="3693460"/>
                <a:ext cx="1334404" cy="564770"/>
              </a:xfrm>
              <a:prstGeom prst="rect">
                <a:avLst/>
              </a:prstGeom>
              <a:blipFill>
                <a:blip r:embed="rId3"/>
                <a:stretch>
                  <a:fillRect/>
                </a:stretch>
              </a:blipFill>
            </p:spPr>
            <p:txBody>
              <a:bodyPr/>
              <a:lstStyle/>
              <a:p>
                <a:r>
                  <a:rPr lang="en-GB">
                    <a:noFill/>
                  </a:rPr>
                  <a:t> </a:t>
                </a:r>
              </a:p>
            </p:txBody>
          </p:sp>
        </mc:Fallback>
      </mc:AlternateContent>
      <p:sp>
        <p:nvSpPr>
          <p:cNvPr id="12" name="TextBox 11">
            <a:extLst>
              <a:ext uri="{FF2B5EF4-FFF2-40B4-BE49-F238E27FC236}">
                <a16:creationId xmlns:a16="http://schemas.microsoft.com/office/drawing/2014/main" id="{3BCF244C-5A2B-421A-BE98-CA5FCD1D42B6}"/>
              </a:ext>
            </a:extLst>
          </p:cNvPr>
          <p:cNvSpPr txBox="1"/>
          <p:nvPr/>
        </p:nvSpPr>
        <p:spPr>
          <a:xfrm>
            <a:off x="4056195" y="6220616"/>
            <a:ext cx="4079609" cy="369332"/>
          </a:xfrm>
          <a:prstGeom prst="rect">
            <a:avLst/>
          </a:prstGeom>
          <a:noFill/>
        </p:spPr>
        <p:txBody>
          <a:bodyPr wrap="square">
            <a:spAutoFit/>
          </a:bodyPr>
          <a:lstStyle/>
          <a:p>
            <a:r>
              <a:rPr lang="en-GB" dirty="0">
                <a:hlinkClick r:id="rId4"/>
              </a:rPr>
              <a:t>https://www.geogebra.org/m/RvXAnYR5</a:t>
            </a:r>
            <a:endParaRPr lang="en-GB" dirty="0"/>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7BC83233-453C-42E7-A503-DD64EFFF02C7}"/>
                  </a:ext>
                </a:extLst>
              </p:cNvPr>
              <p:cNvSpPr txBox="1"/>
              <p:nvPr/>
            </p:nvSpPr>
            <p:spPr>
              <a:xfrm>
                <a:off x="9633442" y="5459733"/>
                <a:ext cx="1167692" cy="61831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AU" b="0" i="1" smtClean="0">
                              <a:solidFill>
                                <a:srgbClr val="FF0000"/>
                              </a:solidFill>
                              <a:latin typeface="Cambria Math" panose="02040503050406030204" pitchFamily="18" charset="0"/>
                              <a:ea typeface="Cambria Math" panose="02040503050406030204" pitchFamily="18" charset="0"/>
                            </a:rPr>
                          </m:ctrlPr>
                        </m:fPr>
                        <m:num>
                          <m:r>
                            <a:rPr lang="en-AU" b="0" i="1" smtClean="0">
                              <a:solidFill>
                                <a:srgbClr val="FF0000"/>
                              </a:solidFill>
                              <a:latin typeface="Cambria Math" panose="02040503050406030204" pitchFamily="18" charset="0"/>
                              <a:ea typeface="Cambria Math" panose="02040503050406030204" pitchFamily="18" charset="0"/>
                            </a:rPr>
                            <m:t>5</m:t>
                          </m:r>
                          <m:r>
                            <a:rPr lang="en-AU" b="0" i="1" smtClean="0">
                              <a:solidFill>
                                <a:srgbClr val="FF0000"/>
                              </a:solidFill>
                              <a:latin typeface="Cambria Math" panose="02040503050406030204" pitchFamily="18" charset="0"/>
                              <a:ea typeface="Cambria Math" panose="02040503050406030204" pitchFamily="18" charset="0"/>
                            </a:rPr>
                            <m:t>𝜋</m:t>
                          </m:r>
                        </m:num>
                        <m:den>
                          <m:r>
                            <a:rPr lang="en-AU" b="0" i="1" smtClean="0">
                              <a:solidFill>
                                <a:srgbClr val="FF0000"/>
                              </a:solidFill>
                              <a:latin typeface="Cambria Math" panose="02040503050406030204" pitchFamily="18" charset="0"/>
                              <a:ea typeface="Cambria Math" panose="02040503050406030204" pitchFamily="18" charset="0"/>
                            </a:rPr>
                            <m:t>6</m:t>
                          </m:r>
                        </m:den>
                      </m:f>
                      <m:r>
                        <a:rPr lang="en-AU" b="0" i="1" smtClean="0">
                          <a:solidFill>
                            <a:srgbClr val="FF0000"/>
                          </a:solidFill>
                          <a:latin typeface="Cambria Math" panose="02040503050406030204" pitchFamily="18" charset="0"/>
                          <a:ea typeface="Cambria Math" panose="02040503050406030204" pitchFamily="18" charset="0"/>
                        </a:rPr>
                        <m:t>,</m:t>
                      </m:r>
                      <m:f>
                        <m:fPr>
                          <m:ctrlPr>
                            <a:rPr lang="en-AU" b="0" i="1" smtClean="0">
                              <a:solidFill>
                                <a:srgbClr val="FF0000"/>
                              </a:solidFill>
                              <a:latin typeface="Cambria Math" panose="02040503050406030204" pitchFamily="18" charset="0"/>
                              <a:ea typeface="Cambria Math" panose="02040503050406030204" pitchFamily="18" charset="0"/>
                            </a:rPr>
                          </m:ctrlPr>
                        </m:fPr>
                        <m:num>
                          <m:r>
                            <a:rPr lang="en-AU" b="0" i="1" smtClean="0">
                              <a:solidFill>
                                <a:srgbClr val="FF0000"/>
                              </a:solidFill>
                              <a:latin typeface="Cambria Math" panose="02040503050406030204" pitchFamily="18" charset="0"/>
                              <a:ea typeface="Cambria Math" panose="02040503050406030204" pitchFamily="18" charset="0"/>
                            </a:rPr>
                            <m:t>𝜋</m:t>
                          </m:r>
                        </m:num>
                        <m:den>
                          <m:r>
                            <a:rPr lang="en-AU" b="0" i="1" smtClean="0">
                              <a:solidFill>
                                <a:srgbClr val="FF0000"/>
                              </a:solidFill>
                              <a:latin typeface="Cambria Math" panose="02040503050406030204" pitchFamily="18" charset="0"/>
                              <a:ea typeface="Cambria Math" panose="02040503050406030204" pitchFamily="18" charset="0"/>
                            </a:rPr>
                            <m:t>3</m:t>
                          </m:r>
                        </m:den>
                      </m:f>
                      <m:r>
                        <a:rPr lang="en-AU" b="0" i="1" smtClean="0">
                          <a:solidFill>
                            <a:srgbClr val="FF0000"/>
                          </a:solidFill>
                          <a:latin typeface="Cambria Math" panose="02040503050406030204" pitchFamily="18" charset="0"/>
                          <a:ea typeface="Cambria Math" panose="02040503050406030204" pitchFamily="18" charset="0"/>
                        </a:rPr>
                        <m:t>, </m:t>
                      </m:r>
                      <m:f>
                        <m:fPr>
                          <m:ctrlPr>
                            <a:rPr lang="en-AU" b="0" i="1" smtClean="0">
                              <a:solidFill>
                                <a:srgbClr val="FF0000"/>
                              </a:solidFill>
                              <a:latin typeface="Cambria Math" panose="02040503050406030204" pitchFamily="18" charset="0"/>
                              <a:ea typeface="Cambria Math" panose="02040503050406030204" pitchFamily="18" charset="0"/>
                            </a:rPr>
                          </m:ctrlPr>
                        </m:fPr>
                        <m:num>
                          <m:r>
                            <a:rPr lang="en-AU" b="0" i="1" smtClean="0">
                              <a:solidFill>
                                <a:srgbClr val="FF0000"/>
                              </a:solidFill>
                              <a:latin typeface="Cambria Math" panose="02040503050406030204" pitchFamily="18" charset="0"/>
                              <a:ea typeface="Cambria Math" panose="02040503050406030204" pitchFamily="18" charset="0"/>
                            </a:rPr>
                            <m:t>3</m:t>
                          </m:r>
                          <m:r>
                            <a:rPr lang="en-AU" b="0" i="1" smtClean="0">
                              <a:solidFill>
                                <a:srgbClr val="FF0000"/>
                              </a:solidFill>
                              <a:latin typeface="Cambria Math" panose="02040503050406030204" pitchFamily="18" charset="0"/>
                              <a:ea typeface="Cambria Math" panose="02040503050406030204" pitchFamily="18" charset="0"/>
                            </a:rPr>
                            <m:t>𝜋</m:t>
                          </m:r>
                        </m:num>
                        <m:den>
                          <m:r>
                            <a:rPr lang="en-AU" b="0" i="1" smtClean="0">
                              <a:solidFill>
                                <a:srgbClr val="FF0000"/>
                              </a:solidFill>
                              <a:latin typeface="Cambria Math" panose="02040503050406030204" pitchFamily="18" charset="0"/>
                              <a:ea typeface="Cambria Math" panose="02040503050406030204" pitchFamily="18" charset="0"/>
                            </a:rPr>
                            <m:t>4</m:t>
                          </m:r>
                        </m:den>
                      </m:f>
                    </m:oMath>
                  </m:oMathPara>
                </a14:m>
                <a:endParaRPr lang="en-GB" dirty="0">
                  <a:solidFill>
                    <a:srgbClr val="FF0000"/>
                  </a:solidFill>
                </a:endParaRPr>
              </a:p>
            </p:txBody>
          </p:sp>
        </mc:Choice>
        <mc:Fallback xmlns="">
          <p:sp>
            <p:nvSpPr>
              <p:cNvPr id="13" name="TextBox 12">
                <a:extLst>
                  <a:ext uri="{FF2B5EF4-FFF2-40B4-BE49-F238E27FC236}">
                    <a16:creationId xmlns:a16="http://schemas.microsoft.com/office/drawing/2014/main" id="{7BC83233-453C-42E7-A503-DD64EFFF02C7}"/>
                  </a:ext>
                </a:extLst>
              </p:cNvPr>
              <p:cNvSpPr txBox="1">
                <a:spLocks noRot="1" noChangeAspect="1" noMove="1" noResize="1" noEditPoints="1" noAdjustHandles="1" noChangeArrowheads="1" noChangeShapeType="1" noTextEdit="1"/>
              </p:cNvSpPr>
              <p:nvPr/>
            </p:nvSpPr>
            <p:spPr>
              <a:xfrm>
                <a:off x="9633442" y="5459733"/>
                <a:ext cx="1167692" cy="618311"/>
              </a:xfrm>
              <a:prstGeom prst="rect">
                <a:avLst/>
              </a:prstGeom>
              <a:blipFill>
                <a:blip r:embed="rId5"/>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588670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2" grpId="0"/>
      <p:bldP spid="1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3661067" cy="523220"/>
          </a:xfrm>
          <a:prstGeom prst="rect">
            <a:avLst/>
          </a:prstGeom>
          <a:noFill/>
        </p:spPr>
        <p:txBody>
          <a:bodyPr wrap="none" rtlCol="0">
            <a:spAutoFit/>
          </a:bodyPr>
          <a:lstStyle/>
          <a:p>
            <a:r>
              <a:rPr lang="en-AU" sz="2800" b="1" cap="small" dirty="0">
                <a:solidFill>
                  <a:schemeClr val="bg1"/>
                </a:solidFill>
                <a:latin typeface="+mj-lt"/>
              </a:rPr>
              <a:t>1.5 Elementary functions</a:t>
            </a:r>
            <a:endParaRPr lang="en-GB" sz="2800" b="1" cap="small" dirty="0">
              <a:solidFill>
                <a:schemeClr val="bg1"/>
              </a:solidFill>
              <a:latin typeface="+mj-lt"/>
            </a:endParaRPr>
          </a:p>
        </p:txBody>
      </p:sp>
      <p:sp>
        <p:nvSpPr>
          <p:cNvPr id="10" name="TextBox 9">
            <a:extLst>
              <a:ext uri="{FF2B5EF4-FFF2-40B4-BE49-F238E27FC236}">
                <a16:creationId xmlns:a16="http://schemas.microsoft.com/office/drawing/2014/main" id="{B7FA0DAD-D0AB-4903-873A-CD36FB0ED036}"/>
              </a:ext>
            </a:extLst>
          </p:cNvPr>
          <p:cNvSpPr txBox="1"/>
          <p:nvPr/>
        </p:nvSpPr>
        <p:spPr>
          <a:xfrm>
            <a:off x="301020" y="1048888"/>
            <a:ext cx="4083362" cy="461665"/>
          </a:xfrm>
          <a:prstGeom prst="rect">
            <a:avLst/>
          </a:prstGeom>
          <a:noFill/>
          <a:ln>
            <a:solidFill>
              <a:schemeClr val="accent2">
                <a:lumMod val="50000"/>
              </a:schemeClr>
            </a:solidFill>
          </a:ln>
        </p:spPr>
        <p:txBody>
          <a:bodyPr wrap="none" rtlCol="0">
            <a:spAutoFit/>
          </a:bodyPr>
          <a:lstStyle/>
          <a:p>
            <a:r>
              <a:rPr lang="en-AU" sz="2400" dirty="0">
                <a:latin typeface="+mj-lt"/>
              </a:rPr>
              <a:t>Inverse Trigonometric functions</a:t>
            </a:r>
            <a:endParaRPr lang="en-GB" sz="2400" dirty="0">
              <a:latin typeface="+mj-lt"/>
            </a:endParaRP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31E77652-8767-4DBA-A5E8-951D152E6136}"/>
                  </a:ext>
                </a:extLst>
              </p:cNvPr>
              <p:cNvSpPr txBox="1"/>
              <p:nvPr/>
            </p:nvSpPr>
            <p:spPr>
              <a:xfrm>
                <a:off x="301020" y="2433492"/>
                <a:ext cx="11801333" cy="3144835"/>
              </a:xfrm>
              <a:prstGeom prst="rect">
                <a:avLst/>
              </a:prstGeom>
              <a:noFill/>
            </p:spPr>
            <p:txBody>
              <a:bodyPr wrap="square" rtlCol="0">
                <a:spAutoFit/>
              </a:bodyPr>
              <a:lstStyle/>
              <a:p>
                <a:pPr marL="342900" indent="-342900">
                  <a:buFont typeface="Arial" panose="020B0604020202020204" pitchFamily="34" charset="0"/>
                  <a:buChar char="•"/>
                </a:pPr>
                <a14:m>
                  <m:oMath xmlns:m="http://schemas.openxmlformats.org/officeDocument/2006/math">
                    <m:func>
                      <m:funcPr>
                        <m:ctrlPr>
                          <a:rPr lang="en-AU" sz="2400" b="0" i="1" smtClean="0">
                            <a:latin typeface="Cambria Math" panose="02040503050406030204" pitchFamily="18" charset="0"/>
                          </a:rPr>
                        </m:ctrlPr>
                      </m:funcPr>
                      <m:fName>
                        <m:r>
                          <a:rPr lang="en-AU" sz="2400" b="0" i="1" smtClean="0">
                            <a:latin typeface="Cambria Math" panose="02040503050406030204" pitchFamily="18" charset="0"/>
                          </a:rPr>
                          <m:t>𝑦</m:t>
                        </m:r>
                        <m:r>
                          <a:rPr lang="en-AU" sz="2400" b="0" i="1" smtClean="0">
                            <a:latin typeface="Cambria Math" panose="02040503050406030204" pitchFamily="18" charset="0"/>
                          </a:rPr>
                          <m:t>=</m:t>
                        </m:r>
                        <m:sSup>
                          <m:sSupPr>
                            <m:ctrlPr>
                              <a:rPr lang="en-AU" sz="2400" b="0" i="1" smtClean="0">
                                <a:latin typeface="Cambria Math" panose="02040503050406030204" pitchFamily="18" charset="0"/>
                              </a:rPr>
                            </m:ctrlPr>
                          </m:sSupPr>
                          <m:e>
                            <m:r>
                              <m:rPr>
                                <m:sty m:val="p"/>
                              </m:rPr>
                              <a:rPr lang="en-AU" sz="2400" b="0" i="0" smtClean="0">
                                <a:latin typeface="Cambria Math" panose="02040503050406030204" pitchFamily="18" charset="0"/>
                              </a:rPr>
                              <m:t>tan</m:t>
                            </m:r>
                          </m:e>
                          <m:sup>
                            <m:r>
                              <a:rPr lang="en-AU" sz="2400" b="0" i="1" smtClean="0">
                                <a:latin typeface="Cambria Math" panose="02040503050406030204" pitchFamily="18" charset="0"/>
                              </a:rPr>
                              <m:t>−1</m:t>
                            </m:r>
                          </m:sup>
                        </m:sSup>
                      </m:fName>
                      <m:e>
                        <m:r>
                          <a:rPr lang="en-AU" sz="2400" b="0" i="1" smtClean="0">
                            <a:latin typeface="Cambria Math" panose="02040503050406030204" pitchFamily="18" charset="0"/>
                          </a:rPr>
                          <m:t>𝑥</m:t>
                        </m:r>
                      </m:e>
                    </m:func>
                    <m:r>
                      <a:rPr lang="en-AU" sz="2400" b="0" i="1" smtClean="0">
                        <a:latin typeface="Cambria Math" panose="02040503050406030204" pitchFamily="18" charset="0"/>
                      </a:rPr>
                      <m:t>=</m:t>
                    </m:r>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arctan</m:t>
                        </m:r>
                      </m:fName>
                      <m:e>
                        <m:r>
                          <a:rPr lang="en-AU" sz="2400" b="0" i="1" smtClean="0">
                            <a:latin typeface="Cambria Math" panose="02040503050406030204" pitchFamily="18" charset="0"/>
                          </a:rPr>
                          <m:t>𝑥</m:t>
                        </m:r>
                      </m:e>
                    </m:func>
                  </m:oMath>
                </a14:m>
                <a:r>
                  <a:rPr lang="en-AU" sz="2400" dirty="0">
                    <a:latin typeface="+mj-lt"/>
                  </a:rPr>
                  <a:t>	,   </a:t>
                </a:r>
                <a14:m>
                  <m:oMath xmlns:m="http://schemas.openxmlformats.org/officeDocument/2006/math">
                    <m:r>
                      <m:rPr>
                        <m:sty m:val="p"/>
                      </m:rPr>
                      <a:rPr lang="en-AU" sz="2400" b="0" i="0" smtClean="0">
                        <a:latin typeface="Cambria Math" panose="02040503050406030204" pitchFamily="18" charset="0"/>
                      </a:rPr>
                      <m:t>dom</m:t>
                    </m:r>
                    <m:d>
                      <m:dPr>
                        <m:ctrlPr>
                          <a:rPr lang="en-AU" sz="2400" b="0" i="1" smtClean="0">
                            <a:latin typeface="Cambria Math" panose="02040503050406030204" pitchFamily="18" charset="0"/>
                          </a:rPr>
                        </m:ctrlPr>
                      </m:dPr>
                      <m:e>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arctan</m:t>
                            </m:r>
                          </m:fName>
                          <m:e>
                            <m:r>
                              <a:rPr lang="en-AU" sz="2400" b="0" i="1" smtClean="0">
                                <a:latin typeface="Cambria Math" panose="02040503050406030204" pitchFamily="18" charset="0"/>
                              </a:rPr>
                              <m:t>𝑥</m:t>
                            </m:r>
                          </m:e>
                        </m:func>
                      </m:e>
                    </m:d>
                    <m:r>
                      <a:rPr lang="en-AU" sz="2400" b="0" i="1" smtClean="0">
                        <a:latin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ℝ</m:t>
                    </m:r>
                    <m:r>
                      <a:rPr lang="en-AU" sz="2400" b="0" i="1" smtClean="0">
                        <a:latin typeface="Cambria Math" panose="02040503050406030204" pitchFamily="18" charset="0"/>
                      </a:rPr>
                      <m:t>, </m:t>
                    </m:r>
                    <m:r>
                      <m:rPr>
                        <m:sty m:val="p"/>
                      </m:rPr>
                      <a:rPr lang="en-AU" sz="2400" b="0" i="0" smtClean="0">
                        <a:latin typeface="Cambria Math" panose="02040503050406030204" pitchFamily="18" charset="0"/>
                      </a:rPr>
                      <m:t>ran</m:t>
                    </m:r>
                    <m:d>
                      <m:dPr>
                        <m:ctrlPr>
                          <a:rPr lang="en-AU" sz="2400" b="0" i="1" smtClean="0">
                            <a:latin typeface="Cambria Math" panose="02040503050406030204" pitchFamily="18" charset="0"/>
                          </a:rPr>
                        </m:ctrlPr>
                      </m:dPr>
                      <m:e>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arctan</m:t>
                            </m:r>
                          </m:fName>
                          <m:e>
                            <m:r>
                              <a:rPr lang="en-AU" sz="2400" b="0" i="1" smtClean="0">
                                <a:latin typeface="Cambria Math" panose="02040503050406030204" pitchFamily="18" charset="0"/>
                              </a:rPr>
                              <m:t>𝑥</m:t>
                            </m:r>
                          </m:e>
                        </m:func>
                      </m:e>
                    </m:d>
                    <m:r>
                      <a:rPr lang="en-AU" sz="2400" b="0" i="1" smtClean="0">
                        <a:latin typeface="Cambria Math" panose="02040503050406030204" pitchFamily="18" charset="0"/>
                      </a:rPr>
                      <m:t>=</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m:t>
                        </m:r>
                        <m:f>
                          <m:fPr>
                            <m:ctrlPr>
                              <a:rPr lang="en-AU" sz="2400" b="0" i="1" smtClean="0">
                                <a:latin typeface="Cambria Math" panose="02040503050406030204" pitchFamily="18" charset="0"/>
                                <a:ea typeface="Cambria Math" panose="02040503050406030204" pitchFamily="18" charset="0"/>
                              </a:rPr>
                            </m:ctrlPr>
                          </m:fPr>
                          <m:num>
                            <m:r>
                              <a:rPr lang="en-AU" sz="2400" b="0" i="1" smtClean="0">
                                <a:latin typeface="Cambria Math" panose="02040503050406030204" pitchFamily="18" charset="0"/>
                                <a:ea typeface="Cambria Math" panose="02040503050406030204" pitchFamily="18" charset="0"/>
                              </a:rPr>
                              <m:t>𝜋</m:t>
                            </m:r>
                          </m:num>
                          <m:den>
                            <m:r>
                              <a:rPr lang="en-AU" sz="2400" b="0" i="1" smtClean="0">
                                <a:latin typeface="Cambria Math" panose="02040503050406030204" pitchFamily="18" charset="0"/>
                                <a:ea typeface="Cambria Math" panose="02040503050406030204" pitchFamily="18" charset="0"/>
                              </a:rPr>
                              <m:t>2</m:t>
                            </m:r>
                          </m:den>
                        </m:f>
                        <m:r>
                          <a:rPr lang="en-AU" sz="2400" b="0" i="1" smtClean="0">
                            <a:latin typeface="Cambria Math" panose="02040503050406030204" pitchFamily="18" charset="0"/>
                            <a:ea typeface="Cambria Math" panose="02040503050406030204" pitchFamily="18" charset="0"/>
                          </a:rPr>
                          <m:t>,</m:t>
                        </m:r>
                        <m:f>
                          <m:fPr>
                            <m:ctrlPr>
                              <a:rPr lang="en-AU" sz="2400" b="0" i="1" smtClean="0">
                                <a:latin typeface="Cambria Math" panose="02040503050406030204" pitchFamily="18" charset="0"/>
                                <a:ea typeface="Cambria Math" panose="02040503050406030204" pitchFamily="18" charset="0"/>
                              </a:rPr>
                            </m:ctrlPr>
                          </m:fPr>
                          <m:num>
                            <m:r>
                              <a:rPr lang="en-AU" sz="2400" b="0" i="1" smtClean="0">
                                <a:latin typeface="Cambria Math" panose="02040503050406030204" pitchFamily="18" charset="0"/>
                                <a:ea typeface="Cambria Math" panose="02040503050406030204" pitchFamily="18" charset="0"/>
                              </a:rPr>
                              <m:t>𝜋</m:t>
                            </m:r>
                          </m:num>
                          <m:den>
                            <m:r>
                              <a:rPr lang="en-AU" sz="2400" b="0" i="1" smtClean="0">
                                <a:latin typeface="Cambria Math" panose="02040503050406030204" pitchFamily="18" charset="0"/>
                                <a:ea typeface="Cambria Math" panose="02040503050406030204" pitchFamily="18" charset="0"/>
                              </a:rPr>
                              <m:t>2</m:t>
                            </m:r>
                          </m:den>
                        </m:f>
                      </m:e>
                    </m:d>
                  </m:oMath>
                </a14:m>
                <a:r>
                  <a:rPr lang="en-AU" sz="2400" dirty="0">
                    <a:latin typeface="+mj-lt"/>
                  </a:rPr>
                  <a:t>. </a:t>
                </a:r>
              </a:p>
              <a:p>
                <a:pPr marL="342900" indent="-342900">
                  <a:buFont typeface="Arial" panose="020B0604020202020204" pitchFamily="34" charset="0"/>
                  <a:buChar char="•"/>
                </a:pPr>
                <a:endParaRPr lang="en-AU" sz="2400" dirty="0">
                  <a:latin typeface="+mj-lt"/>
                </a:endParaRPr>
              </a:p>
              <a:p>
                <a:pPr algn="ctr"/>
                <a:r>
                  <a:rPr lang="en-AU" sz="2400" dirty="0">
                    <a:latin typeface="+mj-lt"/>
                  </a:rPr>
                  <a:t>Find </a:t>
                </a:r>
                <a14:m>
                  <m:oMath xmlns:m="http://schemas.openxmlformats.org/officeDocument/2006/math">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arctan</m:t>
                        </m:r>
                      </m:fName>
                      <m:e>
                        <m:d>
                          <m:dPr>
                            <m:ctrlPr>
                              <a:rPr lang="en-AU" sz="2400" b="0" i="1" smtClean="0">
                                <a:latin typeface="Cambria Math" panose="02040503050406030204" pitchFamily="18" charset="0"/>
                              </a:rPr>
                            </m:ctrlPr>
                          </m:dPr>
                          <m:e>
                            <m:r>
                              <a:rPr lang="en-AU" sz="2400" i="1">
                                <a:latin typeface="Cambria Math" panose="02040503050406030204" pitchFamily="18" charset="0"/>
                              </a:rPr>
                              <m:t>−</m:t>
                            </m:r>
                            <m:f>
                              <m:fPr>
                                <m:ctrlPr>
                                  <a:rPr lang="en-AU" sz="2400" i="1">
                                    <a:latin typeface="Cambria Math" panose="02040503050406030204" pitchFamily="18" charset="0"/>
                                  </a:rPr>
                                </m:ctrlPr>
                              </m:fPr>
                              <m:num>
                                <m:rad>
                                  <m:radPr>
                                    <m:degHide m:val="on"/>
                                    <m:ctrlPr>
                                      <a:rPr lang="en-AU" sz="2400" i="1">
                                        <a:latin typeface="Cambria Math" panose="02040503050406030204" pitchFamily="18" charset="0"/>
                                      </a:rPr>
                                    </m:ctrlPr>
                                  </m:radPr>
                                  <m:deg/>
                                  <m:e>
                                    <m:r>
                                      <a:rPr lang="en-AU" sz="2400" i="1">
                                        <a:latin typeface="Cambria Math" panose="02040503050406030204" pitchFamily="18" charset="0"/>
                                      </a:rPr>
                                      <m:t>3</m:t>
                                    </m:r>
                                  </m:e>
                                </m:rad>
                              </m:num>
                              <m:den>
                                <m:r>
                                  <a:rPr lang="en-AU" sz="2400" b="0" i="1" smtClean="0">
                                    <a:latin typeface="Cambria Math" panose="02040503050406030204" pitchFamily="18" charset="0"/>
                                  </a:rPr>
                                  <m:t>3</m:t>
                                </m:r>
                              </m:den>
                            </m:f>
                          </m:e>
                        </m:d>
                      </m:e>
                    </m:func>
                  </m:oMath>
                </a14:m>
                <a:r>
                  <a:rPr lang="en-AU" sz="2400" dirty="0">
                    <a:latin typeface="+mj-lt"/>
                  </a:rPr>
                  <a:t>, </a:t>
                </a:r>
                <a14:m>
                  <m:oMath xmlns:m="http://schemas.openxmlformats.org/officeDocument/2006/math">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arctan</m:t>
                        </m:r>
                      </m:fName>
                      <m:e>
                        <m:d>
                          <m:dPr>
                            <m:ctrlPr>
                              <a:rPr lang="en-AU" sz="2400" b="0" i="1" smtClean="0">
                                <a:latin typeface="Cambria Math" panose="02040503050406030204" pitchFamily="18" charset="0"/>
                              </a:rPr>
                            </m:ctrlPr>
                          </m:dPr>
                          <m:e>
                            <m:rad>
                              <m:radPr>
                                <m:degHide m:val="on"/>
                                <m:ctrlPr>
                                  <a:rPr lang="en-AU" sz="2400" b="0" i="1" smtClean="0">
                                    <a:latin typeface="Cambria Math" panose="02040503050406030204" pitchFamily="18" charset="0"/>
                                  </a:rPr>
                                </m:ctrlPr>
                              </m:radPr>
                              <m:deg/>
                              <m:e>
                                <m:r>
                                  <a:rPr lang="en-AU" sz="2400" b="0" i="1" smtClean="0">
                                    <a:latin typeface="Cambria Math" panose="02040503050406030204" pitchFamily="18" charset="0"/>
                                  </a:rPr>
                                  <m:t>3</m:t>
                                </m:r>
                              </m:e>
                            </m:rad>
                          </m:e>
                        </m:d>
                      </m:e>
                    </m:func>
                  </m:oMath>
                </a14:m>
                <a:r>
                  <a:rPr lang="en-AU" sz="2400" dirty="0">
                    <a:latin typeface="+mj-lt"/>
                  </a:rPr>
                  <a:t>, </a:t>
                </a:r>
                <a14:m>
                  <m:oMath xmlns:m="http://schemas.openxmlformats.org/officeDocument/2006/math">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arctan</m:t>
                        </m:r>
                      </m:fName>
                      <m:e>
                        <m:d>
                          <m:dPr>
                            <m:ctrlPr>
                              <a:rPr lang="en-AU" sz="2400" b="0" i="1" smtClean="0">
                                <a:latin typeface="Cambria Math" panose="02040503050406030204" pitchFamily="18" charset="0"/>
                              </a:rPr>
                            </m:ctrlPr>
                          </m:dPr>
                          <m:e>
                            <m:r>
                              <a:rPr lang="en-AU" sz="2400" b="0" i="1" smtClean="0">
                                <a:latin typeface="Cambria Math" panose="02040503050406030204" pitchFamily="18" charset="0"/>
                              </a:rPr>
                              <m:t>−1</m:t>
                            </m:r>
                          </m:e>
                        </m:d>
                      </m:e>
                    </m:func>
                  </m:oMath>
                </a14:m>
                <a:endParaRPr lang="en-AU" sz="2400" dirty="0">
                  <a:latin typeface="+mj-lt"/>
                </a:endParaRPr>
              </a:p>
              <a:p>
                <a:endParaRPr lang="en-AU" sz="2400" dirty="0">
                  <a:latin typeface="+mj-lt"/>
                </a:endParaRPr>
              </a:p>
              <a:p>
                <a:pPr marL="342900" indent="-342900">
                  <a:buFont typeface="Arial" panose="020B0604020202020204" pitchFamily="34" charset="0"/>
                  <a:buChar char="•"/>
                </a:pPr>
                <a:r>
                  <a:rPr lang="en-AU" sz="2400" dirty="0">
                    <a:latin typeface="+mj-lt"/>
                  </a:rPr>
                  <a:t>The arcsine and arctangent are odd functions. The arccosine is neither odd or even.</a:t>
                </a:r>
              </a:p>
              <a:p>
                <a:pPr marL="342900" indent="-342900">
                  <a:buFont typeface="Arial" panose="020B0604020202020204" pitchFamily="34" charset="0"/>
                  <a:buChar char="•"/>
                </a:pPr>
                <a:endParaRPr lang="en-AU" sz="2400" b="0" i="1" dirty="0">
                  <a:latin typeface="Cambria Math" panose="02040503050406030204" pitchFamily="18" charset="0"/>
                </a:endParaRPr>
              </a:p>
              <a:p>
                <a:pPr marL="342900" indent="-342900">
                  <a:buFont typeface="Arial" panose="020B0604020202020204" pitchFamily="34" charset="0"/>
                  <a:buChar char="•"/>
                </a:pPr>
                <a:endParaRPr lang="en-AU" sz="2400" dirty="0">
                  <a:latin typeface="+mj-lt"/>
                </a:endParaRPr>
              </a:p>
            </p:txBody>
          </p:sp>
        </mc:Choice>
        <mc:Fallback xmlns="">
          <p:sp>
            <p:nvSpPr>
              <p:cNvPr id="11" name="TextBox 10">
                <a:extLst>
                  <a:ext uri="{FF2B5EF4-FFF2-40B4-BE49-F238E27FC236}">
                    <a16:creationId xmlns:a16="http://schemas.microsoft.com/office/drawing/2014/main" id="{31E77652-8767-4DBA-A5E8-951D152E6136}"/>
                  </a:ext>
                </a:extLst>
              </p:cNvPr>
              <p:cNvSpPr txBox="1">
                <a:spLocks noRot="1" noChangeAspect="1" noMove="1" noResize="1" noEditPoints="1" noAdjustHandles="1" noChangeArrowheads="1" noChangeShapeType="1" noTextEdit="1"/>
              </p:cNvSpPr>
              <p:nvPr/>
            </p:nvSpPr>
            <p:spPr>
              <a:xfrm>
                <a:off x="301020" y="2433492"/>
                <a:ext cx="11801333" cy="3144835"/>
              </a:xfrm>
              <a:prstGeom prst="rect">
                <a:avLst/>
              </a:prstGeom>
              <a:blipFill>
                <a:blip r:embed="rId2"/>
                <a:stretch>
                  <a:fillRect l="-67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B935EBD-980C-4567-8390-DB182DC666F9}"/>
                  </a:ext>
                </a:extLst>
              </p:cNvPr>
              <p:cNvSpPr txBox="1"/>
              <p:nvPr/>
            </p:nvSpPr>
            <p:spPr>
              <a:xfrm>
                <a:off x="9081247" y="3441139"/>
                <a:ext cx="1334404" cy="56477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AU" b="0" i="1" smtClean="0">
                          <a:solidFill>
                            <a:srgbClr val="FF0000"/>
                          </a:solidFill>
                          <a:latin typeface="Cambria Math" panose="02040503050406030204" pitchFamily="18" charset="0"/>
                        </a:rPr>
                        <m:t>−</m:t>
                      </m:r>
                      <m:f>
                        <m:fPr>
                          <m:ctrlPr>
                            <a:rPr lang="en-AU" b="0" i="1" smtClean="0">
                              <a:solidFill>
                                <a:srgbClr val="FF0000"/>
                              </a:solidFill>
                              <a:latin typeface="Cambria Math" panose="02040503050406030204" pitchFamily="18" charset="0"/>
                              <a:ea typeface="Cambria Math" panose="02040503050406030204" pitchFamily="18" charset="0"/>
                            </a:rPr>
                          </m:ctrlPr>
                        </m:fPr>
                        <m:num>
                          <m:r>
                            <a:rPr lang="en-AU" b="0" i="1" smtClean="0">
                              <a:solidFill>
                                <a:srgbClr val="FF0000"/>
                              </a:solidFill>
                              <a:latin typeface="Cambria Math" panose="02040503050406030204" pitchFamily="18" charset="0"/>
                              <a:ea typeface="Cambria Math" panose="02040503050406030204" pitchFamily="18" charset="0"/>
                            </a:rPr>
                            <m:t>𝜋</m:t>
                          </m:r>
                        </m:num>
                        <m:den>
                          <m:r>
                            <a:rPr lang="en-AU" b="0" i="1" smtClean="0">
                              <a:solidFill>
                                <a:srgbClr val="FF0000"/>
                              </a:solidFill>
                              <a:latin typeface="Cambria Math" panose="02040503050406030204" pitchFamily="18" charset="0"/>
                              <a:ea typeface="Cambria Math" panose="02040503050406030204" pitchFamily="18" charset="0"/>
                            </a:rPr>
                            <m:t>6</m:t>
                          </m:r>
                        </m:den>
                      </m:f>
                      <m:r>
                        <a:rPr lang="en-AU" b="0" i="1" smtClean="0">
                          <a:solidFill>
                            <a:srgbClr val="FF0000"/>
                          </a:solidFill>
                          <a:latin typeface="Cambria Math" panose="02040503050406030204" pitchFamily="18" charset="0"/>
                          <a:ea typeface="Cambria Math" panose="02040503050406030204" pitchFamily="18" charset="0"/>
                        </a:rPr>
                        <m:t>,</m:t>
                      </m:r>
                      <m:f>
                        <m:fPr>
                          <m:ctrlPr>
                            <a:rPr lang="en-AU" b="0" i="1" smtClean="0">
                              <a:solidFill>
                                <a:srgbClr val="FF0000"/>
                              </a:solidFill>
                              <a:latin typeface="Cambria Math" panose="02040503050406030204" pitchFamily="18" charset="0"/>
                              <a:ea typeface="Cambria Math" panose="02040503050406030204" pitchFamily="18" charset="0"/>
                            </a:rPr>
                          </m:ctrlPr>
                        </m:fPr>
                        <m:num>
                          <m:r>
                            <a:rPr lang="en-AU" b="0" i="1" smtClean="0">
                              <a:solidFill>
                                <a:srgbClr val="FF0000"/>
                              </a:solidFill>
                              <a:latin typeface="Cambria Math" panose="02040503050406030204" pitchFamily="18" charset="0"/>
                              <a:ea typeface="Cambria Math" panose="02040503050406030204" pitchFamily="18" charset="0"/>
                            </a:rPr>
                            <m:t>𝜋</m:t>
                          </m:r>
                        </m:num>
                        <m:den>
                          <m:r>
                            <a:rPr lang="en-AU" b="0" i="1" smtClean="0">
                              <a:solidFill>
                                <a:srgbClr val="FF0000"/>
                              </a:solidFill>
                              <a:latin typeface="Cambria Math" panose="02040503050406030204" pitchFamily="18" charset="0"/>
                              <a:ea typeface="Cambria Math" panose="02040503050406030204" pitchFamily="18" charset="0"/>
                            </a:rPr>
                            <m:t>3</m:t>
                          </m:r>
                        </m:den>
                      </m:f>
                      <m:r>
                        <a:rPr lang="en-AU" b="0" i="1" smtClean="0">
                          <a:solidFill>
                            <a:srgbClr val="FF0000"/>
                          </a:solidFill>
                          <a:latin typeface="Cambria Math" panose="02040503050406030204" pitchFamily="18" charset="0"/>
                          <a:ea typeface="Cambria Math" panose="02040503050406030204" pitchFamily="18" charset="0"/>
                        </a:rPr>
                        <m:t>,−</m:t>
                      </m:r>
                      <m:f>
                        <m:fPr>
                          <m:ctrlPr>
                            <a:rPr lang="en-AU" b="0" i="1" smtClean="0">
                              <a:solidFill>
                                <a:srgbClr val="FF0000"/>
                              </a:solidFill>
                              <a:latin typeface="Cambria Math" panose="02040503050406030204" pitchFamily="18" charset="0"/>
                              <a:ea typeface="Cambria Math" panose="02040503050406030204" pitchFamily="18" charset="0"/>
                            </a:rPr>
                          </m:ctrlPr>
                        </m:fPr>
                        <m:num>
                          <m:r>
                            <a:rPr lang="en-AU" b="0" i="1" smtClean="0">
                              <a:solidFill>
                                <a:srgbClr val="FF0000"/>
                              </a:solidFill>
                              <a:latin typeface="Cambria Math" panose="02040503050406030204" pitchFamily="18" charset="0"/>
                              <a:ea typeface="Cambria Math" panose="02040503050406030204" pitchFamily="18" charset="0"/>
                            </a:rPr>
                            <m:t>𝜋</m:t>
                          </m:r>
                        </m:num>
                        <m:den>
                          <m:r>
                            <a:rPr lang="en-AU" b="0" i="1" smtClean="0">
                              <a:solidFill>
                                <a:srgbClr val="FF0000"/>
                              </a:solidFill>
                              <a:latin typeface="Cambria Math" panose="02040503050406030204" pitchFamily="18" charset="0"/>
                              <a:ea typeface="Cambria Math" panose="02040503050406030204" pitchFamily="18" charset="0"/>
                            </a:rPr>
                            <m:t>4</m:t>
                          </m:r>
                        </m:den>
                      </m:f>
                    </m:oMath>
                  </m:oMathPara>
                </a14:m>
                <a:endParaRPr lang="en-GB" dirty="0">
                  <a:solidFill>
                    <a:srgbClr val="FF0000"/>
                  </a:solidFill>
                </a:endParaRPr>
              </a:p>
            </p:txBody>
          </p:sp>
        </mc:Choice>
        <mc:Fallback xmlns="">
          <p:sp>
            <p:nvSpPr>
              <p:cNvPr id="2" name="TextBox 1">
                <a:extLst>
                  <a:ext uri="{FF2B5EF4-FFF2-40B4-BE49-F238E27FC236}">
                    <a16:creationId xmlns:a16="http://schemas.microsoft.com/office/drawing/2014/main" id="{6B935EBD-980C-4567-8390-DB182DC666F9}"/>
                  </a:ext>
                </a:extLst>
              </p:cNvPr>
              <p:cNvSpPr txBox="1">
                <a:spLocks noRot="1" noChangeAspect="1" noMove="1" noResize="1" noEditPoints="1" noAdjustHandles="1" noChangeArrowheads="1" noChangeShapeType="1" noTextEdit="1"/>
              </p:cNvSpPr>
              <p:nvPr/>
            </p:nvSpPr>
            <p:spPr>
              <a:xfrm>
                <a:off x="9081247" y="3441139"/>
                <a:ext cx="1334404" cy="564770"/>
              </a:xfrm>
              <a:prstGeom prst="rect">
                <a:avLst/>
              </a:prstGeom>
              <a:blipFill>
                <a:blip r:embed="rId3"/>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3339476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3661067" cy="523220"/>
          </a:xfrm>
          <a:prstGeom prst="rect">
            <a:avLst/>
          </a:prstGeom>
          <a:noFill/>
        </p:spPr>
        <p:txBody>
          <a:bodyPr wrap="none" rtlCol="0">
            <a:spAutoFit/>
          </a:bodyPr>
          <a:lstStyle/>
          <a:p>
            <a:r>
              <a:rPr lang="en-AU" sz="2800" b="1" cap="small" dirty="0">
                <a:solidFill>
                  <a:schemeClr val="bg1"/>
                </a:solidFill>
                <a:latin typeface="+mj-lt"/>
              </a:rPr>
              <a:t>1.5 Elementary functions</a:t>
            </a:r>
            <a:endParaRPr lang="en-GB" sz="2800" b="1" cap="small" dirty="0">
              <a:solidFill>
                <a:schemeClr val="bg1"/>
              </a:solidFill>
              <a:latin typeface="+mj-lt"/>
            </a:endParaRPr>
          </a:p>
        </p:txBody>
      </p:sp>
      <p:sp>
        <p:nvSpPr>
          <p:cNvPr id="10" name="TextBox 9">
            <a:extLst>
              <a:ext uri="{FF2B5EF4-FFF2-40B4-BE49-F238E27FC236}">
                <a16:creationId xmlns:a16="http://schemas.microsoft.com/office/drawing/2014/main" id="{B7FA0DAD-D0AB-4903-873A-CD36FB0ED036}"/>
              </a:ext>
            </a:extLst>
          </p:cNvPr>
          <p:cNvSpPr txBox="1"/>
          <p:nvPr/>
        </p:nvSpPr>
        <p:spPr>
          <a:xfrm>
            <a:off x="301020" y="1048888"/>
            <a:ext cx="4083362" cy="461665"/>
          </a:xfrm>
          <a:prstGeom prst="rect">
            <a:avLst/>
          </a:prstGeom>
          <a:noFill/>
          <a:ln>
            <a:solidFill>
              <a:schemeClr val="accent2">
                <a:lumMod val="50000"/>
              </a:schemeClr>
            </a:solidFill>
          </a:ln>
        </p:spPr>
        <p:txBody>
          <a:bodyPr wrap="none" rtlCol="0">
            <a:spAutoFit/>
          </a:bodyPr>
          <a:lstStyle/>
          <a:p>
            <a:r>
              <a:rPr lang="en-AU" sz="2400" dirty="0">
                <a:latin typeface="+mj-lt"/>
              </a:rPr>
              <a:t>Inverse Trigonometric functions</a:t>
            </a:r>
            <a:endParaRPr lang="en-GB" sz="2400" dirty="0">
              <a:latin typeface="+mj-lt"/>
            </a:endParaRP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31E77652-8767-4DBA-A5E8-951D152E6136}"/>
                  </a:ext>
                </a:extLst>
              </p:cNvPr>
              <p:cNvSpPr txBox="1"/>
              <p:nvPr/>
            </p:nvSpPr>
            <p:spPr>
              <a:xfrm>
                <a:off x="301020" y="1617704"/>
                <a:ext cx="11801333" cy="1231940"/>
              </a:xfrm>
              <a:prstGeom prst="rect">
                <a:avLst/>
              </a:prstGeom>
              <a:noFill/>
            </p:spPr>
            <p:txBody>
              <a:bodyPr wrap="square" rtlCol="0">
                <a:spAutoFit/>
              </a:bodyPr>
              <a:lstStyle/>
              <a:p>
                <a:r>
                  <a:rPr lang="en-AU" sz="2400" b="0" dirty="0">
                    <a:latin typeface="+mj-lt"/>
                  </a:rPr>
                  <a:t>When an inverse trigonometric function is composed with a generic direct trigonometric function, it is often possible to express the composition as an algebraic or rational function.</a:t>
                </a:r>
              </a:p>
              <a:p>
                <a:r>
                  <a:rPr lang="en-AU" sz="2400" dirty="0">
                    <a:latin typeface="+mj-lt"/>
                  </a:rPr>
                  <a:t>Express </a:t>
                </a:r>
                <a14:m>
                  <m:oMath xmlns:m="http://schemas.openxmlformats.org/officeDocument/2006/math">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cos</m:t>
                        </m:r>
                      </m:fName>
                      <m:e>
                        <m:r>
                          <a:rPr lang="en-AU" sz="2400" b="0" i="1" smtClean="0">
                            <a:latin typeface="Cambria Math" panose="02040503050406030204" pitchFamily="18" charset="0"/>
                          </a:rPr>
                          <m:t>(</m:t>
                        </m:r>
                        <m:func>
                          <m:funcPr>
                            <m:ctrlPr>
                              <a:rPr lang="en-AU" sz="2400" b="0" i="1" smtClean="0">
                                <a:latin typeface="Cambria Math" panose="02040503050406030204" pitchFamily="18" charset="0"/>
                              </a:rPr>
                            </m:ctrlPr>
                          </m:funcPr>
                          <m:fName>
                            <m:sSup>
                              <m:sSupPr>
                                <m:ctrlPr>
                                  <a:rPr lang="en-AU" sz="2400" b="0" i="1" smtClean="0">
                                    <a:latin typeface="Cambria Math" panose="02040503050406030204" pitchFamily="18" charset="0"/>
                                  </a:rPr>
                                </m:ctrlPr>
                              </m:sSupPr>
                              <m:e>
                                <m:r>
                                  <m:rPr>
                                    <m:sty m:val="p"/>
                                  </m:rPr>
                                  <a:rPr lang="en-AU" sz="2400">
                                    <a:latin typeface="Cambria Math" panose="02040503050406030204" pitchFamily="18" charset="0"/>
                                  </a:rPr>
                                  <m:t>sin</m:t>
                                </m:r>
                              </m:e>
                              <m:sup>
                                <m:r>
                                  <a:rPr lang="en-AU" sz="2400" b="0" i="1" smtClean="0">
                                    <a:latin typeface="Cambria Math" panose="02040503050406030204" pitchFamily="18" charset="0"/>
                                  </a:rPr>
                                  <m:t>−1</m:t>
                                </m:r>
                              </m:sup>
                            </m:sSup>
                          </m:fName>
                          <m:e>
                            <m:r>
                              <a:rPr lang="en-AU" sz="2400" b="0" i="1" smtClean="0">
                                <a:latin typeface="Cambria Math" panose="02040503050406030204" pitchFamily="18" charset="0"/>
                              </a:rPr>
                              <m:t>(2</m:t>
                            </m:r>
                            <m:r>
                              <a:rPr lang="en-AU" sz="2400" b="0" i="1" smtClean="0">
                                <a:latin typeface="Cambria Math" panose="02040503050406030204" pitchFamily="18" charset="0"/>
                              </a:rPr>
                              <m:t>𝑥</m:t>
                            </m:r>
                            <m:r>
                              <a:rPr lang="en-AU" sz="2400" b="0" i="1" smtClean="0">
                                <a:latin typeface="Cambria Math" panose="02040503050406030204" pitchFamily="18" charset="0"/>
                              </a:rPr>
                              <m:t>))</m:t>
                            </m:r>
                          </m:e>
                        </m:func>
                      </m:e>
                    </m:func>
                  </m:oMath>
                </a14:m>
                <a:r>
                  <a:rPr lang="en-AU" sz="2400" b="0" dirty="0">
                    <a:latin typeface="+mj-lt"/>
                  </a:rPr>
                  <a:t> as an algebraic function.</a:t>
                </a:r>
              </a:p>
            </p:txBody>
          </p:sp>
        </mc:Choice>
        <mc:Fallback xmlns="">
          <p:sp>
            <p:nvSpPr>
              <p:cNvPr id="11" name="TextBox 10">
                <a:extLst>
                  <a:ext uri="{FF2B5EF4-FFF2-40B4-BE49-F238E27FC236}">
                    <a16:creationId xmlns:a16="http://schemas.microsoft.com/office/drawing/2014/main" id="{31E77652-8767-4DBA-A5E8-951D152E6136}"/>
                  </a:ext>
                </a:extLst>
              </p:cNvPr>
              <p:cNvSpPr txBox="1">
                <a:spLocks noRot="1" noChangeAspect="1" noMove="1" noResize="1" noEditPoints="1" noAdjustHandles="1" noChangeArrowheads="1" noChangeShapeType="1" noTextEdit="1"/>
              </p:cNvSpPr>
              <p:nvPr/>
            </p:nvSpPr>
            <p:spPr>
              <a:xfrm>
                <a:off x="301020" y="1617704"/>
                <a:ext cx="11801333" cy="1231940"/>
              </a:xfrm>
              <a:prstGeom prst="rect">
                <a:avLst/>
              </a:prstGeom>
              <a:blipFill>
                <a:blip r:embed="rId2"/>
                <a:stretch>
                  <a:fillRect l="-775" t="-3960" b="-7921"/>
                </a:stretch>
              </a:blipFill>
            </p:spPr>
            <p:txBody>
              <a:bodyPr/>
              <a:lstStyle/>
              <a:p>
                <a:r>
                  <a:rPr lang="en-GB">
                    <a:noFill/>
                  </a:rPr>
                  <a:t> </a:t>
                </a:r>
              </a:p>
            </p:txBody>
          </p:sp>
        </mc:Fallback>
      </mc:AlternateContent>
    </p:spTree>
    <p:extLst>
      <p:ext uri="{BB962C8B-B14F-4D97-AF65-F5344CB8AC3E}">
        <p14:creationId xmlns:p14="http://schemas.microsoft.com/office/powerpoint/2010/main" val="16403481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3661067" cy="523220"/>
          </a:xfrm>
          <a:prstGeom prst="rect">
            <a:avLst/>
          </a:prstGeom>
          <a:noFill/>
        </p:spPr>
        <p:txBody>
          <a:bodyPr wrap="none" rtlCol="0">
            <a:spAutoFit/>
          </a:bodyPr>
          <a:lstStyle/>
          <a:p>
            <a:r>
              <a:rPr lang="en-AU" sz="2800" b="1" cap="small" dirty="0">
                <a:solidFill>
                  <a:schemeClr val="bg1"/>
                </a:solidFill>
                <a:latin typeface="+mj-lt"/>
              </a:rPr>
              <a:t>1.5 Elementary functions</a:t>
            </a:r>
            <a:endParaRPr lang="en-GB" sz="2800" b="1" cap="small" dirty="0">
              <a:solidFill>
                <a:schemeClr val="bg1"/>
              </a:solidFill>
              <a:latin typeface="+mj-lt"/>
            </a:endParaRPr>
          </a:p>
        </p:txBody>
      </p:sp>
      <p:sp>
        <p:nvSpPr>
          <p:cNvPr id="10" name="TextBox 9">
            <a:extLst>
              <a:ext uri="{FF2B5EF4-FFF2-40B4-BE49-F238E27FC236}">
                <a16:creationId xmlns:a16="http://schemas.microsoft.com/office/drawing/2014/main" id="{B7FA0DAD-D0AB-4903-873A-CD36FB0ED036}"/>
              </a:ext>
            </a:extLst>
          </p:cNvPr>
          <p:cNvSpPr txBox="1"/>
          <p:nvPr/>
        </p:nvSpPr>
        <p:spPr>
          <a:xfrm>
            <a:off x="301020" y="1048888"/>
            <a:ext cx="4083362" cy="461665"/>
          </a:xfrm>
          <a:prstGeom prst="rect">
            <a:avLst/>
          </a:prstGeom>
          <a:noFill/>
          <a:ln>
            <a:solidFill>
              <a:schemeClr val="accent2">
                <a:lumMod val="50000"/>
              </a:schemeClr>
            </a:solidFill>
          </a:ln>
        </p:spPr>
        <p:txBody>
          <a:bodyPr wrap="none" rtlCol="0">
            <a:spAutoFit/>
          </a:bodyPr>
          <a:lstStyle/>
          <a:p>
            <a:r>
              <a:rPr lang="en-AU" sz="2400" dirty="0">
                <a:latin typeface="+mj-lt"/>
              </a:rPr>
              <a:t>Inverse Trigonometric functions</a:t>
            </a:r>
            <a:endParaRPr lang="en-GB" sz="2400" dirty="0">
              <a:latin typeface="+mj-lt"/>
            </a:endParaRP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31E77652-8767-4DBA-A5E8-951D152E6136}"/>
                  </a:ext>
                </a:extLst>
              </p:cNvPr>
              <p:cNvSpPr txBox="1"/>
              <p:nvPr/>
            </p:nvSpPr>
            <p:spPr>
              <a:xfrm>
                <a:off x="301020" y="1617704"/>
                <a:ext cx="11801333" cy="461665"/>
              </a:xfrm>
              <a:prstGeom prst="rect">
                <a:avLst/>
              </a:prstGeom>
              <a:noFill/>
            </p:spPr>
            <p:txBody>
              <a:bodyPr wrap="square" rtlCol="0">
                <a:spAutoFit/>
              </a:bodyPr>
              <a:lstStyle/>
              <a:p>
                <a:r>
                  <a:rPr lang="en-AU" sz="2400" dirty="0">
                    <a:latin typeface="+mj-lt"/>
                  </a:rPr>
                  <a:t>Express </a:t>
                </a:r>
                <a14:m>
                  <m:oMath xmlns:m="http://schemas.openxmlformats.org/officeDocument/2006/math">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cos</m:t>
                        </m:r>
                      </m:fName>
                      <m:e>
                        <m:r>
                          <a:rPr lang="en-AU" sz="2400" b="0" i="1" smtClean="0">
                            <a:latin typeface="Cambria Math" panose="02040503050406030204" pitchFamily="18" charset="0"/>
                          </a:rPr>
                          <m:t>(2</m:t>
                        </m:r>
                        <m:func>
                          <m:funcPr>
                            <m:ctrlPr>
                              <a:rPr lang="en-AU" sz="2400" b="0" i="1" smtClean="0">
                                <a:latin typeface="Cambria Math" panose="02040503050406030204" pitchFamily="18" charset="0"/>
                              </a:rPr>
                            </m:ctrlPr>
                          </m:funcPr>
                          <m:fName>
                            <m:sSup>
                              <m:sSupPr>
                                <m:ctrlPr>
                                  <a:rPr lang="en-AU" sz="2400" b="0" i="1" smtClean="0">
                                    <a:latin typeface="Cambria Math" panose="02040503050406030204" pitchFamily="18" charset="0"/>
                                  </a:rPr>
                                </m:ctrlPr>
                              </m:sSupPr>
                              <m:e>
                                <m:r>
                                  <m:rPr>
                                    <m:sty m:val="p"/>
                                  </m:rPr>
                                  <a:rPr lang="en-AU" sz="2400" b="0" i="0" smtClean="0">
                                    <a:latin typeface="Cambria Math" panose="02040503050406030204" pitchFamily="18" charset="0"/>
                                  </a:rPr>
                                  <m:t>tan</m:t>
                                </m:r>
                              </m:e>
                              <m:sup>
                                <m:r>
                                  <a:rPr lang="en-AU" sz="2400" b="0" i="1" smtClean="0">
                                    <a:latin typeface="Cambria Math" panose="02040503050406030204" pitchFamily="18" charset="0"/>
                                  </a:rPr>
                                  <m:t>−1</m:t>
                                </m:r>
                              </m:sup>
                            </m:sSup>
                          </m:fName>
                          <m:e>
                            <m:r>
                              <a:rPr lang="en-AU" sz="2400" b="0" i="1" smtClean="0">
                                <a:latin typeface="Cambria Math" panose="02040503050406030204" pitchFamily="18" charset="0"/>
                              </a:rPr>
                              <m:t>(3</m:t>
                            </m:r>
                            <m:r>
                              <a:rPr lang="en-AU" sz="2400" b="0" i="1" smtClean="0">
                                <a:latin typeface="Cambria Math" panose="02040503050406030204" pitchFamily="18" charset="0"/>
                              </a:rPr>
                              <m:t>𝑥</m:t>
                            </m:r>
                            <m:r>
                              <a:rPr lang="en-AU" sz="2400" b="0" i="1" smtClean="0">
                                <a:latin typeface="Cambria Math" panose="02040503050406030204" pitchFamily="18" charset="0"/>
                              </a:rPr>
                              <m:t>))</m:t>
                            </m:r>
                          </m:e>
                        </m:func>
                      </m:e>
                    </m:func>
                  </m:oMath>
                </a14:m>
                <a:r>
                  <a:rPr lang="en-AU" sz="2400" b="0" dirty="0">
                    <a:latin typeface="+mj-lt"/>
                  </a:rPr>
                  <a:t> as a rational function.</a:t>
                </a:r>
              </a:p>
            </p:txBody>
          </p:sp>
        </mc:Choice>
        <mc:Fallback xmlns="">
          <p:sp>
            <p:nvSpPr>
              <p:cNvPr id="11" name="TextBox 10">
                <a:extLst>
                  <a:ext uri="{FF2B5EF4-FFF2-40B4-BE49-F238E27FC236}">
                    <a16:creationId xmlns:a16="http://schemas.microsoft.com/office/drawing/2014/main" id="{31E77652-8767-4DBA-A5E8-951D152E6136}"/>
                  </a:ext>
                </a:extLst>
              </p:cNvPr>
              <p:cNvSpPr txBox="1">
                <a:spLocks noRot="1" noChangeAspect="1" noMove="1" noResize="1" noEditPoints="1" noAdjustHandles="1" noChangeArrowheads="1" noChangeShapeType="1" noTextEdit="1"/>
              </p:cNvSpPr>
              <p:nvPr/>
            </p:nvSpPr>
            <p:spPr>
              <a:xfrm>
                <a:off x="301020" y="1617704"/>
                <a:ext cx="11801333" cy="461665"/>
              </a:xfrm>
              <a:prstGeom prst="rect">
                <a:avLst/>
              </a:prstGeom>
              <a:blipFill>
                <a:blip r:embed="rId2"/>
                <a:stretch>
                  <a:fillRect l="-775" t="-10526" b="-28947"/>
                </a:stretch>
              </a:blipFill>
            </p:spPr>
            <p:txBody>
              <a:bodyPr/>
              <a:lstStyle/>
              <a:p>
                <a:r>
                  <a:rPr lang="en-GB">
                    <a:noFill/>
                  </a:rPr>
                  <a:t> </a:t>
                </a:r>
              </a:p>
            </p:txBody>
          </p:sp>
        </mc:Fallback>
      </mc:AlternateContent>
    </p:spTree>
    <p:extLst>
      <p:ext uri="{BB962C8B-B14F-4D97-AF65-F5344CB8AC3E}">
        <p14:creationId xmlns:p14="http://schemas.microsoft.com/office/powerpoint/2010/main" val="3691148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3661067" cy="523220"/>
          </a:xfrm>
          <a:prstGeom prst="rect">
            <a:avLst/>
          </a:prstGeom>
          <a:noFill/>
        </p:spPr>
        <p:txBody>
          <a:bodyPr wrap="none" rtlCol="0">
            <a:spAutoFit/>
          </a:bodyPr>
          <a:lstStyle/>
          <a:p>
            <a:r>
              <a:rPr lang="en-AU" sz="2800" b="1" cap="small" dirty="0">
                <a:solidFill>
                  <a:schemeClr val="bg1"/>
                </a:solidFill>
                <a:latin typeface="+mj-lt"/>
              </a:rPr>
              <a:t>1.5 Elementary functions</a:t>
            </a:r>
            <a:endParaRPr lang="en-GB" sz="2800" b="1" cap="small" dirty="0">
              <a:solidFill>
                <a:schemeClr val="bg1"/>
              </a:solidFill>
              <a:latin typeface="+mj-lt"/>
            </a:endParaRPr>
          </a:p>
        </p:txBody>
      </p:sp>
      <p:sp>
        <p:nvSpPr>
          <p:cNvPr id="2" name="TextBox 1">
            <a:extLst>
              <a:ext uri="{FF2B5EF4-FFF2-40B4-BE49-F238E27FC236}">
                <a16:creationId xmlns:a16="http://schemas.microsoft.com/office/drawing/2014/main" id="{8245C68E-4F37-4D4B-B805-8F79EB0F5C22}"/>
              </a:ext>
            </a:extLst>
          </p:cNvPr>
          <p:cNvSpPr txBox="1"/>
          <p:nvPr/>
        </p:nvSpPr>
        <p:spPr>
          <a:xfrm>
            <a:off x="301020" y="1048888"/>
            <a:ext cx="2736647" cy="461665"/>
          </a:xfrm>
          <a:prstGeom prst="rect">
            <a:avLst/>
          </a:prstGeom>
          <a:noFill/>
          <a:ln>
            <a:solidFill>
              <a:schemeClr val="accent2">
                <a:lumMod val="50000"/>
              </a:schemeClr>
            </a:solidFill>
          </a:ln>
        </p:spPr>
        <p:txBody>
          <a:bodyPr wrap="none" rtlCol="0">
            <a:spAutoFit/>
          </a:bodyPr>
          <a:lstStyle/>
          <a:p>
            <a:r>
              <a:rPr lang="en-AU" sz="2400" dirty="0">
                <a:latin typeface="+mj-lt"/>
              </a:rPr>
              <a:t>Hyperbolic functions</a:t>
            </a:r>
            <a:endParaRPr lang="en-GB" sz="2400" dirty="0">
              <a:latin typeface="+mj-lt"/>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B3D35E8F-1520-480A-916D-4AF7966CAEAD}"/>
                  </a:ext>
                </a:extLst>
              </p:cNvPr>
              <p:cNvSpPr txBox="1"/>
              <p:nvPr/>
            </p:nvSpPr>
            <p:spPr>
              <a:xfrm>
                <a:off x="301021" y="1617704"/>
                <a:ext cx="6099780" cy="4068678"/>
              </a:xfrm>
              <a:prstGeom prst="rect">
                <a:avLst/>
              </a:prstGeom>
              <a:noFill/>
            </p:spPr>
            <p:txBody>
              <a:bodyPr wrap="square" rtlCol="0">
                <a:spAutoFit/>
              </a:bodyPr>
              <a:lstStyle/>
              <a:p>
                <a:r>
                  <a:rPr lang="en-AU" sz="2400" dirty="0">
                    <a:latin typeface="+mj-lt"/>
                  </a:rPr>
                  <a:t>The three most important hyperbolic functions are defined as:</a:t>
                </a:r>
              </a:p>
              <a:p>
                <a:r>
                  <a:rPr lang="en-AU" sz="2400" b="0" dirty="0"/>
                  <a:t> </a:t>
                </a:r>
                <a14:m>
                  <m:oMath xmlns:m="http://schemas.openxmlformats.org/officeDocument/2006/math">
                    <m:r>
                      <m:rPr>
                        <m:sty m:val="p"/>
                      </m:rPr>
                      <a:rPr lang="en-AU" sz="2400" b="0" i="0" smtClean="0">
                        <a:latin typeface="Cambria Math" panose="02040503050406030204" pitchFamily="18" charset="0"/>
                      </a:rPr>
                      <m:t>hyperbolic</m:t>
                    </m:r>
                    <m:r>
                      <a:rPr lang="en-AU" sz="2400" b="0" i="0" smtClean="0">
                        <a:latin typeface="Cambria Math" panose="02040503050406030204" pitchFamily="18" charset="0"/>
                      </a:rPr>
                      <m:t> </m:t>
                    </m:r>
                    <m:r>
                      <m:rPr>
                        <m:sty m:val="p"/>
                      </m:rPr>
                      <a:rPr lang="en-AU" sz="2400" b="0" i="0" smtClean="0">
                        <a:latin typeface="Cambria Math" panose="02040503050406030204" pitchFamily="18" charset="0"/>
                      </a:rPr>
                      <m:t>cosine</m:t>
                    </m:r>
                    <m:r>
                      <a:rPr lang="en-AU" sz="2400" b="0" i="0" smtClean="0">
                        <a:latin typeface="Cambria Math" panose="02040503050406030204" pitchFamily="18" charset="0"/>
                      </a:rPr>
                      <m:t>     </m:t>
                    </m:r>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cosh</m:t>
                        </m:r>
                      </m:fName>
                      <m:e>
                        <m:r>
                          <a:rPr lang="en-AU" sz="2400" b="0" i="1" smtClean="0">
                            <a:latin typeface="Cambria Math" panose="02040503050406030204" pitchFamily="18" charset="0"/>
                          </a:rPr>
                          <m:t>𝑥</m:t>
                        </m:r>
                      </m:e>
                    </m:func>
                    <m:r>
                      <a:rPr lang="en-AU" sz="2400" b="0" i="1" smtClean="0">
                        <a:latin typeface="Cambria Math" panose="02040503050406030204" pitchFamily="18" charset="0"/>
                      </a:rPr>
                      <m:t>=</m:t>
                    </m:r>
                    <m:f>
                      <m:fPr>
                        <m:ctrlPr>
                          <a:rPr lang="en-AU" sz="2400" b="0" i="1" smtClean="0">
                            <a:latin typeface="Cambria Math" panose="02040503050406030204" pitchFamily="18" charset="0"/>
                          </a:rPr>
                        </m:ctrlPr>
                      </m:fPr>
                      <m:num>
                        <m:r>
                          <a:rPr lang="en-AU" sz="2400" b="0" i="1" smtClean="0">
                            <a:latin typeface="Cambria Math" panose="02040503050406030204" pitchFamily="18" charset="0"/>
                          </a:rPr>
                          <m:t>1</m:t>
                        </m:r>
                      </m:num>
                      <m:den>
                        <m:r>
                          <a:rPr lang="en-AU" sz="2400" b="0" i="1" smtClean="0">
                            <a:latin typeface="Cambria Math" panose="02040503050406030204" pitchFamily="18" charset="0"/>
                          </a:rPr>
                          <m:t>2</m:t>
                        </m:r>
                      </m:den>
                    </m:f>
                    <m:d>
                      <m:dPr>
                        <m:ctrlPr>
                          <a:rPr lang="en-AU" sz="2400" b="0" i="1" smtClean="0">
                            <a:latin typeface="Cambria Math" panose="02040503050406030204" pitchFamily="18" charset="0"/>
                          </a:rPr>
                        </m:ctrlPr>
                      </m:dPr>
                      <m:e>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𝑒</m:t>
                            </m:r>
                          </m:e>
                          <m:sup>
                            <m:r>
                              <a:rPr lang="en-AU" sz="2400" b="0" i="1" smtClean="0">
                                <a:latin typeface="Cambria Math" panose="02040503050406030204" pitchFamily="18" charset="0"/>
                              </a:rPr>
                              <m:t>𝑥</m:t>
                            </m:r>
                          </m:sup>
                        </m:sSup>
                        <m:r>
                          <a:rPr lang="en-AU" sz="2400" b="0" i="1" smtClean="0">
                            <a:latin typeface="Cambria Math" panose="02040503050406030204" pitchFamily="18" charset="0"/>
                          </a:rPr>
                          <m:t>+</m:t>
                        </m:r>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𝑒</m:t>
                            </m:r>
                          </m:e>
                          <m:sup>
                            <m:r>
                              <a:rPr lang="en-AU" sz="2400" b="0" i="1" smtClean="0">
                                <a:latin typeface="Cambria Math" panose="02040503050406030204" pitchFamily="18" charset="0"/>
                              </a:rPr>
                              <m:t>−</m:t>
                            </m:r>
                            <m:r>
                              <a:rPr lang="en-AU" sz="2400" b="0" i="1" smtClean="0">
                                <a:latin typeface="Cambria Math" panose="02040503050406030204" pitchFamily="18" charset="0"/>
                              </a:rPr>
                              <m:t>𝑥</m:t>
                            </m:r>
                          </m:sup>
                        </m:sSup>
                      </m:e>
                    </m:d>
                  </m:oMath>
                </a14:m>
                <a:endParaRPr lang="en-AU" sz="2400" b="0" dirty="0">
                  <a:latin typeface="+mj-lt"/>
                </a:endParaRPr>
              </a:p>
              <a:p>
                <a:r>
                  <a:rPr lang="en-AU" sz="2400" b="0" dirty="0"/>
                  <a:t> </a:t>
                </a:r>
              </a:p>
              <a:p>
                <a:r>
                  <a:rPr lang="en-AU" sz="2400" dirty="0"/>
                  <a:t> </a:t>
                </a:r>
                <a14:m>
                  <m:oMath xmlns:m="http://schemas.openxmlformats.org/officeDocument/2006/math">
                    <m:r>
                      <m:rPr>
                        <m:sty m:val="p"/>
                      </m:rPr>
                      <a:rPr lang="en-AU" sz="2400" b="0" i="0" smtClean="0">
                        <a:latin typeface="Cambria Math" panose="02040503050406030204" pitchFamily="18" charset="0"/>
                      </a:rPr>
                      <m:t>hyperbolic</m:t>
                    </m:r>
                    <m:r>
                      <a:rPr lang="en-AU" sz="2400" b="0" i="0" smtClean="0">
                        <a:latin typeface="Cambria Math" panose="02040503050406030204" pitchFamily="18" charset="0"/>
                      </a:rPr>
                      <m:t> </m:t>
                    </m:r>
                    <m:r>
                      <m:rPr>
                        <m:sty m:val="p"/>
                      </m:rPr>
                      <a:rPr lang="en-AU" sz="2400" b="0" i="0" smtClean="0">
                        <a:latin typeface="Cambria Math" panose="02040503050406030204" pitchFamily="18" charset="0"/>
                      </a:rPr>
                      <m:t>sine</m:t>
                    </m:r>
                    <m:r>
                      <a:rPr lang="en-AU" sz="2400" b="0" i="0" smtClean="0">
                        <a:latin typeface="Cambria Math" panose="02040503050406030204" pitchFamily="18" charset="0"/>
                      </a:rPr>
                      <m:t>        </m:t>
                    </m:r>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sinh</m:t>
                        </m:r>
                      </m:fName>
                      <m:e>
                        <m:r>
                          <a:rPr lang="en-AU" sz="2400" b="0" i="1" smtClean="0">
                            <a:latin typeface="Cambria Math" panose="02040503050406030204" pitchFamily="18" charset="0"/>
                          </a:rPr>
                          <m:t>𝑥</m:t>
                        </m:r>
                      </m:e>
                    </m:func>
                    <m:r>
                      <a:rPr lang="en-AU" sz="2400" b="0" i="1" smtClean="0">
                        <a:latin typeface="Cambria Math" panose="02040503050406030204" pitchFamily="18" charset="0"/>
                      </a:rPr>
                      <m:t>=</m:t>
                    </m:r>
                    <m:f>
                      <m:fPr>
                        <m:ctrlPr>
                          <a:rPr lang="en-AU" sz="2400" b="0" i="1" smtClean="0">
                            <a:latin typeface="Cambria Math" panose="02040503050406030204" pitchFamily="18" charset="0"/>
                          </a:rPr>
                        </m:ctrlPr>
                      </m:fPr>
                      <m:num>
                        <m:r>
                          <a:rPr lang="en-AU" sz="2400" b="0" i="1" smtClean="0">
                            <a:latin typeface="Cambria Math" panose="02040503050406030204" pitchFamily="18" charset="0"/>
                          </a:rPr>
                          <m:t>1</m:t>
                        </m:r>
                      </m:num>
                      <m:den>
                        <m:r>
                          <a:rPr lang="en-AU" sz="2400" b="0" i="1" smtClean="0">
                            <a:latin typeface="Cambria Math" panose="02040503050406030204" pitchFamily="18" charset="0"/>
                          </a:rPr>
                          <m:t>2</m:t>
                        </m:r>
                      </m:den>
                    </m:f>
                    <m:d>
                      <m:dPr>
                        <m:ctrlPr>
                          <a:rPr lang="en-AU" sz="2400" b="0" i="1" smtClean="0">
                            <a:latin typeface="Cambria Math" panose="02040503050406030204" pitchFamily="18" charset="0"/>
                          </a:rPr>
                        </m:ctrlPr>
                      </m:dPr>
                      <m:e>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𝑒</m:t>
                            </m:r>
                          </m:e>
                          <m:sup>
                            <m:r>
                              <a:rPr lang="en-AU" sz="2400" b="0" i="1" smtClean="0">
                                <a:latin typeface="Cambria Math" panose="02040503050406030204" pitchFamily="18" charset="0"/>
                              </a:rPr>
                              <m:t>𝑥</m:t>
                            </m:r>
                          </m:sup>
                        </m:sSup>
                        <m:r>
                          <a:rPr lang="en-AU" sz="2400" b="0" i="1" smtClean="0">
                            <a:latin typeface="Cambria Math" panose="02040503050406030204" pitchFamily="18" charset="0"/>
                          </a:rPr>
                          <m:t>−</m:t>
                        </m:r>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𝑒</m:t>
                            </m:r>
                          </m:e>
                          <m:sup>
                            <m:r>
                              <a:rPr lang="en-AU" sz="2400" b="0" i="1" smtClean="0">
                                <a:latin typeface="Cambria Math" panose="02040503050406030204" pitchFamily="18" charset="0"/>
                              </a:rPr>
                              <m:t>−</m:t>
                            </m:r>
                            <m:r>
                              <a:rPr lang="en-AU" sz="2400" b="0" i="1" smtClean="0">
                                <a:latin typeface="Cambria Math" panose="02040503050406030204" pitchFamily="18" charset="0"/>
                              </a:rPr>
                              <m:t>𝑥</m:t>
                            </m:r>
                          </m:sup>
                        </m:sSup>
                      </m:e>
                    </m:d>
                  </m:oMath>
                </a14:m>
                <a:endParaRPr lang="en-AU" sz="2400" b="0" dirty="0">
                  <a:latin typeface="+mj-lt"/>
                </a:endParaRPr>
              </a:p>
              <a:p>
                <a:r>
                  <a:rPr lang="en-AU" sz="2400" b="0" dirty="0"/>
                  <a:t> </a:t>
                </a:r>
              </a:p>
              <a:p>
                <a:r>
                  <a:rPr lang="en-AU" sz="2400" dirty="0"/>
                  <a:t> </a:t>
                </a:r>
                <a14:m>
                  <m:oMath xmlns:m="http://schemas.openxmlformats.org/officeDocument/2006/math">
                    <m:r>
                      <m:rPr>
                        <m:sty m:val="p"/>
                      </m:rPr>
                      <a:rPr lang="en-AU" sz="2400" b="0" i="0" smtClean="0">
                        <a:latin typeface="Cambria Math" panose="02040503050406030204" pitchFamily="18" charset="0"/>
                      </a:rPr>
                      <m:t>hyperbolic</m:t>
                    </m:r>
                    <m:r>
                      <a:rPr lang="en-AU" sz="2400" b="0" i="0" smtClean="0">
                        <a:latin typeface="Cambria Math" panose="02040503050406030204" pitchFamily="18" charset="0"/>
                      </a:rPr>
                      <m:t> </m:t>
                    </m:r>
                    <m:r>
                      <m:rPr>
                        <m:sty m:val="p"/>
                      </m:rPr>
                      <a:rPr lang="en-AU" sz="2400" b="0" i="0" smtClean="0">
                        <a:latin typeface="Cambria Math" panose="02040503050406030204" pitchFamily="18" charset="0"/>
                      </a:rPr>
                      <m:t>tangent</m:t>
                    </m:r>
                    <m:r>
                      <a:rPr lang="en-AU" sz="2400" b="0" i="0" smtClean="0">
                        <a:latin typeface="Cambria Math" panose="02040503050406030204" pitchFamily="18" charset="0"/>
                      </a:rPr>
                      <m:t>          </m:t>
                    </m:r>
                  </m:oMath>
                </a14:m>
                <a:endParaRPr lang="en-AU" sz="2400" b="0" i="0" dirty="0">
                  <a:latin typeface="Cambria Math" panose="02040503050406030204" pitchFamily="18" charset="0"/>
                </a:endParaRPr>
              </a:p>
              <a:p>
                <a:endParaRPr lang="en-AU" sz="2400" b="0" i="0"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tanh</m:t>
                          </m:r>
                        </m:fName>
                        <m:e>
                          <m:r>
                            <a:rPr lang="en-AU" sz="2400" b="0" i="1" smtClean="0">
                              <a:latin typeface="Cambria Math" panose="02040503050406030204" pitchFamily="18" charset="0"/>
                            </a:rPr>
                            <m:t>𝑥</m:t>
                          </m:r>
                        </m:e>
                      </m:func>
                      <m:r>
                        <a:rPr lang="en-AU" sz="2400" b="0" i="1" smtClean="0">
                          <a:latin typeface="Cambria Math" panose="02040503050406030204" pitchFamily="18" charset="0"/>
                        </a:rPr>
                        <m:t>=</m:t>
                      </m:r>
                      <m:f>
                        <m:fPr>
                          <m:ctrlPr>
                            <a:rPr lang="en-AU" sz="2400" b="0" i="1" smtClean="0">
                              <a:latin typeface="Cambria Math" panose="02040503050406030204" pitchFamily="18" charset="0"/>
                            </a:rPr>
                          </m:ctrlPr>
                        </m:fPr>
                        <m:num>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sinh</m:t>
                              </m:r>
                            </m:fName>
                            <m:e>
                              <m:r>
                                <a:rPr lang="en-AU" sz="2400" b="0" i="1" smtClean="0">
                                  <a:latin typeface="Cambria Math" panose="02040503050406030204" pitchFamily="18" charset="0"/>
                                </a:rPr>
                                <m:t>𝑥</m:t>
                              </m:r>
                            </m:e>
                          </m:func>
                        </m:num>
                        <m:den>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cosh</m:t>
                              </m:r>
                            </m:fName>
                            <m:e>
                              <m:r>
                                <a:rPr lang="en-AU" sz="2400" b="0" i="1" smtClean="0">
                                  <a:latin typeface="Cambria Math" panose="02040503050406030204" pitchFamily="18" charset="0"/>
                                </a:rPr>
                                <m:t>𝑥</m:t>
                              </m:r>
                            </m:e>
                          </m:func>
                        </m:den>
                      </m:f>
                      <m:r>
                        <a:rPr lang="en-AU" sz="2400" b="0" i="1" smtClean="0">
                          <a:latin typeface="Cambria Math" panose="02040503050406030204" pitchFamily="18" charset="0"/>
                        </a:rPr>
                        <m:t>=</m:t>
                      </m:r>
                      <m:f>
                        <m:fPr>
                          <m:ctrlPr>
                            <a:rPr lang="en-AU" sz="2400" b="0" i="1" smtClean="0">
                              <a:latin typeface="Cambria Math" panose="02040503050406030204" pitchFamily="18" charset="0"/>
                            </a:rPr>
                          </m:ctrlPr>
                        </m:fPr>
                        <m:num>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𝑒</m:t>
                              </m:r>
                            </m:e>
                            <m:sup>
                              <m:r>
                                <a:rPr lang="en-AU" sz="2400" b="0" i="1" smtClean="0">
                                  <a:latin typeface="Cambria Math" panose="02040503050406030204" pitchFamily="18" charset="0"/>
                                </a:rPr>
                                <m:t>𝑥</m:t>
                              </m:r>
                            </m:sup>
                          </m:sSup>
                          <m:r>
                            <a:rPr lang="en-AU" sz="2400" b="0" i="1" smtClean="0">
                              <a:latin typeface="Cambria Math" panose="02040503050406030204" pitchFamily="18" charset="0"/>
                            </a:rPr>
                            <m:t>−</m:t>
                          </m:r>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𝑒</m:t>
                              </m:r>
                            </m:e>
                            <m:sup>
                              <m:r>
                                <a:rPr lang="en-AU" sz="2400" b="0" i="1" smtClean="0">
                                  <a:latin typeface="Cambria Math" panose="02040503050406030204" pitchFamily="18" charset="0"/>
                                </a:rPr>
                                <m:t>−</m:t>
                              </m:r>
                              <m:r>
                                <a:rPr lang="en-AU" sz="2400" b="0" i="1" smtClean="0">
                                  <a:latin typeface="Cambria Math" panose="02040503050406030204" pitchFamily="18" charset="0"/>
                                </a:rPr>
                                <m:t>𝑥</m:t>
                              </m:r>
                            </m:sup>
                          </m:sSup>
                        </m:num>
                        <m:den>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𝑒</m:t>
                              </m:r>
                            </m:e>
                            <m:sup>
                              <m:r>
                                <a:rPr lang="en-AU" sz="2400" b="0" i="1" smtClean="0">
                                  <a:latin typeface="Cambria Math" panose="02040503050406030204" pitchFamily="18" charset="0"/>
                                </a:rPr>
                                <m:t>𝑥</m:t>
                              </m:r>
                            </m:sup>
                          </m:sSup>
                          <m:r>
                            <a:rPr lang="en-AU" sz="2400" b="0" i="1" smtClean="0">
                              <a:latin typeface="Cambria Math" panose="02040503050406030204" pitchFamily="18" charset="0"/>
                            </a:rPr>
                            <m:t>+</m:t>
                          </m:r>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𝑒</m:t>
                              </m:r>
                            </m:e>
                            <m:sup>
                              <m:r>
                                <a:rPr lang="en-AU" sz="2400" b="0" i="1" smtClean="0">
                                  <a:latin typeface="Cambria Math" panose="02040503050406030204" pitchFamily="18" charset="0"/>
                                </a:rPr>
                                <m:t>−</m:t>
                              </m:r>
                              <m:r>
                                <a:rPr lang="en-AU" sz="2400" b="0" i="1" smtClean="0">
                                  <a:latin typeface="Cambria Math" panose="02040503050406030204" pitchFamily="18" charset="0"/>
                                </a:rPr>
                                <m:t>𝑥</m:t>
                              </m:r>
                            </m:sup>
                          </m:sSup>
                        </m:den>
                      </m:f>
                    </m:oMath>
                  </m:oMathPara>
                </a14:m>
                <a:endParaRPr lang="en-AU" sz="2400" b="0" dirty="0">
                  <a:latin typeface="+mj-lt"/>
                </a:endParaRPr>
              </a:p>
            </p:txBody>
          </p:sp>
        </mc:Choice>
        <mc:Fallback xmlns="">
          <p:sp>
            <p:nvSpPr>
              <p:cNvPr id="3" name="TextBox 2">
                <a:extLst>
                  <a:ext uri="{FF2B5EF4-FFF2-40B4-BE49-F238E27FC236}">
                    <a16:creationId xmlns:a16="http://schemas.microsoft.com/office/drawing/2014/main" id="{B3D35E8F-1520-480A-916D-4AF7966CAEAD}"/>
                  </a:ext>
                </a:extLst>
              </p:cNvPr>
              <p:cNvSpPr txBox="1">
                <a:spLocks noRot="1" noChangeAspect="1" noMove="1" noResize="1" noEditPoints="1" noAdjustHandles="1" noChangeArrowheads="1" noChangeShapeType="1" noTextEdit="1"/>
              </p:cNvSpPr>
              <p:nvPr/>
            </p:nvSpPr>
            <p:spPr>
              <a:xfrm>
                <a:off x="301021" y="1617704"/>
                <a:ext cx="6099780" cy="4068678"/>
              </a:xfrm>
              <a:prstGeom prst="rect">
                <a:avLst/>
              </a:prstGeom>
              <a:blipFill>
                <a:blip r:embed="rId2"/>
                <a:stretch>
                  <a:fillRect l="-1499" t="-1198"/>
                </a:stretch>
              </a:blipFill>
            </p:spPr>
            <p:txBody>
              <a:bodyPr/>
              <a:lstStyle/>
              <a:p>
                <a:r>
                  <a:rPr lang="en-GB">
                    <a:noFill/>
                  </a:rPr>
                  <a:t> </a:t>
                </a:r>
              </a:p>
            </p:txBody>
          </p:sp>
        </mc:Fallback>
      </mc:AlternateContent>
      <p:pic>
        <p:nvPicPr>
          <p:cNvPr id="1028" name="Picture 4" descr="How are hyperbolic sine, hyperbolic cosine, and hyperbolic tangent ...">
            <a:extLst>
              <a:ext uri="{FF2B5EF4-FFF2-40B4-BE49-F238E27FC236}">
                <a16:creationId xmlns:a16="http://schemas.microsoft.com/office/drawing/2014/main" id="{EEACEECD-432C-414E-979E-5E17963499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00801" y="1048888"/>
            <a:ext cx="3800475" cy="2847975"/>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CC Hyperbolic Functions">
            <a:extLst>
              <a:ext uri="{FF2B5EF4-FFF2-40B4-BE49-F238E27FC236}">
                <a16:creationId xmlns:a16="http://schemas.microsoft.com/office/drawing/2014/main" id="{EE0A5AD9-0281-4ECC-B920-CCEBDEDB4295}"/>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185474" y="3145410"/>
            <a:ext cx="3822046" cy="2540972"/>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caten-, catenat- - Word Information">
            <a:extLst>
              <a:ext uri="{FF2B5EF4-FFF2-40B4-BE49-F238E27FC236}">
                <a16:creationId xmlns:a16="http://schemas.microsoft.com/office/drawing/2014/main" id="{482A6F31-CF37-4622-AB24-70CA2FBDCCF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07424" y="4320988"/>
            <a:ext cx="2861730" cy="22822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4685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3661067" cy="523220"/>
          </a:xfrm>
          <a:prstGeom prst="rect">
            <a:avLst/>
          </a:prstGeom>
          <a:noFill/>
        </p:spPr>
        <p:txBody>
          <a:bodyPr wrap="none" rtlCol="0">
            <a:spAutoFit/>
          </a:bodyPr>
          <a:lstStyle/>
          <a:p>
            <a:r>
              <a:rPr lang="en-AU" sz="2800" b="1" cap="small" dirty="0">
                <a:solidFill>
                  <a:schemeClr val="bg1"/>
                </a:solidFill>
                <a:latin typeface="+mj-lt"/>
              </a:rPr>
              <a:t>1.5 Elementary functions</a:t>
            </a:r>
            <a:endParaRPr lang="en-GB" sz="2800" b="1" cap="small" dirty="0">
              <a:solidFill>
                <a:schemeClr val="bg1"/>
              </a:solidFill>
              <a:latin typeface="+mj-lt"/>
            </a:endParaRPr>
          </a:p>
        </p:txBody>
      </p:sp>
      <p:sp>
        <p:nvSpPr>
          <p:cNvPr id="2" name="TextBox 1">
            <a:extLst>
              <a:ext uri="{FF2B5EF4-FFF2-40B4-BE49-F238E27FC236}">
                <a16:creationId xmlns:a16="http://schemas.microsoft.com/office/drawing/2014/main" id="{8245C68E-4F37-4D4B-B805-8F79EB0F5C22}"/>
              </a:ext>
            </a:extLst>
          </p:cNvPr>
          <p:cNvSpPr txBox="1"/>
          <p:nvPr/>
        </p:nvSpPr>
        <p:spPr>
          <a:xfrm>
            <a:off x="301020" y="1048888"/>
            <a:ext cx="2736647" cy="461665"/>
          </a:xfrm>
          <a:prstGeom prst="rect">
            <a:avLst/>
          </a:prstGeom>
          <a:noFill/>
          <a:ln>
            <a:solidFill>
              <a:schemeClr val="accent2">
                <a:lumMod val="50000"/>
              </a:schemeClr>
            </a:solidFill>
          </a:ln>
        </p:spPr>
        <p:txBody>
          <a:bodyPr wrap="none" rtlCol="0">
            <a:spAutoFit/>
          </a:bodyPr>
          <a:lstStyle/>
          <a:p>
            <a:r>
              <a:rPr lang="en-AU" sz="2400" dirty="0">
                <a:latin typeface="+mj-lt"/>
              </a:rPr>
              <a:t>Hyperbolic functions</a:t>
            </a:r>
            <a:endParaRPr lang="en-GB" sz="2400" dirty="0">
              <a:latin typeface="+mj-lt"/>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B3D35E8F-1520-480A-916D-4AF7966CAEAD}"/>
                  </a:ext>
                </a:extLst>
              </p:cNvPr>
              <p:cNvSpPr txBox="1"/>
              <p:nvPr/>
            </p:nvSpPr>
            <p:spPr>
              <a:xfrm>
                <a:off x="301020" y="1617704"/>
                <a:ext cx="11559285" cy="4487062"/>
              </a:xfrm>
              <a:prstGeom prst="rect">
                <a:avLst/>
              </a:prstGeom>
              <a:noFill/>
            </p:spPr>
            <p:txBody>
              <a:bodyPr wrap="square" rtlCol="0">
                <a:spAutoFit/>
              </a:bodyPr>
              <a:lstStyle/>
              <a:p>
                <a:r>
                  <a:rPr lang="en-AU" sz="2400" dirty="0">
                    <a:latin typeface="+mj-lt"/>
                  </a:rPr>
                  <a:t>Some identities satisfied by hyperbolic functions:</a:t>
                </a:r>
              </a:p>
              <a:p>
                <a:pPr/>
                <a14:m>
                  <m:oMathPara xmlns:m="http://schemas.openxmlformats.org/officeDocument/2006/math">
                    <m:oMathParaPr>
                      <m:jc m:val="centerGroup"/>
                    </m:oMathParaPr>
                    <m:oMath xmlns:m="http://schemas.openxmlformats.org/officeDocument/2006/math">
                      <m:func>
                        <m:funcPr>
                          <m:ctrlPr>
                            <a:rPr lang="en-AU" sz="2400" b="0" i="1" smtClean="0">
                              <a:latin typeface="Cambria Math" panose="02040503050406030204" pitchFamily="18" charset="0"/>
                            </a:rPr>
                          </m:ctrlPr>
                        </m:funcPr>
                        <m:fName>
                          <m:sSup>
                            <m:sSupPr>
                              <m:ctrlPr>
                                <a:rPr lang="en-AU" sz="2400" b="0" i="1" smtClean="0">
                                  <a:latin typeface="Cambria Math" panose="02040503050406030204" pitchFamily="18" charset="0"/>
                                </a:rPr>
                              </m:ctrlPr>
                            </m:sSupPr>
                            <m:e>
                              <m:r>
                                <m:rPr>
                                  <m:sty m:val="p"/>
                                </m:rPr>
                                <a:rPr lang="en-AU" sz="2400">
                                  <a:latin typeface="Cambria Math" panose="02040503050406030204" pitchFamily="18" charset="0"/>
                                </a:rPr>
                                <m:t>cosh</m:t>
                              </m:r>
                            </m:e>
                            <m:sup>
                              <m:r>
                                <a:rPr lang="en-AU" sz="2400" b="0" i="1" smtClean="0">
                                  <a:latin typeface="Cambria Math" panose="02040503050406030204" pitchFamily="18" charset="0"/>
                                </a:rPr>
                                <m:t>2</m:t>
                              </m:r>
                            </m:sup>
                          </m:sSup>
                        </m:fName>
                        <m:e>
                          <m:r>
                            <a:rPr lang="en-AU" sz="2400" b="0" i="1" smtClean="0">
                              <a:latin typeface="Cambria Math" panose="02040503050406030204" pitchFamily="18" charset="0"/>
                            </a:rPr>
                            <m:t>𝑥</m:t>
                          </m:r>
                        </m:e>
                      </m:func>
                      <m:r>
                        <a:rPr lang="en-AU" sz="2400" b="0" i="1" smtClean="0">
                          <a:latin typeface="Cambria Math" panose="02040503050406030204" pitchFamily="18" charset="0"/>
                        </a:rPr>
                        <m:t>−</m:t>
                      </m:r>
                      <m:func>
                        <m:funcPr>
                          <m:ctrlPr>
                            <a:rPr lang="en-AU" sz="2400" b="0" i="1" smtClean="0">
                              <a:latin typeface="Cambria Math" panose="02040503050406030204" pitchFamily="18" charset="0"/>
                            </a:rPr>
                          </m:ctrlPr>
                        </m:funcPr>
                        <m:fName>
                          <m:sSup>
                            <m:sSupPr>
                              <m:ctrlPr>
                                <a:rPr lang="en-AU" sz="2400" b="0" i="1" smtClean="0">
                                  <a:latin typeface="Cambria Math" panose="02040503050406030204" pitchFamily="18" charset="0"/>
                                </a:rPr>
                              </m:ctrlPr>
                            </m:sSupPr>
                            <m:e>
                              <m:r>
                                <m:rPr>
                                  <m:sty m:val="p"/>
                                </m:rPr>
                                <a:rPr lang="en-AU" sz="2400">
                                  <a:latin typeface="Cambria Math" panose="02040503050406030204" pitchFamily="18" charset="0"/>
                                </a:rPr>
                                <m:t>sinh</m:t>
                              </m:r>
                            </m:e>
                            <m:sup>
                              <m:r>
                                <a:rPr lang="en-AU" sz="2400" b="0" i="1" smtClean="0">
                                  <a:latin typeface="Cambria Math" panose="02040503050406030204" pitchFamily="18" charset="0"/>
                                </a:rPr>
                                <m:t>2</m:t>
                              </m:r>
                            </m:sup>
                          </m:sSup>
                        </m:fName>
                        <m:e>
                          <m:r>
                            <a:rPr lang="en-AU" sz="2400" b="0" i="1" smtClean="0">
                              <a:latin typeface="Cambria Math" panose="02040503050406030204" pitchFamily="18" charset="0"/>
                            </a:rPr>
                            <m:t>𝑥</m:t>
                          </m:r>
                        </m:e>
                      </m:func>
                      <m:r>
                        <a:rPr lang="en-AU" sz="2400" b="0" i="1" smtClean="0">
                          <a:latin typeface="Cambria Math" panose="02040503050406030204" pitchFamily="18" charset="0"/>
                        </a:rPr>
                        <m:t>=1</m:t>
                      </m:r>
                    </m:oMath>
                  </m:oMathPara>
                </a14:m>
                <a:endParaRPr lang="en-AU" sz="2400" b="0" dirty="0">
                  <a:latin typeface="+mj-lt"/>
                </a:endParaRPr>
              </a:p>
              <a:p>
                <a:endParaRPr lang="en-AU" sz="2400" b="0" dirty="0">
                  <a:latin typeface="+mj-lt"/>
                </a:endParaRPr>
              </a:p>
              <a:p>
                <a:pPr/>
                <a14:m>
                  <m:oMathPara xmlns:m="http://schemas.openxmlformats.org/officeDocument/2006/math">
                    <m:oMathParaPr>
                      <m:jc m:val="centerGroup"/>
                    </m:oMathParaPr>
                    <m:oMath xmlns:m="http://schemas.openxmlformats.org/officeDocument/2006/math">
                      <m:func>
                        <m:funcPr>
                          <m:ctrlPr>
                            <a:rPr lang="en-AU" sz="2400" i="1">
                              <a:latin typeface="Cambria Math" panose="02040503050406030204" pitchFamily="18" charset="0"/>
                            </a:rPr>
                          </m:ctrlPr>
                        </m:funcPr>
                        <m:fName>
                          <m:r>
                            <m:rPr>
                              <m:sty m:val="p"/>
                            </m:rPr>
                            <a:rPr lang="en-AU" sz="2400">
                              <a:latin typeface="Cambria Math" panose="02040503050406030204" pitchFamily="18" charset="0"/>
                            </a:rPr>
                            <m:t>sin</m:t>
                          </m:r>
                          <m:r>
                            <m:rPr>
                              <m:sty m:val="p"/>
                            </m:rPr>
                            <a:rPr lang="en-AU" sz="2400" b="0" i="0" smtClean="0">
                              <a:latin typeface="Cambria Math" panose="02040503050406030204" pitchFamily="18" charset="0"/>
                            </a:rPr>
                            <m:t>h</m:t>
                          </m:r>
                        </m:fName>
                        <m:e>
                          <m:d>
                            <m:dPr>
                              <m:ctrlPr>
                                <a:rPr lang="en-AU" sz="2400" i="1">
                                  <a:latin typeface="Cambria Math" panose="02040503050406030204" pitchFamily="18" charset="0"/>
                                </a:rPr>
                              </m:ctrlPr>
                            </m:dPr>
                            <m:e>
                              <m:r>
                                <a:rPr lang="en-AU" sz="2400" i="1">
                                  <a:latin typeface="Cambria Math" panose="02040503050406030204" pitchFamily="18" charset="0"/>
                                </a:rPr>
                                <m:t>𝑥</m:t>
                              </m:r>
                              <m:r>
                                <a:rPr lang="en-AU" sz="2400" i="1">
                                  <a:latin typeface="Cambria Math" panose="02040503050406030204" pitchFamily="18" charset="0"/>
                                </a:rPr>
                                <m:t>+</m:t>
                              </m:r>
                              <m:r>
                                <a:rPr lang="en-AU" sz="2400" i="1">
                                  <a:latin typeface="Cambria Math" panose="02040503050406030204" pitchFamily="18" charset="0"/>
                                </a:rPr>
                                <m:t>𝑦</m:t>
                              </m:r>
                            </m:e>
                          </m:d>
                        </m:e>
                      </m:func>
                      <m:r>
                        <a:rPr lang="en-AU" sz="2400" i="1">
                          <a:latin typeface="Cambria Math" panose="02040503050406030204" pitchFamily="18" charset="0"/>
                        </a:rPr>
                        <m:t>=</m:t>
                      </m:r>
                      <m:func>
                        <m:funcPr>
                          <m:ctrlPr>
                            <a:rPr lang="en-AU" sz="2400" i="1">
                              <a:latin typeface="Cambria Math" panose="02040503050406030204" pitchFamily="18" charset="0"/>
                            </a:rPr>
                          </m:ctrlPr>
                        </m:funcPr>
                        <m:fName>
                          <m:r>
                            <m:rPr>
                              <m:sty m:val="p"/>
                            </m:rPr>
                            <a:rPr lang="en-AU" sz="2400">
                              <a:latin typeface="Cambria Math" panose="02040503050406030204" pitchFamily="18" charset="0"/>
                            </a:rPr>
                            <m:t>sin</m:t>
                          </m:r>
                          <m:r>
                            <m:rPr>
                              <m:sty m:val="p"/>
                            </m:rPr>
                            <a:rPr lang="en-AU" sz="2400" b="0" i="0" smtClean="0">
                              <a:latin typeface="Cambria Math" panose="02040503050406030204" pitchFamily="18" charset="0"/>
                            </a:rPr>
                            <m:t>h</m:t>
                          </m:r>
                        </m:fName>
                        <m:e>
                          <m:r>
                            <a:rPr lang="en-AU" sz="2400" i="1">
                              <a:latin typeface="Cambria Math" panose="02040503050406030204" pitchFamily="18" charset="0"/>
                            </a:rPr>
                            <m:t>𝑥</m:t>
                          </m:r>
                        </m:e>
                      </m:func>
                      <m:func>
                        <m:funcPr>
                          <m:ctrlPr>
                            <a:rPr lang="en-AU" sz="2400" i="1">
                              <a:latin typeface="Cambria Math" panose="02040503050406030204" pitchFamily="18" charset="0"/>
                            </a:rPr>
                          </m:ctrlPr>
                        </m:funcPr>
                        <m:fName>
                          <m:r>
                            <m:rPr>
                              <m:sty m:val="p"/>
                            </m:rPr>
                            <a:rPr lang="en-AU" sz="2400">
                              <a:latin typeface="Cambria Math" panose="02040503050406030204" pitchFamily="18" charset="0"/>
                            </a:rPr>
                            <m:t>cos</m:t>
                          </m:r>
                          <m:r>
                            <m:rPr>
                              <m:sty m:val="p"/>
                            </m:rPr>
                            <a:rPr lang="en-AU" sz="2400" b="0" i="0" smtClean="0">
                              <a:latin typeface="Cambria Math" panose="02040503050406030204" pitchFamily="18" charset="0"/>
                            </a:rPr>
                            <m:t>h</m:t>
                          </m:r>
                        </m:fName>
                        <m:e>
                          <m:r>
                            <a:rPr lang="en-AU" sz="2400" i="1">
                              <a:latin typeface="Cambria Math" panose="02040503050406030204" pitchFamily="18" charset="0"/>
                            </a:rPr>
                            <m:t>𝑦</m:t>
                          </m:r>
                        </m:e>
                      </m:func>
                      <m:r>
                        <a:rPr lang="en-AU" sz="2400" i="1">
                          <a:latin typeface="Cambria Math" panose="02040503050406030204" pitchFamily="18" charset="0"/>
                        </a:rPr>
                        <m:t>+</m:t>
                      </m:r>
                      <m:func>
                        <m:funcPr>
                          <m:ctrlPr>
                            <a:rPr lang="en-AU" sz="2400" i="1">
                              <a:latin typeface="Cambria Math" panose="02040503050406030204" pitchFamily="18" charset="0"/>
                            </a:rPr>
                          </m:ctrlPr>
                        </m:funcPr>
                        <m:fName>
                          <m:r>
                            <m:rPr>
                              <m:sty m:val="p"/>
                            </m:rPr>
                            <a:rPr lang="en-AU" sz="2400">
                              <a:latin typeface="Cambria Math" panose="02040503050406030204" pitchFamily="18" charset="0"/>
                            </a:rPr>
                            <m:t>sin</m:t>
                          </m:r>
                          <m:r>
                            <m:rPr>
                              <m:sty m:val="p"/>
                            </m:rPr>
                            <a:rPr lang="en-AU" sz="2400" b="0" i="0" smtClean="0">
                              <a:latin typeface="Cambria Math" panose="02040503050406030204" pitchFamily="18" charset="0"/>
                            </a:rPr>
                            <m:t>h</m:t>
                          </m:r>
                        </m:fName>
                        <m:e>
                          <m:r>
                            <a:rPr lang="en-AU" sz="2400" i="1">
                              <a:latin typeface="Cambria Math" panose="02040503050406030204" pitchFamily="18" charset="0"/>
                            </a:rPr>
                            <m:t>𝑦</m:t>
                          </m:r>
                        </m:e>
                      </m:func>
                      <m:func>
                        <m:funcPr>
                          <m:ctrlPr>
                            <a:rPr lang="en-AU" sz="2400" i="1">
                              <a:latin typeface="Cambria Math" panose="02040503050406030204" pitchFamily="18" charset="0"/>
                            </a:rPr>
                          </m:ctrlPr>
                        </m:funcPr>
                        <m:fName>
                          <m:r>
                            <m:rPr>
                              <m:sty m:val="p"/>
                            </m:rPr>
                            <a:rPr lang="en-AU" sz="2400">
                              <a:latin typeface="Cambria Math" panose="02040503050406030204" pitchFamily="18" charset="0"/>
                            </a:rPr>
                            <m:t>cos</m:t>
                          </m:r>
                          <m:r>
                            <m:rPr>
                              <m:sty m:val="p"/>
                            </m:rPr>
                            <a:rPr lang="en-AU" sz="2400" b="0" i="0" smtClean="0">
                              <a:latin typeface="Cambria Math" panose="02040503050406030204" pitchFamily="18" charset="0"/>
                            </a:rPr>
                            <m:t>h</m:t>
                          </m:r>
                        </m:fName>
                        <m:e>
                          <m:r>
                            <a:rPr lang="en-AU" sz="2400" i="1">
                              <a:latin typeface="Cambria Math" panose="02040503050406030204" pitchFamily="18" charset="0"/>
                            </a:rPr>
                            <m:t>𝑥</m:t>
                          </m:r>
                        </m:e>
                      </m:func>
                    </m:oMath>
                  </m:oMathPara>
                </a14:m>
                <a:endParaRPr lang="en-AU" sz="2400" dirty="0"/>
              </a:p>
              <a:p>
                <a:pPr/>
                <a14:m>
                  <m:oMathPara xmlns:m="http://schemas.openxmlformats.org/officeDocument/2006/math">
                    <m:oMathParaPr>
                      <m:jc m:val="centerGroup"/>
                    </m:oMathParaPr>
                    <m:oMath xmlns:m="http://schemas.openxmlformats.org/officeDocument/2006/math">
                      <m:func>
                        <m:funcPr>
                          <m:ctrlPr>
                            <a:rPr lang="en-AU" sz="2400" i="1">
                              <a:latin typeface="Cambria Math" panose="02040503050406030204" pitchFamily="18" charset="0"/>
                            </a:rPr>
                          </m:ctrlPr>
                        </m:funcPr>
                        <m:fName>
                          <m:r>
                            <m:rPr>
                              <m:sty m:val="p"/>
                            </m:rPr>
                            <a:rPr lang="en-AU" sz="2400">
                              <a:latin typeface="Cambria Math" panose="02040503050406030204" pitchFamily="18" charset="0"/>
                            </a:rPr>
                            <m:t>sin</m:t>
                          </m:r>
                          <m:r>
                            <m:rPr>
                              <m:sty m:val="p"/>
                            </m:rPr>
                            <a:rPr lang="en-AU" sz="2400" b="0" i="0" smtClean="0">
                              <a:latin typeface="Cambria Math" panose="02040503050406030204" pitchFamily="18" charset="0"/>
                            </a:rPr>
                            <m:t>h</m:t>
                          </m:r>
                        </m:fName>
                        <m:e>
                          <m:d>
                            <m:dPr>
                              <m:ctrlPr>
                                <a:rPr lang="en-AU" sz="2400" i="1">
                                  <a:latin typeface="Cambria Math" panose="02040503050406030204" pitchFamily="18" charset="0"/>
                                </a:rPr>
                              </m:ctrlPr>
                            </m:dPr>
                            <m:e>
                              <m:r>
                                <a:rPr lang="en-AU" sz="2400" i="1">
                                  <a:latin typeface="Cambria Math" panose="02040503050406030204" pitchFamily="18" charset="0"/>
                                </a:rPr>
                                <m:t>𝑥</m:t>
                              </m:r>
                              <m:r>
                                <a:rPr lang="en-AU" sz="2400" i="1">
                                  <a:latin typeface="Cambria Math" panose="02040503050406030204" pitchFamily="18" charset="0"/>
                                </a:rPr>
                                <m:t>−</m:t>
                              </m:r>
                              <m:r>
                                <a:rPr lang="en-AU" sz="2400" i="1">
                                  <a:latin typeface="Cambria Math" panose="02040503050406030204" pitchFamily="18" charset="0"/>
                                </a:rPr>
                                <m:t>𝑦</m:t>
                              </m:r>
                            </m:e>
                          </m:d>
                        </m:e>
                      </m:func>
                      <m:r>
                        <a:rPr lang="en-AU" sz="2400" i="1">
                          <a:latin typeface="Cambria Math" panose="02040503050406030204" pitchFamily="18" charset="0"/>
                        </a:rPr>
                        <m:t>=</m:t>
                      </m:r>
                      <m:func>
                        <m:funcPr>
                          <m:ctrlPr>
                            <a:rPr lang="en-AU" sz="2400" i="1">
                              <a:latin typeface="Cambria Math" panose="02040503050406030204" pitchFamily="18" charset="0"/>
                            </a:rPr>
                          </m:ctrlPr>
                        </m:funcPr>
                        <m:fName>
                          <m:r>
                            <m:rPr>
                              <m:sty m:val="p"/>
                            </m:rPr>
                            <a:rPr lang="en-AU" sz="2400">
                              <a:latin typeface="Cambria Math" panose="02040503050406030204" pitchFamily="18" charset="0"/>
                            </a:rPr>
                            <m:t>sin</m:t>
                          </m:r>
                          <m:r>
                            <m:rPr>
                              <m:sty m:val="p"/>
                            </m:rPr>
                            <a:rPr lang="en-AU" sz="2400" b="0" i="0" smtClean="0">
                              <a:latin typeface="Cambria Math" panose="02040503050406030204" pitchFamily="18" charset="0"/>
                            </a:rPr>
                            <m:t>h</m:t>
                          </m:r>
                        </m:fName>
                        <m:e>
                          <m:r>
                            <a:rPr lang="en-AU" sz="2400" i="1">
                              <a:latin typeface="Cambria Math" panose="02040503050406030204" pitchFamily="18" charset="0"/>
                            </a:rPr>
                            <m:t>𝑥</m:t>
                          </m:r>
                        </m:e>
                      </m:func>
                      <m:func>
                        <m:funcPr>
                          <m:ctrlPr>
                            <a:rPr lang="en-AU" sz="2400" i="1">
                              <a:latin typeface="Cambria Math" panose="02040503050406030204" pitchFamily="18" charset="0"/>
                            </a:rPr>
                          </m:ctrlPr>
                        </m:funcPr>
                        <m:fName>
                          <m:r>
                            <m:rPr>
                              <m:sty m:val="p"/>
                            </m:rPr>
                            <a:rPr lang="en-AU" sz="2400">
                              <a:latin typeface="Cambria Math" panose="02040503050406030204" pitchFamily="18" charset="0"/>
                            </a:rPr>
                            <m:t>cos</m:t>
                          </m:r>
                          <m:r>
                            <m:rPr>
                              <m:sty m:val="p"/>
                            </m:rPr>
                            <a:rPr lang="en-AU" sz="2400" b="0" i="0" smtClean="0">
                              <a:latin typeface="Cambria Math" panose="02040503050406030204" pitchFamily="18" charset="0"/>
                            </a:rPr>
                            <m:t>h</m:t>
                          </m:r>
                        </m:fName>
                        <m:e>
                          <m:r>
                            <a:rPr lang="en-AU" sz="2400" i="1">
                              <a:latin typeface="Cambria Math" panose="02040503050406030204" pitchFamily="18" charset="0"/>
                            </a:rPr>
                            <m:t>𝑦</m:t>
                          </m:r>
                        </m:e>
                      </m:func>
                      <m:r>
                        <a:rPr lang="en-AU" sz="2400" i="1">
                          <a:latin typeface="Cambria Math" panose="02040503050406030204" pitchFamily="18" charset="0"/>
                        </a:rPr>
                        <m:t>−</m:t>
                      </m:r>
                      <m:func>
                        <m:funcPr>
                          <m:ctrlPr>
                            <a:rPr lang="en-AU" sz="2400" i="1">
                              <a:latin typeface="Cambria Math" panose="02040503050406030204" pitchFamily="18" charset="0"/>
                            </a:rPr>
                          </m:ctrlPr>
                        </m:funcPr>
                        <m:fName>
                          <m:r>
                            <m:rPr>
                              <m:sty m:val="p"/>
                            </m:rPr>
                            <a:rPr lang="en-AU" sz="2400">
                              <a:latin typeface="Cambria Math" panose="02040503050406030204" pitchFamily="18" charset="0"/>
                            </a:rPr>
                            <m:t>sin</m:t>
                          </m:r>
                          <m:r>
                            <m:rPr>
                              <m:sty m:val="p"/>
                            </m:rPr>
                            <a:rPr lang="en-AU" sz="2400" b="0" i="0" smtClean="0">
                              <a:latin typeface="Cambria Math" panose="02040503050406030204" pitchFamily="18" charset="0"/>
                            </a:rPr>
                            <m:t>h</m:t>
                          </m:r>
                        </m:fName>
                        <m:e>
                          <m:r>
                            <a:rPr lang="en-AU" sz="2400" i="1">
                              <a:latin typeface="Cambria Math" panose="02040503050406030204" pitchFamily="18" charset="0"/>
                            </a:rPr>
                            <m:t>𝑦</m:t>
                          </m:r>
                        </m:e>
                      </m:func>
                      <m:func>
                        <m:funcPr>
                          <m:ctrlPr>
                            <a:rPr lang="en-AU" sz="2400" i="1">
                              <a:latin typeface="Cambria Math" panose="02040503050406030204" pitchFamily="18" charset="0"/>
                            </a:rPr>
                          </m:ctrlPr>
                        </m:funcPr>
                        <m:fName>
                          <m:r>
                            <m:rPr>
                              <m:sty m:val="p"/>
                            </m:rPr>
                            <a:rPr lang="en-AU" sz="2400">
                              <a:latin typeface="Cambria Math" panose="02040503050406030204" pitchFamily="18" charset="0"/>
                            </a:rPr>
                            <m:t>cos</m:t>
                          </m:r>
                          <m:r>
                            <m:rPr>
                              <m:sty m:val="p"/>
                            </m:rPr>
                            <a:rPr lang="en-AU" sz="2400" b="0" i="0" smtClean="0">
                              <a:latin typeface="Cambria Math" panose="02040503050406030204" pitchFamily="18" charset="0"/>
                            </a:rPr>
                            <m:t>h</m:t>
                          </m:r>
                        </m:fName>
                        <m:e>
                          <m:r>
                            <a:rPr lang="en-AU" sz="2400" i="1">
                              <a:latin typeface="Cambria Math" panose="02040503050406030204" pitchFamily="18" charset="0"/>
                            </a:rPr>
                            <m:t>𝑥</m:t>
                          </m:r>
                        </m:e>
                      </m:func>
                    </m:oMath>
                  </m:oMathPara>
                </a14:m>
                <a:endParaRPr lang="en-AU" sz="2400" dirty="0"/>
              </a:p>
              <a:p>
                <a:pPr/>
                <a14:m>
                  <m:oMathPara xmlns:m="http://schemas.openxmlformats.org/officeDocument/2006/math">
                    <m:oMathParaPr>
                      <m:jc m:val="centerGroup"/>
                    </m:oMathParaPr>
                    <m:oMath xmlns:m="http://schemas.openxmlformats.org/officeDocument/2006/math">
                      <m:func>
                        <m:funcPr>
                          <m:ctrlPr>
                            <a:rPr lang="en-AU" sz="2400" i="1">
                              <a:latin typeface="Cambria Math" panose="02040503050406030204" pitchFamily="18" charset="0"/>
                            </a:rPr>
                          </m:ctrlPr>
                        </m:funcPr>
                        <m:fName>
                          <m:r>
                            <m:rPr>
                              <m:sty m:val="p"/>
                            </m:rPr>
                            <a:rPr lang="en-AU" sz="2400">
                              <a:latin typeface="Cambria Math" panose="02040503050406030204" pitchFamily="18" charset="0"/>
                            </a:rPr>
                            <m:t>cos</m:t>
                          </m:r>
                          <m:r>
                            <m:rPr>
                              <m:sty m:val="p"/>
                            </m:rPr>
                            <a:rPr lang="en-AU" sz="2400" b="0" i="0" smtClean="0">
                              <a:latin typeface="Cambria Math" panose="02040503050406030204" pitchFamily="18" charset="0"/>
                            </a:rPr>
                            <m:t>h</m:t>
                          </m:r>
                        </m:fName>
                        <m:e>
                          <m:d>
                            <m:dPr>
                              <m:ctrlPr>
                                <a:rPr lang="en-AU" sz="2400" i="1">
                                  <a:latin typeface="Cambria Math" panose="02040503050406030204" pitchFamily="18" charset="0"/>
                                </a:rPr>
                              </m:ctrlPr>
                            </m:dPr>
                            <m:e>
                              <m:r>
                                <a:rPr lang="en-AU" sz="2400" i="1">
                                  <a:latin typeface="Cambria Math" panose="02040503050406030204" pitchFamily="18" charset="0"/>
                                </a:rPr>
                                <m:t>𝑥</m:t>
                              </m:r>
                              <m:r>
                                <a:rPr lang="en-AU" sz="2400" i="1">
                                  <a:latin typeface="Cambria Math" panose="02040503050406030204" pitchFamily="18" charset="0"/>
                                </a:rPr>
                                <m:t>+</m:t>
                              </m:r>
                              <m:r>
                                <a:rPr lang="en-AU" sz="2400" i="1">
                                  <a:latin typeface="Cambria Math" panose="02040503050406030204" pitchFamily="18" charset="0"/>
                                </a:rPr>
                                <m:t>𝑦</m:t>
                              </m:r>
                            </m:e>
                          </m:d>
                        </m:e>
                      </m:func>
                      <m:r>
                        <a:rPr lang="en-AU" sz="2400" i="1">
                          <a:latin typeface="Cambria Math" panose="02040503050406030204" pitchFamily="18" charset="0"/>
                        </a:rPr>
                        <m:t>=</m:t>
                      </m:r>
                      <m:func>
                        <m:funcPr>
                          <m:ctrlPr>
                            <a:rPr lang="en-AU" sz="2400" i="1">
                              <a:latin typeface="Cambria Math" panose="02040503050406030204" pitchFamily="18" charset="0"/>
                            </a:rPr>
                          </m:ctrlPr>
                        </m:funcPr>
                        <m:fName>
                          <m:r>
                            <m:rPr>
                              <m:sty m:val="p"/>
                            </m:rPr>
                            <a:rPr lang="en-AU" sz="2400">
                              <a:latin typeface="Cambria Math" panose="02040503050406030204" pitchFamily="18" charset="0"/>
                            </a:rPr>
                            <m:t>cos</m:t>
                          </m:r>
                          <m:r>
                            <m:rPr>
                              <m:sty m:val="p"/>
                            </m:rPr>
                            <a:rPr lang="en-AU" sz="2400" b="0" i="0" smtClean="0">
                              <a:latin typeface="Cambria Math" panose="02040503050406030204" pitchFamily="18" charset="0"/>
                            </a:rPr>
                            <m:t>h</m:t>
                          </m:r>
                        </m:fName>
                        <m:e>
                          <m:r>
                            <a:rPr lang="en-AU" sz="2400" i="1">
                              <a:latin typeface="Cambria Math" panose="02040503050406030204" pitchFamily="18" charset="0"/>
                            </a:rPr>
                            <m:t>𝑥</m:t>
                          </m:r>
                        </m:e>
                      </m:func>
                      <m:func>
                        <m:funcPr>
                          <m:ctrlPr>
                            <a:rPr lang="en-AU" sz="2400" i="1">
                              <a:latin typeface="Cambria Math" panose="02040503050406030204" pitchFamily="18" charset="0"/>
                            </a:rPr>
                          </m:ctrlPr>
                        </m:funcPr>
                        <m:fName>
                          <m:r>
                            <m:rPr>
                              <m:sty m:val="p"/>
                            </m:rPr>
                            <a:rPr lang="en-AU" sz="2400">
                              <a:latin typeface="Cambria Math" panose="02040503050406030204" pitchFamily="18" charset="0"/>
                            </a:rPr>
                            <m:t>cos</m:t>
                          </m:r>
                          <m:r>
                            <m:rPr>
                              <m:sty m:val="p"/>
                            </m:rPr>
                            <a:rPr lang="en-AU" sz="2400" b="0" i="0" smtClean="0">
                              <a:latin typeface="Cambria Math" panose="02040503050406030204" pitchFamily="18" charset="0"/>
                            </a:rPr>
                            <m:t>h</m:t>
                          </m:r>
                        </m:fName>
                        <m:e>
                          <m:r>
                            <a:rPr lang="en-AU" sz="2400" i="1">
                              <a:latin typeface="Cambria Math" panose="02040503050406030204" pitchFamily="18" charset="0"/>
                            </a:rPr>
                            <m:t>𝑦</m:t>
                          </m:r>
                        </m:e>
                      </m:func>
                      <m:r>
                        <a:rPr lang="en-AU" sz="2400" b="0" i="1" smtClean="0">
                          <a:latin typeface="Cambria Math" panose="02040503050406030204" pitchFamily="18" charset="0"/>
                        </a:rPr>
                        <m:t>+</m:t>
                      </m:r>
                      <m:func>
                        <m:funcPr>
                          <m:ctrlPr>
                            <a:rPr lang="en-AU" sz="2400" i="1">
                              <a:latin typeface="Cambria Math" panose="02040503050406030204" pitchFamily="18" charset="0"/>
                            </a:rPr>
                          </m:ctrlPr>
                        </m:funcPr>
                        <m:fName>
                          <m:r>
                            <m:rPr>
                              <m:sty m:val="p"/>
                            </m:rPr>
                            <a:rPr lang="en-AU" sz="2400">
                              <a:latin typeface="Cambria Math" panose="02040503050406030204" pitchFamily="18" charset="0"/>
                            </a:rPr>
                            <m:t>sin</m:t>
                          </m:r>
                          <m:r>
                            <m:rPr>
                              <m:sty m:val="p"/>
                            </m:rPr>
                            <a:rPr lang="en-AU" sz="2400" b="0" i="0" smtClean="0">
                              <a:latin typeface="Cambria Math" panose="02040503050406030204" pitchFamily="18" charset="0"/>
                            </a:rPr>
                            <m:t>h</m:t>
                          </m:r>
                        </m:fName>
                        <m:e>
                          <m:r>
                            <a:rPr lang="en-AU" sz="2400" i="1">
                              <a:latin typeface="Cambria Math" panose="02040503050406030204" pitchFamily="18" charset="0"/>
                            </a:rPr>
                            <m:t>𝑥</m:t>
                          </m:r>
                        </m:e>
                      </m:func>
                      <m:func>
                        <m:funcPr>
                          <m:ctrlPr>
                            <a:rPr lang="en-AU" sz="2400" i="1">
                              <a:latin typeface="Cambria Math" panose="02040503050406030204" pitchFamily="18" charset="0"/>
                            </a:rPr>
                          </m:ctrlPr>
                        </m:funcPr>
                        <m:fName>
                          <m:r>
                            <m:rPr>
                              <m:sty m:val="p"/>
                            </m:rPr>
                            <a:rPr lang="en-AU" sz="2400">
                              <a:latin typeface="Cambria Math" panose="02040503050406030204" pitchFamily="18" charset="0"/>
                            </a:rPr>
                            <m:t>sin</m:t>
                          </m:r>
                          <m:r>
                            <a:rPr lang="en-AU" sz="2400" b="0" i="1" smtClean="0">
                              <a:latin typeface="Cambria Math" panose="02040503050406030204" pitchFamily="18" charset="0"/>
                            </a:rPr>
                            <m:t>h</m:t>
                          </m:r>
                        </m:fName>
                        <m:e>
                          <m:r>
                            <a:rPr lang="en-AU" sz="2400" i="1">
                              <a:latin typeface="Cambria Math" panose="02040503050406030204" pitchFamily="18" charset="0"/>
                            </a:rPr>
                            <m:t>𝑦</m:t>
                          </m:r>
                        </m:e>
                      </m:func>
                    </m:oMath>
                  </m:oMathPara>
                </a14:m>
                <a:endParaRPr lang="en-AU" sz="2400" dirty="0"/>
              </a:p>
              <a:p>
                <a:pPr/>
                <a14:m>
                  <m:oMathPara xmlns:m="http://schemas.openxmlformats.org/officeDocument/2006/math">
                    <m:oMathParaPr>
                      <m:jc m:val="centerGroup"/>
                    </m:oMathParaPr>
                    <m:oMath xmlns:m="http://schemas.openxmlformats.org/officeDocument/2006/math">
                      <m:func>
                        <m:funcPr>
                          <m:ctrlPr>
                            <a:rPr lang="en-AU" sz="2400" i="1">
                              <a:latin typeface="Cambria Math" panose="02040503050406030204" pitchFamily="18" charset="0"/>
                            </a:rPr>
                          </m:ctrlPr>
                        </m:funcPr>
                        <m:fName>
                          <m:r>
                            <m:rPr>
                              <m:sty m:val="p"/>
                            </m:rPr>
                            <a:rPr lang="en-AU" sz="2400">
                              <a:latin typeface="Cambria Math" panose="02040503050406030204" pitchFamily="18" charset="0"/>
                            </a:rPr>
                            <m:t>cos</m:t>
                          </m:r>
                          <m:r>
                            <m:rPr>
                              <m:sty m:val="p"/>
                            </m:rPr>
                            <a:rPr lang="en-AU" sz="2400" b="0" i="0" smtClean="0">
                              <a:latin typeface="Cambria Math" panose="02040503050406030204" pitchFamily="18" charset="0"/>
                            </a:rPr>
                            <m:t>h</m:t>
                          </m:r>
                        </m:fName>
                        <m:e>
                          <m:d>
                            <m:dPr>
                              <m:ctrlPr>
                                <a:rPr lang="en-AU" sz="2400" i="1">
                                  <a:latin typeface="Cambria Math" panose="02040503050406030204" pitchFamily="18" charset="0"/>
                                </a:rPr>
                              </m:ctrlPr>
                            </m:dPr>
                            <m:e>
                              <m:r>
                                <a:rPr lang="en-AU" sz="2400" i="1">
                                  <a:latin typeface="Cambria Math" panose="02040503050406030204" pitchFamily="18" charset="0"/>
                                </a:rPr>
                                <m:t>𝑥</m:t>
                              </m:r>
                              <m:r>
                                <a:rPr lang="en-AU" sz="2400" i="1">
                                  <a:latin typeface="Cambria Math" panose="02040503050406030204" pitchFamily="18" charset="0"/>
                                </a:rPr>
                                <m:t>−</m:t>
                              </m:r>
                              <m:r>
                                <a:rPr lang="en-AU" sz="2400" i="1">
                                  <a:latin typeface="Cambria Math" panose="02040503050406030204" pitchFamily="18" charset="0"/>
                                </a:rPr>
                                <m:t>𝑦</m:t>
                              </m:r>
                            </m:e>
                          </m:d>
                        </m:e>
                      </m:func>
                      <m:r>
                        <a:rPr lang="en-AU" sz="2400" i="1">
                          <a:latin typeface="Cambria Math" panose="02040503050406030204" pitchFamily="18" charset="0"/>
                        </a:rPr>
                        <m:t>=</m:t>
                      </m:r>
                      <m:func>
                        <m:funcPr>
                          <m:ctrlPr>
                            <a:rPr lang="en-AU" sz="2400" i="1">
                              <a:latin typeface="Cambria Math" panose="02040503050406030204" pitchFamily="18" charset="0"/>
                            </a:rPr>
                          </m:ctrlPr>
                        </m:funcPr>
                        <m:fName>
                          <m:r>
                            <m:rPr>
                              <m:sty m:val="p"/>
                            </m:rPr>
                            <a:rPr lang="en-AU" sz="2400">
                              <a:latin typeface="Cambria Math" panose="02040503050406030204" pitchFamily="18" charset="0"/>
                            </a:rPr>
                            <m:t>cos</m:t>
                          </m:r>
                          <m:r>
                            <m:rPr>
                              <m:sty m:val="p"/>
                            </m:rPr>
                            <a:rPr lang="en-AU" sz="2400" b="0" i="0" smtClean="0">
                              <a:latin typeface="Cambria Math" panose="02040503050406030204" pitchFamily="18" charset="0"/>
                            </a:rPr>
                            <m:t>h</m:t>
                          </m:r>
                        </m:fName>
                        <m:e>
                          <m:r>
                            <a:rPr lang="en-AU" sz="2400" i="1">
                              <a:latin typeface="Cambria Math" panose="02040503050406030204" pitchFamily="18" charset="0"/>
                            </a:rPr>
                            <m:t>𝑥</m:t>
                          </m:r>
                        </m:e>
                      </m:func>
                      <m:func>
                        <m:funcPr>
                          <m:ctrlPr>
                            <a:rPr lang="en-AU" sz="2400" i="1">
                              <a:latin typeface="Cambria Math" panose="02040503050406030204" pitchFamily="18" charset="0"/>
                            </a:rPr>
                          </m:ctrlPr>
                        </m:funcPr>
                        <m:fName>
                          <m:r>
                            <m:rPr>
                              <m:sty m:val="p"/>
                            </m:rPr>
                            <a:rPr lang="en-AU" sz="2400">
                              <a:latin typeface="Cambria Math" panose="02040503050406030204" pitchFamily="18" charset="0"/>
                            </a:rPr>
                            <m:t>cos</m:t>
                          </m:r>
                          <m:r>
                            <m:rPr>
                              <m:sty m:val="p"/>
                            </m:rPr>
                            <a:rPr lang="en-AU" sz="2400" b="0" i="0" smtClean="0">
                              <a:latin typeface="Cambria Math" panose="02040503050406030204" pitchFamily="18" charset="0"/>
                            </a:rPr>
                            <m:t>h</m:t>
                          </m:r>
                        </m:fName>
                        <m:e>
                          <m:r>
                            <a:rPr lang="en-AU" sz="2400" i="1">
                              <a:latin typeface="Cambria Math" panose="02040503050406030204" pitchFamily="18" charset="0"/>
                            </a:rPr>
                            <m:t>𝑦</m:t>
                          </m:r>
                        </m:e>
                      </m:func>
                      <m:r>
                        <a:rPr lang="en-AU" sz="2400" b="0" i="1" smtClean="0">
                          <a:latin typeface="Cambria Math" panose="02040503050406030204" pitchFamily="18" charset="0"/>
                        </a:rPr>
                        <m:t>−</m:t>
                      </m:r>
                      <m:func>
                        <m:funcPr>
                          <m:ctrlPr>
                            <a:rPr lang="en-AU" sz="2400" i="1">
                              <a:latin typeface="Cambria Math" panose="02040503050406030204" pitchFamily="18" charset="0"/>
                            </a:rPr>
                          </m:ctrlPr>
                        </m:funcPr>
                        <m:fName>
                          <m:r>
                            <m:rPr>
                              <m:sty m:val="p"/>
                            </m:rPr>
                            <a:rPr lang="en-AU" sz="2400">
                              <a:latin typeface="Cambria Math" panose="02040503050406030204" pitchFamily="18" charset="0"/>
                            </a:rPr>
                            <m:t>sin</m:t>
                          </m:r>
                          <m:r>
                            <m:rPr>
                              <m:sty m:val="p"/>
                            </m:rPr>
                            <a:rPr lang="en-AU" sz="2400" b="0" i="0" smtClean="0">
                              <a:latin typeface="Cambria Math" panose="02040503050406030204" pitchFamily="18" charset="0"/>
                            </a:rPr>
                            <m:t>h</m:t>
                          </m:r>
                        </m:fName>
                        <m:e>
                          <m:r>
                            <a:rPr lang="en-AU" sz="2400" i="1">
                              <a:latin typeface="Cambria Math" panose="02040503050406030204" pitchFamily="18" charset="0"/>
                            </a:rPr>
                            <m:t>𝑥</m:t>
                          </m:r>
                        </m:e>
                      </m:func>
                      <m:func>
                        <m:funcPr>
                          <m:ctrlPr>
                            <a:rPr lang="en-AU" sz="2400" i="1">
                              <a:latin typeface="Cambria Math" panose="02040503050406030204" pitchFamily="18" charset="0"/>
                            </a:rPr>
                          </m:ctrlPr>
                        </m:funcPr>
                        <m:fName>
                          <m:r>
                            <m:rPr>
                              <m:sty m:val="p"/>
                            </m:rPr>
                            <a:rPr lang="en-AU" sz="2400">
                              <a:latin typeface="Cambria Math" panose="02040503050406030204" pitchFamily="18" charset="0"/>
                            </a:rPr>
                            <m:t>sin</m:t>
                          </m:r>
                          <m:r>
                            <m:rPr>
                              <m:sty m:val="p"/>
                            </m:rPr>
                            <a:rPr lang="en-AU" sz="2400" b="0" i="0" smtClean="0">
                              <a:latin typeface="Cambria Math" panose="02040503050406030204" pitchFamily="18" charset="0"/>
                            </a:rPr>
                            <m:t>h</m:t>
                          </m:r>
                        </m:fName>
                        <m:e>
                          <m:r>
                            <a:rPr lang="en-AU" sz="2400" i="1">
                              <a:latin typeface="Cambria Math" panose="02040503050406030204" pitchFamily="18" charset="0"/>
                            </a:rPr>
                            <m:t>𝑦</m:t>
                          </m:r>
                        </m:e>
                      </m:func>
                    </m:oMath>
                  </m:oMathPara>
                </a14:m>
                <a:endParaRPr lang="en-AU" sz="2400" dirty="0">
                  <a:latin typeface="+mj-lt"/>
                </a:endParaRPr>
              </a:p>
              <a:p>
                <a:endParaRPr lang="en-AU" sz="2400" b="0" dirty="0">
                  <a:latin typeface="+mj-lt"/>
                </a:endParaRPr>
              </a:p>
              <a:p>
                <a:pPr/>
                <a14:m>
                  <m:oMathPara xmlns:m="http://schemas.openxmlformats.org/officeDocument/2006/math">
                    <m:oMathParaPr>
                      <m:jc m:val="centerGroup"/>
                    </m:oMathParaPr>
                    <m:oMath xmlns:m="http://schemas.openxmlformats.org/officeDocument/2006/math">
                      <m:func>
                        <m:funcPr>
                          <m:ctrlPr>
                            <a:rPr lang="en-AU" sz="2400" i="1">
                              <a:latin typeface="Cambria Math" panose="02040503050406030204" pitchFamily="18" charset="0"/>
                            </a:rPr>
                          </m:ctrlPr>
                        </m:funcPr>
                        <m:fName>
                          <m:r>
                            <m:rPr>
                              <m:sty m:val="p"/>
                            </m:rPr>
                            <a:rPr lang="en-AU" sz="2400">
                              <a:latin typeface="Cambria Math" panose="02040503050406030204" pitchFamily="18" charset="0"/>
                            </a:rPr>
                            <m:t>cot</m:t>
                          </m:r>
                          <m:r>
                            <m:rPr>
                              <m:sty m:val="p"/>
                            </m:rPr>
                            <a:rPr lang="en-AU" sz="2400" b="0" i="0" smtClean="0">
                              <a:latin typeface="Cambria Math" panose="02040503050406030204" pitchFamily="18" charset="0"/>
                            </a:rPr>
                            <m:t>h</m:t>
                          </m:r>
                        </m:fName>
                        <m:e>
                          <m:r>
                            <a:rPr lang="en-AU" sz="2400" i="1">
                              <a:latin typeface="Cambria Math" panose="02040503050406030204" pitchFamily="18" charset="0"/>
                            </a:rPr>
                            <m:t>𝑥</m:t>
                          </m:r>
                          <m:r>
                            <a:rPr lang="en-AU" sz="2400" i="1">
                              <a:latin typeface="Cambria Math" panose="02040503050406030204" pitchFamily="18" charset="0"/>
                            </a:rPr>
                            <m:t>=</m:t>
                          </m:r>
                          <m:f>
                            <m:fPr>
                              <m:ctrlPr>
                                <a:rPr lang="en-AU" sz="2400" i="1">
                                  <a:latin typeface="Cambria Math" panose="02040503050406030204" pitchFamily="18" charset="0"/>
                                </a:rPr>
                              </m:ctrlPr>
                            </m:fPr>
                            <m:num>
                              <m:func>
                                <m:funcPr>
                                  <m:ctrlPr>
                                    <a:rPr lang="en-AU" sz="2400" i="1">
                                      <a:latin typeface="Cambria Math" panose="02040503050406030204" pitchFamily="18" charset="0"/>
                                    </a:rPr>
                                  </m:ctrlPr>
                                </m:funcPr>
                                <m:fName>
                                  <m:r>
                                    <m:rPr>
                                      <m:sty m:val="p"/>
                                    </m:rPr>
                                    <a:rPr lang="en-AU" sz="2400">
                                      <a:latin typeface="Cambria Math" panose="02040503050406030204" pitchFamily="18" charset="0"/>
                                    </a:rPr>
                                    <m:t>cos</m:t>
                                  </m:r>
                                  <m:r>
                                    <m:rPr>
                                      <m:sty m:val="p"/>
                                    </m:rPr>
                                    <a:rPr lang="en-AU" sz="2400" b="0" i="0" smtClean="0">
                                      <a:latin typeface="Cambria Math" panose="02040503050406030204" pitchFamily="18" charset="0"/>
                                    </a:rPr>
                                    <m:t>h</m:t>
                                  </m:r>
                                </m:fName>
                                <m:e>
                                  <m:r>
                                    <a:rPr lang="en-AU" sz="2400" i="1">
                                      <a:latin typeface="Cambria Math" panose="02040503050406030204" pitchFamily="18" charset="0"/>
                                    </a:rPr>
                                    <m:t>𝑥</m:t>
                                  </m:r>
                                </m:e>
                              </m:func>
                            </m:num>
                            <m:den>
                              <m:func>
                                <m:funcPr>
                                  <m:ctrlPr>
                                    <a:rPr lang="en-AU" sz="2400" i="1">
                                      <a:latin typeface="Cambria Math" panose="02040503050406030204" pitchFamily="18" charset="0"/>
                                    </a:rPr>
                                  </m:ctrlPr>
                                </m:funcPr>
                                <m:fName>
                                  <m:r>
                                    <m:rPr>
                                      <m:sty m:val="p"/>
                                    </m:rPr>
                                    <a:rPr lang="en-AU" sz="2400">
                                      <a:latin typeface="Cambria Math" panose="02040503050406030204" pitchFamily="18" charset="0"/>
                                    </a:rPr>
                                    <m:t>sin</m:t>
                                  </m:r>
                                  <m:r>
                                    <m:rPr>
                                      <m:sty m:val="p"/>
                                    </m:rPr>
                                    <a:rPr lang="en-AU" sz="2400" b="0" i="0" smtClean="0">
                                      <a:latin typeface="Cambria Math" panose="02040503050406030204" pitchFamily="18" charset="0"/>
                                    </a:rPr>
                                    <m:t>h</m:t>
                                  </m:r>
                                </m:fName>
                                <m:e>
                                  <m:r>
                                    <a:rPr lang="en-AU" sz="2400" i="1">
                                      <a:latin typeface="Cambria Math" panose="02040503050406030204" pitchFamily="18" charset="0"/>
                                    </a:rPr>
                                    <m:t>𝑥</m:t>
                                  </m:r>
                                </m:e>
                              </m:func>
                            </m:den>
                          </m:f>
                          <m:r>
                            <a:rPr lang="en-AU" sz="2400" i="1">
                              <a:latin typeface="Cambria Math" panose="02040503050406030204" pitchFamily="18" charset="0"/>
                            </a:rPr>
                            <m:t>,   </m:t>
                          </m:r>
                          <m:func>
                            <m:funcPr>
                              <m:ctrlPr>
                                <a:rPr lang="en-AU" sz="2400" i="1">
                                  <a:latin typeface="Cambria Math" panose="02040503050406030204" pitchFamily="18" charset="0"/>
                                </a:rPr>
                              </m:ctrlPr>
                            </m:funcPr>
                            <m:fName>
                              <m:r>
                                <m:rPr>
                                  <m:sty m:val="p"/>
                                </m:rPr>
                                <a:rPr lang="en-AU" sz="2400">
                                  <a:latin typeface="Cambria Math" panose="02040503050406030204" pitchFamily="18" charset="0"/>
                                </a:rPr>
                                <m:t>sec</m:t>
                              </m:r>
                              <m:r>
                                <a:rPr lang="en-AU" sz="2400" b="0" i="1" smtClean="0">
                                  <a:latin typeface="Cambria Math" panose="02040503050406030204" pitchFamily="18" charset="0"/>
                                </a:rPr>
                                <m:t>h</m:t>
                              </m:r>
                            </m:fName>
                            <m:e>
                              <m:r>
                                <a:rPr lang="en-AU" sz="2400" i="1">
                                  <a:latin typeface="Cambria Math" panose="02040503050406030204" pitchFamily="18" charset="0"/>
                                </a:rPr>
                                <m:t>𝑥</m:t>
                              </m:r>
                            </m:e>
                          </m:func>
                          <m:r>
                            <a:rPr lang="en-AU" sz="2400" i="1">
                              <a:latin typeface="Cambria Math" panose="02040503050406030204" pitchFamily="18" charset="0"/>
                            </a:rPr>
                            <m:t>=</m:t>
                          </m:r>
                          <m:f>
                            <m:fPr>
                              <m:ctrlPr>
                                <a:rPr lang="en-AU" sz="2400" i="1">
                                  <a:latin typeface="Cambria Math" panose="02040503050406030204" pitchFamily="18" charset="0"/>
                                </a:rPr>
                              </m:ctrlPr>
                            </m:fPr>
                            <m:num>
                              <m:r>
                                <a:rPr lang="en-AU" sz="2400" i="1">
                                  <a:latin typeface="Cambria Math" panose="02040503050406030204" pitchFamily="18" charset="0"/>
                                </a:rPr>
                                <m:t>1</m:t>
                              </m:r>
                            </m:num>
                            <m:den>
                              <m:func>
                                <m:funcPr>
                                  <m:ctrlPr>
                                    <a:rPr lang="en-AU" sz="2400" i="1">
                                      <a:latin typeface="Cambria Math" panose="02040503050406030204" pitchFamily="18" charset="0"/>
                                    </a:rPr>
                                  </m:ctrlPr>
                                </m:funcPr>
                                <m:fName>
                                  <m:r>
                                    <m:rPr>
                                      <m:sty m:val="p"/>
                                    </m:rPr>
                                    <a:rPr lang="en-AU" sz="2400">
                                      <a:latin typeface="Cambria Math" panose="02040503050406030204" pitchFamily="18" charset="0"/>
                                    </a:rPr>
                                    <m:t>cos</m:t>
                                  </m:r>
                                  <m:r>
                                    <m:rPr>
                                      <m:sty m:val="p"/>
                                    </m:rPr>
                                    <a:rPr lang="en-AU" sz="2400" b="0" i="0" smtClean="0">
                                      <a:latin typeface="Cambria Math" panose="02040503050406030204" pitchFamily="18" charset="0"/>
                                    </a:rPr>
                                    <m:t>h</m:t>
                                  </m:r>
                                </m:fName>
                                <m:e>
                                  <m:r>
                                    <a:rPr lang="en-AU" sz="2400" i="1">
                                      <a:latin typeface="Cambria Math" panose="02040503050406030204" pitchFamily="18" charset="0"/>
                                    </a:rPr>
                                    <m:t>𝑥</m:t>
                                  </m:r>
                                </m:e>
                              </m:func>
                            </m:den>
                          </m:f>
                          <m:r>
                            <a:rPr lang="en-AU" sz="2400" i="1">
                              <a:latin typeface="Cambria Math" panose="02040503050406030204" pitchFamily="18" charset="0"/>
                            </a:rPr>
                            <m:t>,    </m:t>
                          </m:r>
                          <m:func>
                            <m:funcPr>
                              <m:ctrlPr>
                                <a:rPr lang="en-AU" sz="2400" i="1">
                                  <a:latin typeface="Cambria Math" panose="02040503050406030204" pitchFamily="18" charset="0"/>
                                </a:rPr>
                              </m:ctrlPr>
                            </m:funcPr>
                            <m:fName>
                              <m:r>
                                <m:rPr>
                                  <m:sty m:val="p"/>
                                </m:rPr>
                                <a:rPr lang="en-AU" sz="2400">
                                  <a:latin typeface="Cambria Math" panose="02040503050406030204" pitchFamily="18" charset="0"/>
                                </a:rPr>
                                <m:t>csc</m:t>
                              </m:r>
                              <m:r>
                                <a:rPr lang="en-AU" sz="2400" b="0" i="1" smtClean="0">
                                  <a:latin typeface="Cambria Math" panose="02040503050406030204" pitchFamily="18" charset="0"/>
                                </a:rPr>
                                <m:t>h</m:t>
                              </m:r>
                            </m:fName>
                            <m:e>
                              <m:r>
                                <a:rPr lang="en-AU" sz="2400" i="1">
                                  <a:latin typeface="Cambria Math" panose="02040503050406030204" pitchFamily="18" charset="0"/>
                                </a:rPr>
                                <m:t>𝑥</m:t>
                              </m:r>
                            </m:e>
                          </m:func>
                          <m:r>
                            <a:rPr lang="en-AU" sz="2400" i="1">
                              <a:latin typeface="Cambria Math" panose="02040503050406030204" pitchFamily="18" charset="0"/>
                            </a:rPr>
                            <m:t>=</m:t>
                          </m:r>
                          <m:f>
                            <m:fPr>
                              <m:ctrlPr>
                                <a:rPr lang="en-AU" sz="2400" i="1">
                                  <a:latin typeface="Cambria Math" panose="02040503050406030204" pitchFamily="18" charset="0"/>
                                </a:rPr>
                              </m:ctrlPr>
                            </m:fPr>
                            <m:num>
                              <m:r>
                                <a:rPr lang="en-AU" sz="2400" i="1">
                                  <a:latin typeface="Cambria Math" panose="02040503050406030204" pitchFamily="18" charset="0"/>
                                </a:rPr>
                                <m:t>1</m:t>
                              </m:r>
                            </m:num>
                            <m:den>
                              <m:func>
                                <m:funcPr>
                                  <m:ctrlPr>
                                    <a:rPr lang="en-AU" sz="2400" i="1">
                                      <a:latin typeface="Cambria Math" panose="02040503050406030204" pitchFamily="18" charset="0"/>
                                    </a:rPr>
                                  </m:ctrlPr>
                                </m:funcPr>
                                <m:fName>
                                  <m:r>
                                    <m:rPr>
                                      <m:sty m:val="p"/>
                                    </m:rPr>
                                    <a:rPr lang="en-AU" sz="2400">
                                      <a:latin typeface="Cambria Math" panose="02040503050406030204" pitchFamily="18" charset="0"/>
                                    </a:rPr>
                                    <m:t>sin</m:t>
                                  </m:r>
                                  <m:r>
                                    <m:rPr>
                                      <m:sty m:val="p"/>
                                    </m:rPr>
                                    <a:rPr lang="en-AU" sz="2400" b="0" i="0" smtClean="0">
                                      <a:latin typeface="Cambria Math" panose="02040503050406030204" pitchFamily="18" charset="0"/>
                                    </a:rPr>
                                    <m:t>h</m:t>
                                  </m:r>
                                </m:fName>
                                <m:e>
                                  <m:r>
                                    <a:rPr lang="en-AU" sz="2400" i="1">
                                      <a:latin typeface="Cambria Math" panose="02040503050406030204" pitchFamily="18" charset="0"/>
                                    </a:rPr>
                                    <m:t>𝑥</m:t>
                                  </m:r>
                                </m:e>
                              </m:func>
                            </m:den>
                          </m:f>
                        </m:e>
                      </m:func>
                    </m:oMath>
                  </m:oMathPara>
                </a14:m>
                <a:endParaRPr lang="en-AU" sz="2400" b="0" dirty="0">
                  <a:latin typeface="+mj-lt"/>
                </a:endParaRPr>
              </a:p>
              <a:p>
                <a:endParaRPr lang="en-AU" sz="2400" dirty="0">
                  <a:latin typeface="+mj-lt"/>
                </a:endParaRPr>
              </a:p>
              <a:p>
                <a:pPr/>
                <a14:m>
                  <m:oMathPara xmlns:m="http://schemas.openxmlformats.org/officeDocument/2006/math">
                    <m:oMathParaPr>
                      <m:jc m:val="centerGroup"/>
                    </m:oMathParaPr>
                    <m:oMath xmlns:m="http://schemas.openxmlformats.org/officeDocument/2006/math">
                      <m:func>
                        <m:funcPr>
                          <m:ctrlPr>
                            <a:rPr lang="en-AU" sz="2400" i="1">
                              <a:latin typeface="Cambria Math" panose="02040503050406030204" pitchFamily="18" charset="0"/>
                            </a:rPr>
                          </m:ctrlPr>
                        </m:funcPr>
                        <m:fName>
                          <m:sSup>
                            <m:sSupPr>
                              <m:ctrlPr>
                                <a:rPr lang="en-AU" sz="2400" i="1">
                                  <a:latin typeface="Cambria Math" panose="02040503050406030204" pitchFamily="18" charset="0"/>
                                </a:rPr>
                              </m:ctrlPr>
                            </m:sSupPr>
                            <m:e>
                              <m:r>
                                <m:rPr>
                                  <m:sty m:val="p"/>
                                </m:rPr>
                                <a:rPr lang="en-AU" sz="2400">
                                  <a:latin typeface="Cambria Math" panose="02040503050406030204" pitchFamily="18" charset="0"/>
                                </a:rPr>
                                <m:t>sec</m:t>
                              </m:r>
                              <m:r>
                                <m:rPr>
                                  <m:sty m:val="p"/>
                                </m:rPr>
                                <a:rPr lang="en-AU" sz="2400" b="0" i="0" smtClean="0">
                                  <a:latin typeface="Cambria Math" panose="02040503050406030204" pitchFamily="18" charset="0"/>
                                </a:rPr>
                                <m:t>h</m:t>
                              </m:r>
                            </m:e>
                            <m:sup>
                              <m:r>
                                <a:rPr lang="en-AU" sz="2400" i="1">
                                  <a:latin typeface="Cambria Math" panose="02040503050406030204" pitchFamily="18" charset="0"/>
                                </a:rPr>
                                <m:t>2</m:t>
                              </m:r>
                            </m:sup>
                          </m:sSup>
                        </m:fName>
                        <m:e>
                          <m:r>
                            <a:rPr lang="en-AU" sz="2400" i="1">
                              <a:latin typeface="Cambria Math" panose="02040503050406030204" pitchFamily="18" charset="0"/>
                            </a:rPr>
                            <m:t>𝑥</m:t>
                          </m:r>
                        </m:e>
                      </m:func>
                      <m:r>
                        <a:rPr lang="en-AU" sz="2400" b="0" i="1" smtClean="0">
                          <a:latin typeface="Cambria Math" panose="02040503050406030204" pitchFamily="18" charset="0"/>
                        </a:rPr>
                        <m:t>+</m:t>
                      </m:r>
                      <m:func>
                        <m:funcPr>
                          <m:ctrlPr>
                            <a:rPr lang="en-AU" sz="2400" i="1">
                              <a:latin typeface="Cambria Math" panose="02040503050406030204" pitchFamily="18" charset="0"/>
                            </a:rPr>
                          </m:ctrlPr>
                        </m:funcPr>
                        <m:fName>
                          <m:sSup>
                            <m:sSupPr>
                              <m:ctrlPr>
                                <a:rPr lang="en-AU" sz="2400" i="1">
                                  <a:latin typeface="Cambria Math" panose="02040503050406030204" pitchFamily="18" charset="0"/>
                                </a:rPr>
                              </m:ctrlPr>
                            </m:sSupPr>
                            <m:e>
                              <m:r>
                                <m:rPr>
                                  <m:sty m:val="p"/>
                                </m:rPr>
                                <a:rPr lang="en-AU" sz="2400">
                                  <a:latin typeface="Cambria Math" panose="02040503050406030204" pitchFamily="18" charset="0"/>
                                </a:rPr>
                                <m:t>tan</m:t>
                              </m:r>
                              <m:r>
                                <m:rPr>
                                  <m:sty m:val="p"/>
                                </m:rPr>
                                <a:rPr lang="en-AU" sz="2400" b="0" i="0" smtClean="0">
                                  <a:latin typeface="Cambria Math" panose="02040503050406030204" pitchFamily="18" charset="0"/>
                                </a:rPr>
                                <m:t>h</m:t>
                              </m:r>
                            </m:e>
                            <m:sup>
                              <m:r>
                                <a:rPr lang="en-AU" sz="2400" i="1">
                                  <a:latin typeface="Cambria Math" panose="02040503050406030204" pitchFamily="18" charset="0"/>
                                </a:rPr>
                                <m:t>2</m:t>
                              </m:r>
                            </m:sup>
                          </m:sSup>
                        </m:fName>
                        <m:e>
                          <m:r>
                            <a:rPr lang="en-AU" sz="2400" i="1">
                              <a:latin typeface="Cambria Math" panose="02040503050406030204" pitchFamily="18" charset="0"/>
                            </a:rPr>
                            <m:t>𝑥</m:t>
                          </m:r>
                        </m:e>
                      </m:func>
                      <m:r>
                        <a:rPr lang="en-AU" sz="2400" i="1">
                          <a:latin typeface="Cambria Math" panose="02040503050406030204" pitchFamily="18" charset="0"/>
                        </a:rPr>
                        <m:t>=1</m:t>
                      </m:r>
                    </m:oMath>
                  </m:oMathPara>
                </a14:m>
                <a:endParaRPr lang="en-AU" sz="2400" b="0" dirty="0">
                  <a:latin typeface="+mj-lt"/>
                </a:endParaRPr>
              </a:p>
            </p:txBody>
          </p:sp>
        </mc:Choice>
        <mc:Fallback xmlns="">
          <p:sp>
            <p:nvSpPr>
              <p:cNvPr id="3" name="TextBox 2">
                <a:extLst>
                  <a:ext uri="{FF2B5EF4-FFF2-40B4-BE49-F238E27FC236}">
                    <a16:creationId xmlns:a16="http://schemas.microsoft.com/office/drawing/2014/main" id="{B3D35E8F-1520-480A-916D-4AF7966CAEAD}"/>
                  </a:ext>
                </a:extLst>
              </p:cNvPr>
              <p:cNvSpPr txBox="1">
                <a:spLocks noRot="1" noChangeAspect="1" noMove="1" noResize="1" noEditPoints="1" noAdjustHandles="1" noChangeArrowheads="1" noChangeShapeType="1" noTextEdit="1"/>
              </p:cNvSpPr>
              <p:nvPr/>
            </p:nvSpPr>
            <p:spPr>
              <a:xfrm>
                <a:off x="301020" y="1617704"/>
                <a:ext cx="11559285" cy="4487062"/>
              </a:xfrm>
              <a:prstGeom prst="rect">
                <a:avLst/>
              </a:prstGeom>
              <a:blipFill>
                <a:blip r:embed="rId2"/>
                <a:stretch>
                  <a:fillRect l="-791" t="-1087"/>
                </a:stretch>
              </a:blipFill>
            </p:spPr>
            <p:txBody>
              <a:bodyPr/>
              <a:lstStyle/>
              <a:p>
                <a:r>
                  <a:rPr lang="en-GB">
                    <a:noFill/>
                  </a:rPr>
                  <a:t> </a:t>
                </a:r>
              </a:p>
            </p:txBody>
          </p:sp>
        </mc:Fallback>
      </mc:AlternateContent>
    </p:spTree>
    <p:extLst>
      <p:ext uri="{BB962C8B-B14F-4D97-AF65-F5344CB8AC3E}">
        <p14:creationId xmlns:p14="http://schemas.microsoft.com/office/powerpoint/2010/main" val="41408210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3661067" cy="523220"/>
          </a:xfrm>
          <a:prstGeom prst="rect">
            <a:avLst/>
          </a:prstGeom>
          <a:noFill/>
        </p:spPr>
        <p:txBody>
          <a:bodyPr wrap="none" rtlCol="0">
            <a:spAutoFit/>
          </a:bodyPr>
          <a:lstStyle/>
          <a:p>
            <a:r>
              <a:rPr lang="en-AU" sz="2800" b="1" cap="small" dirty="0">
                <a:solidFill>
                  <a:schemeClr val="bg1"/>
                </a:solidFill>
                <a:latin typeface="+mj-lt"/>
              </a:rPr>
              <a:t>1.5 Elementary functions</a:t>
            </a:r>
            <a:endParaRPr lang="en-GB" sz="2800" b="1" cap="small" dirty="0">
              <a:solidFill>
                <a:schemeClr val="bg1"/>
              </a:solidFill>
              <a:latin typeface="+mj-lt"/>
            </a:endParaRPr>
          </a:p>
        </p:txBody>
      </p:sp>
      <p:sp>
        <p:nvSpPr>
          <p:cNvPr id="2" name="TextBox 1">
            <a:extLst>
              <a:ext uri="{FF2B5EF4-FFF2-40B4-BE49-F238E27FC236}">
                <a16:creationId xmlns:a16="http://schemas.microsoft.com/office/drawing/2014/main" id="{8245C68E-4F37-4D4B-B805-8F79EB0F5C22}"/>
              </a:ext>
            </a:extLst>
          </p:cNvPr>
          <p:cNvSpPr txBox="1"/>
          <p:nvPr/>
        </p:nvSpPr>
        <p:spPr>
          <a:xfrm>
            <a:off x="301020" y="1048888"/>
            <a:ext cx="2736647" cy="461665"/>
          </a:xfrm>
          <a:prstGeom prst="rect">
            <a:avLst/>
          </a:prstGeom>
          <a:noFill/>
          <a:ln>
            <a:solidFill>
              <a:schemeClr val="accent2">
                <a:lumMod val="50000"/>
              </a:schemeClr>
            </a:solidFill>
          </a:ln>
        </p:spPr>
        <p:txBody>
          <a:bodyPr wrap="none" rtlCol="0">
            <a:spAutoFit/>
          </a:bodyPr>
          <a:lstStyle/>
          <a:p>
            <a:r>
              <a:rPr lang="en-AU" sz="2400" dirty="0">
                <a:latin typeface="+mj-lt"/>
              </a:rPr>
              <a:t>Hyperbolic functions</a:t>
            </a:r>
            <a:endParaRPr lang="en-GB" sz="2400" dirty="0">
              <a:latin typeface="+mj-lt"/>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B3D35E8F-1520-480A-916D-4AF7966CAEAD}"/>
                  </a:ext>
                </a:extLst>
              </p:cNvPr>
              <p:cNvSpPr txBox="1"/>
              <p:nvPr/>
            </p:nvSpPr>
            <p:spPr>
              <a:xfrm>
                <a:off x="301020" y="1617704"/>
                <a:ext cx="11559285" cy="461665"/>
              </a:xfrm>
              <a:prstGeom prst="rect">
                <a:avLst/>
              </a:prstGeom>
              <a:noFill/>
            </p:spPr>
            <p:txBody>
              <a:bodyPr wrap="square" rtlCol="0">
                <a:spAutoFit/>
              </a:bodyPr>
              <a:lstStyle/>
              <a:p>
                <a:r>
                  <a:rPr lang="en-AU" sz="2400" dirty="0">
                    <a:latin typeface="+mj-lt"/>
                  </a:rPr>
                  <a:t>Prove the fundamental identity of hyperbolic functions: </a:t>
                </a:r>
                <a14:m>
                  <m:oMath xmlns:m="http://schemas.openxmlformats.org/officeDocument/2006/math">
                    <m:func>
                      <m:funcPr>
                        <m:ctrlPr>
                          <a:rPr lang="en-AU" sz="2400" b="0" i="1" smtClean="0">
                            <a:latin typeface="Cambria Math" panose="02040503050406030204" pitchFamily="18" charset="0"/>
                          </a:rPr>
                        </m:ctrlPr>
                      </m:funcPr>
                      <m:fName>
                        <m:sSup>
                          <m:sSupPr>
                            <m:ctrlPr>
                              <a:rPr lang="en-AU" sz="2400" b="0" i="1" smtClean="0">
                                <a:latin typeface="Cambria Math" panose="02040503050406030204" pitchFamily="18" charset="0"/>
                              </a:rPr>
                            </m:ctrlPr>
                          </m:sSupPr>
                          <m:e>
                            <m:r>
                              <m:rPr>
                                <m:sty m:val="p"/>
                              </m:rPr>
                              <a:rPr lang="en-AU" sz="2400">
                                <a:latin typeface="Cambria Math" panose="02040503050406030204" pitchFamily="18" charset="0"/>
                              </a:rPr>
                              <m:t>cosh</m:t>
                            </m:r>
                          </m:e>
                          <m:sup>
                            <m:r>
                              <a:rPr lang="en-AU" sz="2400" b="0" i="1" smtClean="0">
                                <a:latin typeface="Cambria Math" panose="02040503050406030204" pitchFamily="18" charset="0"/>
                              </a:rPr>
                              <m:t>2</m:t>
                            </m:r>
                          </m:sup>
                        </m:sSup>
                      </m:fName>
                      <m:e>
                        <m:r>
                          <a:rPr lang="en-AU" sz="2400" b="0" i="1" smtClean="0">
                            <a:latin typeface="Cambria Math" panose="02040503050406030204" pitchFamily="18" charset="0"/>
                          </a:rPr>
                          <m:t>𝑥</m:t>
                        </m:r>
                      </m:e>
                    </m:func>
                    <m:r>
                      <a:rPr lang="en-AU" sz="2400" b="0" i="1" smtClean="0">
                        <a:latin typeface="Cambria Math" panose="02040503050406030204" pitchFamily="18" charset="0"/>
                      </a:rPr>
                      <m:t>−</m:t>
                    </m:r>
                    <m:func>
                      <m:funcPr>
                        <m:ctrlPr>
                          <a:rPr lang="en-AU" sz="2400" b="0" i="1" smtClean="0">
                            <a:latin typeface="Cambria Math" panose="02040503050406030204" pitchFamily="18" charset="0"/>
                          </a:rPr>
                        </m:ctrlPr>
                      </m:funcPr>
                      <m:fName>
                        <m:sSup>
                          <m:sSupPr>
                            <m:ctrlPr>
                              <a:rPr lang="en-AU" sz="2400" b="0" i="1" smtClean="0">
                                <a:latin typeface="Cambria Math" panose="02040503050406030204" pitchFamily="18" charset="0"/>
                              </a:rPr>
                            </m:ctrlPr>
                          </m:sSupPr>
                          <m:e>
                            <m:r>
                              <m:rPr>
                                <m:sty m:val="p"/>
                              </m:rPr>
                              <a:rPr lang="en-AU" sz="2400">
                                <a:latin typeface="Cambria Math" panose="02040503050406030204" pitchFamily="18" charset="0"/>
                              </a:rPr>
                              <m:t>sinh</m:t>
                            </m:r>
                          </m:e>
                          <m:sup>
                            <m:r>
                              <a:rPr lang="en-AU" sz="2400" b="0" i="1" smtClean="0">
                                <a:latin typeface="Cambria Math" panose="02040503050406030204" pitchFamily="18" charset="0"/>
                              </a:rPr>
                              <m:t>2</m:t>
                            </m:r>
                          </m:sup>
                        </m:sSup>
                      </m:fName>
                      <m:e>
                        <m:r>
                          <a:rPr lang="en-AU" sz="2400" b="0" i="1" smtClean="0">
                            <a:latin typeface="Cambria Math" panose="02040503050406030204" pitchFamily="18" charset="0"/>
                          </a:rPr>
                          <m:t>𝑥</m:t>
                        </m:r>
                      </m:e>
                    </m:func>
                    <m:r>
                      <a:rPr lang="en-AU" sz="2400" b="0" i="1" smtClean="0">
                        <a:latin typeface="Cambria Math" panose="02040503050406030204" pitchFamily="18" charset="0"/>
                      </a:rPr>
                      <m:t>=1</m:t>
                    </m:r>
                  </m:oMath>
                </a14:m>
                <a:endParaRPr lang="en-AU" sz="2400" b="0" dirty="0">
                  <a:latin typeface="+mj-lt"/>
                </a:endParaRPr>
              </a:p>
            </p:txBody>
          </p:sp>
        </mc:Choice>
        <mc:Fallback xmlns="">
          <p:sp>
            <p:nvSpPr>
              <p:cNvPr id="3" name="TextBox 2">
                <a:extLst>
                  <a:ext uri="{FF2B5EF4-FFF2-40B4-BE49-F238E27FC236}">
                    <a16:creationId xmlns:a16="http://schemas.microsoft.com/office/drawing/2014/main" id="{B3D35E8F-1520-480A-916D-4AF7966CAEAD}"/>
                  </a:ext>
                </a:extLst>
              </p:cNvPr>
              <p:cNvSpPr txBox="1">
                <a:spLocks noRot="1" noChangeAspect="1" noMove="1" noResize="1" noEditPoints="1" noAdjustHandles="1" noChangeArrowheads="1" noChangeShapeType="1" noTextEdit="1"/>
              </p:cNvSpPr>
              <p:nvPr/>
            </p:nvSpPr>
            <p:spPr>
              <a:xfrm>
                <a:off x="301020" y="1617704"/>
                <a:ext cx="11559285" cy="461665"/>
              </a:xfrm>
              <a:prstGeom prst="rect">
                <a:avLst/>
              </a:prstGeom>
              <a:blipFill>
                <a:blip r:embed="rId2"/>
                <a:stretch>
                  <a:fillRect l="-791" t="-10526" b="-28947"/>
                </a:stretch>
              </a:blipFill>
            </p:spPr>
            <p:txBody>
              <a:bodyPr/>
              <a:lstStyle/>
              <a:p>
                <a:r>
                  <a:rPr lang="en-GB">
                    <a:noFill/>
                  </a:rPr>
                  <a:t> </a:t>
                </a:r>
              </a:p>
            </p:txBody>
          </p:sp>
        </mc:Fallback>
      </mc:AlternateContent>
      <p:sp>
        <p:nvSpPr>
          <p:cNvPr id="10" name="TextBox 9">
            <a:extLst>
              <a:ext uri="{FF2B5EF4-FFF2-40B4-BE49-F238E27FC236}">
                <a16:creationId xmlns:a16="http://schemas.microsoft.com/office/drawing/2014/main" id="{FF5CD9FB-ABDB-42DE-B503-F9ABAB0020A4}"/>
              </a:ext>
            </a:extLst>
          </p:cNvPr>
          <p:cNvSpPr txBox="1"/>
          <p:nvPr/>
        </p:nvSpPr>
        <p:spPr>
          <a:xfrm>
            <a:off x="4001235" y="6274406"/>
            <a:ext cx="4189530" cy="369332"/>
          </a:xfrm>
          <a:prstGeom prst="rect">
            <a:avLst/>
          </a:prstGeom>
          <a:noFill/>
        </p:spPr>
        <p:txBody>
          <a:bodyPr wrap="square">
            <a:spAutoFit/>
          </a:bodyPr>
          <a:lstStyle/>
          <a:p>
            <a:r>
              <a:rPr lang="en-GB" dirty="0">
                <a:hlinkClick r:id="rId3"/>
              </a:rPr>
              <a:t>https://www.geogebra.org/m/D4HRCmnH</a:t>
            </a:r>
            <a:endParaRPr lang="en-GB" dirty="0"/>
          </a:p>
        </p:txBody>
      </p:sp>
    </p:spTree>
    <p:extLst>
      <p:ext uri="{BB962C8B-B14F-4D97-AF65-F5344CB8AC3E}">
        <p14:creationId xmlns:p14="http://schemas.microsoft.com/office/powerpoint/2010/main" val="40727722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3661067" cy="523220"/>
          </a:xfrm>
          <a:prstGeom prst="rect">
            <a:avLst/>
          </a:prstGeom>
          <a:noFill/>
        </p:spPr>
        <p:txBody>
          <a:bodyPr wrap="none" rtlCol="0">
            <a:spAutoFit/>
          </a:bodyPr>
          <a:lstStyle/>
          <a:p>
            <a:r>
              <a:rPr lang="en-AU" sz="2800" b="1" cap="small" dirty="0">
                <a:solidFill>
                  <a:schemeClr val="bg1"/>
                </a:solidFill>
                <a:latin typeface="+mj-lt"/>
              </a:rPr>
              <a:t>1.5 Elementary functions</a:t>
            </a:r>
            <a:endParaRPr lang="en-GB" sz="2800" b="1" cap="small" dirty="0">
              <a:solidFill>
                <a:schemeClr val="bg1"/>
              </a:solidFill>
              <a:latin typeface="+mj-lt"/>
            </a:endParaRPr>
          </a:p>
        </p:txBody>
      </p:sp>
      <p:sp>
        <p:nvSpPr>
          <p:cNvPr id="2" name="TextBox 1">
            <a:extLst>
              <a:ext uri="{FF2B5EF4-FFF2-40B4-BE49-F238E27FC236}">
                <a16:creationId xmlns:a16="http://schemas.microsoft.com/office/drawing/2014/main" id="{8245C68E-4F37-4D4B-B805-8F79EB0F5C22}"/>
              </a:ext>
            </a:extLst>
          </p:cNvPr>
          <p:cNvSpPr txBox="1"/>
          <p:nvPr/>
        </p:nvSpPr>
        <p:spPr>
          <a:xfrm>
            <a:off x="301020" y="1048888"/>
            <a:ext cx="3690562" cy="461665"/>
          </a:xfrm>
          <a:prstGeom prst="rect">
            <a:avLst/>
          </a:prstGeom>
          <a:noFill/>
          <a:ln>
            <a:solidFill>
              <a:schemeClr val="accent2">
                <a:lumMod val="50000"/>
              </a:schemeClr>
            </a:solidFill>
          </a:ln>
        </p:spPr>
        <p:txBody>
          <a:bodyPr wrap="none" rtlCol="0">
            <a:spAutoFit/>
          </a:bodyPr>
          <a:lstStyle/>
          <a:p>
            <a:r>
              <a:rPr lang="en-AU" sz="2400" dirty="0">
                <a:latin typeface="+mj-lt"/>
              </a:rPr>
              <a:t>Inverse Hyperbolic functions</a:t>
            </a:r>
            <a:endParaRPr lang="en-GB" sz="2400" dirty="0">
              <a:latin typeface="+mj-lt"/>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B3D35E8F-1520-480A-916D-4AF7966CAEAD}"/>
                  </a:ext>
                </a:extLst>
              </p:cNvPr>
              <p:cNvSpPr txBox="1"/>
              <p:nvPr/>
            </p:nvSpPr>
            <p:spPr>
              <a:xfrm>
                <a:off x="301020" y="1617704"/>
                <a:ext cx="11559285" cy="4769896"/>
              </a:xfrm>
              <a:prstGeom prst="rect">
                <a:avLst/>
              </a:prstGeom>
              <a:noFill/>
            </p:spPr>
            <p:txBody>
              <a:bodyPr wrap="square" rtlCol="0">
                <a:spAutoFit/>
              </a:bodyPr>
              <a:lstStyle/>
              <a:p>
                <a:pPr marL="342900" indent="-342900">
                  <a:buFont typeface="Arial" panose="020B0604020202020204" pitchFamily="34" charset="0"/>
                  <a:buChar char="•"/>
                </a:pPr>
                <a14:m>
                  <m:oMath xmlns:m="http://schemas.openxmlformats.org/officeDocument/2006/math">
                    <m:func>
                      <m:funcPr>
                        <m:ctrlPr>
                          <a:rPr lang="en-AU" sz="2400" b="0" i="1" smtClean="0">
                            <a:latin typeface="Cambria Math" panose="02040503050406030204" pitchFamily="18" charset="0"/>
                          </a:rPr>
                        </m:ctrlPr>
                      </m:funcPr>
                      <m:fName>
                        <m:sSup>
                          <m:sSupPr>
                            <m:ctrlPr>
                              <a:rPr lang="en-AU" sz="2400" b="0" i="1" smtClean="0">
                                <a:latin typeface="Cambria Math" panose="02040503050406030204" pitchFamily="18" charset="0"/>
                              </a:rPr>
                            </m:ctrlPr>
                          </m:sSupPr>
                          <m:e>
                            <m:r>
                              <m:rPr>
                                <m:sty m:val="p"/>
                              </m:rPr>
                              <a:rPr lang="en-AU" sz="2400">
                                <a:latin typeface="Cambria Math" panose="02040503050406030204" pitchFamily="18" charset="0"/>
                              </a:rPr>
                              <m:t>cosh</m:t>
                            </m:r>
                          </m:e>
                          <m:sup>
                            <m:r>
                              <a:rPr lang="en-AU" sz="2400" b="0" i="1" smtClean="0">
                                <a:latin typeface="Cambria Math" panose="02040503050406030204" pitchFamily="18" charset="0"/>
                              </a:rPr>
                              <m:t>−1</m:t>
                            </m:r>
                          </m:sup>
                        </m:sSup>
                      </m:fName>
                      <m:e>
                        <m:r>
                          <a:rPr lang="en-AU" sz="2400" b="0" i="1" smtClean="0">
                            <a:latin typeface="Cambria Math" panose="02040503050406030204" pitchFamily="18" charset="0"/>
                          </a:rPr>
                          <m:t>𝑥</m:t>
                        </m:r>
                      </m:e>
                    </m:func>
                    <m:r>
                      <a:rPr lang="en-AU" sz="2400" b="0" i="1" smtClean="0">
                        <a:latin typeface="Cambria Math" panose="02040503050406030204" pitchFamily="18" charset="0"/>
                      </a:rPr>
                      <m:t>=</m:t>
                    </m:r>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arccosh</m:t>
                        </m:r>
                      </m:fName>
                      <m:e>
                        <m:r>
                          <a:rPr lang="en-AU" sz="2400" b="0" i="1" smtClean="0">
                            <a:latin typeface="Cambria Math" panose="02040503050406030204" pitchFamily="18" charset="0"/>
                          </a:rPr>
                          <m:t>𝑥</m:t>
                        </m:r>
                      </m:e>
                    </m:func>
                    <m:r>
                      <a:rPr lang="en-AU" sz="2400" b="0" i="1" smtClean="0">
                        <a:latin typeface="Cambria Math" panose="02040503050406030204" pitchFamily="18" charset="0"/>
                      </a:rPr>
                      <m:t>=</m:t>
                    </m:r>
                    <m:r>
                      <m:rPr>
                        <m:sty m:val="p"/>
                      </m:rPr>
                      <a:rPr lang="en-AU" sz="2400" b="0" i="0" smtClean="0">
                        <a:latin typeface="Cambria Math" panose="02040503050406030204" pitchFamily="18" charset="0"/>
                      </a:rPr>
                      <m:t>ln</m:t>
                    </m:r>
                    <m:r>
                      <a:rPr lang="en-AU" sz="2400" b="0" i="1" smtClean="0">
                        <a:latin typeface="Cambria Math" panose="02040503050406030204" pitchFamily="18" charset="0"/>
                      </a:rPr>
                      <m:t>⁡(</m:t>
                    </m:r>
                    <m:r>
                      <a:rPr lang="en-AU" sz="2400" b="0" i="1" smtClean="0">
                        <a:latin typeface="Cambria Math" panose="02040503050406030204" pitchFamily="18" charset="0"/>
                      </a:rPr>
                      <m:t>𝑥</m:t>
                    </m:r>
                    <m:r>
                      <a:rPr lang="en-AU" sz="2400" b="0" i="1" smtClean="0">
                        <a:latin typeface="Cambria Math" panose="02040503050406030204" pitchFamily="18" charset="0"/>
                      </a:rPr>
                      <m:t>+</m:t>
                    </m:r>
                    <m:rad>
                      <m:radPr>
                        <m:degHide m:val="on"/>
                        <m:ctrlPr>
                          <a:rPr lang="en-AU" sz="2400" b="0" i="1" smtClean="0">
                            <a:latin typeface="Cambria Math" panose="02040503050406030204" pitchFamily="18" charset="0"/>
                          </a:rPr>
                        </m:ctrlPr>
                      </m:radPr>
                      <m:deg/>
                      <m:e>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𝑥</m:t>
                            </m:r>
                          </m:e>
                          <m:sup>
                            <m:r>
                              <a:rPr lang="en-AU" sz="2400" b="0" i="1" smtClean="0">
                                <a:latin typeface="Cambria Math" panose="02040503050406030204" pitchFamily="18" charset="0"/>
                              </a:rPr>
                              <m:t>2</m:t>
                            </m:r>
                          </m:sup>
                        </m:sSup>
                        <m:r>
                          <a:rPr lang="en-AU" sz="2400" b="0" i="1" smtClean="0">
                            <a:latin typeface="Cambria Math" panose="02040503050406030204" pitchFamily="18" charset="0"/>
                          </a:rPr>
                          <m:t>−1</m:t>
                        </m:r>
                      </m:e>
                    </m:rad>
                    <m:r>
                      <a:rPr lang="en-AU" sz="2400" b="0" i="1" smtClean="0">
                        <a:latin typeface="Cambria Math" panose="02040503050406030204" pitchFamily="18" charset="0"/>
                      </a:rPr>
                      <m:t>)</m:t>
                    </m:r>
                  </m:oMath>
                </a14:m>
                <a:r>
                  <a:rPr lang="en-AU" sz="2400" b="0" dirty="0">
                    <a:latin typeface="+mj-lt"/>
                  </a:rPr>
                  <a:t>,    </a:t>
                </a:r>
                <a:endParaRPr lang="en-AU" sz="2400" b="0" i="0" dirty="0">
                  <a:latin typeface="Cambria Math" panose="02040503050406030204" pitchFamily="18" charset="0"/>
                </a:endParaRPr>
              </a:p>
              <a:p>
                <a:pPr lvl="1"/>
                <a:endParaRPr lang="en-AU" sz="2400" b="0" i="0" dirty="0">
                  <a:latin typeface="Cambria Math" panose="02040503050406030204" pitchFamily="18" charset="0"/>
                </a:endParaRPr>
              </a:p>
              <a:p>
                <a:pPr lvl="1"/>
                <a14:m>
                  <m:oMathPara xmlns:m="http://schemas.openxmlformats.org/officeDocument/2006/math">
                    <m:oMathParaPr>
                      <m:jc m:val="centerGroup"/>
                    </m:oMathParaPr>
                    <m:oMath xmlns:m="http://schemas.openxmlformats.org/officeDocument/2006/math">
                      <m:r>
                        <m:rPr>
                          <m:sty m:val="p"/>
                        </m:rPr>
                        <a:rPr lang="en-AU" sz="2400" b="0" i="0" smtClean="0">
                          <a:latin typeface="Cambria Math" panose="02040503050406030204" pitchFamily="18" charset="0"/>
                        </a:rPr>
                        <m:t>Dom</m:t>
                      </m:r>
                      <m:d>
                        <m:dPr>
                          <m:ctrlPr>
                            <a:rPr lang="en-AU" sz="2400" b="0" i="1" smtClean="0">
                              <a:latin typeface="Cambria Math" panose="02040503050406030204" pitchFamily="18" charset="0"/>
                            </a:rPr>
                          </m:ctrlPr>
                        </m:dPr>
                        <m:e>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arccosh</m:t>
                              </m:r>
                            </m:fName>
                            <m:e>
                              <m:r>
                                <a:rPr lang="en-AU" sz="2400" b="0" i="1" smtClean="0">
                                  <a:latin typeface="Cambria Math" panose="02040503050406030204" pitchFamily="18" charset="0"/>
                                </a:rPr>
                                <m:t>𝑥</m:t>
                              </m:r>
                            </m:e>
                          </m:func>
                        </m:e>
                      </m:d>
                      <m:r>
                        <a:rPr lang="en-AU" sz="2400" b="0" i="1" smtClean="0">
                          <a:latin typeface="Cambria Math" panose="02040503050406030204" pitchFamily="18" charset="0"/>
                        </a:rPr>
                        <m:t>=</m:t>
                      </m:r>
                      <m:d>
                        <m:dPr>
                          <m:begChr m:val="["/>
                          <m:ctrlPr>
                            <a:rPr lang="en-AU" sz="2400" b="0" i="1" smtClean="0">
                              <a:latin typeface="Cambria Math" panose="02040503050406030204" pitchFamily="18" charset="0"/>
                            </a:rPr>
                          </m:ctrlPr>
                        </m:dPr>
                        <m:e>
                          <m:r>
                            <a:rPr lang="en-AU" sz="2400" b="0" i="1" smtClean="0">
                              <a:latin typeface="Cambria Math" panose="02040503050406030204" pitchFamily="18" charset="0"/>
                            </a:rPr>
                            <m:t>1,</m:t>
                          </m:r>
                          <m:r>
                            <a:rPr lang="en-AU" sz="2400" b="0" i="1" smtClean="0">
                              <a:latin typeface="Cambria Math" panose="02040503050406030204" pitchFamily="18" charset="0"/>
                              <a:ea typeface="Cambria Math" panose="02040503050406030204" pitchFamily="18" charset="0"/>
                            </a:rPr>
                            <m:t>∞</m:t>
                          </m:r>
                        </m:e>
                      </m:d>
                      <m:r>
                        <a:rPr lang="en-AU" sz="2400" b="0" i="1" smtClean="0">
                          <a:latin typeface="Cambria Math" panose="02040503050406030204" pitchFamily="18" charset="0"/>
                          <a:ea typeface="Cambria Math" panose="02040503050406030204" pitchFamily="18" charset="0"/>
                        </a:rPr>
                        <m:t>    </m:t>
                      </m:r>
                      <m:r>
                        <m:rPr>
                          <m:sty m:val="p"/>
                        </m:rPr>
                        <a:rPr lang="en-AU" sz="2400" b="0" i="0" smtClean="0">
                          <a:latin typeface="Cambria Math" panose="02040503050406030204" pitchFamily="18" charset="0"/>
                          <a:ea typeface="Cambria Math" panose="02040503050406030204" pitchFamily="18" charset="0"/>
                        </a:rPr>
                        <m:t>Ran</m:t>
                      </m:r>
                      <m:d>
                        <m:dPr>
                          <m:ctrlPr>
                            <a:rPr lang="en-AU" sz="2400" b="0" i="1" smtClean="0">
                              <a:latin typeface="Cambria Math" panose="02040503050406030204" pitchFamily="18" charset="0"/>
                              <a:ea typeface="Cambria Math" panose="02040503050406030204" pitchFamily="18" charset="0"/>
                            </a:rPr>
                          </m:ctrlPr>
                        </m:dPr>
                        <m:e>
                          <m:func>
                            <m:funcPr>
                              <m:ctrlPr>
                                <a:rPr lang="en-AU" sz="2400" b="0" i="1" smtClean="0">
                                  <a:latin typeface="Cambria Math" panose="02040503050406030204" pitchFamily="18" charset="0"/>
                                  <a:ea typeface="Cambria Math" panose="02040503050406030204" pitchFamily="18" charset="0"/>
                                </a:rPr>
                              </m:ctrlPr>
                            </m:funcPr>
                            <m:fName>
                              <m:r>
                                <m:rPr>
                                  <m:sty m:val="p"/>
                                </m:rPr>
                                <a:rPr lang="en-AU" sz="2400" b="0" i="0" smtClean="0">
                                  <a:latin typeface="Cambria Math" panose="02040503050406030204" pitchFamily="18" charset="0"/>
                                  <a:ea typeface="Cambria Math" panose="02040503050406030204" pitchFamily="18" charset="0"/>
                                </a:rPr>
                                <m:t>arccosh</m:t>
                              </m:r>
                            </m:fName>
                            <m:e>
                              <m:r>
                                <a:rPr lang="en-AU" sz="2400" b="0" i="1" smtClean="0">
                                  <a:latin typeface="Cambria Math" panose="02040503050406030204" pitchFamily="18" charset="0"/>
                                  <a:ea typeface="Cambria Math" panose="02040503050406030204" pitchFamily="18" charset="0"/>
                                </a:rPr>
                                <m:t>𝑥</m:t>
                              </m:r>
                            </m:e>
                          </m:func>
                        </m:e>
                      </m:d>
                      <m:r>
                        <a:rPr lang="en-AU" sz="2400" b="0" i="1" smtClean="0">
                          <a:latin typeface="Cambria Math" panose="02040503050406030204" pitchFamily="18" charset="0"/>
                          <a:ea typeface="Cambria Math" panose="02040503050406030204" pitchFamily="18" charset="0"/>
                        </a:rPr>
                        <m:t>=[0,∞)</m:t>
                      </m:r>
                    </m:oMath>
                  </m:oMathPara>
                </a14:m>
                <a:endParaRPr lang="en-AU" sz="2400" b="0" dirty="0">
                  <a:latin typeface="+mj-lt"/>
                </a:endParaRPr>
              </a:p>
              <a:p>
                <a:pPr marL="800100" lvl="1" indent="-342900">
                  <a:buFont typeface="Arial" panose="020B0604020202020204" pitchFamily="34" charset="0"/>
                  <a:buChar char="•"/>
                </a:pPr>
                <a:endParaRPr lang="en-AU" sz="2400" b="0" dirty="0">
                  <a:latin typeface="+mj-lt"/>
                </a:endParaRPr>
              </a:p>
              <a:p>
                <a:pPr marL="342900" indent="-342900">
                  <a:buFont typeface="Arial" panose="020B0604020202020204" pitchFamily="34" charset="0"/>
                  <a:buChar char="•"/>
                </a:pPr>
                <a14:m>
                  <m:oMath xmlns:m="http://schemas.openxmlformats.org/officeDocument/2006/math">
                    <m:func>
                      <m:funcPr>
                        <m:ctrlPr>
                          <a:rPr lang="en-AU" sz="2400" b="0" i="1" smtClean="0">
                            <a:latin typeface="Cambria Math" panose="02040503050406030204" pitchFamily="18" charset="0"/>
                          </a:rPr>
                        </m:ctrlPr>
                      </m:funcPr>
                      <m:fName>
                        <m:sSup>
                          <m:sSupPr>
                            <m:ctrlPr>
                              <a:rPr lang="en-AU" sz="2400" b="0" i="1" smtClean="0">
                                <a:latin typeface="Cambria Math" panose="02040503050406030204" pitchFamily="18" charset="0"/>
                              </a:rPr>
                            </m:ctrlPr>
                          </m:sSupPr>
                          <m:e>
                            <m:r>
                              <m:rPr>
                                <m:sty m:val="p"/>
                              </m:rPr>
                              <a:rPr lang="en-AU" sz="2400" b="0" i="0" smtClean="0">
                                <a:latin typeface="Cambria Math" panose="02040503050406030204" pitchFamily="18" charset="0"/>
                              </a:rPr>
                              <m:t>sin</m:t>
                            </m:r>
                            <m:r>
                              <m:rPr>
                                <m:sty m:val="p"/>
                              </m:rPr>
                              <a:rPr lang="en-AU" sz="2400">
                                <a:latin typeface="Cambria Math" panose="02040503050406030204" pitchFamily="18" charset="0"/>
                              </a:rPr>
                              <m:t>h</m:t>
                            </m:r>
                          </m:e>
                          <m:sup>
                            <m:r>
                              <a:rPr lang="en-AU" sz="2400" b="0" i="1" smtClean="0">
                                <a:latin typeface="Cambria Math" panose="02040503050406030204" pitchFamily="18" charset="0"/>
                              </a:rPr>
                              <m:t>−1</m:t>
                            </m:r>
                          </m:sup>
                        </m:sSup>
                      </m:fName>
                      <m:e>
                        <m:r>
                          <a:rPr lang="en-AU" sz="2400" b="0" i="1" smtClean="0">
                            <a:latin typeface="Cambria Math" panose="02040503050406030204" pitchFamily="18" charset="0"/>
                          </a:rPr>
                          <m:t>𝑥</m:t>
                        </m:r>
                      </m:e>
                    </m:func>
                    <m:r>
                      <a:rPr lang="en-AU" sz="2400" b="0" i="1" smtClean="0">
                        <a:latin typeface="Cambria Math" panose="02040503050406030204" pitchFamily="18" charset="0"/>
                      </a:rPr>
                      <m:t>=</m:t>
                    </m:r>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arcsinh</m:t>
                        </m:r>
                      </m:fName>
                      <m:e>
                        <m:r>
                          <a:rPr lang="en-AU" sz="2400" b="0" i="1" smtClean="0">
                            <a:latin typeface="Cambria Math" panose="02040503050406030204" pitchFamily="18" charset="0"/>
                          </a:rPr>
                          <m:t>𝑥</m:t>
                        </m:r>
                      </m:e>
                    </m:func>
                    <m:r>
                      <a:rPr lang="en-AU" sz="2400" b="0" i="1" smtClean="0">
                        <a:latin typeface="Cambria Math" panose="02040503050406030204" pitchFamily="18" charset="0"/>
                      </a:rPr>
                      <m:t>=</m:t>
                    </m:r>
                    <m:r>
                      <m:rPr>
                        <m:sty m:val="p"/>
                      </m:rPr>
                      <a:rPr lang="en-AU" sz="2400" b="0" i="0" smtClean="0">
                        <a:latin typeface="Cambria Math" panose="02040503050406030204" pitchFamily="18" charset="0"/>
                      </a:rPr>
                      <m:t>ln</m:t>
                    </m:r>
                    <m:r>
                      <a:rPr lang="en-AU" sz="2400" b="0" i="1" smtClean="0">
                        <a:latin typeface="Cambria Math" panose="02040503050406030204" pitchFamily="18" charset="0"/>
                      </a:rPr>
                      <m:t>⁡(</m:t>
                    </m:r>
                    <m:r>
                      <a:rPr lang="en-AU" sz="2400" b="0" i="1" smtClean="0">
                        <a:latin typeface="Cambria Math" panose="02040503050406030204" pitchFamily="18" charset="0"/>
                      </a:rPr>
                      <m:t>𝑥</m:t>
                    </m:r>
                    <m:r>
                      <a:rPr lang="en-AU" sz="2400" b="0" i="1" smtClean="0">
                        <a:latin typeface="Cambria Math" panose="02040503050406030204" pitchFamily="18" charset="0"/>
                      </a:rPr>
                      <m:t>+</m:t>
                    </m:r>
                    <m:rad>
                      <m:radPr>
                        <m:degHide m:val="on"/>
                        <m:ctrlPr>
                          <a:rPr lang="en-AU" sz="2400" b="0" i="1" smtClean="0">
                            <a:latin typeface="Cambria Math" panose="02040503050406030204" pitchFamily="18" charset="0"/>
                          </a:rPr>
                        </m:ctrlPr>
                      </m:radPr>
                      <m:deg/>
                      <m:e>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𝑥</m:t>
                            </m:r>
                          </m:e>
                          <m:sup>
                            <m:r>
                              <a:rPr lang="en-AU" sz="2400" b="0" i="1" smtClean="0">
                                <a:latin typeface="Cambria Math" panose="02040503050406030204" pitchFamily="18" charset="0"/>
                              </a:rPr>
                              <m:t>2</m:t>
                            </m:r>
                          </m:sup>
                        </m:sSup>
                        <m:r>
                          <a:rPr lang="en-AU" sz="2400" b="0" i="1" smtClean="0">
                            <a:latin typeface="Cambria Math" panose="02040503050406030204" pitchFamily="18" charset="0"/>
                          </a:rPr>
                          <m:t>+1</m:t>
                        </m:r>
                      </m:e>
                    </m:rad>
                    <m:r>
                      <a:rPr lang="en-AU" sz="2400" b="0" i="1" smtClean="0">
                        <a:latin typeface="Cambria Math" panose="02040503050406030204" pitchFamily="18" charset="0"/>
                      </a:rPr>
                      <m:t>)</m:t>
                    </m:r>
                  </m:oMath>
                </a14:m>
                <a:r>
                  <a:rPr lang="en-AU" sz="2400" b="0" dirty="0">
                    <a:latin typeface="+mj-lt"/>
                  </a:rPr>
                  <a:t>,</a:t>
                </a:r>
              </a:p>
              <a:p>
                <a:pPr marL="342900" indent="-342900">
                  <a:buFont typeface="Arial" panose="020B0604020202020204" pitchFamily="34" charset="0"/>
                  <a:buChar char="•"/>
                </a:pPr>
                <a:endParaRPr lang="en-AU" sz="2400" dirty="0">
                  <a:latin typeface="+mj-lt"/>
                </a:endParaRPr>
              </a:p>
              <a:p>
                <a:pPr/>
                <a14:m>
                  <m:oMathPara xmlns:m="http://schemas.openxmlformats.org/officeDocument/2006/math">
                    <m:oMathParaPr>
                      <m:jc m:val="centerGroup"/>
                    </m:oMathParaPr>
                    <m:oMath xmlns:m="http://schemas.openxmlformats.org/officeDocument/2006/math">
                      <m:r>
                        <m:rPr>
                          <m:sty m:val="p"/>
                        </m:rPr>
                        <a:rPr lang="en-AU" sz="2400" b="0" i="0" smtClean="0">
                          <a:latin typeface="Cambria Math" panose="02040503050406030204" pitchFamily="18" charset="0"/>
                        </a:rPr>
                        <m:t>Dom</m:t>
                      </m:r>
                      <m:d>
                        <m:dPr>
                          <m:ctrlPr>
                            <a:rPr lang="en-AU" sz="2400" b="0" i="1" smtClean="0">
                              <a:latin typeface="Cambria Math" panose="02040503050406030204" pitchFamily="18" charset="0"/>
                            </a:rPr>
                          </m:ctrlPr>
                        </m:dPr>
                        <m:e>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arcsinh</m:t>
                              </m:r>
                            </m:fName>
                            <m:e>
                              <m:r>
                                <a:rPr lang="en-AU" sz="2400" b="0" i="1" smtClean="0">
                                  <a:latin typeface="Cambria Math" panose="02040503050406030204" pitchFamily="18" charset="0"/>
                                </a:rPr>
                                <m:t>𝑥</m:t>
                              </m:r>
                            </m:e>
                          </m:func>
                        </m:e>
                      </m:d>
                      <m:r>
                        <a:rPr lang="en-AU" sz="2400" b="0" i="1" smtClean="0">
                          <a:latin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ℝ</m:t>
                      </m:r>
                      <m:r>
                        <a:rPr lang="en-AU" sz="2400" b="0" i="1" smtClean="0">
                          <a:latin typeface="Cambria Math" panose="02040503050406030204" pitchFamily="18" charset="0"/>
                          <a:ea typeface="Cambria Math" panose="02040503050406030204" pitchFamily="18" charset="0"/>
                        </a:rPr>
                        <m:t>    </m:t>
                      </m:r>
                      <m:r>
                        <m:rPr>
                          <m:sty m:val="p"/>
                        </m:rPr>
                        <a:rPr lang="en-AU" sz="2400" b="0" i="0" smtClean="0">
                          <a:latin typeface="Cambria Math" panose="02040503050406030204" pitchFamily="18" charset="0"/>
                          <a:ea typeface="Cambria Math" panose="02040503050406030204" pitchFamily="18" charset="0"/>
                        </a:rPr>
                        <m:t>Ran</m:t>
                      </m:r>
                      <m:d>
                        <m:dPr>
                          <m:ctrlPr>
                            <a:rPr lang="en-AU" sz="2400" b="0" i="1" smtClean="0">
                              <a:latin typeface="Cambria Math" panose="02040503050406030204" pitchFamily="18" charset="0"/>
                              <a:ea typeface="Cambria Math" panose="02040503050406030204" pitchFamily="18" charset="0"/>
                            </a:rPr>
                          </m:ctrlPr>
                        </m:dPr>
                        <m:e>
                          <m:func>
                            <m:funcPr>
                              <m:ctrlPr>
                                <a:rPr lang="en-AU" sz="2400" b="0" i="1" smtClean="0">
                                  <a:latin typeface="Cambria Math" panose="02040503050406030204" pitchFamily="18" charset="0"/>
                                  <a:ea typeface="Cambria Math" panose="02040503050406030204" pitchFamily="18" charset="0"/>
                                </a:rPr>
                              </m:ctrlPr>
                            </m:funcPr>
                            <m:fName>
                              <m:r>
                                <m:rPr>
                                  <m:sty m:val="p"/>
                                </m:rPr>
                                <a:rPr lang="en-AU" sz="2400" b="0" i="0" smtClean="0">
                                  <a:latin typeface="Cambria Math" panose="02040503050406030204" pitchFamily="18" charset="0"/>
                                  <a:ea typeface="Cambria Math" panose="02040503050406030204" pitchFamily="18" charset="0"/>
                                </a:rPr>
                                <m:t>arcsinh</m:t>
                              </m:r>
                            </m:fName>
                            <m:e>
                              <m:r>
                                <a:rPr lang="en-AU" sz="2400" b="0" i="1" smtClean="0">
                                  <a:latin typeface="Cambria Math" panose="02040503050406030204" pitchFamily="18" charset="0"/>
                                  <a:ea typeface="Cambria Math" panose="02040503050406030204" pitchFamily="18" charset="0"/>
                                </a:rPr>
                                <m:t>𝑥</m:t>
                              </m:r>
                            </m:e>
                          </m:func>
                        </m:e>
                      </m:d>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ℝ</m:t>
                      </m:r>
                    </m:oMath>
                  </m:oMathPara>
                </a14:m>
                <a:endParaRPr lang="en-AU" sz="2400" b="0" dirty="0">
                  <a:latin typeface="+mj-lt"/>
                </a:endParaRPr>
              </a:p>
              <a:p>
                <a:pPr marL="342900" indent="-342900">
                  <a:buFont typeface="Arial" panose="020B0604020202020204" pitchFamily="34" charset="0"/>
                  <a:buChar char="•"/>
                </a:pPr>
                <a:endParaRPr lang="en-AU" sz="2400" b="0" dirty="0">
                  <a:latin typeface="+mj-lt"/>
                </a:endParaRPr>
              </a:p>
              <a:p>
                <a:pPr marL="342900" indent="-342900">
                  <a:buFont typeface="Arial" panose="020B0604020202020204" pitchFamily="34" charset="0"/>
                  <a:buChar char="•"/>
                </a:pPr>
                <a14:m>
                  <m:oMath xmlns:m="http://schemas.openxmlformats.org/officeDocument/2006/math">
                    <m:func>
                      <m:funcPr>
                        <m:ctrlPr>
                          <a:rPr lang="en-AU" sz="2400" b="0" i="1" smtClean="0">
                            <a:latin typeface="Cambria Math" panose="02040503050406030204" pitchFamily="18" charset="0"/>
                          </a:rPr>
                        </m:ctrlPr>
                      </m:funcPr>
                      <m:fName>
                        <m:sSup>
                          <m:sSupPr>
                            <m:ctrlPr>
                              <a:rPr lang="en-AU" sz="2400" b="0" i="1" smtClean="0">
                                <a:latin typeface="Cambria Math" panose="02040503050406030204" pitchFamily="18" charset="0"/>
                              </a:rPr>
                            </m:ctrlPr>
                          </m:sSupPr>
                          <m:e>
                            <m:r>
                              <m:rPr>
                                <m:sty m:val="p"/>
                              </m:rPr>
                              <a:rPr lang="en-AU" sz="2400" b="0" i="0" smtClean="0">
                                <a:latin typeface="Cambria Math" panose="02040503050406030204" pitchFamily="18" charset="0"/>
                              </a:rPr>
                              <m:t>tan</m:t>
                            </m:r>
                            <m:r>
                              <m:rPr>
                                <m:sty m:val="p"/>
                              </m:rPr>
                              <a:rPr lang="en-AU" sz="2400">
                                <a:latin typeface="Cambria Math" panose="02040503050406030204" pitchFamily="18" charset="0"/>
                              </a:rPr>
                              <m:t>h</m:t>
                            </m:r>
                          </m:e>
                          <m:sup>
                            <m:r>
                              <a:rPr lang="en-AU" sz="2400" b="0" i="1" smtClean="0">
                                <a:latin typeface="Cambria Math" panose="02040503050406030204" pitchFamily="18" charset="0"/>
                              </a:rPr>
                              <m:t>−1</m:t>
                            </m:r>
                          </m:sup>
                        </m:sSup>
                      </m:fName>
                      <m:e>
                        <m:r>
                          <a:rPr lang="en-AU" sz="2400" b="0" i="1" smtClean="0">
                            <a:latin typeface="Cambria Math" panose="02040503050406030204" pitchFamily="18" charset="0"/>
                          </a:rPr>
                          <m:t>𝑥</m:t>
                        </m:r>
                      </m:e>
                    </m:func>
                    <m:r>
                      <a:rPr lang="en-AU" sz="2400" b="0" i="1" smtClean="0">
                        <a:latin typeface="Cambria Math" panose="02040503050406030204" pitchFamily="18" charset="0"/>
                      </a:rPr>
                      <m:t>=</m:t>
                    </m:r>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arctanh</m:t>
                        </m:r>
                      </m:fName>
                      <m:e>
                        <m:r>
                          <a:rPr lang="en-AU" sz="2400" b="0" i="1" smtClean="0">
                            <a:latin typeface="Cambria Math" panose="02040503050406030204" pitchFamily="18" charset="0"/>
                          </a:rPr>
                          <m:t>𝑥</m:t>
                        </m:r>
                      </m:e>
                    </m:func>
                    <m:r>
                      <a:rPr lang="en-AU" sz="2400" b="0" i="1" smtClean="0">
                        <a:latin typeface="Cambria Math" panose="02040503050406030204" pitchFamily="18" charset="0"/>
                      </a:rPr>
                      <m:t>=</m:t>
                    </m:r>
                    <m:f>
                      <m:fPr>
                        <m:ctrlPr>
                          <a:rPr lang="en-AU" sz="2400" b="0" i="1" smtClean="0">
                            <a:latin typeface="Cambria Math" panose="02040503050406030204" pitchFamily="18" charset="0"/>
                          </a:rPr>
                        </m:ctrlPr>
                      </m:fPr>
                      <m:num>
                        <m:r>
                          <a:rPr lang="en-AU" sz="2400" b="0" i="0" smtClean="0">
                            <a:latin typeface="Cambria Math" panose="02040503050406030204" pitchFamily="18" charset="0"/>
                          </a:rPr>
                          <m:t>1</m:t>
                        </m:r>
                      </m:num>
                      <m:den>
                        <m:r>
                          <a:rPr lang="en-AU" sz="2400" b="0" i="0" smtClean="0">
                            <a:latin typeface="Cambria Math" panose="02040503050406030204" pitchFamily="18" charset="0"/>
                          </a:rPr>
                          <m:t>2</m:t>
                        </m:r>
                      </m:den>
                    </m:f>
                    <m:r>
                      <m:rPr>
                        <m:sty m:val="p"/>
                      </m:rPr>
                      <a:rPr lang="en-AU" sz="2400" b="0" i="0" smtClean="0">
                        <a:latin typeface="Cambria Math" panose="02040503050406030204" pitchFamily="18" charset="0"/>
                      </a:rPr>
                      <m:t>ln</m:t>
                    </m:r>
                    <m:r>
                      <a:rPr lang="en-AU" sz="2400" b="0" i="1" smtClean="0">
                        <a:latin typeface="Cambria Math" panose="02040503050406030204" pitchFamily="18" charset="0"/>
                      </a:rPr>
                      <m:t>⁡(</m:t>
                    </m:r>
                    <m:f>
                      <m:fPr>
                        <m:ctrlPr>
                          <a:rPr lang="en-AU" sz="2400" b="0" i="1" smtClean="0">
                            <a:latin typeface="Cambria Math" panose="02040503050406030204" pitchFamily="18" charset="0"/>
                          </a:rPr>
                        </m:ctrlPr>
                      </m:fPr>
                      <m:num>
                        <m:r>
                          <a:rPr lang="en-AU" sz="2400" b="0" i="1" smtClean="0">
                            <a:latin typeface="Cambria Math" panose="02040503050406030204" pitchFamily="18" charset="0"/>
                          </a:rPr>
                          <m:t>1+</m:t>
                        </m:r>
                        <m:r>
                          <a:rPr lang="en-AU" sz="2400" b="0" i="1" smtClean="0">
                            <a:latin typeface="Cambria Math" panose="02040503050406030204" pitchFamily="18" charset="0"/>
                          </a:rPr>
                          <m:t>𝑥</m:t>
                        </m:r>
                      </m:num>
                      <m:den>
                        <m:r>
                          <a:rPr lang="en-AU" sz="2400" b="0" i="1" smtClean="0">
                            <a:latin typeface="Cambria Math" panose="02040503050406030204" pitchFamily="18" charset="0"/>
                          </a:rPr>
                          <m:t>1−</m:t>
                        </m:r>
                        <m:r>
                          <a:rPr lang="en-AU" sz="2400" b="0" i="1" smtClean="0">
                            <a:latin typeface="Cambria Math" panose="02040503050406030204" pitchFamily="18" charset="0"/>
                          </a:rPr>
                          <m:t>𝑥</m:t>
                        </m:r>
                      </m:den>
                    </m:f>
                    <m:r>
                      <a:rPr lang="en-AU" sz="2400" b="0" i="1" smtClean="0">
                        <a:latin typeface="Cambria Math" panose="02040503050406030204" pitchFamily="18" charset="0"/>
                      </a:rPr>
                      <m:t>)</m:t>
                    </m:r>
                  </m:oMath>
                </a14:m>
                <a:r>
                  <a:rPr lang="en-AU" sz="2400" b="0" dirty="0">
                    <a:latin typeface="+mj-lt"/>
                  </a:rPr>
                  <a:t>,</a:t>
                </a:r>
              </a:p>
              <a:p>
                <a:pPr marL="342900" indent="-342900">
                  <a:buFont typeface="Arial" panose="020B0604020202020204" pitchFamily="34" charset="0"/>
                  <a:buChar char="•"/>
                </a:pPr>
                <a:endParaRPr lang="en-AU" sz="2400" dirty="0">
                  <a:latin typeface="+mj-lt"/>
                </a:endParaRPr>
              </a:p>
              <a:p>
                <a:pPr/>
                <a14:m>
                  <m:oMathPara xmlns:m="http://schemas.openxmlformats.org/officeDocument/2006/math">
                    <m:oMathParaPr>
                      <m:jc m:val="centerGroup"/>
                    </m:oMathParaPr>
                    <m:oMath xmlns:m="http://schemas.openxmlformats.org/officeDocument/2006/math">
                      <m:r>
                        <m:rPr>
                          <m:sty m:val="p"/>
                        </m:rPr>
                        <a:rPr lang="en-AU" sz="2400" b="0" i="0" smtClean="0">
                          <a:latin typeface="Cambria Math" panose="02040503050406030204" pitchFamily="18" charset="0"/>
                        </a:rPr>
                        <m:t>Dom</m:t>
                      </m:r>
                      <m:d>
                        <m:dPr>
                          <m:ctrlPr>
                            <a:rPr lang="en-AU" sz="2400" b="0" i="1" smtClean="0">
                              <a:latin typeface="Cambria Math" panose="02040503050406030204" pitchFamily="18" charset="0"/>
                            </a:rPr>
                          </m:ctrlPr>
                        </m:dPr>
                        <m:e>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arctanh</m:t>
                              </m:r>
                            </m:fName>
                            <m:e>
                              <m:r>
                                <a:rPr lang="en-AU" sz="2400" b="0" i="1" smtClean="0">
                                  <a:latin typeface="Cambria Math" panose="02040503050406030204" pitchFamily="18" charset="0"/>
                                </a:rPr>
                                <m:t>𝑥</m:t>
                              </m:r>
                            </m:e>
                          </m:func>
                        </m:e>
                      </m:d>
                      <m:r>
                        <a:rPr lang="en-AU" sz="2400" b="0" i="1" smtClean="0">
                          <a:latin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(−1,1)    </m:t>
                      </m:r>
                      <m:r>
                        <m:rPr>
                          <m:sty m:val="p"/>
                        </m:rPr>
                        <a:rPr lang="en-AU" sz="2400" b="0" i="0" smtClean="0">
                          <a:latin typeface="Cambria Math" panose="02040503050406030204" pitchFamily="18" charset="0"/>
                          <a:ea typeface="Cambria Math" panose="02040503050406030204" pitchFamily="18" charset="0"/>
                        </a:rPr>
                        <m:t>Ran</m:t>
                      </m:r>
                      <m:d>
                        <m:dPr>
                          <m:ctrlPr>
                            <a:rPr lang="en-AU" sz="2400" b="0" i="1" smtClean="0">
                              <a:latin typeface="Cambria Math" panose="02040503050406030204" pitchFamily="18" charset="0"/>
                              <a:ea typeface="Cambria Math" panose="02040503050406030204" pitchFamily="18" charset="0"/>
                            </a:rPr>
                          </m:ctrlPr>
                        </m:dPr>
                        <m:e>
                          <m:func>
                            <m:funcPr>
                              <m:ctrlPr>
                                <a:rPr lang="en-AU" sz="2400" b="0" i="1" smtClean="0">
                                  <a:latin typeface="Cambria Math" panose="02040503050406030204" pitchFamily="18" charset="0"/>
                                  <a:ea typeface="Cambria Math" panose="02040503050406030204" pitchFamily="18" charset="0"/>
                                </a:rPr>
                              </m:ctrlPr>
                            </m:funcPr>
                            <m:fName>
                              <m:r>
                                <m:rPr>
                                  <m:sty m:val="p"/>
                                </m:rPr>
                                <a:rPr lang="en-AU" sz="2400" b="0" i="0" smtClean="0">
                                  <a:latin typeface="Cambria Math" panose="02040503050406030204" pitchFamily="18" charset="0"/>
                                  <a:ea typeface="Cambria Math" panose="02040503050406030204" pitchFamily="18" charset="0"/>
                                </a:rPr>
                                <m:t>arctanh</m:t>
                              </m:r>
                            </m:fName>
                            <m:e>
                              <m:r>
                                <a:rPr lang="en-AU" sz="2400" b="0" i="1" smtClean="0">
                                  <a:latin typeface="Cambria Math" panose="02040503050406030204" pitchFamily="18" charset="0"/>
                                  <a:ea typeface="Cambria Math" panose="02040503050406030204" pitchFamily="18" charset="0"/>
                                </a:rPr>
                                <m:t>𝑥</m:t>
                              </m:r>
                            </m:e>
                          </m:func>
                        </m:e>
                      </m:d>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ℝ</m:t>
                      </m:r>
                    </m:oMath>
                  </m:oMathPara>
                </a14:m>
                <a:endParaRPr lang="en-AU" sz="2400" b="0" dirty="0">
                  <a:latin typeface="+mj-lt"/>
                </a:endParaRPr>
              </a:p>
              <a:p>
                <a:pPr marL="342900" indent="-342900">
                  <a:buFont typeface="Arial" panose="020B0604020202020204" pitchFamily="34" charset="0"/>
                  <a:buChar char="•"/>
                </a:pPr>
                <a:endParaRPr lang="en-AU" sz="2400" b="0" dirty="0">
                  <a:latin typeface="+mj-lt"/>
                </a:endParaRPr>
              </a:p>
            </p:txBody>
          </p:sp>
        </mc:Choice>
        <mc:Fallback xmlns="">
          <p:sp>
            <p:nvSpPr>
              <p:cNvPr id="3" name="TextBox 2">
                <a:extLst>
                  <a:ext uri="{FF2B5EF4-FFF2-40B4-BE49-F238E27FC236}">
                    <a16:creationId xmlns:a16="http://schemas.microsoft.com/office/drawing/2014/main" id="{B3D35E8F-1520-480A-916D-4AF7966CAEAD}"/>
                  </a:ext>
                </a:extLst>
              </p:cNvPr>
              <p:cNvSpPr txBox="1">
                <a:spLocks noRot="1" noChangeAspect="1" noMove="1" noResize="1" noEditPoints="1" noAdjustHandles="1" noChangeArrowheads="1" noChangeShapeType="1" noTextEdit="1"/>
              </p:cNvSpPr>
              <p:nvPr/>
            </p:nvSpPr>
            <p:spPr>
              <a:xfrm>
                <a:off x="301020" y="1617704"/>
                <a:ext cx="11559285" cy="4769896"/>
              </a:xfrm>
              <a:prstGeom prst="rect">
                <a:avLst/>
              </a:prstGeom>
              <a:blipFill>
                <a:blip r:embed="rId2"/>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25274801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3452163" cy="523220"/>
          </a:xfrm>
          <a:prstGeom prst="rect">
            <a:avLst/>
          </a:prstGeom>
          <a:noFill/>
        </p:spPr>
        <p:txBody>
          <a:bodyPr wrap="none" rtlCol="0">
            <a:spAutoFit/>
          </a:bodyPr>
          <a:lstStyle/>
          <a:p>
            <a:r>
              <a:rPr lang="en-AU" sz="2800" b="1" cap="small" dirty="0">
                <a:solidFill>
                  <a:schemeClr val="bg1"/>
                </a:solidFill>
                <a:latin typeface="+mj-lt"/>
              </a:rPr>
              <a:t>2.1 The concept of limit</a:t>
            </a:r>
            <a:endParaRPr lang="en-GB" sz="2800" b="1" cap="small" dirty="0">
              <a:solidFill>
                <a:schemeClr val="bg1"/>
              </a:solidFill>
              <a:latin typeface="+mj-lt"/>
            </a:endParaRPr>
          </a:p>
        </p:txBody>
      </p:sp>
      <p:sp>
        <p:nvSpPr>
          <p:cNvPr id="2" name="TextBox 1">
            <a:extLst>
              <a:ext uri="{FF2B5EF4-FFF2-40B4-BE49-F238E27FC236}">
                <a16:creationId xmlns:a16="http://schemas.microsoft.com/office/drawing/2014/main" id="{8D5D4DAC-2DE0-4152-949A-F643BA097938}"/>
              </a:ext>
            </a:extLst>
          </p:cNvPr>
          <p:cNvSpPr txBox="1"/>
          <p:nvPr/>
        </p:nvSpPr>
        <p:spPr>
          <a:xfrm>
            <a:off x="283580" y="992125"/>
            <a:ext cx="1508746" cy="461665"/>
          </a:xfrm>
          <a:prstGeom prst="rect">
            <a:avLst/>
          </a:prstGeom>
          <a:noFill/>
          <a:ln>
            <a:solidFill>
              <a:schemeClr val="accent2">
                <a:lumMod val="50000"/>
              </a:schemeClr>
            </a:solidFill>
          </a:ln>
        </p:spPr>
        <p:txBody>
          <a:bodyPr wrap="none" rtlCol="0">
            <a:spAutoFit/>
          </a:bodyPr>
          <a:lstStyle/>
          <a:p>
            <a:r>
              <a:rPr lang="en-AU" sz="2400" b="1" dirty="0">
                <a:latin typeface="+mj-lt"/>
              </a:rPr>
              <a:t>MODULE 2</a:t>
            </a:r>
            <a:endParaRPr lang="en-GB" sz="2400" b="1" dirty="0">
              <a:latin typeface="+mj-lt"/>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DF0F27E1-BBE1-4048-AE74-8B3B6AC71332}"/>
                  </a:ext>
                </a:extLst>
              </p:cNvPr>
              <p:cNvSpPr txBox="1"/>
              <p:nvPr/>
            </p:nvSpPr>
            <p:spPr>
              <a:xfrm>
                <a:off x="301020" y="1617704"/>
                <a:ext cx="11559285" cy="4635756"/>
              </a:xfrm>
              <a:prstGeom prst="rect">
                <a:avLst/>
              </a:prstGeom>
              <a:noFill/>
            </p:spPr>
            <p:txBody>
              <a:bodyPr wrap="square" rtlCol="0">
                <a:spAutoFit/>
              </a:bodyPr>
              <a:lstStyle/>
              <a:p>
                <a:r>
                  <a:rPr lang="en-AU" sz="2400" dirty="0">
                    <a:latin typeface="+mj-lt"/>
                  </a:rPr>
                  <a:t>Definition. For </a:t>
                </a:r>
                <a14:m>
                  <m:oMath xmlns:m="http://schemas.openxmlformats.org/officeDocument/2006/math">
                    <m:r>
                      <a:rPr lang="en-AU" sz="2400" b="0" i="1" smtClean="0">
                        <a:latin typeface="Cambria Math" panose="02040503050406030204" pitchFamily="18" charset="0"/>
                      </a:rPr>
                      <m:t>𝑎</m:t>
                    </m:r>
                    <m:r>
                      <a:rPr lang="en-AU" sz="2400" b="0" i="1" smtClean="0">
                        <a:latin typeface="Cambria Math" panose="02040503050406030204" pitchFamily="18" charset="0"/>
                      </a:rPr>
                      <m:t>,</m:t>
                    </m:r>
                    <m:r>
                      <a:rPr lang="en-AU" sz="2400" b="0" i="1" smtClean="0">
                        <a:latin typeface="Cambria Math" panose="02040503050406030204" pitchFamily="18" charset="0"/>
                      </a:rPr>
                      <m:t>𝐿</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ℝ</m:t>
                    </m:r>
                  </m:oMath>
                </a14:m>
                <a:r>
                  <a:rPr lang="en-AU" sz="2400" b="0" dirty="0">
                    <a:latin typeface="+mj-lt"/>
                  </a:rPr>
                  <a:t>, we say that a function </a:t>
                </a:r>
                <a14:m>
                  <m:oMath xmlns:m="http://schemas.openxmlformats.org/officeDocument/2006/math">
                    <m:r>
                      <a:rPr lang="en-AU" sz="2400" b="0" i="1" smtClean="0">
                        <a:latin typeface="Cambria Math" panose="02040503050406030204" pitchFamily="18" charset="0"/>
                      </a:rPr>
                      <m:t>𝑓</m:t>
                    </m:r>
                    <m:r>
                      <a:rPr lang="en-AU" sz="2400" b="0" i="1" smtClean="0">
                        <a:latin typeface="Cambria Math" panose="02040503050406030204" pitchFamily="18" charset="0"/>
                      </a:rPr>
                      <m:t>(</m:t>
                    </m:r>
                    <m:r>
                      <a:rPr lang="en-AU" sz="2400" b="0" i="1" smtClean="0">
                        <a:latin typeface="Cambria Math" panose="02040503050406030204" pitchFamily="18" charset="0"/>
                      </a:rPr>
                      <m:t>𝑥</m:t>
                    </m:r>
                    <m:r>
                      <a:rPr lang="en-AU" sz="2400" b="0" i="1" smtClean="0">
                        <a:latin typeface="Cambria Math" panose="02040503050406030204" pitchFamily="18" charset="0"/>
                      </a:rPr>
                      <m:t>)</m:t>
                    </m:r>
                  </m:oMath>
                </a14:m>
                <a:r>
                  <a:rPr lang="en-AU" sz="2400" b="0" dirty="0">
                    <a:latin typeface="+mj-lt"/>
                  </a:rPr>
                  <a:t> has the limit </a:t>
                </a:r>
                <a14:m>
                  <m:oMath xmlns:m="http://schemas.openxmlformats.org/officeDocument/2006/math">
                    <m:r>
                      <a:rPr lang="en-AU" sz="2400" b="0" i="1" smtClean="0">
                        <a:latin typeface="Cambria Math" panose="02040503050406030204" pitchFamily="18" charset="0"/>
                      </a:rPr>
                      <m:t>𝐿</m:t>
                    </m:r>
                  </m:oMath>
                </a14:m>
                <a:r>
                  <a:rPr lang="en-AU" sz="2400" b="0" dirty="0">
                    <a:latin typeface="+mj-lt"/>
                  </a:rPr>
                  <a:t> as </a:t>
                </a:r>
                <a14:m>
                  <m:oMath xmlns:m="http://schemas.openxmlformats.org/officeDocument/2006/math">
                    <m:r>
                      <a:rPr lang="en-AU" sz="2400" b="0" i="1" smtClean="0">
                        <a:latin typeface="Cambria Math" panose="02040503050406030204" pitchFamily="18" charset="0"/>
                      </a:rPr>
                      <m:t>𝑥</m:t>
                    </m:r>
                  </m:oMath>
                </a14:m>
                <a:r>
                  <a:rPr lang="en-AU" sz="2400" b="0" dirty="0">
                    <a:latin typeface="+mj-lt"/>
                  </a:rPr>
                  <a:t> approaches </a:t>
                </a:r>
                <a14:m>
                  <m:oMath xmlns:m="http://schemas.openxmlformats.org/officeDocument/2006/math">
                    <m:r>
                      <a:rPr lang="en-AU" sz="2400" b="0" i="1" smtClean="0">
                        <a:latin typeface="Cambria Math" panose="02040503050406030204" pitchFamily="18" charset="0"/>
                      </a:rPr>
                      <m:t>𝑎</m:t>
                    </m:r>
                  </m:oMath>
                </a14:m>
                <a:r>
                  <a:rPr lang="en-AU" sz="2400" b="0" dirty="0">
                    <a:latin typeface="+mj-lt"/>
                  </a:rPr>
                  <a:t>:</a:t>
                </a:r>
              </a:p>
              <a:p>
                <a:endParaRPr lang="en-AU" sz="2400" b="0" dirty="0">
                  <a:latin typeface="+mj-lt"/>
                </a:endParaRPr>
              </a:p>
              <a:p>
                <a:pPr/>
                <a14:m>
                  <m:oMathPara xmlns:m="http://schemas.openxmlformats.org/officeDocument/2006/math">
                    <m:oMathParaPr>
                      <m:jc m:val="centerGroup"/>
                    </m:oMathParaPr>
                    <m:oMath xmlns:m="http://schemas.openxmlformats.org/officeDocument/2006/math">
                      <m:func>
                        <m:funcPr>
                          <m:ctrlPr>
                            <a:rPr lang="en-AU" sz="2400" b="0" i="1" smtClean="0">
                              <a:latin typeface="Cambria Math" panose="02040503050406030204" pitchFamily="18" charset="0"/>
                            </a:rPr>
                          </m:ctrlPr>
                        </m:funcPr>
                        <m:fName>
                          <m:limLow>
                            <m:limLowPr>
                              <m:ctrlPr>
                                <a:rPr lang="en-AU" sz="2400" b="0" i="1" smtClean="0">
                                  <a:latin typeface="Cambria Math" panose="02040503050406030204" pitchFamily="18" charset="0"/>
                                </a:rPr>
                              </m:ctrlPr>
                            </m:limLowPr>
                            <m:e>
                              <m:r>
                                <m:rPr>
                                  <m:sty m:val="p"/>
                                </m:rPr>
                                <a:rPr lang="en-AU" sz="2400" b="0" i="0" smtClean="0">
                                  <a:latin typeface="Cambria Math" panose="02040503050406030204" pitchFamily="18" charset="0"/>
                                </a:rPr>
                                <m:t>lim</m:t>
                              </m:r>
                            </m:e>
                            <m:lim>
                              <m:r>
                                <a:rPr lang="en-AU" sz="2400" b="0" i="1" smtClean="0">
                                  <a:latin typeface="Cambria Math" panose="02040503050406030204" pitchFamily="18" charset="0"/>
                                </a:rPr>
                                <m:t>𝑥</m:t>
                              </m:r>
                              <m:r>
                                <a:rPr lang="en-AU" sz="2400" b="0" i="1" smtClean="0">
                                  <a:latin typeface="Cambria Math" panose="02040503050406030204" pitchFamily="18" charset="0"/>
                                </a:rPr>
                                <m:t>→</m:t>
                              </m:r>
                              <m:r>
                                <a:rPr lang="en-AU" sz="2400" b="0" i="1" smtClean="0">
                                  <a:latin typeface="Cambria Math" panose="02040503050406030204" pitchFamily="18" charset="0"/>
                                </a:rPr>
                                <m:t>𝑎</m:t>
                              </m:r>
                            </m:lim>
                          </m:limLow>
                        </m:fName>
                        <m:e>
                          <m:r>
                            <a:rPr lang="en-AU" sz="2400" b="0" i="1" smtClean="0">
                              <a:latin typeface="Cambria Math" panose="02040503050406030204" pitchFamily="18" charset="0"/>
                            </a:rPr>
                            <m:t>𝑓</m:t>
                          </m:r>
                          <m:r>
                            <a:rPr lang="en-AU" sz="2400" b="0" i="1" smtClean="0">
                              <a:latin typeface="Cambria Math" panose="02040503050406030204" pitchFamily="18" charset="0"/>
                            </a:rPr>
                            <m:t>(</m:t>
                          </m:r>
                          <m:r>
                            <a:rPr lang="en-AU" sz="2400" b="0" i="1" smtClean="0">
                              <a:latin typeface="Cambria Math" panose="02040503050406030204" pitchFamily="18" charset="0"/>
                            </a:rPr>
                            <m:t>𝑥</m:t>
                          </m:r>
                          <m:r>
                            <a:rPr lang="en-AU" sz="2400" b="0" i="1" smtClean="0">
                              <a:latin typeface="Cambria Math" panose="02040503050406030204" pitchFamily="18" charset="0"/>
                            </a:rPr>
                            <m:t>)</m:t>
                          </m:r>
                        </m:e>
                      </m:func>
                      <m:r>
                        <a:rPr lang="en-AU" sz="2400" b="0" i="1" smtClean="0">
                          <a:latin typeface="Cambria Math" panose="02040503050406030204" pitchFamily="18" charset="0"/>
                        </a:rPr>
                        <m:t>=</m:t>
                      </m:r>
                      <m:r>
                        <a:rPr lang="en-AU" sz="2400" b="0" i="1" smtClean="0">
                          <a:latin typeface="Cambria Math" panose="02040503050406030204" pitchFamily="18" charset="0"/>
                        </a:rPr>
                        <m:t>𝐿</m:t>
                      </m:r>
                    </m:oMath>
                  </m:oMathPara>
                </a14:m>
                <a:endParaRPr lang="en-AU" sz="2400" b="0" dirty="0">
                  <a:latin typeface="+mj-lt"/>
                </a:endParaRPr>
              </a:p>
              <a:p>
                <a:endParaRPr lang="en-AU" sz="2400" dirty="0">
                  <a:latin typeface="+mj-lt"/>
                </a:endParaRPr>
              </a:p>
              <a:p>
                <a:r>
                  <a:rPr lang="en-AU" sz="2400" dirty="0">
                    <a:latin typeface="+mj-lt"/>
                  </a:rPr>
                  <a:t>if we can make the value of </a:t>
                </a:r>
                <a14:m>
                  <m:oMath xmlns:m="http://schemas.openxmlformats.org/officeDocument/2006/math">
                    <m:r>
                      <a:rPr lang="en-AU" sz="2400" b="0" i="1" smtClean="0">
                        <a:latin typeface="Cambria Math" panose="02040503050406030204" pitchFamily="18" charset="0"/>
                      </a:rPr>
                      <m:t>𝑓</m:t>
                    </m:r>
                    <m:r>
                      <a:rPr lang="en-AU" sz="2400" b="0" i="1" smtClean="0">
                        <a:latin typeface="Cambria Math" panose="02040503050406030204" pitchFamily="18" charset="0"/>
                      </a:rPr>
                      <m:t>(</m:t>
                    </m:r>
                    <m:r>
                      <a:rPr lang="en-AU" sz="2400" b="0" i="1" smtClean="0">
                        <a:latin typeface="Cambria Math" panose="02040503050406030204" pitchFamily="18" charset="0"/>
                      </a:rPr>
                      <m:t>𝑥</m:t>
                    </m:r>
                    <m:r>
                      <a:rPr lang="en-AU" sz="2400" b="0" i="1" smtClean="0">
                        <a:latin typeface="Cambria Math" panose="02040503050406030204" pitchFamily="18" charset="0"/>
                      </a:rPr>
                      <m:t>)</m:t>
                    </m:r>
                  </m:oMath>
                </a14:m>
                <a:r>
                  <a:rPr lang="en-AU" sz="2400" b="0" dirty="0">
                    <a:latin typeface="+mj-lt"/>
                  </a:rPr>
                  <a:t> </a:t>
                </a:r>
                <a:r>
                  <a:rPr lang="en-AU" sz="2400" b="0" u="sng" dirty="0">
                    <a:latin typeface="+mj-lt"/>
                  </a:rPr>
                  <a:t>arbitrarily close </a:t>
                </a:r>
                <a:r>
                  <a:rPr lang="en-AU" sz="2400" b="0" dirty="0">
                    <a:latin typeface="+mj-lt"/>
                  </a:rPr>
                  <a:t>to </a:t>
                </a:r>
                <a14:m>
                  <m:oMath xmlns:m="http://schemas.openxmlformats.org/officeDocument/2006/math">
                    <m:r>
                      <a:rPr lang="en-AU" sz="2400" i="1">
                        <a:latin typeface="Cambria Math" panose="02040503050406030204" pitchFamily="18" charset="0"/>
                      </a:rPr>
                      <m:t>𝐿</m:t>
                    </m:r>
                  </m:oMath>
                </a14:m>
                <a:r>
                  <a:rPr lang="en-AU" sz="2400" b="0" dirty="0">
                    <a:latin typeface="+mj-lt"/>
                  </a:rPr>
                  <a:t> for all </a:t>
                </a:r>
                <a14:m>
                  <m:oMath xmlns:m="http://schemas.openxmlformats.org/officeDocument/2006/math">
                    <m:r>
                      <a:rPr lang="en-AU" sz="2400" i="1">
                        <a:latin typeface="Cambria Math" panose="02040503050406030204" pitchFamily="18" charset="0"/>
                      </a:rPr>
                      <m:t>𝑥</m:t>
                    </m:r>
                  </m:oMath>
                </a14:m>
                <a:r>
                  <a:rPr lang="en-AU" sz="2400" b="0" dirty="0">
                    <a:latin typeface="+mj-lt"/>
                  </a:rPr>
                  <a:t> in a sufficiently small neighbourhood of </a:t>
                </a:r>
                <a14:m>
                  <m:oMath xmlns:m="http://schemas.openxmlformats.org/officeDocument/2006/math">
                    <m:r>
                      <a:rPr lang="en-AU" sz="2400" i="1">
                        <a:latin typeface="Cambria Math" panose="02040503050406030204" pitchFamily="18" charset="0"/>
                      </a:rPr>
                      <m:t>𝑎</m:t>
                    </m:r>
                  </m:oMath>
                </a14:m>
                <a:r>
                  <a:rPr lang="en-AU" sz="2400" b="0" dirty="0">
                    <a:latin typeface="+mj-lt"/>
                  </a:rPr>
                  <a:t> (</a:t>
                </a:r>
                <a14:m>
                  <m:oMath xmlns:m="http://schemas.openxmlformats.org/officeDocument/2006/math">
                    <m:r>
                      <a:rPr lang="en-AU" sz="2400" b="0" i="1" smtClean="0">
                        <a:latin typeface="Cambria Math" panose="02040503050406030204" pitchFamily="18" charset="0"/>
                      </a:rPr>
                      <m:t>𝑥</m:t>
                    </m:r>
                  </m:oMath>
                </a14:m>
                <a:r>
                  <a:rPr lang="en-AU" sz="2400" b="0" dirty="0">
                    <a:latin typeface="+mj-lt"/>
                  </a:rPr>
                  <a:t> may be either side of </a:t>
                </a:r>
                <a14:m>
                  <m:oMath xmlns:m="http://schemas.openxmlformats.org/officeDocument/2006/math">
                    <m:r>
                      <a:rPr lang="en-AU" sz="2400" i="1">
                        <a:latin typeface="Cambria Math" panose="02040503050406030204" pitchFamily="18" charset="0"/>
                      </a:rPr>
                      <m:t>𝑎</m:t>
                    </m:r>
                  </m:oMath>
                </a14:m>
                <a:r>
                  <a:rPr lang="en-AU" sz="2400" b="0" dirty="0">
                    <a:latin typeface="+mj-lt"/>
                  </a:rPr>
                  <a:t> but not equal to </a:t>
                </a:r>
                <a14:m>
                  <m:oMath xmlns:m="http://schemas.openxmlformats.org/officeDocument/2006/math">
                    <m:r>
                      <a:rPr lang="en-AU" sz="2400" i="1">
                        <a:latin typeface="Cambria Math" panose="02040503050406030204" pitchFamily="18" charset="0"/>
                      </a:rPr>
                      <m:t>𝑎</m:t>
                    </m:r>
                  </m:oMath>
                </a14:m>
                <a:r>
                  <a:rPr lang="en-AU" sz="2400" b="0" dirty="0">
                    <a:latin typeface="+mj-lt"/>
                  </a:rPr>
                  <a:t>).</a:t>
                </a:r>
              </a:p>
              <a:p>
                <a:endParaRPr lang="en-AU" sz="2400" dirty="0">
                  <a:latin typeface="+mj-lt"/>
                </a:endParaRPr>
              </a:p>
              <a:p>
                <a:r>
                  <a:rPr lang="en-AU" sz="2400" dirty="0">
                    <a:latin typeface="+mj-lt"/>
                  </a:rPr>
                  <a:t>Notes.</a:t>
                </a:r>
              </a:p>
              <a:p>
                <a:pPr marL="342900" indent="-342900">
                  <a:buFont typeface="Arial" panose="020B0604020202020204" pitchFamily="34" charset="0"/>
                  <a:buChar char="•"/>
                </a:pPr>
                <a:r>
                  <a:rPr lang="en-AU" sz="2400" dirty="0">
                    <a:latin typeface="+mj-lt"/>
                  </a:rPr>
                  <a:t>The limit can exist even if the function is not defined at </a:t>
                </a:r>
                <a14:m>
                  <m:oMath xmlns:m="http://schemas.openxmlformats.org/officeDocument/2006/math">
                    <m:r>
                      <a:rPr lang="en-AU" sz="2400" b="0" i="1" smtClean="0">
                        <a:latin typeface="Cambria Math" panose="02040503050406030204" pitchFamily="18" charset="0"/>
                      </a:rPr>
                      <m:t>𝑥</m:t>
                    </m:r>
                    <m:r>
                      <a:rPr lang="en-AU" sz="2400" b="0" i="1" smtClean="0">
                        <a:latin typeface="Cambria Math" panose="02040503050406030204" pitchFamily="18" charset="0"/>
                      </a:rPr>
                      <m:t>=</m:t>
                    </m:r>
                    <m:r>
                      <a:rPr lang="en-AU" sz="2400" b="0" i="1" smtClean="0">
                        <a:latin typeface="Cambria Math" panose="02040503050406030204" pitchFamily="18" charset="0"/>
                      </a:rPr>
                      <m:t>𝑎</m:t>
                    </m:r>
                  </m:oMath>
                </a14:m>
                <a:r>
                  <a:rPr lang="en-AU" sz="2400" dirty="0">
                    <a:latin typeface="+mj-lt"/>
                  </a:rPr>
                  <a:t>.</a:t>
                </a:r>
              </a:p>
              <a:p>
                <a:pPr marL="342900" indent="-342900">
                  <a:buFont typeface="Arial" panose="020B0604020202020204" pitchFamily="34" charset="0"/>
                  <a:buChar char="•"/>
                </a:pPr>
                <a:r>
                  <a:rPr lang="en-AU" sz="2400" dirty="0">
                    <a:latin typeface="+mj-lt"/>
                  </a:rPr>
                  <a:t>The limit can exist even if the function has a different value at </a:t>
                </a:r>
                <a14:m>
                  <m:oMath xmlns:m="http://schemas.openxmlformats.org/officeDocument/2006/math">
                    <m:r>
                      <a:rPr lang="en-AU" sz="2400" b="0" i="1" smtClean="0">
                        <a:latin typeface="Cambria Math" panose="02040503050406030204" pitchFamily="18" charset="0"/>
                      </a:rPr>
                      <m:t>𝑥</m:t>
                    </m:r>
                    <m:r>
                      <a:rPr lang="en-AU" sz="2400" b="0" i="1" smtClean="0">
                        <a:latin typeface="Cambria Math" panose="02040503050406030204" pitchFamily="18" charset="0"/>
                      </a:rPr>
                      <m:t>=</m:t>
                    </m:r>
                    <m:r>
                      <a:rPr lang="en-AU" sz="2400" b="0" i="1" smtClean="0">
                        <a:latin typeface="Cambria Math" panose="02040503050406030204" pitchFamily="18" charset="0"/>
                      </a:rPr>
                      <m:t>𝑎</m:t>
                    </m:r>
                  </m:oMath>
                </a14:m>
                <a:r>
                  <a:rPr lang="en-AU" sz="2400" dirty="0">
                    <a:latin typeface="+mj-lt"/>
                  </a:rPr>
                  <a:t>.</a:t>
                </a:r>
              </a:p>
              <a:p>
                <a:pPr marL="342900" indent="-342900">
                  <a:buFont typeface="Arial" panose="020B0604020202020204" pitchFamily="34" charset="0"/>
                  <a:buChar char="•"/>
                </a:pPr>
                <a:r>
                  <a:rPr lang="en-AU" sz="2400" dirty="0">
                    <a:latin typeface="+mj-lt"/>
                  </a:rPr>
                  <a:t>If we can’t make the value of the function arbitrarily close to some value </a:t>
                </a:r>
                <a14:m>
                  <m:oMath xmlns:m="http://schemas.openxmlformats.org/officeDocument/2006/math">
                    <m:r>
                      <a:rPr lang="en-AU" sz="2400" b="0" i="1" smtClean="0">
                        <a:latin typeface="Cambria Math" panose="02040503050406030204" pitchFamily="18" charset="0"/>
                      </a:rPr>
                      <m:t>𝐿</m:t>
                    </m:r>
                  </m:oMath>
                </a14:m>
                <a:r>
                  <a:rPr lang="en-AU" sz="2400" dirty="0">
                    <a:latin typeface="+mj-lt"/>
                  </a:rPr>
                  <a:t>, se say that the limit does not exist.</a:t>
                </a:r>
                <a:endParaRPr lang="en-AU" sz="2400" b="0" dirty="0">
                  <a:latin typeface="+mj-lt"/>
                </a:endParaRPr>
              </a:p>
            </p:txBody>
          </p:sp>
        </mc:Choice>
        <mc:Fallback xmlns="">
          <p:sp>
            <p:nvSpPr>
              <p:cNvPr id="3" name="TextBox 2">
                <a:extLst>
                  <a:ext uri="{FF2B5EF4-FFF2-40B4-BE49-F238E27FC236}">
                    <a16:creationId xmlns:a16="http://schemas.microsoft.com/office/drawing/2014/main" id="{DF0F27E1-BBE1-4048-AE74-8B3B6AC71332}"/>
                  </a:ext>
                </a:extLst>
              </p:cNvPr>
              <p:cNvSpPr txBox="1">
                <a:spLocks noRot="1" noChangeAspect="1" noMove="1" noResize="1" noEditPoints="1" noAdjustHandles="1" noChangeArrowheads="1" noChangeShapeType="1" noTextEdit="1"/>
              </p:cNvSpPr>
              <p:nvPr/>
            </p:nvSpPr>
            <p:spPr>
              <a:xfrm>
                <a:off x="301020" y="1617704"/>
                <a:ext cx="11559285" cy="4635756"/>
              </a:xfrm>
              <a:prstGeom prst="rect">
                <a:avLst/>
              </a:prstGeom>
              <a:blipFill>
                <a:blip r:embed="rId2"/>
                <a:stretch>
                  <a:fillRect l="-791" t="-1051" r="-685" b="-1971"/>
                </a:stretch>
              </a:blipFill>
            </p:spPr>
            <p:txBody>
              <a:bodyPr/>
              <a:lstStyle/>
              <a:p>
                <a:r>
                  <a:rPr lang="en-GB">
                    <a:noFill/>
                  </a:rPr>
                  <a:t> </a:t>
                </a:r>
              </a:p>
            </p:txBody>
          </p:sp>
        </mc:Fallback>
      </mc:AlternateContent>
      <p:sp>
        <p:nvSpPr>
          <p:cNvPr id="12" name="TextBox 11">
            <a:extLst>
              <a:ext uri="{FF2B5EF4-FFF2-40B4-BE49-F238E27FC236}">
                <a16:creationId xmlns:a16="http://schemas.microsoft.com/office/drawing/2014/main" id="{314BCD51-6D55-4052-9DF5-DE8910EBA075}"/>
              </a:ext>
            </a:extLst>
          </p:cNvPr>
          <p:cNvSpPr txBox="1"/>
          <p:nvPr/>
        </p:nvSpPr>
        <p:spPr>
          <a:xfrm>
            <a:off x="4129717" y="6068794"/>
            <a:ext cx="3901889" cy="369332"/>
          </a:xfrm>
          <a:prstGeom prst="rect">
            <a:avLst/>
          </a:prstGeom>
          <a:noFill/>
        </p:spPr>
        <p:txBody>
          <a:bodyPr wrap="square">
            <a:spAutoFit/>
          </a:bodyPr>
          <a:lstStyle/>
          <a:p>
            <a:r>
              <a:rPr lang="en-GB" dirty="0">
                <a:hlinkClick r:id="rId3"/>
              </a:rPr>
              <a:t>https://www.geogebra.org/m/Jf7rP6uK</a:t>
            </a:r>
            <a:endParaRPr lang="en-GB" dirty="0"/>
          </a:p>
        </p:txBody>
      </p:sp>
    </p:spTree>
    <p:extLst>
      <p:ext uri="{BB962C8B-B14F-4D97-AF65-F5344CB8AC3E}">
        <p14:creationId xmlns:p14="http://schemas.microsoft.com/office/powerpoint/2010/main" val="36574302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3452163" cy="523220"/>
          </a:xfrm>
          <a:prstGeom prst="rect">
            <a:avLst/>
          </a:prstGeom>
          <a:noFill/>
        </p:spPr>
        <p:txBody>
          <a:bodyPr wrap="none" rtlCol="0">
            <a:spAutoFit/>
          </a:bodyPr>
          <a:lstStyle/>
          <a:p>
            <a:r>
              <a:rPr lang="en-AU" sz="2800" b="1" cap="small" dirty="0">
                <a:solidFill>
                  <a:schemeClr val="bg1"/>
                </a:solidFill>
                <a:latin typeface="+mj-lt"/>
              </a:rPr>
              <a:t>2.1 The concept of limit</a:t>
            </a:r>
            <a:endParaRPr lang="en-GB" sz="2800" b="1" cap="small" dirty="0">
              <a:solidFill>
                <a:schemeClr val="bg1"/>
              </a:solidFill>
              <a:latin typeface="+mj-lt"/>
            </a:endParaRPr>
          </a:p>
        </p:txBody>
      </p:sp>
      <p:sp>
        <p:nvSpPr>
          <p:cNvPr id="2" name="TextBox 1">
            <a:extLst>
              <a:ext uri="{FF2B5EF4-FFF2-40B4-BE49-F238E27FC236}">
                <a16:creationId xmlns:a16="http://schemas.microsoft.com/office/drawing/2014/main" id="{EE47C7F3-9489-4721-B119-779E525E3424}"/>
              </a:ext>
            </a:extLst>
          </p:cNvPr>
          <p:cNvSpPr txBox="1"/>
          <p:nvPr/>
        </p:nvSpPr>
        <p:spPr>
          <a:xfrm>
            <a:off x="283580" y="992125"/>
            <a:ext cx="4950779" cy="461665"/>
          </a:xfrm>
          <a:prstGeom prst="rect">
            <a:avLst/>
          </a:prstGeom>
          <a:noFill/>
          <a:ln>
            <a:solidFill>
              <a:schemeClr val="accent2">
                <a:lumMod val="50000"/>
              </a:schemeClr>
            </a:solidFill>
          </a:ln>
        </p:spPr>
        <p:txBody>
          <a:bodyPr wrap="none" rtlCol="0">
            <a:spAutoFit/>
          </a:bodyPr>
          <a:lstStyle/>
          <a:p>
            <a:r>
              <a:rPr lang="en-AU" sz="2400" b="1" dirty="0">
                <a:latin typeface="+mj-lt"/>
              </a:rPr>
              <a:t>One-sided limits: the left and right limit</a:t>
            </a:r>
            <a:endParaRPr lang="en-GB" sz="2400" b="1" dirty="0">
              <a:latin typeface="+mj-lt"/>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BCB5680B-B712-45CC-8AC6-96A5213E73CE}"/>
                  </a:ext>
                </a:extLst>
              </p:cNvPr>
              <p:cNvSpPr txBox="1"/>
              <p:nvPr/>
            </p:nvSpPr>
            <p:spPr>
              <a:xfrm>
                <a:off x="283580" y="1689422"/>
                <a:ext cx="11559285" cy="4008533"/>
              </a:xfrm>
              <a:prstGeom prst="rect">
                <a:avLst/>
              </a:prstGeom>
              <a:noFill/>
            </p:spPr>
            <p:txBody>
              <a:bodyPr wrap="square" rtlCol="0">
                <a:spAutoFit/>
              </a:bodyPr>
              <a:lstStyle/>
              <a:p>
                <a:r>
                  <a:rPr lang="en-AU" sz="2400" dirty="0">
                    <a:latin typeface="+mj-lt"/>
                  </a:rPr>
                  <a:t>Definition. Given </a:t>
                </a:r>
                <a14:m>
                  <m:oMath xmlns:m="http://schemas.openxmlformats.org/officeDocument/2006/math">
                    <m:r>
                      <a:rPr lang="en-AU" sz="2400" b="0" i="1" smtClean="0">
                        <a:latin typeface="Cambria Math" panose="02040503050406030204" pitchFamily="18" charset="0"/>
                      </a:rPr>
                      <m:t>𝑎</m:t>
                    </m:r>
                    <m:r>
                      <a:rPr lang="en-AU" sz="2400" b="0" i="1" smtClean="0">
                        <a:latin typeface="Cambria Math" panose="02040503050406030204" pitchFamily="18" charset="0"/>
                      </a:rPr>
                      <m:t>,</m:t>
                    </m:r>
                    <m:sSub>
                      <m:sSubPr>
                        <m:ctrlPr>
                          <a:rPr lang="en-AU" sz="2400" b="0" i="1" smtClean="0">
                            <a:latin typeface="Cambria Math" panose="02040503050406030204" pitchFamily="18" charset="0"/>
                          </a:rPr>
                        </m:ctrlPr>
                      </m:sSubPr>
                      <m:e>
                        <m:r>
                          <a:rPr lang="en-AU" sz="2400" i="1">
                            <a:latin typeface="Cambria Math" panose="02040503050406030204" pitchFamily="18" charset="0"/>
                          </a:rPr>
                          <m:t>𝐿</m:t>
                        </m:r>
                      </m:e>
                      <m:sub>
                        <m:r>
                          <a:rPr lang="en-AU" sz="2400" b="0" i="1" smtClean="0">
                            <a:latin typeface="Cambria Math" panose="02040503050406030204" pitchFamily="18" charset="0"/>
                          </a:rPr>
                          <m:t>1</m:t>
                        </m:r>
                      </m:sub>
                    </m:sSub>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ℝ</m:t>
                    </m:r>
                  </m:oMath>
                </a14:m>
                <a:r>
                  <a:rPr lang="en-AU" sz="2400" b="0" dirty="0">
                    <a:latin typeface="+mj-lt"/>
                  </a:rPr>
                  <a:t>, we say that </a:t>
                </a:r>
                <a14:m>
                  <m:oMath xmlns:m="http://schemas.openxmlformats.org/officeDocument/2006/math">
                    <m:r>
                      <a:rPr lang="en-AU" sz="2400" b="0" i="1" smtClean="0">
                        <a:latin typeface="Cambria Math" panose="02040503050406030204" pitchFamily="18" charset="0"/>
                      </a:rPr>
                      <m:t>𝑥</m:t>
                    </m:r>
                  </m:oMath>
                </a14:m>
                <a:r>
                  <a:rPr lang="en-AU" sz="2400" b="0" dirty="0">
                    <a:latin typeface="+mj-lt"/>
                  </a:rPr>
                  <a:t> approaches </a:t>
                </a:r>
                <a14:m>
                  <m:oMath xmlns:m="http://schemas.openxmlformats.org/officeDocument/2006/math">
                    <m:r>
                      <a:rPr lang="en-AU" sz="2400" b="0" i="1" smtClean="0">
                        <a:latin typeface="Cambria Math" panose="02040503050406030204" pitchFamily="18" charset="0"/>
                      </a:rPr>
                      <m:t>𝑎</m:t>
                    </m:r>
                  </m:oMath>
                </a14:m>
                <a:r>
                  <a:rPr lang="en-AU" sz="2400" b="0" dirty="0">
                    <a:latin typeface="+mj-lt"/>
                  </a:rPr>
                  <a:t> from the left-hand side when only values of </a:t>
                </a:r>
                <a14:m>
                  <m:oMath xmlns:m="http://schemas.openxmlformats.org/officeDocument/2006/math">
                    <m:r>
                      <a:rPr lang="en-AU" sz="2400" b="0" i="1" smtClean="0">
                        <a:latin typeface="Cambria Math" panose="02040503050406030204" pitchFamily="18" charset="0"/>
                      </a:rPr>
                      <m:t>𝑥</m:t>
                    </m:r>
                    <m:r>
                      <a:rPr lang="en-AU" sz="2400" b="0" i="1" smtClean="0">
                        <a:latin typeface="Cambria Math" panose="02040503050406030204" pitchFamily="18" charset="0"/>
                      </a:rPr>
                      <m:t>&lt;</m:t>
                    </m:r>
                    <m:r>
                      <a:rPr lang="en-AU" sz="2400" b="0" i="1" smtClean="0">
                        <a:latin typeface="Cambria Math" panose="02040503050406030204" pitchFamily="18" charset="0"/>
                      </a:rPr>
                      <m:t>𝑎</m:t>
                    </m:r>
                  </m:oMath>
                </a14:m>
                <a:r>
                  <a:rPr lang="en-AU" sz="2400" b="0" dirty="0">
                    <a:latin typeface="+mj-lt"/>
                  </a:rPr>
                  <a:t> are considered in the limit. If the result of the operation is </a:t>
                </a:r>
                <a14:m>
                  <m:oMath xmlns:m="http://schemas.openxmlformats.org/officeDocument/2006/math">
                    <m:sSub>
                      <m:sSubPr>
                        <m:ctrlPr>
                          <a:rPr lang="en-AU" sz="2400" i="1">
                            <a:latin typeface="Cambria Math" panose="02040503050406030204" pitchFamily="18" charset="0"/>
                          </a:rPr>
                        </m:ctrlPr>
                      </m:sSubPr>
                      <m:e>
                        <m:r>
                          <a:rPr lang="en-AU" sz="2400" i="1">
                            <a:latin typeface="Cambria Math" panose="02040503050406030204" pitchFamily="18" charset="0"/>
                          </a:rPr>
                          <m:t>𝐿</m:t>
                        </m:r>
                      </m:e>
                      <m:sub>
                        <m:r>
                          <a:rPr lang="en-AU" sz="2400" i="1">
                            <a:latin typeface="Cambria Math" panose="02040503050406030204" pitchFamily="18" charset="0"/>
                          </a:rPr>
                          <m:t>1</m:t>
                        </m:r>
                      </m:sub>
                    </m:sSub>
                    <m:r>
                      <a:rPr lang="en-AU" sz="2400" i="1">
                        <a:latin typeface="Cambria Math" panose="02040503050406030204" pitchFamily="18" charset="0"/>
                      </a:rPr>
                      <m:t> </m:t>
                    </m:r>
                  </m:oMath>
                </a14:m>
                <a:r>
                  <a:rPr lang="en-AU" sz="2400" b="0" dirty="0">
                    <a:latin typeface="+mj-lt"/>
                  </a:rPr>
                  <a:t>then we say:</a:t>
                </a:r>
              </a:p>
              <a:p>
                <a:endParaRPr lang="en-AU" sz="2400" b="0" dirty="0">
                  <a:latin typeface="+mj-lt"/>
                </a:endParaRPr>
              </a:p>
              <a:p>
                <a:pPr/>
                <a14:m>
                  <m:oMathPara xmlns:m="http://schemas.openxmlformats.org/officeDocument/2006/math">
                    <m:oMathParaPr>
                      <m:jc m:val="centerGroup"/>
                    </m:oMathParaPr>
                    <m:oMath xmlns:m="http://schemas.openxmlformats.org/officeDocument/2006/math">
                      <m:func>
                        <m:funcPr>
                          <m:ctrlPr>
                            <a:rPr lang="en-AU" sz="2400" b="0" i="1" smtClean="0">
                              <a:latin typeface="Cambria Math" panose="02040503050406030204" pitchFamily="18" charset="0"/>
                            </a:rPr>
                          </m:ctrlPr>
                        </m:funcPr>
                        <m:fName>
                          <m:limLow>
                            <m:limLowPr>
                              <m:ctrlPr>
                                <a:rPr lang="en-AU" sz="2400" b="0" i="1" smtClean="0">
                                  <a:latin typeface="Cambria Math" panose="02040503050406030204" pitchFamily="18" charset="0"/>
                                </a:rPr>
                              </m:ctrlPr>
                            </m:limLowPr>
                            <m:e>
                              <m:r>
                                <m:rPr>
                                  <m:sty m:val="p"/>
                                </m:rPr>
                                <a:rPr lang="en-AU" sz="2400" b="0" i="0" smtClean="0">
                                  <a:latin typeface="Cambria Math" panose="02040503050406030204" pitchFamily="18" charset="0"/>
                                </a:rPr>
                                <m:t>lim</m:t>
                              </m:r>
                            </m:e>
                            <m:lim>
                              <m:r>
                                <a:rPr lang="en-AU" sz="2400" b="0" i="1" smtClean="0">
                                  <a:latin typeface="Cambria Math" panose="02040503050406030204" pitchFamily="18" charset="0"/>
                                </a:rPr>
                                <m:t>𝑥</m:t>
                              </m:r>
                              <m:r>
                                <a:rPr lang="en-AU" sz="2400" b="0" i="1" smtClean="0">
                                  <a:latin typeface="Cambria Math" panose="02040503050406030204" pitchFamily="18" charset="0"/>
                                </a:rPr>
                                <m:t>→</m:t>
                              </m:r>
                              <m:r>
                                <a:rPr lang="en-AU" sz="2400" b="0" i="1" smtClean="0">
                                  <a:latin typeface="Cambria Math" panose="02040503050406030204" pitchFamily="18" charset="0"/>
                                </a:rPr>
                                <m:t>𝑎</m:t>
                              </m:r>
                              <m:r>
                                <a:rPr lang="en-AU" sz="2400" b="0" i="1" smtClean="0">
                                  <a:latin typeface="Cambria Math" panose="02040503050406030204" pitchFamily="18" charset="0"/>
                                </a:rPr>
                                <m:t>−</m:t>
                              </m:r>
                            </m:lim>
                          </m:limLow>
                        </m:fName>
                        <m:e>
                          <m:r>
                            <a:rPr lang="en-AU" sz="2400" b="0" i="1" smtClean="0">
                              <a:latin typeface="Cambria Math" panose="02040503050406030204" pitchFamily="18" charset="0"/>
                            </a:rPr>
                            <m:t>𝑓</m:t>
                          </m:r>
                          <m:r>
                            <a:rPr lang="en-AU" sz="2400" b="0" i="1" smtClean="0">
                              <a:latin typeface="Cambria Math" panose="02040503050406030204" pitchFamily="18" charset="0"/>
                            </a:rPr>
                            <m:t>(</m:t>
                          </m:r>
                          <m:r>
                            <a:rPr lang="en-AU" sz="2400" b="0" i="1" smtClean="0">
                              <a:latin typeface="Cambria Math" panose="02040503050406030204" pitchFamily="18" charset="0"/>
                            </a:rPr>
                            <m:t>𝑥</m:t>
                          </m:r>
                          <m:r>
                            <a:rPr lang="en-AU" sz="2400" b="0" i="1" smtClean="0">
                              <a:latin typeface="Cambria Math" panose="02040503050406030204" pitchFamily="18" charset="0"/>
                            </a:rPr>
                            <m:t>)</m:t>
                          </m:r>
                        </m:e>
                      </m:func>
                      <m:r>
                        <a:rPr lang="en-AU" sz="2400" b="0" i="1" smtClean="0">
                          <a:latin typeface="Cambria Math" panose="02040503050406030204" pitchFamily="18" charset="0"/>
                        </a:rPr>
                        <m:t>=</m:t>
                      </m:r>
                      <m:sSub>
                        <m:sSubPr>
                          <m:ctrlPr>
                            <a:rPr lang="en-AU" sz="2400" i="1">
                              <a:latin typeface="Cambria Math" panose="02040503050406030204" pitchFamily="18" charset="0"/>
                            </a:rPr>
                          </m:ctrlPr>
                        </m:sSubPr>
                        <m:e>
                          <m:r>
                            <a:rPr lang="en-AU" sz="2400" i="1">
                              <a:latin typeface="Cambria Math" panose="02040503050406030204" pitchFamily="18" charset="0"/>
                            </a:rPr>
                            <m:t>𝐿</m:t>
                          </m:r>
                        </m:e>
                        <m:sub>
                          <m:r>
                            <a:rPr lang="en-AU" sz="2400" i="1">
                              <a:latin typeface="Cambria Math" panose="02040503050406030204" pitchFamily="18" charset="0"/>
                            </a:rPr>
                            <m:t>1</m:t>
                          </m:r>
                        </m:sub>
                      </m:sSub>
                    </m:oMath>
                  </m:oMathPara>
                </a14:m>
                <a:endParaRPr lang="en-AU" sz="2400" b="0" dirty="0">
                  <a:latin typeface="+mj-lt"/>
                </a:endParaRPr>
              </a:p>
              <a:p>
                <a:endParaRPr lang="en-AU" sz="2400" dirty="0">
                  <a:latin typeface="+mj-lt"/>
                </a:endParaRPr>
              </a:p>
              <a:p>
                <a:r>
                  <a:rPr lang="en-AU" sz="2400" dirty="0">
                    <a:latin typeface="+mj-lt"/>
                  </a:rPr>
                  <a:t>Similarly, given </a:t>
                </a:r>
                <a14:m>
                  <m:oMath xmlns:m="http://schemas.openxmlformats.org/officeDocument/2006/math">
                    <m:r>
                      <a:rPr lang="en-AU" sz="2400" b="0" i="1" smtClean="0">
                        <a:latin typeface="Cambria Math" panose="02040503050406030204" pitchFamily="18" charset="0"/>
                      </a:rPr>
                      <m:t>𝑎</m:t>
                    </m:r>
                    <m:r>
                      <a:rPr lang="en-AU" sz="2400" b="0" i="1" smtClean="0">
                        <a:latin typeface="Cambria Math" panose="02040503050406030204" pitchFamily="18" charset="0"/>
                      </a:rPr>
                      <m:t>,</m:t>
                    </m:r>
                    <m:sSub>
                      <m:sSubPr>
                        <m:ctrlPr>
                          <a:rPr lang="en-AU" sz="2400" b="0" i="1" smtClean="0">
                            <a:latin typeface="Cambria Math" panose="02040503050406030204" pitchFamily="18" charset="0"/>
                          </a:rPr>
                        </m:ctrlPr>
                      </m:sSubPr>
                      <m:e>
                        <m:r>
                          <a:rPr lang="en-AU" sz="2400" i="1">
                            <a:latin typeface="Cambria Math" panose="02040503050406030204" pitchFamily="18" charset="0"/>
                          </a:rPr>
                          <m:t>𝐿</m:t>
                        </m:r>
                      </m:e>
                      <m:sub>
                        <m:r>
                          <a:rPr lang="en-AU" sz="2400" b="0" i="1" smtClean="0">
                            <a:latin typeface="Cambria Math" panose="02040503050406030204" pitchFamily="18" charset="0"/>
                          </a:rPr>
                          <m:t>2</m:t>
                        </m:r>
                      </m:sub>
                    </m:sSub>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ℝ</m:t>
                    </m:r>
                  </m:oMath>
                </a14:m>
                <a:r>
                  <a:rPr lang="en-AU" sz="2400" b="0" dirty="0">
                    <a:latin typeface="+mj-lt"/>
                  </a:rPr>
                  <a:t>, we say that </a:t>
                </a:r>
                <a14:m>
                  <m:oMath xmlns:m="http://schemas.openxmlformats.org/officeDocument/2006/math">
                    <m:r>
                      <a:rPr lang="en-AU" sz="2400" b="0" i="1" smtClean="0">
                        <a:latin typeface="Cambria Math" panose="02040503050406030204" pitchFamily="18" charset="0"/>
                      </a:rPr>
                      <m:t>𝑥</m:t>
                    </m:r>
                  </m:oMath>
                </a14:m>
                <a:r>
                  <a:rPr lang="en-AU" sz="2400" b="0" dirty="0">
                    <a:latin typeface="+mj-lt"/>
                  </a:rPr>
                  <a:t> approaches </a:t>
                </a:r>
                <a14:m>
                  <m:oMath xmlns:m="http://schemas.openxmlformats.org/officeDocument/2006/math">
                    <m:r>
                      <a:rPr lang="en-AU" sz="2400" b="0" i="1" smtClean="0">
                        <a:latin typeface="Cambria Math" panose="02040503050406030204" pitchFamily="18" charset="0"/>
                      </a:rPr>
                      <m:t>𝑎</m:t>
                    </m:r>
                  </m:oMath>
                </a14:m>
                <a:r>
                  <a:rPr lang="en-AU" sz="2400" b="0" dirty="0">
                    <a:latin typeface="+mj-lt"/>
                  </a:rPr>
                  <a:t> from the right-hand side when only values of </a:t>
                </a:r>
                <a14:m>
                  <m:oMath xmlns:m="http://schemas.openxmlformats.org/officeDocument/2006/math">
                    <m:r>
                      <a:rPr lang="en-AU" sz="2400" b="0" i="1" smtClean="0">
                        <a:latin typeface="Cambria Math" panose="02040503050406030204" pitchFamily="18" charset="0"/>
                      </a:rPr>
                      <m:t>𝑥</m:t>
                    </m:r>
                    <m:r>
                      <a:rPr lang="en-AU" sz="2400" b="0" i="1" smtClean="0">
                        <a:latin typeface="Cambria Math" panose="02040503050406030204" pitchFamily="18" charset="0"/>
                      </a:rPr>
                      <m:t>&gt;</m:t>
                    </m:r>
                    <m:r>
                      <a:rPr lang="en-AU" sz="2400" b="0" i="1" smtClean="0">
                        <a:latin typeface="Cambria Math" panose="02040503050406030204" pitchFamily="18" charset="0"/>
                      </a:rPr>
                      <m:t>𝑎</m:t>
                    </m:r>
                  </m:oMath>
                </a14:m>
                <a:r>
                  <a:rPr lang="en-AU" sz="2400" b="0" dirty="0">
                    <a:latin typeface="+mj-lt"/>
                  </a:rPr>
                  <a:t> are considered in the limit. If the result of the operation is </a:t>
                </a:r>
                <a14:m>
                  <m:oMath xmlns:m="http://schemas.openxmlformats.org/officeDocument/2006/math">
                    <m:sSub>
                      <m:sSubPr>
                        <m:ctrlPr>
                          <a:rPr lang="en-AU" sz="2400" i="1">
                            <a:latin typeface="Cambria Math" panose="02040503050406030204" pitchFamily="18" charset="0"/>
                          </a:rPr>
                        </m:ctrlPr>
                      </m:sSubPr>
                      <m:e>
                        <m:r>
                          <a:rPr lang="en-AU" sz="2400" i="1">
                            <a:latin typeface="Cambria Math" panose="02040503050406030204" pitchFamily="18" charset="0"/>
                          </a:rPr>
                          <m:t>𝐿</m:t>
                        </m:r>
                      </m:e>
                      <m:sub>
                        <m:r>
                          <a:rPr lang="en-AU" sz="2400" b="0" i="1" smtClean="0">
                            <a:latin typeface="Cambria Math" panose="02040503050406030204" pitchFamily="18" charset="0"/>
                          </a:rPr>
                          <m:t>2</m:t>
                        </m:r>
                      </m:sub>
                    </m:sSub>
                    <m:r>
                      <a:rPr lang="en-AU" sz="2400" i="1">
                        <a:latin typeface="Cambria Math" panose="02040503050406030204" pitchFamily="18" charset="0"/>
                      </a:rPr>
                      <m:t> </m:t>
                    </m:r>
                  </m:oMath>
                </a14:m>
                <a:r>
                  <a:rPr lang="en-AU" sz="2400" b="0" dirty="0">
                    <a:latin typeface="+mj-lt"/>
                  </a:rPr>
                  <a:t>then we say:</a:t>
                </a:r>
              </a:p>
              <a:p>
                <a:endParaRPr lang="en-AU" sz="2400" b="0" dirty="0">
                  <a:latin typeface="+mj-lt"/>
                </a:endParaRPr>
              </a:p>
              <a:p>
                <a:pPr/>
                <a14:m>
                  <m:oMathPara xmlns:m="http://schemas.openxmlformats.org/officeDocument/2006/math">
                    <m:oMathParaPr>
                      <m:jc m:val="centerGroup"/>
                    </m:oMathParaPr>
                    <m:oMath xmlns:m="http://schemas.openxmlformats.org/officeDocument/2006/math">
                      <m:func>
                        <m:funcPr>
                          <m:ctrlPr>
                            <a:rPr lang="en-AU" sz="2400" b="0" i="1" smtClean="0">
                              <a:latin typeface="Cambria Math" panose="02040503050406030204" pitchFamily="18" charset="0"/>
                            </a:rPr>
                          </m:ctrlPr>
                        </m:funcPr>
                        <m:fName>
                          <m:limLow>
                            <m:limLowPr>
                              <m:ctrlPr>
                                <a:rPr lang="en-AU" sz="2400" b="0" i="1" smtClean="0">
                                  <a:latin typeface="Cambria Math" panose="02040503050406030204" pitchFamily="18" charset="0"/>
                                </a:rPr>
                              </m:ctrlPr>
                            </m:limLowPr>
                            <m:e>
                              <m:r>
                                <m:rPr>
                                  <m:sty m:val="p"/>
                                </m:rPr>
                                <a:rPr lang="en-AU" sz="2400" b="0" i="0" smtClean="0">
                                  <a:latin typeface="Cambria Math" panose="02040503050406030204" pitchFamily="18" charset="0"/>
                                </a:rPr>
                                <m:t>lim</m:t>
                              </m:r>
                            </m:e>
                            <m:lim>
                              <m:r>
                                <a:rPr lang="en-AU" sz="2400" b="0" i="1" smtClean="0">
                                  <a:latin typeface="Cambria Math" panose="02040503050406030204" pitchFamily="18" charset="0"/>
                                </a:rPr>
                                <m:t>𝑥</m:t>
                              </m:r>
                              <m:r>
                                <a:rPr lang="en-AU" sz="2400" b="0" i="1" smtClean="0">
                                  <a:latin typeface="Cambria Math" panose="02040503050406030204" pitchFamily="18" charset="0"/>
                                </a:rPr>
                                <m:t>→</m:t>
                              </m:r>
                              <m:r>
                                <a:rPr lang="en-AU" sz="2400" b="0" i="1" smtClean="0">
                                  <a:latin typeface="Cambria Math" panose="02040503050406030204" pitchFamily="18" charset="0"/>
                                </a:rPr>
                                <m:t>𝑎</m:t>
                              </m:r>
                              <m:r>
                                <a:rPr lang="en-AU" sz="2400" b="0" i="1" smtClean="0">
                                  <a:latin typeface="Cambria Math" panose="02040503050406030204" pitchFamily="18" charset="0"/>
                                </a:rPr>
                                <m:t>+</m:t>
                              </m:r>
                            </m:lim>
                          </m:limLow>
                        </m:fName>
                        <m:e>
                          <m:r>
                            <a:rPr lang="en-AU" sz="2400" b="0" i="1" smtClean="0">
                              <a:latin typeface="Cambria Math" panose="02040503050406030204" pitchFamily="18" charset="0"/>
                            </a:rPr>
                            <m:t>𝑓</m:t>
                          </m:r>
                          <m:r>
                            <a:rPr lang="en-AU" sz="2400" b="0" i="1" smtClean="0">
                              <a:latin typeface="Cambria Math" panose="02040503050406030204" pitchFamily="18" charset="0"/>
                            </a:rPr>
                            <m:t>(</m:t>
                          </m:r>
                          <m:r>
                            <a:rPr lang="en-AU" sz="2400" b="0" i="1" smtClean="0">
                              <a:latin typeface="Cambria Math" panose="02040503050406030204" pitchFamily="18" charset="0"/>
                            </a:rPr>
                            <m:t>𝑥</m:t>
                          </m:r>
                          <m:r>
                            <a:rPr lang="en-AU" sz="2400" b="0" i="1" smtClean="0">
                              <a:latin typeface="Cambria Math" panose="02040503050406030204" pitchFamily="18" charset="0"/>
                            </a:rPr>
                            <m:t>)</m:t>
                          </m:r>
                        </m:e>
                      </m:func>
                      <m:r>
                        <a:rPr lang="en-AU" sz="2400" b="0" i="1" smtClean="0">
                          <a:latin typeface="Cambria Math" panose="02040503050406030204" pitchFamily="18" charset="0"/>
                        </a:rPr>
                        <m:t>=</m:t>
                      </m:r>
                      <m:sSub>
                        <m:sSubPr>
                          <m:ctrlPr>
                            <a:rPr lang="en-AU" sz="2400" i="1">
                              <a:latin typeface="Cambria Math" panose="02040503050406030204" pitchFamily="18" charset="0"/>
                            </a:rPr>
                          </m:ctrlPr>
                        </m:sSubPr>
                        <m:e>
                          <m:r>
                            <a:rPr lang="en-AU" sz="2400" i="1">
                              <a:latin typeface="Cambria Math" panose="02040503050406030204" pitchFamily="18" charset="0"/>
                            </a:rPr>
                            <m:t>𝐿</m:t>
                          </m:r>
                        </m:e>
                        <m:sub>
                          <m:r>
                            <a:rPr lang="en-AU" sz="2400" b="0" i="1" smtClean="0">
                              <a:latin typeface="Cambria Math" panose="02040503050406030204" pitchFamily="18" charset="0"/>
                            </a:rPr>
                            <m:t>2</m:t>
                          </m:r>
                        </m:sub>
                      </m:sSub>
                    </m:oMath>
                  </m:oMathPara>
                </a14:m>
                <a:endParaRPr lang="en-AU" sz="2400" b="0" dirty="0">
                  <a:latin typeface="+mj-lt"/>
                </a:endParaRPr>
              </a:p>
              <a:p>
                <a:endParaRPr lang="en-AU" sz="2400" dirty="0">
                  <a:latin typeface="+mj-lt"/>
                </a:endParaRPr>
              </a:p>
            </p:txBody>
          </p:sp>
        </mc:Choice>
        <mc:Fallback xmlns="">
          <p:sp>
            <p:nvSpPr>
              <p:cNvPr id="3" name="TextBox 2">
                <a:extLst>
                  <a:ext uri="{FF2B5EF4-FFF2-40B4-BE49-F238E27FC236}">
                    <a16:creationId xmlns:a16="http://schemas.microsoft.com/office/drawing/2014/main" id="{BCB5680B-B712-45CC-8AC6-96A5213E73CE}"/>
                  </a:ext>
                </a:extLst>
              </p:cNvPr>
              <p:cNvSpPr txBox="1">
                <a:spLocks noRot="1" noChangeAspect="1" noMove="1" noResize="1" noEditPoints="1" noAdjustHandles="1" noChangeArrowheads="1" noChangeShapeType="1" noTextEdit="1"/>
              </p:cNvSpPr>
              <p:nvPr/>
            </p:nvSpPr>
            <p:spPr>
              <a:xfrm>
                <a:off x="283580" y="1689422"/>
                <a:ext cx="11559285" cy="4008533"/>
              </a:xfrm>
              <a:prstGeom prst="rect">
                <a:avLst/>
              </a:prstGeom>
              <a:blipFill>
                <a:blip r:embed="rId2"/>
                <a:stretch>
                  <a:fillRect l="-844" t="-1216"/>
                </a:stretch>
              </a:blipFill>
            </p:spPr>
            <p:txBody>
              <a:bodyPr/>
              <a:lstStyle/>
              <a:p>
                <a:r>
                  <a:rPr lang="en-GB">
                    <a:noFill/>
                  </a:rPr>
                  <a:t> </a:t>
                </a:r>
              </a:p>
            </p:txBody>
          </p:sp>
        </mc:Fallback>
      </mc:AlternateContent>
    </p:spTree>
    <p:extLst>
      <p:ext uri="{BB962C8B-B14F-4D97-AF65-F5344CB8AC3E}">
        <p14:creationId xmlns:p14="http://schemas.microsoft.com/office/powerpoint/2010/main" val="31808620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3452163" cy="523220"/>
          </a:xfrm>
          <a:prstGeom prst="rect">
            <a:avLst/>
          </a:prstGeom>
          <a:noFill/>
        </p:spPr>
        <p:txBody>
          <a:bodyPr wrap="none" rtlCol="0">
            <a:spAutoFit/>
          </a:bodyPr>
          <a:lstStyle/>
          <a:p>
            <a:r>
              <a:rPr lang="en-AU" sz="2800" b="1" cap="small" dirty="0">
                <a:solidFill>
                  <a:schemeClr val="bg1"/>
                </a:solidFill>
                <a:latin typeface="+mj-lt"/>
              </a:rPr>
              <a:t>2.1 The concept of limit</a:t>
            </a:r>
            <a:endParaRPr lang="en-GB" sz="2800" b="1" cap="small" dirty="0">
              <a:solidFill>
                <a:schemeClr val="bg1"/>
              </a:solidFill>
              <a:latin typeface="+mj-lt"/>
            </a:endParaRPr>
          </a:p>
        </p:txBody>
      </p:sp>
      <p:sp>
        <p:nvSpPr>
          <p:cNvPr id="2" name="TextBox 1">
            <a:extLst>
              <a:ext uri="{FF2B5EF4-FFF2-40B4-BE49-F238E27FC236}">
                <a16:creationId xmlns:a16="http://schemas.microsoft.com/office/drawing/2014/main" id="{EE47C7F3-9489-4721-B119-779E525E3424}"/>
              </a:ext>
            </a:extLst>
          </p:cNvPr>
          <p:cNvSpPr txBox="1"/>
          <p:nvPr/>
        </p:nvSpPr>
        <p:spPr>
          <a:xfrm>
            <a:off x="283580" y="992125"/>
            <a:ext cx="4950779" cy="461665"/>
          </a:xfrm>
          <a:prstGeom prst="rect">
            <a:avLst/>
          </a:prstGeom>
          <a:noFill/>
          <a:ln>
            <a:solidFill>
              <a:schemeClr val="accent2">
                <a:lumMod val="50000"/>
              </a:schemeClr>
            </a:solidFill>
          </a:ln>
        </p:spPr>
        <p:txBody>
          <a:bodyPr wrap="none" rtlCol="0">
            <a:spAutoFit/>
          </a:bodyPr>
          <a:lstStyle/>
          <a:p>
            <a:r>
              <a:rPr lang="en-AU" sz="2400" b="1" dirty="0">
                <a:latin typeface="+mj-lt"/>
              </a:rPr>
              <a:t>One-sided limits: the left and right limit</a:t>
            </a:r>
            <a:endParaRPr lang="en-GB" sz="2400" b="1" dirty="0">
              <a:latin typeface="+mj-lt"/>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BCB5680B-B712-45CC-8AC6-96A5213E73CE}"/>
                  </a:ext>
                </a:extLst>
              </p:cNvPr>
              <p:cNvSpPr txBox="1"/>
              <p:nvPr/>
            </p:nvSpPr>
            <p:spPr>
              <a:xfrm>
                <a:off x="283580" y="2227303"/>
                <a:ext cx="11559285" cy="3269869"/>
              </a:xfrm>
              <a:prstGeom prst="rect">
                <a:avLst/>
              </a:prstGeom>
              <a:noFill/>
            </p:spPr>
            <p:txBody>
              <a:bodyPr wrap="square" rtlCol="0">
                <a:spAutoFit/>
              </a:bodyPr>
              <a:lstStyle/>
              <a:p>
                <a:r>
                  <a:rPr lang="en-AU" sz="2400" dirty="0">
                    <a:latin typeface="+mj-lt"/>
                  </a:rPr>
                  <a:t>The only way for a limit to exist at a given point </a:t>
                </a:r>
                <a14:m>
                  <m:oMath xmlns:m="http://schemas.openxmlformats.org/officeDocument/2006/math">
                    <m:r>
                      <a:rPr lang="en-AU" sz="2400" b="0" i="1" smtClean="0">
                        <a:latin typeface="Cambria Math" panose="02040503050406030204" pitchFamily="18" charset="0"/>
                      </a:rPr>
                      <m:t>𝑎</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ℝ</m:t>
                    </m:r>
                  </m:oMath>
                </a14:m>
                <a:r>
                  <a:rPr lang="en-AU" sz="2400" dirty="0">
                    <a:latin typeface="+mj-lt"/>
                  </a:rPr>
                  <a:t> is that both left- and right-hand sided limits exist and are equal.</a:t>
                </a:r>
              </a:p>
              <a:p>
                <a:endParaRPr lang="en-AU" sz="2400" dirty="0">
                  <a:latin typeface="+mj-lt"/>
                </a:endParaRPr>
              </a:p>
              <a:p>
                <a:r>
                  <a:rPr lang="en-AU" sz="2400" b="1" dirty="0">
                    <a:latin typeface="+mj-lt"/>
                  </a:rPr>
                  <a:t>Theorem</a:t>
                </a:r>
                <a:r>
                  <a:rPr lang="en-AU" sz="2400" dirty="0">
                    <a:latin typeface="+mj-lt"/>
                  </a:rPr>
                  <a:t>. Given </a:t>
                </a:r>
                <a14:m>
                  <m:oMath xmlns:m="http://schemas.openxmlformats.org/officeDocument/2006/math">
                    <m:r>
                      <a:rPr lang="en-AU" sz="2400" b="0" i="1" smtClean="0">
                        <a:latin typeface="Cambria Math" panose="02040503050406030204" pitchFamily="18" charset="0"/>
                      </a:rPr>
                      <m:t>𝑎</m:t>
                    </m:r>
                    <m:r>
                      <a:rPr lang="en-AU" sz="2400" b="0" i="1" smtClean="0">
                        <a:latin typeface="Cambria Math" panose="02040503050406030204" pitchFamily="18" charset="0"/>
                      </a:rPr>
                      <m:t>,</m:t>
                    </m:r>
                    <m:r>
                      <a:rPr lang="en-AU" sz="2400" b="0" i="1" smtClean="0">
                        <a:latin typeface="Cambria Math" panose="02040503050406030204" pitchFamily="18" charset="0"/>
                      </a:rPr>
                      <m:t>𝐿</m:t>
                    </m:r>
                    <m:r>
                      <a:rPr lang="en-AU" sz="2400" b="0" i="1" smtClean="0">
                        <a:latin typeface="Cambria Math" panose="02040503050406030204" pitchFamily="18" charset="0"/>
                      </a:rPr>
                      <m:t> ∈</m:t>
                    </m:r>
                    <m:r>
                      <a:rPr lang="en-AU" sz="2400" b="0" i="1" smtClean="0">
                        <a:latin typeface="Cambria Math" panose="02040503050406030204" pitchFamily="18" charset="0"/>
                        <a:ea typeface="Cambria Math" panose="02040503050406030204" pitchFamily="18" charset="0"/>
                      </a:rPr>
                      <m:t>ℝ</m:t>
                    </m:r>
                  </m:oMath>
                </a14:m>
                <a:r>
                  <a:rPr lang="en-AU" sz="2400" b="0" dirty="0">
                    <a:latin typeface="+mj-lt"/>
                  </a:rPr>
                  <a:t>:</a:t>
                </a:r>
              </a:p>
              <a:p>
                <a:pPr/>
                <a14:m>
                  <m:oMathPara xmlns:m="http://schemas.openxmlformats.org/officeDocument/2006/math">
                    <m:oMathParaPr>
                      <m:jc m:val="centerGroup"/>
                    </m:oMathParaPr>
                    <m:oMath xmlns:m="http://schemas.openxmlformats.org/officeDocument/2006/math">
                      <m:func>
                        <m:funcPr>
                          <m:ctrlPr>
                            <a:rPr lang="en-AU" sz="2400" b="0" i="1" smtClean="0">
                              <a:latin typeface="Cambria Math" panose="02040503050406030204" pitchFamily="18" charset="0"/>
                            </a:rPr>
                          </m:ctrlPr>
                        </m:funcPr>
                        <m:fName>
                          <m:limLow>
                            <m:limLowPr>
                              <m:ctrlPr>
                                <a:rPr lang="en-AU" sz="2400" b="0" i="1" smtClean="0">
                                  <a:latin typeface="Cambria Math" panose="02040503050406030204" pitchFamily="18" charset="0"/>
                                </a:rPr>
                              </m:ctrlPr>
                            </m:limLowPr>
                            <m:e>
                              <m:r>
                                <m:rPr>
                                  <m:sty m:val="p"/>
                                </m:rPr>
                                <a:rPr lang="en-AU" sz="2400" b="0" i="0" smtClean="0">
                                  <a:latin typeface="Cambria Math" panose="02040503050406030204" pitchFamily="18" charset="0"/>
                                </a:rPr>
                                <m:t>lim</m:t>
                              </m:r>
                            </m:e>
                            <m:lim>
                              <m:r>
                                <a:rPr lang="en-AU" sz="2400" b="0" i="1" smtClean="0">
                                  <a:latin typeface="Cambria Math" panose="02040503050406030204" pitchFamily="18" charset="0"/>
                                </a:rPr>
                                <m:t>𝑥</m:t>
                              </m:r>
                              <m:r>
                                <a:rPr lang="en-AU" sz="2400" b="0" i="1" smtClean="0">
                                  <a:latin typeface="Cambria Math" panose="02040503050406030204" pitchFamily="18" charset="0"/>
                                </a:rPr>
                                <m:t>→</m:t>
                              </m:r>
                              <m:r>
                                <a:rPr lang="en-AU" sz="2400" b="0" i="1" smtClean="0">
                                  <a:latin typeface="Cambria Math" panose="02040503050406030204" pitchFamily="18" charset="0"/>
                                </a:rPr>
                                <m:t>𝑎</m:t>
                              </m:r>
                            </m:lim>
                          </m:limLow>
                        </m:fName>
                        <m:e>
                          <m:r>
                            <a:rPr lang="en-AU" sz="2400" b="0" i="1" smtClean="0">
                              <a:latin typeface="Cambria Math" panose="02040503050406030204" pitchFamily="18" charset="0"/>
                            </a:rPr>
                            <m:t>𝑓</m:t>
                          </m:r>
                          <m:r>
                            <a:rPr lang="en-AU" sz="2400" b="0" i="1" smtClean="0">
                              <a:latin typeface="Cambria Math" panose="02040503050406030204" pitchFamily="18" charset="0"/>
                            </a:rPr>
                            <m:t>(</m:t>
                          </m:r>
                          <m:r>
                            <a:rPr lang="en-AU" sz="2400" b="0" i="1" smtClean="0">
                              <a:latin typeface="Cambria Math" panose="02040503050406030204" pitchFamily="18" charset="0"/>
                            </a:rPr>
                            <m:t>𝑥</m:t>
                          </m:r>
                          <m:r>
                            <a:rPr lang="en-AU" sz="2400" b="0" i="1" smtClean="0">
                              <a:latin typeface="Cambria Math" panose="02040503050406030204" pitchFamily="18" charset="0"/>
                            </a:rPr>
                            <m:t>)</m:t>
                          </m:r>
                        </m:e>
                      </m:func>
                      <m:r>
                        <a:rPr lang="en-AU" sz="2400" b="0" i="1" smtClean="0">
                          <a:latin typeface="Cambria Math" panose="02040503050406030204" pitchFamily="18" charset="0"/>
                        </a:rPr>
                        <m:t>=</m:t>
                      </m:r>
                      <m:r>
                        <a:rPr lang="en-AU" sz="2400" b="0" i="1" smtClean="0">
                          <a:latin typeface="Cambria Math" panose="02040503050406030204" pitchFamily="18" charset="0"/>
                        </a:rPr>
                        <m:t>𝐿</m:t>
                      </m:r>
                    </m:oMath>
                  </m:oMathPara>
                </a14:m>
                <a:endParaRPr lang="en-AU" sz="2400" b="0" dirty="0">
                  <a:latin typeface="+mj-lt"/>
                </a:endParaRPr>
              </a:p>
              <a:p>
                <a:r>
                  <a:rPr lang="en-AU" sz="2400" dirty="0">
                    <a:latin typeface="+mj-lt"/>
                  </a:rPr>
                  <a:t>if and only if</a:t>
                </a:r>
                <a:endParaRPr lang="en-AU" sz="2400" b="0" dirty="0">
                  <a:latin typeface="+mj-lt"/>
                </a:endParaRPr>
              </a:p>
              <a:p>
                <a:pPr/>
                <a14:m>
                  <m:oMathPara xmlns:m="http://schemas.openxmlformats.org/officeDocument/2006/math">
                    <m:oMathParaPr>
                      <m:jc m:val="centerGroup"/>
                    </m:oMathParaPr>
                    <m:oMath xmlns:m="http://schemas.openxmlformats.org/officeDocument/2006/math">
                      <m:func>
                        <m:funcPr>
                          <m:ctrlPr>
                            <a:rPr lang="en-AU" sz="2400" b="0" i="1" smtClean="0">
                              <a:latin typeface="Cambria Math" panose="02040503050406030204" pitchFamily="18" charset="0"/>
                            </a:rPr>
                          </m:ctrlPr>
                        </m:funcPr>
                        <m:fName>
                          <m:limLow>
                            <m:limLowPr>
                              <m:ctrlPr>
                                <a:rPr lang="en-AU" sz="2400" b="0" i="1" smtClean="0">
                                  <a:latin typeface="Cambria Math" panose="02040503050406030204" pitchFamily="18" charset="0"/>
                                </a:rPr>
                              </m:ctrlPr>
                            </m:limLowPr>
                            <m:e>
                              <m:r>
                                <m:rPr>
                                  <m:sty m:val="p"/>
                                </m:rPr>
                                <a:rPr lang="en-AU" sz="2400" b="0" i="0" smtClean="0">
                                  <a:latin typeface="Cambria Math" panose="02040503050406030204" pitchFamily="18" charset="0"/>
                                </a:rPr>
                                <m:t>lim</m:t>
                              </m:r>
                            </m:e>
                            <m:lim>
                              <m:r>
                                <a:rPr lang="en-AU" sz="2400" b="0" i="1" smtClean="0">
                                  <a:latin typeface="Cambria Math" panose="02040503050406030204" pitchFamily="18" charset="0"/>
                                </a:rPr>
                                <m:t>𝑥</m:t>
                              </m:r>
                              <m:r>
                                <a:rPr lang="en-AU" sz="2400" b="0" i="1" smtClean="0">
                                  <a:latin typeface="Cambria Math" panose="02040503050406030204" pitchFamily="18" charset="0"/>
                                </a:rPr>
                                <m:t>→</m:t>
                              </m:r>
                              <m:r>
                                <a:rPr lang="en-AU" sz="2400" b="0" i="1" smtClean="0">
                                  <a:latin typeface="Cambria Math" panose="02040503050406030204" pitchFamily="18" charset="0"/>
                                </a:rPr>
                                <m:t>𝑎</m:t>
                              </m:r>
                              <m:r>
                                <a:rPr lang="en-AU" sz="2400" b="0" i="1" smtClean="0">
                                  <a:latin typeface="Cambria Math" panose="02040503050406030204" pitchFamily="18" charset="0"/>
                                </a:rPr>
                                <m:t>−</m:t>
                              </m:r>
                            </m:lim>
                          </m:limLow>
                        </m:fName>
                        <m:e>
                          <m:r>
                            <a:rPr lang="en-AU" sz="2400" b="0" i="1" smtClean="0">
                              <a:latin typeface="Cambria Math" panose="02040503050406030204" pitchFamily="18" charset="0"/>
                            </a:rPr>
                            <m:t>𝑓</m:t>
                          </m:r>
                          <m:r>
                            <a:rPr lang="en-AU" sz="2400" b="0" i="1" smtClean="0">
                              <a:latin typeface="Cambria Math" panose="02040503050406030204" pitchFamily="18" charset="0"/>
                            </a:rPr>
                            <m:t>(</m:t>
                          </m:r>
                          <m:r>
                            <a:rPr lang="en-AU" sz="2400" b="0" i="1" smtClean="0">
                              <a:latin typeface="Cambria Math" panose="02040503050406030204" pitchFamily="18" charset="0"/>
                            </a:rPr>
                            <m:t>𝑥</m:t>
                          </m:r>
                          <m:r>
                            <a:rPr lang="en-AU" sz="2400" b="0" i="1" smtClean="0">
                              <a:latin typeface="Cambria Math" panose="02040503050406030204" pitchFamily="18" charset="0"/>
                            </a:rPr>
                            <m:t>)</m:t>
                          </m:r>
                        </m:e>
                      </m:func>
                      <m:r>
                        <a:rPr lang="en-AU" sz="2400" b="0" i="1" smtClean="0">
                          <a:latin typeface="Cambria Math" panose="02040503050406030204" pitchFamily="18" charset="0"/>
                        </a:rPr>
                        <m:t>=</m:t>
                      </m:r>
                      <m:func>
                        <m:funcPr>
                          <m:ctrlPr>
                            <a:rPr lang="en-AU" sz="2400" i="1">
                              <a:latin typeface="Cambria Math" panose="02040503050406030204" pitchFamily="18" charset="0"/>
                            </a:rPr>
                          </m:ctrlPr>
                        </m:funcPr>
                        <m:fName>
                          <m:limLow>
                            <m:limLowPr>
                              <m:ctrlPr>
                                <a:rPr lang="en-AU" sz="2400" i="1">
                                  <a:latin typeface="Cambria Math" panose="02040503050406030204" pitchFamily="18" charset="0"/>
                                </a:rPr>
                              </m:ctrlPr>
                            </m:limLowPr>
                            <m:e>
                              <m:r>
                                <m:rPr>
                                  <m:sty m:val="p"/>
                                </m:rPr>
                                <a:rPr lang="en-AU" sz="2400">
                                  <a:latin typeface="Cambria Math" panose="02040503050406030204" pitchFamily="18" charset="0"/>
                                </a:rPr>
                                <m:t>lim</m:t>
                              </m:r>
                            </m:e>
                            <m:lim>
                              <m:r>
                                <a:rPr lang="en-AU" sz="2400" i="1">
                                  <a:latin typeface="Cambria Math" panose="02040503050406030204" pitchFamily="18" charset="0"/>
                                </a:rPr>
                                <m:t>𝑥</m:t>
                              </m:r>
                              <m:r>
                                <a:rPr lang="en-AU" sz="2400" i="1">
                                  <a:latin typeface="Cambria Math" panose="02040503050406030204" pitchFamily="18" charset="0"/>
                                </a:rPr>
                                <m:t>→</m:t>
                              </m:r>
                              <m:r>
                                <a:rPr lang="en-AU" sz="2400" i="1">
                                  <a:latin typeface="Cambria Math" panose="02040503050406030204" pitchFamily="18" charset="0"/>
                                </a:rPr>
                                <m:t>𝑎</m:t>
                              </m:r>
                              <m:r>
                                <a:rPr lang="en-AU" sz="2400" i="1">
                                  <a:latin typeface="Cambria Math" panose="02040503050406030204" pitchFamily="18" charset="0"/>
                                </a:rPr>
                                <m:t>+</m:t>
                              </m:r>
                            </m:lim>
                          </m:limLow>
                        </m:fName>
                        <m:e>
                          <m:r>
                            <a:rPr lang="en-AU" sz="2400" i="1">
                              <a:latin typeface="Cambria Math" panose="02040503050406030204" pitchFamily="18" charset="0"/>
                            </a:rPr>
                            <m:t>𝑓</m:t>
                          </m:r>
                          <m:r>
                            <a:rPr lang="en-AU" sz="2400" i="1">
                              <a:latin typeface="Cambria Math" panose="02040503050406030204" pitchFamily="18" charset="0"/>
                            </a:rPr>
                            <m:t>(</m:t>
                          </m:r>
                          <m:r>
                            <a:rPr lang="en-AU" sz="2400" i="1">
                              <a:latin typeface="Cambria Math" panose="02040503050406030204" pitchFamily="18" charset="0"/>
                            </a:rPr>
                            <m:t>𝑥</m:t>
                          </m:r>
                          <m:r>
                            <a:rPr lang="en-AU" sz="2400" i="1">
                              <a:latin typeface="Cambria Math" panose="02040503050406030204" pitchFamily="18" charset="0"/>
                            </a:rPr>
                            <m:t>)</m:t>
                          </m:r>
                        </m:e>
                      </m:func>
                      <m:r>
                        <a:rPr lang="en-AU" sz="2400" b="0" i="1" smtClean="0">
                          <a:latin typeface="Cambria Math" panose="02040503050406030204" pitchFamily="18" charset="0"/>
                        </a:rPr>
                        <m:t>=</m:t>
                      </m:r>
                      <m:r>
                        <a:rPr lang="en-AU" sz="2400" b="0" i="1" smtClean="0">
                          <a:latin typeface="Cambria Math" panose="02040503050406030204" pitchFamily="18" charset="0"/>
                        </a:rPr>
                        <m:t>𝐿</m:t>
                      </m:r>
                    </m:oMath>
                  </m:oMathPara>
                </a14:m>
                <a:endParaRPr lang="en-AU" sz="2400" b="0" dirty="0">
                  <a:latin typeface="+mj-lt"/>
                </a:endParaRPr>
              </a:p>
              <a:p>
                <a:endParaRPr lang="en-AU" sz="2400" dirty="0">
                  <a:latin typeface="+mj-lt"/>
                </a:endParaRPr>
              </a:p>
            </p:txBody>
          </p:sp>
        </mc:Choice>
        <mc:Fallback xmlns="">
          <p:sp>
            <p:nvSpPr>
              <p:cNvPr id="3" name="TextBox 2">
                <a:extLst>
                  <a:ext uri="{FF2B5EF4-FFF2-40B4-BE49-F238E27FC236}">
                    <a16:creationId xmlns:a16="http://schemas.microsoft.com/office/drawing/2014/main" id="{BCB5680B-B712-45CC-8AC6-96A5213E73CE}"/>
                  </a:ext>
                </a:extLst>
              </p:cNvPr>
              <p:cNvSpPr txBox="1">
                <a:spLocks noRot="1" noChangeAspect="1" noMove="1" noResize="1" noEditPoints="1" noAdjustHandles="1" noChangeArrowheads="1" noChangeShapeType="1" noTextEdit="1"/>
              </p:cNvSpPr>
              <p:nvPr/>
            </p:nvSpPr>
            <p:spPr>
              <a:xfrm>
                <a:off x="283580" y="2227303"/>
                <a:ext cx="11559285" cy="3269869"/>
              </a:xfrm>
              <a:prstGeom prst="rect">
                <a:avLst/>
              </a:prstGeom>
              <a:blipFill>
                <a:blip r:embed="rId2"/>
                <a:stretch>
                  <a:fillRect l="-844" t="-1490"/>
                </a:stretch>
              </a:blipFill>
            </p:spPr>
            <p:txBody>
              <a:bodyPr/>
              <a:lstStyle/>
              <a:p>
                <a:r>
                  <a:rPr lang="en-GB">
                    <a:noFill/>
                  </a:rPr>
                  <a:t> </a:t>
                </a:r>
              </a:p>
            </p:txBody>
          </p:sp>
        </mc:Fallback>
      </mc:AlternateContent>
    </p:spTree>
    <p:extLst>
      <p:ext uri="{BB962C8B-B14F-4D97-AF65-F5344CB8AC3E}">
        <p14:creationId xmlns:p14="http://schemas.microsoft.com/office/powerpoint/2010/main" val="7732731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3046603" cy="523220"/>
          </a:xfrm>
          <a:prstGeom prst="rect">
            <a:avLst/>
          </a:prstGeom>
          <a:noFill/>
        </p:spPr>
        <p:txBody>
          <a:bodyPr wrap="none" rtlCol="0">
            <a:spAutoFit/>
          </a:bodyPr>
          <a:lstStyle/>
          <a:p>
            <a:r>
              <a:rPr lang="en-AU" sz="2800" b="1" cap="small" dirty="0">
                <a:solidFill>
                  <a:schemeClr val="bg1"/>
                </a:solidFill>
                <a:latin typeface="+mj-lt"/>
              </a:rPr>
              <a:t>Test your knowledge</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BCB5680B-B712-45CC-8AC6-96A5213E73CE}"/>
                  </a:ext>
                </a:extLst>
              </p:cNvPr>
              <p:cNvSpPr txBox="1"/>
              <p:nvPr/>
            </p:nvSpPr>
            <p:spPr>
              <a:xfrm>
                <a:off x="316357" y="990174"/>
                <a:ext cx="11559285" cy="461665"/>
              </a:xfrm>
              <a:prstGeom prst="rect">
                <a:avLst/>
              </a:prstGeom>
              <a:noFill/>
            </p:spPr>
            <p:txBody>
              <a:bodyPr wrap="square" rtlCol="0">
                <a:spAutoFit/>
              </a:bodyPr>
              <a:lstStyle/>
              <a:p>
                <a:r>
                  <a:rPr lang="en-AU" sz="2400" dirty="0">
                    <a:latin typeface="+mj-lt"/>
                  </a:rPr>
                  <a:t>Looking at the following graphs of functions, determine the limit at </a:t>
                </a:r>
                <a14:m>
                  <m:oMath xmlns:m="http://schemas.openxmlformats.org/officeDocument/2006/math">
                    <m:r>
                      <a:rPr lang="en-AU" sz="2400" b="0" i="1" smtClean="0">
                        <a:latin typeface="Cambria Math" panose="02040503050406030204" pitchFamily="18" charset="0"/>
                      </a:rPr>
                      <m:t>𝑥</m:t>
                    </m:r>
                  </m:oMath>
                </a14:m>
                <a:r>
                  <a:rPr lang="en-AU" sz="2400" b="0" dirty="0">
                    <a:latin typeface="+mj-lt"/>
                  </a:rPr>
                  <a:t>.</a:t>
                </a:r>
                <a:endParaRPr lang="en-AU" sz="2400" dirty="0">
                  <a:latin typeface="+mj-lt"/>
                </a:endParaRPr>
              </a:p>
            </p:txBody>
          </p:sp>
        </mc:Choice>
        <mc:Fallback xmlns="">
          <p:sp>
            <p:nvSpPr>
              <p:cNvPr id="3" name="TextBox 2">
                <a:extLst>
                  <a:ext uri="{FF2B5EF4-FFF2-40B4-BE49-F238E27FC236}">
                    <a16:creationId xmlns:a16="http://schemas.microsoft.com/office/drawing/2014/main" id="{BCB5680B-B712-45CC-8AC6-96A5213E73CE}"/>
                  </a:ext>
                </a:extLst>
              </p:cNvPr>
              <p:cNvSpPr txBox="1">
                <a:spLocks noRot="1" noChangeAspect="1" noMove="1" noResize="1" noEditPoints="1" noAdjustHandles="1" noChangeArrowheads="1" noChangeShapeType="1" noTextEdit="1"/>
              </p:cNvSpPr>
              <p:nvPr/>
            </p:nvSpPr>
            <p:spPr>
              <a:xfrm>
                <a:off x="316357" y="990174"/>
                <a:ext cx="11559285" cy="461665"/>
              </a:xfrm>
              <a:prstGeom prst="rect">
                <a:avLst/>
              </a:prstGeom>
              <a:blipFill>
                <a:blip r:embed="rId2"/>
                <a:stretch>
                  <a:fillRect l="-844" t="-10526" b="-2894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8B87B9DF-9285-46D2-823D-22ACD84150E0}"/>
                  </a:ext>
                </a:extLst>
              </p:cNvPr>
              <p:cNvSpPr txBox="1"/>
              <p:nvPr/>
            </p:nvSpPr>
            <p:spPr>
              <a:xfrm>
                <a:off x="411007" y="1890108"/>
                <a:ext cx="890244" cy="36061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unc>
                        <m:funcPr>
                          <m:ctrlPr>
                            <a:rPr lang="en-GB" i="1" smtClean="0">
                              <a:latin typeface="Cambria Math" panose="02040503050406030204" pitchFamily="18" charset="0"/>
                            </a:rPr>
                          </m:ctrlPr>
                        </m:funcPr>
                        <m:fName>
                          <m:limLow>
                            <m:limLowPr>
                              <m:ctrlPr>
                                <a:rPr lang="en-GB" i="1" smtClean="0">
                                  <a:latin typeface="Cambria Math" panose="02040503050406030204" pitchFamily="18" charset="0"/>
                                </a:rPr>
                              </m:ctrlPr>
                            </m:limLowPr>
                            <m:e>
                              <m:r>
                                <m:rPr>
                                  <m:sty m:val="p"/>
                                </m:rPr>
                                <a:rPr lang="en-GB" i="0" smtClean="0">
                                  <a:latin typeface="Cambria Math" panose="02040503050406030204" pitchFamily="18" charset="0"/>
                                </a:rPr>
                                <m:t>lim</m:t>
                              </m:r>
                            </m:e>
                            <m:lim>
                              <m:r>
                                <a:rPr lang="en-AU" b="0" i="1" smtClean="0">
                                  <a:latin typeface="Cambria Math" panose="02040503050406030204" pitchFamily="18" charset="0"/>
                                </a:rPr>
                                <m:t>𝑥</m:t>
                              </m:r>
                              <m:r>
                                <a:rPr lang="en-AU" b="0" i="1" smtClean="0">
                                  <a:latin typeface="Cambria Math" panose="02040503050406030204" pitchFamily="18" charset="0"/>
                                </a:rPr>
                                <m:t>→3</m:t>
                              </m:r>
                            </m:lim>
                          </m:limLow>
                        </m:fName>
                        <m:e>
                          <m:r>
                            <a:rPr lang="en-AU" b="0" i="1" smtClean="0">
                              <a:latin typeface="Cambria Math" panose="02040503050406030204" pitchFamily="18" charset="0"/>
                            </a:rPr>
                            <m:t>𝑓</m:t>
                          </m:r>
                          <m:r>
                            <a:rPr lang="en-AU" b="0" i="1" smtClean="0">
                              <a:latin typeface="Cambria Math" panose="02040503050406030204" pitchFamily="18" charset="0"/>
                            </a:rPr>
                            <m:t>(</m:t>
                          </m:r>
                          <m:r>
                            <a:rPr lang="en-AU" b="0" i="1" smtClean="0">
                              <a:latin typeface="Cambria Math" panose="02040503050406030204" pitchFamily="18" charset="0"/>
                            </a:rPr>
                            <m:t>𝑥</m:t>
                          </m:r>
                          <m:r>
                            <a:rPr lang="en-AU" b="0" i="1" smtClean="0">
                              <a:latin typeface="Cambria Math" panose="02040503050406030204" pitchFamily="18" charset="0"/>
                            </a:rPr>
                            <m:t>)</m:t>
                          </m:r>
                        </m:e>
                      </m:func>
                    </m:oMath>
                  </m:oMathPara>
                </a14:m>
                <a:endParaRPr lang="en-GB" dirty="0"/>
              </a:p>
            </p:txBody>
          </p:sp>
        </mc:Choice>
        <mc:Fallback xmlns="">
          <p:sp>
            <p:nvSpPr>
              <p:cNvPr id="10" name="TextBox 9">
                <a:extLst>
                  <a:ext uri="{FF2B5EF4-FFF2-40B4-BE49-F238E27FC236}">
                    <a16:creationId xmlns:a16="http://schemas.microsoft.com/office/drawing/2014/main" id="{8B87B9DF-9285-46D2-823D-22ACD84150E0}"/>
                  </a:ext>
                </a:extLst>
              </p:cNvPr>
              <p:cNvSpPr txBox="1">
                <a:spLocks noRot="1" noChangeAspect="1" noMove="1" noResize="1" noEditPoints="1" noAdjustHandles="1" noChangeArrowheads="1" noChangeShapeType="1" noTextEdit="1"/>
              </p:cNvSpPr>
              <p:nvPr/>
            </p:nvSpPr>
            <p:spPr>
              <a:xfrm>
                <a:off x="411007" y="1890108"/>
                <a:ext cx="890244" cy="360612"/>
              </a:xfrm>
              <a:prstGeom prst="rect">
                <a:avLst/>
              </a:prstGeom>
              <a:blipFill>
                <a:blip r:embed="rId3"/>
                <a:stretch>
                  <a:fillRect l="-4795" r="-8904" b="-16949"/>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A1A74BD9-4748-4689-BA9A-17F8510AAA01}"/>
                  </a:ext>
                </a:extLst>
              </p:cNvPr>
              <p:cNvSpPr txBox="1"/>
              <p:nvPr/>
            </p:nvSpPr>
            <p:spPr>
              <a:xfrm>
                <a:off x="2341533" y="1890108"/>
                <a:ext cx="890244" cy="36061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unc>
                        <m:funcPr>
                          <m:ctrlPr>
                            <a:rPr lang="en-GB" i="1" smtClean="0">
                              <a:latin typeface="Cambria Math" panose="02040503050406030204" pitchFamily="18" charset="0"/>
                            </a:rPr>
                          </m:ctrlPr>
                        </m:funcPr>
                        <m:fName>
                          <m:limLow>
                            <m:limLowPr>
                              <m:ctrlPr>
                                <a:rPr lang="en-GB" i="1" smtClean="0">
                                  <a:latin typeface="Cambria Math" panose="02040503050406030204" pitchFamily="18" charset="0"/>
                                </a:rPr>
                              </m:ctrlPr>
                            </m:limLowPr>
                            <m:e>
                              <m:r>
                                <m:rPr>
                                  <m:sty m:val="p"/>
                                </m:rPr>
                                <a:rPr lang="en-GB" i="0" smtClean="0">
                                  <a:latin typeface="Cambria Math" panose="02040503050406030204" pitchFamily="18" charset="0"/>
                                </a:rPr>
                                <m:t>lim</m:t>
                              </m:r>
                            </m:e>
                            <m:lim>
                              <m:r>
                                <a:rPr lang="en-AU" b="0" i="1" smtClean="0">
                                  <a:latin typeface="Cambria Math" panose="02040503050406030204" pitchFamily="18" charset="0"/>
                                </a:rPr>
                                <m:t>𝑥</m:t>
                              </m:r>
                              <m:r>
                                <a:rPr lang="en-AU" b="0" i="1" smtClean="0">
                                  <a:latin typeface="Cambria Math" panose="02040503050406030204" pitchFamily="18" charset="0"/>
                                </a:rPr>
                                <m:t>→0</m:t>
                              </m:r>
                            </m:lim>
                          </m:limLow>
                        </m:fName>
                        <m:e>
                          <m:r>
                            <a:rPr lang="en-AU" b="0" i="1" smtClean="0">
                              <a:latin typeface="Cambria Math" panose="02040503050406030204" pitchFamily="18" charset="0"/>
                            </a:rPr>
                            <m:t>𝑓</m:t>
                          </m:r>
                          <m:r>
                            <a:rPr lang="en-AU" b="0" i="1" smtClean="0">
                              <a:latin typeface="Cambria Math" panose="02040503050406030204" pitchFamily="18" charset="0"/>
                            </a:rPr>
                            <m:t>(</m:t>
                          </m:r>
                          <m:r>
                            <a:rPr lang="en-AU" b="0" i="1" smtClean="0">
                              <a:latin typeface="Cambria Math" panose="02040503050406030204" pitchFamily="18" charset="0"/>
                            </a:rPr>
                            <m:t>𝑥</m:t>
                          </m:r>
                          <m:r>
                            <a:rPr lang="en-AU" b="0" i="1" smtClean="0">
                              <a:latin typeface="Cambria Math" panose="02040503050406030204" pitchFamily="18" charset="0"/>
                            </a:rPr>
                            <m:t>)</m:t>
                          </m:r>
                        </m:e>
                      </m:func>
                    </m:oMath>
                  </m:oMathPara>
                </a14:m>
                <a:endParaRPr lang="en-GB" dirty="0"/>
              </a:p>
            </p:txBody>
          </p:sp>
        </mc:Choice>
        <mc:Fallback xmlns="">
          <p:sp>
            <p:nvSpPr>
              <p:cNvPr id="12" name="TextBox 11">
                <a:extLst>
                  <a:ext uri="{FF2B5EF4-FFF2-40B4-BE49-F238E27FC236}">
                    <a16:creationId xmlns:a16="http://schemas.microsoft.com/office/drawing/2014/main" id="{A1A74BD9-4748-4689-BA9A-17F8510AAA01}"/>
                  </a:ext>
                </a:extLst>
              </p:cNvPr>
              <p:cNvSpPr txBox="1">
                <a:spLocks noRot="1" noChangeAspect="1" noMove="1" noResize="1" noEditPoints="1" noAdjustHandles="1" noChangeArrowheads="1" noChangeShapeType="1" noTextEdit="1"/>
              </p:cNvSpPr>
              <p:nvPr/>
            </p:nvSpPr>
            <p:spPr>
              <a:xfrm>
                <a:off x="2341533" y="1890108"/>
                <a:ext cx="890244" cy="360612"/>
              </a:xfrm>
              <a:prstGeom prst="rect">
                <a:avLst/>
              </a:prstGeom>
              <a:blipFill>
                <a:blip r:embed="rId4"/>
                <a:stretch>
                  <a:fillRect l="-4795" r="-8904" b="-16949"/>
                </a:stretch>
              </a:blipFill>
            </p:spPr>
            <p:txBody>
              <a:bodyPr/>
              <a:lstStyle/>
              <a:p>
                <a:r>
                  <a:rPr lang="en-GB">
                    <a:noFill/>
                  </a:rPr>
                  <a:t> </a:t>
                </a:r>
              </a:p>
            </p:txBody>
          </p:sp>
        </mc:Fallback>
      </mc:AlternateContent>
      <p:pic>
        <p:nvPicPr>
          <p:cNvPr id="16" name="Picture 15" descr="A close up of a mans face&#10;&#10;Description automatically generated">
            <a:extLst>
              <a:ext uri="{FF2B5EF4-FFF2-40B4-BE49-F238E27FC236}">
                <a16:creationId xmlns:a16="http://schemas.microsoft.com/office/drawing/2014/main" id="{25CA897B-4213-4C6C-B94C-C11D8060B4E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16357" y="2763896"/>
            <a:ext cx="3314148" cy="3314148"/>
          </a:xfrm>
          <a:prstGeom prst="rect">
            <a:avLst/>
          </a:prstGeom>
        </p:spPr>
      </p:pic>
      <p:pic>
        <p:nvPicPr>
          <p:cNvPr id="18" name="Picture 17" descr="A close up of a mans face&#10;&#10;Description automatically generated">
            <a:extLst>
              <a:ext uri="{FF2B5EF4-FFF2-40B4-BE49-F238E27FC236}">
                <a16:creationId xmlns:a16="http://schemas.microsoft.com/office/drawing/2014/main" id="{93AB2B10-05B7-4CEA-93DF-AA46971FA52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212043" y="2763896"/>
            <a:ext cx="3309345" cy="3309345"/>
          </a:xfrm>
          <a:prstGeom prst="rect">
            <a:avLst/>
          </a:prstGeom>
        </p:spPr>
      </p:pic>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2061F734-F3FF-40DE-A8AE-197CBE08DD2E}"/>
                  </a:ext>
                </a:extLst>
              </p:cNvPr>
              <p:cNvSpPr txBox="1"/>
              <p:nvPr/>
            </p:nvSpPr>
            <p:spPr>
              <a:xfrm>
                <a:off x="4770969" y="1890108"/>
                <a:ext cx="1012072" cy="36061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unc>
                        <m:funcPr>
                          <m:ctrlPr>
                            <a:rPr lang="en-GB" i="1" smtClean="0">
                              <a:latin typeface="Cambria Math" panose="02040503050406030204" pitchFamily="18" charset="0"/>
                            </a:rPr>
                          </m:ctrlPr>
                        </m:funcPr>
                        <m:fName>
                          <m:limLow>
                            <m:limLowPr>
                              <m:ctrlPr>
                                <a:rPr lang="en-GB" i="1" smtClean="0">
                                  <a:latin typeface="Cambria Math" panose="02040503050406030204" pitchFamily="18" charset="0"/>
                                </a:rPr>
                              </m:ctrlPr>
                            </m:limLowPr>
                            <m:e>
                              <m:r>
                                <m:rPr>
                                  <m:sty m:val="p"/>
                                </m:rPr>
                                <a:rPr lang="en-GB" i="0" smtClean="0">
                                  <a:latin typeface="Cambria Math" panose="02040503050406030204" pitchFamily="18" charset="0"/>
                                </a:rPr>
                                <m:t>lim</m:t>
                              </m:r>
                            </m:e>
                            <m:lim>
                              <m:r>
                                <a:rPr lang="en-AU" b="0" i="1" smtClean="0">
                                  <a:latin typeface="Cambria Math" panose="02040503050406030204" pitchFamily="18" charset="0"/>
                                </a:rPr>
                                <m:t>𝑥</m:t>
                              </m:r>
                              <m:r>
                                <a:rPr lang="en-AU" b="0" i="1" smtClean="0">
                                  <a:latin typeface="Cambria Math" panose="02040503050406030204" pitchFamily="18" charset="0"/>
                                </a:rPr>
                                <m:t>→−3</m:t>
                              </m:r>
                            </m:lim>
                          </m:limLow>
                        </m:fName>
                        <m:e>
                          <m:r>
                            <a:rPr lang="en-AU" b="0" i="1" smtClean="0">
                              <a:latin typeface="Cambria Math" panose="02040503050406030204" pitchFamily="18" charset="0"/>
                            </a:rPr>
                            <m:t>𝑓</m:t>
                          </m:r>
                          <m:r>
                            <a:rPr lang="en-AU" b="0" i="1" smtClean="0">
                              <a:latin typeface="Cambria Math" panose="02040503050406030204" pitchFamily="18" charset="0"/>
                            </a:rPr>
                            <m:t>(</m:t>
                          </m:r>
                          <m:r>
                            <a:rPr lang="en-AU" b="0" i="1" smtClean="0">
                              <a:latin typeface="Cambria Math" panose="02040503050406030204" pitchFamily="18" charset="0"/>
                            </a:rPr>
                            <m:t>𝑥</m:t>
                          </m:r>
                          <m:r>
                            <a:rPr lang="en-AU" b="0" i="1" smtClean="0">
                              <a:latin typeface="Cambria Math" panose="02040503050406030204" pitchFamily="18" charset="0"/>
                            </a:rPr>
                            <m:t>)</m:t>
                          </m:r>
                        </m:e>
                      </m:func>
                    </m:oMath>
                  </m:oMathPara>
                </a14:m>
                <a:endParaRPr lang="en-GB" dirty="0"/>
              </a:p>
            </p:txBody>
          </p:sp>
        </mc:Choice>
        <mc:Fallback xmlns="">
          <p:sp>
            <p:nvSpPr>
              <p:cNvPr id="19" name="TextBox 18">
                <a:extLst>
                  <a:ext uri="{FF2B5EF4-FFF2-40B4-BE49-F238E27FC236}">
                    <a16:creationId xmlns:a16="http://schemas.microsoft.com/office/drawing/2014/main" id="{2061F734-F3FF-40DE-A8AE-197CBE08DD2E}"/>
                  </a:ext>
                </a:extLst>
              </p:cNvPr>
              <p:cNvSpPr txBox="1">
                <a:spLocks noRot="1" noChangeAspect="1" noMove="1" noResize="1" noEditPoints="1" noAdjustHandles="1" noChangeArrowheads="1" noChangeShapeType="1" noTextEdit="1"/>
              </p:cNvSpPr>
              <p:nvPr/>
            </p:nvSpPr>
            <p:spPr>
              <a:xfrm>
                <a:off x="4770969" y="1890108"/>
                <a:ext cx="1012072" cy="360612"/>
              </a:xfrm>
              <a:prstGeom prst="rect">
                <a:avLst/>
              </a:prstGeom>
              <a:blipFill>
                <a:blip r:embed="rId7"/>
                <a:stretch>
                  <a:fillRect l="-1807" r="-7831" b="-16949"/>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2FB049AF-E4A4-4DE1-8914-141665F31402}"/>
                  </a:ext>
                </a:extLst>
              </p:cNvPr>
              <p:cNvSpPr txBox="1"/>
              <p:nvPr/>
            </p:nvSpPr>
            <p:spPr>
              <a:xfrm>
                <a:off x="6310161" y="1890108"/>
                <a:ext cx="890244" cy="36061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unc>
                        <m:funcPr>
                          <m:ctrlPr>
                            <a:rPr lang="en-GB" i="1" smtClean="0">
                              <a:latin typeface="Cambria Math" panose="02040503050406030204" pitchFamily="18" charset="0"/>
                            </a:rPr>
                          </m:ctrlPr>
                        </m:funcPr>
                        <m:fName>
                          <m:limLow>
                            <m:limLowPr>
                              <m:ctrlPr>
                                <a:rPr lang="en-GB" i="1" smtClean="0">
                                  <a:latin typeface="Cambria Math" panose="02040503050406030204" pitchFamily="18" charset="0"/>
                                </a:rPr>
                              </m:ctrlPr>
                            </m:limLowPr>
                            <m:e>
                              <m:r>
                                <m:rPr>
                                  <m:sty m:val="p"/>
                                </m:rPr>
                                <a:rPr lang="en-GB" i="0" smtClean="0">
                                  <a:latin typeface="Cambria Math" panose="02040503050406030204" pitchFamily="18" charset="0"/>
                                </a:rPr>
                                <m:t>lim</m:t>
                              </m:r>
                            </m:e>
                            <m:lim>
                              <m:r>
                                <a:rPr lang="en-AU" b="0" i="1" smtClean="0">
                                  <a:latin typeface="Cambria Math" panose="02040503050406030204" pitchFamily="18" charset="0"/>
                                </a:rPr>
                                <m:t>𝑥</m:t>
                              </m:r>
                              <m:r>
                                <a:rPr lang="en-AU" b="0" i="1" smtClean="0">
                                  <a:latin typeface="Cambria Math" panose="02040503050406030204" pitchFamily="18" charset="0"/>
                                </a:rPr>
                                <m:t>→0</m:t>
                              </m:r>
                            </m:lim>
                          </m:limLow>
                        </m:fName>
                        <m:e>
                          <m:r>
                            <a:rPr lang="en-AU" b="0" i="1" smtClean="0">
                              <a:latin typeface="Cambria Math" panose="02040503050406030204" pitchFamily="18" charset="0"/>
                            </a:rPr>
                            <m:t>𝑓</m:t>
                          </m:r>
                          <m:r>
                            <a:rPr lang="en-AU" b="0" i="1" smtClean="0">
                              <a:latin typeface="Cambria Math" panose="02040503050406030204" pitchFamily="18" charset="0"/>
                            </a:rPr>
                            <m:t>(</m:t>
                          </m:r>
                          <m:r>
                            <a:rPr lang="en-AU" b="0" i="1" smtClean="0">
                              <a:latin typeface="Cambria Math" panose="02040503050406030204" pitchFamily="18" charset="0"/>
                            </a:rPr>
                            <m:t>𝑥</m:t>
                          </m:r>
                          <m:r>
                            <a:rPr lang="en-AU" b="0" i="1" smtClean="0">
                              <a:latin typeface="Cambria Math" panose="02040503050406030204" pitchFamily="18" charset="0"/>
                            </a:rPr>
                            <m:t>)</m:t>
                          </m:r>
                        </m:e>
                      </m:func>
                    </m:oMath>
                  </m:oMathPara>
                </a14:m>
                <a:endParaRPr lang="en-GB" dirty="0"/>
              </a:p>
            </p:txBody>
          </p:sp>
        </mc:Choice>
        <mc:Fallback xmlns="">
          <p:sp>
            <p:nvSpPr>
              <p:cNvPr id="20" name="TextBox 19">
                <a:extLst>
                  <a:ext uri="{FF2B5EF4-FFF2-40B4-BE49-F238E27FC236}">
                    <a16:creationId xmlns:a16="http://schemas.microsoft.com/office/drawing/2014/main" id="{2FB049AF-E4A4-4DE1-8914-141665F31402}"/>
                  </a:ext>
                </a:extLst>
              </p:cNvPr>
              <p:cNvSpPr txBox="1">
                <a:spLocks noRot="1" noChangeAspect="1" noMove="1" noResize="1" noEditPoints="1" noAdjustHandles="1" noChangeArrowheads="1" noChangeShapeType="1" noTextEdit="1"/>
              </p:cNvSpPr>
              <p:nvPr/>
            </p:nvSpPr>
            <p:spPr>
              <a:xfrm>
                <a:off x="6310161" y="1890108"/>
                <a:ext cx="890244" cy="360612"/>
              </a:xfrm>
              <a:prstGeom prst="rect">
                <a:avLst/>
              </a:prstGeom>
              <a:blipFill>
                <a:blip r:embed="rId8"/>
                <a:stretch>
                  <a:fillRect l="-4795" r="-8904" b="-16949"/>
                </a:stretch>
              </a:blipFill>
            </p:spPr>
            <p:txBody>
              <a:bodyPr/>
              <a:lstStyle/>
              <a:p>
                <a:r>
                  <a:rPr lang="en-GB">
                    <a:noFill/>
                  </a:rPr>
                  <a:t> </a:t>
                </a:r>
              </a:p>
            </p:txBody>
          </p:sp>
        </mc:Fallback>
      </mc:AlternateContent>
      <p:pic>
        <p:nvPicPr>
          <p:cNvPr id="22" name="Picture 21" descr="A close up of a mans face&#10;&#10;Description automatically generated">
            <a:extLst>
              <a:ext uri="{FF2B5EF4-FFF2-40B4-BE49-F238E27FC236}">
                <a16:creationId xmlns:a16="http://schemas.microsoft.com/office/drawing/2014/main" id="{EDD31377-929B-4D7A-A0AA-3DBA9DC6219A}"/>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8102926" y="2763895"/>
            <a:ext cx="3309345" cy="3309345"/>
          </a:xfrm>
          <a:prstGeom prst="rect">
            <a:avLst/>
          </a:prstGeom>
        </p:spPr>
      </p:pic>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A3C79CB9-24FB-4D88-8446-BCBE48F75705}"/>
                  </a:ext>
                </a:extLst>
              </p:cNvPr>
              <p:cNvSpPr txBox="1"/>
              <p:nvPr/>
            </p:nvSpPr>
            <p:spPr>
              <a:xfrm>
                <a:off x="8102926" y="1890107"/>
                <a:ext cx="890244" cy="36061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unc>
                        <m:funcPr>
                          <m:ctrlPr>
                            <a:rPr lang="en-GB" i="1" smtClean="0">
                              <a:latin typeface="Cambria Math" panose="02040503050406030204" pitchFamily="18" charset="0"/>
                            </a:rPr>
                          </m:ctrlPr>
                        </m:funcPr>
                        <m:fName>
                          <m:limLow>
                            <m:limLowPr>
                              <m:ctrlPr>
                                <a:rPr lang="en-GB" i="1" smtClean="0">
                                  <a:latin typeface="Cambria Math" panose="02040503050406030204" pitchFamily="18" charset="0"/>
                                </a:rPr>
                              </m:ctrlPr>
                            </m:limLowPr>
                            <m:e>
                              <m:r>
                                <m:rPr>
                                  <m:sty m:val="p"/>
                                </m:rPr>
                                <a:rPr lang="en-GB" i="0" smtClean="0">
                                  <a:latin typeface="Cambria Math" panose="02040503050406030204" pitchFamily="18" charset="0"/>
                                </a:rPr>
                                <m:t>lim</m:t>
                              </m:r>
                            </m:e>
                            <m:lim>
                              <m:r>
                                <a:rPr lang="en-AU" b="0" i="1" smtClean="0">
                                  <a:latin typeface="Cambria Math" panose="02040503050406030204" pitchFamily="18" charset="0"/>
                                </a:rPr>
                                <m:t>𝑥</m:t>
                              </m:r>
                              <m:r>
                                <a:rPr lang="en-AU" b="0" i="1" smtClean="0">
                                  <a:latin typeface="Cambria Math" panose="02040503050406030204" pitchFamily="18" charset="0"/>
                                </a:rPr>
                                <m:t>→2</m:t>
                              </m:r>
                            </m:lim>
                          </m:limLow>
                        </m:fName>
                        <m:e>
                          <m:r>
                            <a:rPr lang="en-AU" b="0" i="1" smtClean="0">
                              <a:latin typeface="Cambria Math" panose="02040503050406030204" pitchFamily="18" charset="0"/>
                            </a:rPr>
                            <m:t>𝑓</m:t>
                          </m:r>
                          <m:r>
                            <a:rPr lang="en-AU" b="0" i="1" smtClean="0">
                              <a:latin typeface="Cambria Math" panose="02040503050406030204" pitchFamily="18" charset="0"/>
                            </a:rPr>
                            <m:t>(</m:t>
                          </m:r>
                          <m:r>
                            <a:rPr lang="en-AU" b="0" i="1" smtClean="0">
                              <a:latin typeface="Cambria Math" panose="02040503050406030204" pitchFamily="18" charset="0"/>
                            </a:rPr>
                            <m:t>𝑥</m:t>
                          </m:r>
                          <m:r>
                            <a:rPr lang="en-AU" b="0" i="1" smtClean="0">
                              <a:latin typeface="Cambria Math" panose="02040503050406030204" pitchFamily="18" charset="0"/>
                            </a:rPr>
                            <m:t>)</m:t>
                          </m:r>
                        </m:e>
                      </m:func>
                    </m:oMath>
                  </m:oMathPara>
                </a14:m>
                <a:endParaRPr lang="en-GB" dirty="0"/>
              </a:p>
            </p:txBody>
          </p:sp>
        </mc:Choice>
        <mc:Fallback xmlns="">
          <p:sp>
            <p:nvSpPr>
              <p:cNvPr id="23" name="TextBox 22">
                <a:extLst>
                  <a:ext uri="{FF2B5EF4-FFF2-40B4-BE49-F238E27FC236}">
                    <a16:creationId xmlns:a16="http://schemas.microsoft.com/office/drawing/2014/main" id="{A3C79CB9-24FB-4D88-8446-BCBE48F75705}"/>
                  </a:ext>
                </a:extLst>
              </p:cNvPr>
              <p:cNvSpPr txBox="1">
                <a:spLocks noRot="1" noChangeAspect="1" noMove="1" noResize="1" noEditPoints="1" noAdjustHandles="1" noChangeArrowheads="1" noChangeShapeType="1" noTextEdit="1"/>
              </p:cNvSpPr>
              <p:nvPr/>
            </p:nvSpPr>
            <p:spPr>
              <a:xfrm>
                <a:off x="8102926" y="1890107"/>
                <a:ext cx="890244" cy="360612"/>
              </a:xfrm>
              <a:prstGeom prst="rect">
                <a:avLst/>
              </a:prstGeom>
              <a:blipFill>
                <a:blip r:embed="rId10"/>
                <a:stretch>
                  <a:fillRect l="-4795" r="-8904" b="-16949"/>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7F280E9A-4514-47E0-B374-A15D63D75E65}"/>
                  </a:ext>
                </a:extLst>
              </p:cNvPr>
              <p:cNvSpPr txBox="1"/>
              <p:nvPr/>
            </p:nvSpPr>
            <p:spPr>
              <a:xfrm>
                <a:off x="9450569" y="1890107"/>
                <a:ext cx="890244" cy="36061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unc>
                        <m:funcPr>
                          <m:ctrlPr>
                            <a:rPr lang="en-GB" i="1" smtClean="0">
                              <a:latin typeface="Cambria Math" panose="02040503050406030204" pitchFamily="18" charset="0"/>
                            </a:rPr>
                          </m:ctrlPr>
                        </m:funcPr>
                        <m:fName>
                          <m:limLow>
                            <m:limLowPr>
                              <m:ctrlPr>
                                <a:rPr lang="en-GB" i="1" smtClean="0">
                                  <a:latin typeface="Cambria Math" panose="02040503050406030204" pitchFamily="18" charset="0"/>
                                </a:rPr>
                              </m:ctrlPr>
                            </m:limLowPr>
                            <m:e>
                              <m:r>
                                <m:rPr>
                                  <m:sty m:val="p"/>
                                </m:rPr>
                                <a:rPr lang="en-GB" i="0" smtClean="0">
                                  <a:latin typeface="Cambria Math" panose="02040503050406030204" pitchFamily="18" charset="0"/>
                                </a:rPr>
                                <m:t>lim</m:t>
                              </m:r>
                            </m:e>
                            <m:lim>
                              <m:r>
                                <a:rPr lang="en-AU" b="0" i="1" smtClean="0">
                                  <a:latin typeface="Cambria Math" panose="02040503050406030204" pitchFamily="18" charset="0"/>
                                </a:rPr>
                                <m:t>𝑥</m:t>
                              </m:r>
                              <m:r>
                                <a:rPr lang="en-AU" b="0" i="1" smtClean="0">
                                  <a:latin typeface="Cambria Math" panose="02040503050406030204" pitchFamily="18" charset="0"/>
                                </a:rPr>
                                <m:t>→0</m:t>
                              </m:r>
                            </m:lim>
                          </m:limLow>
                        </m:fName>
                        <m:e>
                          <m:r>
                            <a:rPr lang="en-AU" b="0" i="1" smtClean="0">
                              <a:latin typeface="Cambria Math" panose="02040503050406030204" pitchFamily="18" charset="0"/>
                            </a:rPr>
                            <m:t>𝑓</m:t>
                          </m:r>
                          <m:r>
                            <a:rPr lang="en-AU" b="0" i="1" smtClean="0">
                              <a:latin typeface="Cambria Math" panose="02040503050406030204" pitchFamily="18" charset="0"/>
                            </a:rPr>
                            <m:t>(</m:t>
                          </m:r>
                          <m:r>
                            <a:rPr lang="en-AU" b="0" i="1" smtClean="0">
                              <a:latin typeface="Cambria Math" panose="02040503050406030204" pitchFamily="18" charset="0"/>
                            </a:rPr>
                            <m:t>𝑥</m:t>
                          </m:r>
                          <m:r>
                            <a:rPr lang="en-AU" b="0" i="1" smtClean="0">
                              <a:latin typeface="Cambria Math" panose="02040503050406030204" pitchFamily="18" charset="0"/>
                            </a:rPr>
                            <m:t>)</m:t>
                          </m:r>
                        </m:e>
                      </m:func>
                    </m:oMath>
                  </m:oMathPara>
                </a14:m>
                <a:endParaRPr lang="en-GB" dirty="0"/>
              </a:p>
            </p:txBody>
          </p:sp>
        </mc:Choice>
        <mc:Fallback xmlns="">
          <p:sp>
            <p:nvSpPr>
              <p:cNvPr id="24" name="TextBox 23">
                <a:extLst>
                  <a:ext uri="{FF2B5EF4-FFF2-40B4-BE49-F238E27FC236}">
                    <a16:creationId xmlns:a16="http://schemas.microsoft.com/office/drawing/2014/main" id="{7F280E9A-4514-47E0-B374-A15D63D75E65}"/>
                  </a:ext>
                </a:extLst>
              </p:cNvPr>
              <p:cNvSpPr txBox="1">
                <a:spLocks noRot="1" noChangeAspect="1" noMove="1" noResize="1" noEditPoints="1" noAdjustHandles="1" noChangeArrowheads="1" noChangeShapeType="1" noTextEdit="1"/>
              </p:cNvSpPr>
              <p:nvPr/>
            </p:nvSpPr>
            <p:spPr>
              <a:xfrm>
                <a:off x="9450569" y="1890107"/>
                <a:ext cx="890244" cy="360612"/>
              </a:xfrm>
              <a:prstGeom prst="rect">
                <a:avLst/>
              </a:prstGeom>
              <a:blipFill>
                <a:blip r:embed="rId11"/>
                <a:stretch>
                  <a:fillRect l="-4795" r="-8904" b="-16949"/>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798E1ECD-EA9B-4C50-9AFB-7602CFA7A3B6}"/>
                  </a:ext>
                </a:extLst>
              </p:cNvPr>
              <p:cNvSpPr txBox="1"/>
              <p:nvPr/>
            </p:nvSpPr>
            <p:spPr>
              <a:xfrm>
                <a:off x="10804005" y="1890107"/>
                <a:ext cx="50905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AU" i="1" smtClean="0">
                          <a:latin typeface="Cambria Math" panose="02040503050406030204" pitchFamily="18" charset="0"/>
                        </a:rPr>
                        <m:t>𝑓</m:t>
                      </m:r>
                      <m:r>
                        <a:rPr lang="en-AU" b="0" i="1" smtClean="0">
                          <a:latin typeface="Cambria Math" panose="02040503050406030204" pitchFamily="18" charset="0"/>
                        </a:rPr>
                        <m:t>(0)</m:t>
                      </m:r>
                    </m:oMath>
                  </m:oMathPara>
                </a14:m>
                <a:endParaRPr lang="en-GB" dirty="0"/>
              </a:p>
            </p:txBody>
          </p:sp>
        </mc:Choice>
        <mc:Fallback xmlns="">
          <p:sp>
            <p:nvSpPr>
              <p:cNvPr id="25" name="TextBox 24">
                <a:extLst>
                  <a:ext uri="{FF2B5EF4-FFF2-40B4-BE49-F238E27FC236}">
                    <a16:creationId xmlns:a16="http://schemas.microsoft.com/office/drawing/2014/main" id="{798E1ECD-EA9B-4C50-9AFB-7602CFA7A3B6}"/>
                  </a:ext>
                </a:extLst>
              </p:cNvPr>
              <p:cNvSpPr txBox="1">
                <a:spLocks noRot="1" noChangeAspect="1" noMove="1" noResize="1" noEditPoints="1" noAdjustHandles="1" noChangeArrowheads="1" noChangeShapeType="1" noTextEdit="1"/>
              </p:cNvSpPr>
              <p:nvPr/>
            </p:nvSpPr>
            <p:spPr>
              <a:xfrm>
                <a:off x="10804005" y="1890107"/>
                <a:ext cx="509050" cy="276999"/>
              </a:xfrm>
              <a:prstGeom prst="rect">
                <a:avLst/>
              </a:prstGeom>
              <a:blipFill>
                <a:blip r:embed="rId12"/>
                <a:stretch>
                  <a:fillRect l="-15476" t="-2222" r="-15476" b="-35556"/>
                </a:stretch>
              </a:blipFill>
            </p:spPr>
            <p:txBody>
              <a:bodyPr/>
              <a:lstStyle/>
              <a:p>
                <a:r>
                  <a:rPr lang="en-GB">
                    <a:noFill/>
                  </a:rPr>
                  <a:t> </a:t>
                </a:r>
              </a:p>
            </p:txBody>
          </p:sp>
        </mc:Fallback>
      </mc:AlternateContent>
    </p:spTree>
    <p:extLst>
      <p:ext uri="{BB962C8B-B14F-4D97-AF65-F5344CB8AC3E}">
        <p14:creationId xmlns:p14="http://schemas.microsoft.com/office/powerpoint/2010/main" val="41508163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2087623" cy="523220"/>
          </a:xfrm>
          <a:prstGeom prst="rect">
            <a:avLst/>
          </a:prstGeom>
          <a:noFill/>
        </p:spPr>
        <p:txBody>
          <a:bodyPr wrap="none" rtlCol="0">
            <a:spAutoFit/>
          </a:bodyPr>
          <a:lstStyle/>
          <a:p>
            <a:r>
              <a:rPr lang="en-AU" sz="2800" b="1" cap="small" dirty="0">
                <a:solidFill>
                  <a:schemeClr val="bg1"/>
                </a:solidFill>
                <a:latin typeface="+mj-lt"/>
              </a:rPr>
              <a:t>2.2 Limit laws</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BCB5680B-B712-45CC-8AC6-96A5213E73CE}"/>
                  </a:ext>
                </a:extLst>
              </p:cNvPr>
              <p:cNvSpPr txBox="1"/>
              <p:nvPr/>
            </p:nvSpPr>
            <p:spPr>
              <a:xfrm>
                <a:off x="316357" y="1005370"/>
                <a:ext cx="11559285" cy="5371150"/>
              </a:xfrm>
              <a:prstGeom prst="rect">
                <a:avLst/>
              </a:prstGeom>
              <a:noFill/>
            </p:spPr>
            <p:txBody>
              <a:bodyPr wrap="square" rtlCol="0">
                <a:spAutoFit/>
              </a:bodyPr>
              <a:lstStyle/>
              <a:p>
                <a:r>
                  <a:rPr lang="en-AU" sz="2400" dirty="0">
                    <a:latin typeface="+mj-lt"/>
                  </a:rPr>
                  <a:t>For two generic functions </a:t>
                </a:r>
                <a14:m>
                  <m:oMath xmlns:m="http://schemas.openxmlformats.org/officeDocument/2006/math">
                    <m:r>
                      <a:rPr lang="en-AU" sz="2400" b="0" i="1" smtClean="0">
                        <a:latin typeface="Cambria Math" panose="02040503050406030204" pitchFamily="18" charset="0"/>
                      </a:rPr>
                      <m:t>𝑓</m:t>
                    </m:r>
                    <m:r>
                      <a:rPr lang="en-AU" sz="2400" b="0" i="1" smtClean="0">
                        <a:latin typeface="Cambria Math" panose="02040503050406030204" pitchFamily="18" charset="0"/>
                      </a:rPr>
                      <m:t>(</m:t>
                    </m:r>
                    <m:r>
                      <a:rPr lang="en-AU" sz="2400" b="0" i="1" smtClean="0">
                        <a:latin typeface="Cambria Math" panose="02040503050406030204" pitchFamily="18" charset="0"/>
                      </a:rPr>
                      <m:t>𝑥</m:t>
                    </m:r>
                    <m:r>
                      <a:rPr lang="en-AU" sz="2400" b="0" i="1" smtClean="0">
                        <a:latin typeface="Cambria Math" panose="02040503050406030204" pitchFamily="18" charset="0"/>
                      </a:rPr>
                      <m:t>)</m:t>
                    </m:r>
                  </m:oMath>
                </a14:m>
                <a:r>
                  <a:rPr lang="en-AU" sz="2400" dirty="0">
                    <a:latin typeface="+mj-lt"/>
                  </a:rPr>
                  <a:t> and </a:t>
                </a:r>
                <a14:m>
                  <m:oMath xmlns:m="http://schemas.openxmlformats.org/officeDocument/2006/math">
                    <m:r>
                      <a:rPr lang="en-AU" sz="2400" b="0" i="1" smtClean="0">
                        <a:latin typeface="Cambria Math" panose="02040503050406030204" pitchFamily="18" charset="0"/>
                      </a:rPr>
                      <m:t>𝑔</m:t>
                    </m:r>
                    <m:r>
                      <a:rPr lang="en-AU" sz="2400" b="0" i="1" smtClean="0">
                        <a:latin typeface="Cambria Math" panose="02040503050406030204" pitchFamily="18" charset="0"/>
                      </a:rPr>
                      <m:t>(</m:t>
                    </m:r>
                    <m:r>
                      <a:rPr lang="en-AU" sz="2400" b="0" i="1" smtClean="0">
                        <a:latin typeface="Cambria Math" panose="02040503050406030204" pitchFamily="18" charset="0"/>
                      </a:rPr>
                      <m:t>𝑥</m:t>
                    </m:r>
                    <m:r>
                      <a:rPr lang="en-AU" sz="2400" b="0" i="1" smtClean="0">
                        <a:latin typeface="Cambria Math" panose="02040503050406030204" pitchFamily="18" charset="0"/>
                      </a:rPr>
                      <m:t>)</m:t>
                    </m:r>
                  </m:oMath>
                </a14:m>
                <a:r>
                  <a:rPr lang="en-AU" sz="2400" dirty="0">
                    <a:latin typeface="+mj-lt"/>
                  </a:rPr>
                  <a:t>, given </a:t>
                </a:r>
                <a14:m>
                  <m:oMath xmlns:m="http://schemas.openxmlformats.org/officeDocument/2006/math">
                    <m:r>
                      <a:rPr lang="en-AU" sz="2400" b="0" i="1" smtClean="0">
                        <a:latin typeface="Cambria Math" panose="02040503050406030204" pitchFamily="18" charset="0"/>
                      </a:rPr>
                      <m:t>𝑎</m:t>
                    </m:r>
                    <m:r>
                      <a:rPr lang="en-AU" sz="2400" b="0" i="1" smtClean="0">
                        <a:latin typeface="Cambria Math" panose="02040503050406030204" pitchFamily="18" charset="0"/>
                      </a:rPr>
                      <m:t>,</m:t>
                    </m:r>
                    <m:sSub>
                      <m:sSubPr>
                        <m:ctrlPr>
                          <a:rPr lang="en-AU" sz="2400" b="0" i="1" smtClean="0">
                            <a:latin typeface="Cambria Math" panose="02040503050406030204" pitchFamily="18" charset="0"/>
                          </a:rPr>
                        </m:ctrlPr>
                      </m:sSubPr>
                      <m:e>
                        <m:r>
                          <a:rPr lang="en-AU" sz="2400" b="0" i="1" smtClean="0">
                            <a:latin typeface="Cambria Math" panose="02040503050406030204" pitchFamily="18" charset="0"/>
                          </a:rPr>
                          <m:t>𝐿</m:t>
                        </m:r>
                      </m:e>
                      <m:sub>
                        <m:r>
                          <a:rPr lang="en-AU" sz="2400" b="0" i="1" smtClean="0">
                            <a:latin typeface="Cambria Math" panose="02040503050406030204" pitchFamily="18" charset="0"/>
                          </a:rPr>
                          <m:t>1</m:t>
                        </m:r>
                      </m:sub>
                    </m:sSub>
                    <m:r>
                      <a:rPr lang="en-AU" sz="2400" b="0" i="1" smtClean="0">
                        <a:latin typeface="Cambria Math" panose="02040503050406030204" pitchFamily="18" charset="0"/>
                      </a:rPr>
                      <m:t>,</m:t>
                    </m:r>
                    <m:sSub>
                      <m:sSubPr>
                        <m:ctrlPr>
                          <a:rPr lang="en-AU" sz="2400" b="0" i="1" smtClean="0">
                            <a:latin typeface="Cambria Math" panose="02040503050406030204" pitchFamily="18" charset="0"/>
                          </a:rPr>
                        </m:ctrlPr>
                      </m:sSubPr>
                      <m:e>
                        <m:r>
                          <a:rPr lang="en-AU" sz="2400" b="0" i="1" smtClean="0">
                            <a:latin typeface="Cambria Math" panose="02040503050406030204" pitchFamily="18" charset="0"/>
                          </a:rPr>
                          <m:t>𝐿</m:t>
                        </m:r>
                      </m:e>
                      <m:sub>
                        <m:r>
                          <a:rPr lang="en-AU" sz="2400" b="0" i="1" smtClean="0">
                            <a:latin typeface="Cambria Math" panose="02040503050406030204" pitchFamily="18" charset="0"/>
                          </a:rPr>
                          <m:t>2</m:t>
                        </m:r>
                      </m:sub>
                    </m:sSub>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ℝ</m:t>
                    </m:r>
                  </m:oMath>
                </a14:m>
                <a:r>
                  <a:rPr lang="en-AU" sz="2400" dirty="0">
                    <a:latin typeface="+mj-lt"/>
                  </a:rPr>
                  <a:t> and supposing that </a:t>
                </a:r>
              </a:p>
              <a:p>
                <a:endParaRPr lang="en-AU" sz="2400" dirty="0">
                  <a:latin typeface="+mj-lt"/>
                </a:endParaRPr>
              </a:p>
              <a:p>
                <a:pPr/>
                <a14:m>
                  <m:oMathPara xmlns:m="http://schemas.openxmlformats.org/officeDocument/2006/math">
                    <m:oMathParaPr>
                      <m:jc m:val="centerGroup"/>
                    </m:oMathParaPr>
                    <m:oMath xmlns:m="http://schemas.openxmlformats.org/officeDocument/2006/math">
                      <m:func>
                        <m:funcPr>
                          <m:ctrlPr>
                            <a:rPr lang="en-AU" sz="2400" i="1" smtClean="0">
                              <a:latin typeface="Cambria Math" panose="02040503050406030204" pitchFamily="18" charset="0"/>
                            </a:rPr>
                          </m:ctrlPr>
                        </m:funcPr>
                        <m:fName>
                          <m:limLow>
                            <m:limLowPr>
                              <m:ctrlPr>
                                <a:rPr lang="en-AU" sz="2400" i="1" smtClean="0">
                                  <a:latin typeface="Cambria Math" panose="02040503050406030204" pitchFamily="18" charset="0"/>
                                </a:rPr>
                              </m:ctrlPr>
                            </m:limLowPr>
                            <m:e>
                              <m:r>
                                <m:rPr>
                                  <m:sty m:val="p"/>
                                </m:rPr>
                                <a:rPr lang="en-AU" sz="2400" i="0" smtClean="0">
                                  <a:latin typeface="Cambria Math" panose="02040503050406030204" pitchFamily="18" charset="0"/>
                                </a:rPr>
                                <m:t>lim</m:t>
                              </m:r>
                            </m:e>
                            <m:lim>
                              <m:r>
                                <a:rPr lang="en-AU" sz="2400" b="0" i="1" smtClean="0">
                                  <a:latin typeface="Cambria Math" panose="02040503050406030204" pitchFamily="18" charset="0"/>
                                </a:rPr>
                                <m:t>𝑥</m:t>
                              </m:r>
                              <m:r>
                                <a:rPr lang="en-AU" sz="2400" b="0" i="1" smtClean="0">
                                  <a:latin typeface="Cambria Math" panose="02040503050406030204" pitchFamily="18" charset="0"/>
                                </a:rPr>
                                <m:t>→</m:t>
                              </m:r>
                              <m:r>
                                <a:rPr lang="en-AU" sz="2400" b="0" i="1" smtClean="0">
                                  <a:latin typeface="Cambria Math" panose="02040503050406030204" pitchFamily="18" charset="0"/>
                                </a:rPr>
                                <m:t>𝑎</m:t>
                              </m:r>
                            </m:lim>
                          </m:limLow>
                        </m:fName>
                        <m:e>
                          <m:r>
                            <a:rPr lang="en-AU" sz="2400" b="0" i="1" smtClean="0">
                              <a:latin typeface="Cambria Math" panose="02040503050406030204" pitchFamily="18" charset="0"/>
                            </a:rPr>
                            <m:t>𝑓</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r>
                            <a:rPr lang="en-AU" sz="2400" b="0" i="1" smtClean="0">
                              <a:latin typeface="Cambria Math" panose="02040503050406030204" pitchFamily="18" charset="0"/>
                            </a:rPr>
                            <m:t>=</m:t>
                          </m:r>
                          <m:sSub>
                            <m:sSubPr>
                              <m:ctrlPr>
                                <a:rPr lang="en-AU" sz="2400" b="0" i="1" smtClean="0">
                                  <a:latin typeface="Cambria Math" panose="02040503050406030204" pitchFamily="18" charset="0"/>
                                </a:rPr>
                              </m:ctrlPr>
                            </m:sSubPr>
                            <m:e>
                              <m:r>
                                <a:rPr lang="en-AU" sz="2400" b="0" i="1" smtClean="0">
                                  <a:latin typeface="Cambria Math" panose="02040503050406030204" pitchFamily="18" charset="0"/>
                                </a:rPr>
                                <m:t>𝐿</m:t>
                              </m:r>
                            </m:e>
                            <m:sub>
                              <m:r>
                                <a:rPr lang="en-AU" sz="2400" b="0" i="1" smtClean="0">
                                  <a:latin typeface="Cambria Math" panose="02040503050406030204" pitchFamily="18" charset="0"/>
                                </a:rPr>
                                <m:t>1</m:t>
                              </m:r>
                            </m:sub>
                          </m:sSub>
                        </m:e>
                      </m:func>
                      <m:r>
                        <a:rPr lang="en-AU" sz="2400" b="0" i="1" smtClean="0">
                          <a:latin typeface="Cambria Math" panose="02040503050406030204" pitchFamily="18" charset="0"/>
                        </a:rPr>
                        <m:t>    </m:t>
                      </m:r>
                      <m:r>
                        <m:rPr>
                          <m:sty m:val="p"/>
                        </m:rPr>
                        <a:rPr lang="en-AU" sz="2400" b="0" i="0" smtClean="0">
                          <a:latin typeface="Cambria Math" panose="02040503050406030204" pitchFamily="18" charset="0"/>
                        </a:rPr>
                        <m:t>and</m:t>
                      </m:r>
                      <m:r>
                        <a:rPr lang="en-AU" sz="2400" b="0" i="1" smtClean="0">
                          <a:latin typeface="Cambria Math" panose="02040503050406030204" pitchFamily="18" charset="0"/>
                        </a:rPr>
                        <m:t>     </m:t>
                      </m:r>
                      <m:func>
                        <m:funcPr>
                          <m:ctrlPr>
                            <a:rPr lang="en-AU" sz="2400" i="1" smtClean="0">
                              <a:latin typeface="Cambria Math" panose="02040503050406030204" pitchFamily="18" charset="0"/>
                            </a:rPr>
                          </m:ctrlPr>
                        </m:funcPr>
                        <m:fName>
                          <m:limLow>
                            <m:limLowPr>
                              <m:ctrlPr>
                                <a:rPr lang="en-AU" sz="2400" i="1" smtClean="0">
                                  <a:latin typeface="Cambria Math" panose="02040503050406030204" pitchFamily="18" charset="0"/>
                                </a:rPr>
                              </m:ctrlPr>
                            </m:limLowPr>
                            <m:e>
                              <m:r>
                                <m:rPr>
                                  <m:sty m:val="p"/>
                                </m:rPr>
                                <a:rPr lang="en-AU" sz="2400" i="0" smtClean="0">
                                  <a:latin typeface="Cambria Math" panose="02040503050406030204" pitchFamily="18" charset="0"/>
                                </a:rPr>
                                <m:t>lim</m:t>
                              </m:r>
                            </m:e>
                            <m:lim>
                              <m:r>
                                <a:rPr lang="en-AU" sz="2400" b="0" i="1" smtClean="0">
                                  <a:latin typeface="Cambria Math" panose="02040503050406030204" pitchFamily="18" charset="0"/>
                                </a:rPr>
                                <m:t>𝑥</m:t>
                              </m:r>
                              <m:r>
                                <a:rPr lang="en-AU" sz="2400" b="0" i="1" smtClean="0">
                                  <a:latin typeface="Cambria Math" panose="02040503050406030204" pitchFamily="18" charset="0"/>
                                </a:rPr>
                                <m:t>→</m:t>
                              </m:r>
                              <m:r>
                                <a:rPr lang="en-AU" sz="2400" b="0" i="1" smtClean="0">
                                  <a:latin typeface="Cambria Math" panose="02040503050406030204" pitchFamily="18" charset="0"/>
                                </a:rPr>
                                <m:t>𝑎</m:t>
                              </m:r>
                            </m:lim>
                          </m:limLow>
                        </m:fName>
                        <m:e>
                          <m:r>
                            <a:rPr lang="en-AU" sz="2400" b="0" i="1" smtClean="0">
                              <a:latin typeface="Cambria Math" panose="02040503050406030204" pitchFamily="18" charset="0"/>
                            </a:rPr>
                            <m:t>𝑔</m:t>
                          </m:r>
                          <m:r>
                            <a:rPr lang="en-AU" sz="2400" b="0" i="1" smtClean="0">
                              <a:latin typeface="Cambria Math" panose="02040503050406030204" pitchFamily="18" charset="0"/>
                            </a:rPr>
                            <m:t>(</m:t>
                          </m:r>
                          <m:r>
                            <a:rPr lang="en-AU" sz="2400" b="0" i="1" smtClean="0">
                              <a:latin typeface="Cambria Math" panose="02040503050406030204" pitchFamily="18" charset="0"/>
                            </a:rPr>
                            <m:t>𝑥</m:t>
                          </m:r>
                          <m:r>
                            <a:rPr lang="en-AU" sz="2400" b="0" i="1" smtClean="0">
                              <a:latin typeface="Cambria Math" panose="02040503050406030204" pitchFamily="18" charset="0"/>
                            </a:rPr>
                            <m:t>)</m:t>
                          </m:r>
                        </m:e>
                      </m:func>
                      <m:r>
                        <a:rPr lang="en-AU" sz="2400" b="0" i="1" smtClean="0">
                          <a:latin typeface="Cambria Math" panose="02040503050406030204" pitchFamily="18" charset="0"/>
                        </a:rPr>
                        <m:t>=</m:t>
                      </m:r>
                      <m:sSub>
                        <m:sSubPr>
                          <m:ctrlPr>
                            <a:rPr lang="en-AU" sz="2400" b="0" i="1" smtClean="0">
                              <a:latin typeface="Cambria Math" panose="02040503050406030204" pitchFamily="18" charset="0"/>
                            </a:rPr>
                          </m:ctrlPr>
                        </m:sSubPr>
                        <m:e>
                          <m:r>
                            <a:rPr lang="en-AU" sz="2400" b="0" i="1" smtClean="0">
                              <a:latin typeface="Cambria Math" panose="02040503050406030204" pitchFamily="18" charset="0"/>
                            </a:rPr>
                            <m:t>𝐿</m:t>
                          </m:r>
                        </m:e>
                        <m:sub>
                          <m:r>
                            <a:rPr lang="en-AU" sz="2400" b="0" i="1" smtClean="0">
                              <a:latin typeface="Cambria Math" panose="02040503050406030204" pitchFamily="18" charset="0"/>
                            </a:rPr>
                            <m:t>2</m:t>
                          </m:r>
                        </m:sub>
                      </m:sSub>
                    </m:oMath>
                  </m:oMathPara>
                </a14:m>
                <a:endParaRPr lang="en-AU" sz="2400" dirty="0">
                  <a:latin typeface="+mj-lt"/>
                </a:endParaRPr>
              </a:p>
              <a:p>
                <a:r>
                  <a:rPr lang="en-AU" sz="2400" dirty="0">
                    <a:latin typeface="+mj-lt"/>
                  </a:rPr>
                  <a:t>the following laws apply:</a:t>
                </a:r>
              </a:p>
              <a:p>
                <a:endParaRPr lang="en-AU" sz="2400" dirty="0">
                  <a:latin typeface="+mj-lt"/>
                </a:endParaRPr>
              </a:p>
              <a:p>
                <a:r>
                  <a:rPr lang="en-AU" sz="2400" dirty="0">
                    <a:latin typeface="+mj-lt"/>
                  </a:rPr>
                  <a:t>1. Addition/subtraction of limits:    </a:t>
                </a:r>
                <a14:m>
                  <m:oMath xmlns:m="http://schemas.openxmlformats.org/officeDocument/2006/math">
                    <m:func>
                      <m:funcPr>
                        <m:ctrlPr>
                          <a:rPr lang="en-AU" sz="2400" i="1">
                            <a:latin typeface="Cambria Math" panose="02040503050406030204" pitchFamily="18" charset="0"/>
                          </a:rPr>
                        </m:ctrlPr>
                      </m:funcPr>
                      <m:fName>
                        <m:limLow>
                          <m:limLowPr>
                            <m:ctrlPr>
                              <a:rPr lang="en-AU" sz="2400" i="1">
                                <a:latin typeface="Cambria Math" panose="02040503050406030204" pitchFamily="18" charset="0"/>
                              </a:rPr>
                            </m:ctrlPr>
                          </m:limLowPr>
                          <m:e>
                            <m:r>
                              <m:rPr>
                                <m:sty m:val="p"/>
                              </m:rPr>
                              <a:rPr lang="en-AU" sz="2400">
                                <a:latin typeface="Cambria Math" panose="02040503050406030204" pitchFamily="18" charset="0"/>
                              </a:rPr>
                              <m:t>lim</m:t>
                            </m:r>
                          </m:e>
                          <m:lim>
                            <m:r>
                              <a:rPr lang="en-AU" sz="2400" i="1">
                                <a:latin typeface="Cambria Math" panose="02040503050406030204" pitchFamily="18" charset="0"/>
                              </a:rPr>
                              <m:t>𝑥</m:t>
                            </m:r>
                            <m:r>
                              <a:rPr lang="en-AU" sz="2400" i="1">
                                <a:latin typeface="Cambria Math" panose="02040503050406030204" pitchFamily="18" charset="0"/>
                              </a:rPr>
                              <m:t>→</m:t>
                            </m:r>
                            <m:r>
                              <a:rPr lang="en-AU" sz="2400" i="1">
                                <a:latin typeface="Cambria Math" panose="02040503050406030204" pitchFamily="18" charset="0"/>
                              </a:rPr>
                              <m:t>𝑎</m:t>
                            </m:r>
                          </m:lim>
                        </m:limLow>
                      </m:fName>
                      <m:e>
                        <m:r>
                          <a:rPr lang="en-AU" sz="2400" b="0" i="1" smtClean="0">
                            <a:latin typeface="Cambria Math" panose="02040503050406030204" pitchFamily="18" charset="0"/>
                          </a:rPr>
                          <m:t>[</m:t>
                        </m:r>
                        <m:r>
                          <a:rPr lang="en-AU" sz="2400" b="0" i="1" smtClean="0">
                            <a:latin typeface="Cambria Math" panose="02040503050406030204" pitchFamily="18" charset="0"/>
                          </a:rPr>
                          <m:t>𝑓</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r>
                          <a:rPr lang="en-AU" sz="2400" b="0" i="1" smtClean="0">
                            <a:latin typeface="Cambria Math" panose="02040503050406030204" pitchFamily="18" charset="0"/>
                            <a:ea typeface="Cambria Math" panose="02040503050406030204" pitchFamily="18" charset="0"/>
                          </a:rPr>
                          <m:t>±</m:t>
                        </m:r>
                        <m:r>
                          <a:rPr lang="en-AU" sz="2400" i="1">
                            <a:latin typeface="Cambria Math" panose="02040503050406030204" pitchFamily="18" charset="0"/>
                          </a:rPr>
                          <m:t>𝑔</m:t>
                        </m:r>
                        <m:d>
                          <m:dPr>
                            <m:ctrlPr>
                              <a:rPr lang="en-AU" sz="2400" i="1">
                                <a:latin typeface="Cambria Math" panose="02040503050406030204" pitchFamily="18" charset="0"/>
                              </a:rPr>
                            </m:ctrlPr>
                          </m:dPr>
                          <m:e>
                            <m:r>
                              <a:rPr lang="en-AU" sz="2400" i="1">
                                <a:latin typeface="Cambria Math" panose="02040503050406030204" pitchFamily="18" charset="0"/>
                              </a:rPr>
                              <m:t>𝑥</m:t>
                            </m:r>
                          </m:e>
                        </m:d>
                        <m:r>
                          <a:rPr lang="en-AU" sz="2400" b="0" i="1" smtClean="0">
                            <a:latin typeface="Cambria Math" panose="02040503050406030204" pitchFamily="18" charset="0"/>
                          </a:rPr>
                          <m:t>]</m:t>
                        </m:r>
                      </m:e>
                    </m:func>
                    <m:r>
                      <a:rPr lang="en-AU" sz="2400" b="0" i="1" smtClean="0">
                        <a:latin typeface="Cambria Math" panose="02040503050406030204" pitchFamily="18" charset="0"/>
                      </a:rPr>
                      <m:t>=</m:t>
                    </m:r>
                    <m:func>
                      <m:funcPr>
                        <m:ctrlPr>
                          <a:rPr lang="en-AU" sz="2400" i="1">
                            <a:latin typeface="Cambria Math" panose="02040503050406030204" pitchFamily="18" charset="0"/>
                          </a:rPr>
                        </m:ctrlPr>
                      </m:funcPr>
                      <m:fName>
                        <m:limLow>
                          <m:limLowPr>
                            <m:ctrlPr>
                              <a:rPr lang="en-AU" sz="2400" i="1">
                                <a:latin typeface="Cambria Math" panose="02040503050406030204" pitchFamily="18" charset="0"/>
                              </a:rPr>
                            </m:ctrlPr>
                          </m:limLowPr>
                          <m:e>
                            <m:r>
                              <m:rPr>
                                <m:sty m:val="p"/>
                              </m:rPr>
                              <a:rPr lang="en-AU" sz="2400">
                                <a:latin typeface="Cambria Math" panose="02040503050406030204" pitchFamily="18" charset="0"/>
                              </a:rPr>
                              <m:t>lim</m:t>
                            </m:r>
                          </m:e>
                          <m:lim>
                            <m:r>
                              <a:rPr lang="en-AU" sz="2400" i="1">
                                <a:latin typeface="Cambria Math" panose="02040503050406030204" pitchFamily="18" charset="0"/>
                              </a:rPr>
                              <m:t>𝑥</m:t>
                            </m:r>
                            <m:r>
                              <a:rPr lang="en-AU" sz="2400" i="1">
                                <a:latin typeface="Cambria Math" panose="02040503050406030204" pitchFamily="18" charset="0"/>
                              </a:rPr>
                              <m:t>→</m:t>
                            </m:r>
                            <m:r>
                              <a:rPr lang="en-AU" sz="2400" i="1">
                                <a:latin typeface="Cambria Math" panose="02040503050406030204" pitchFamily="18" charset="0"/>
                              </a:rPr>
                              <m:t>𝑎</m:t>
                            </m:r>
                          </m:lim>
                        </m:limLow>
                      </m:fName>
                      <m:e>
                        <m:r>
                          <a:rPr lang="en-AU" sz="2400" b="0" i="1" smtClean="0">
                            <a:latin typeface="Cambria Math" panose="02040503050406030204" pitchFamily="18" charset="0"/>
                          </a:rPr>
                          <m:t>𝑓</m:t>
                        </m:r>
                        <m:r>
                          <a:rPr lang="en-AU" sz="2400" i="1">
                            <a:latin typeface="Cambria Math" panose="02040503050406030204" pitchFamily="18" charset="0"/>
                          </a:rPr>
                          <m:t>(</m:t>
                        </m:r>
                        <m:r>
                          <a:rPr lang="en-AU" sz="2400" i="1">
                            <a:latin typeface="Cambria Math" panose="02040503050406030204" pitchFamily="18" charset="0"/>
                          </a:rPr>
                          <m:t>𝑥</m:t>
                        </m:r>
                        <m:r>
                          <a:rPr lang="en-AU" sz="2400" i="1">
                            <a:latin typeface="Cambria Math" panose="02040503050406030204" pitchFamily="18" charset="0"/>
                          </a:rPr>
                          <m:t>)</m:t>
                        </m:r>
                      </m:e>
                    </m:func>
                    <m:r>
                      <a:rPr lang="en-AU" sz="2400" b="0" i="1" smtClean="0">
                        <a:latin typeface="Cambria Math" panose="02040503050406030204" pitchFamily="18" charset="0"/>
                        <a:ea typeface="Cambria Math" panose="02040503050406030204" pitchFamily="18" charset="0"/>
                      </a:rPr>
                      <m:t>±</m:t>
                    </m:r>
                  </m:oMath>
                </a14:m>
                <a:r>
                  <a:rPr lang="en-AU" sz="2400" dirty="0"/>
                  <a:t> </a:t>
                </a:r>
                <a14:m>
                  <m:oMath xmlns:m="http://schemas.openxmlformats.org/officeDocument/2006/math">
                    <m:func>
                      <m:funcPr>
                        <m:ctrlPr>
                          <a:rPr lang="en-AU" sz="2400" i="1">
                            <a:latin typeface="Cambria Math" panose="02040503050406030204" pitchFamily="18" charset="0"/>
                          </a:rPr>
                        </m:ctrlPr>
                      </m:funcPr>
                      <m:fName>
                        <m:limLow>
                          <m:limLowPr>
                            <m:ctrlPr>
                              <a:rPr lang="en-AU" sz="2400" i="1">
                                <a:latin typeface="Cambria Math" panose="02040503050406030204" pitchFamily="18" charset="0"/>
                              </a:rPr>
                            </m:ctrlPr>
                          </m:limLowPr>
                          <m:e>
                            <m:r>
                              <m:rPr>
                                <m:sty m:val="p"/>
                              </m:rPr>
                              <a:rPr lang="en-AU" sz="2400">
                                <a:latin typeface="Cambria Math" panose="02040503050406030204" pitchFamily="18" charset="0"/>
                              </a:rPr>
                              <m:t>lim</m:t>
                            </m:r>
                          </m:e>
                          <m:lim>
                            <m:r>
                              <a:rPr lang="en-AU" sz="2400" i="1">
                                <a:latin typeface="Cambria Math" panose="02040503050406030204" pitchFamily="18" charset="0"/>
                              </a:rPr>
                              <m:t>𝑥</m:t>
                            </m:r>
                            <m:r>
                              <a:rPr lang="en-AU" sz="2400" i="1">
                                <a:latin typeface="Cambria Math" panose="02040503050406030204" pitchFamily="18" charset="0"/>
                              </a:rPr>
                              <m:t>→</m:t>
                            </m:r>
                            <m:r>
                              <a:rPr lang="en-AU" sz="2400" i="1">
                                <a:latin typeface="Cambria Math" panose="02040503050406030204" pitchFamily="18" charset="0"/>
                              </a:rPr>
                              <m:t>𝑎</m:t>
                            </m:r>
                          </m:lim>
                        </m:limLow>
                      </m:fName>
                      <m:e>
                        <m:r>
                          <a:rPr lang="en-AU" sz="2400" b="0" i="1" smtClean="0">
                            <a:latin typeface="Cambria Math" panose="02040503050406030204" pitchFamily="18" charset="0"/>
                          </a:rPr>
                          <m:t>𝑔</m:t>
                        </m:r>
                        <m:r>
                          <a:rPr lang="en-AU" sz="2400" i="1">
                            <a:latin typeface="Cambria Math" panose="02040503050406030204" pitchFamily="18" charset="0"/>
                          </a:rPr>
                          <m:t>(</m:t>
                        </m:r>
                        <m:r>
                          <a:rPr lang="en-AU" sz="2400" i="1">
                            <a:latin typeface="Cambria Math" panose="02040503050406030204" pitchFamily="18" charset="0"/>
                          </a:rPr>
                          <m:t>𝑥</m:t>
                        </m:r>
                        <m:r>
                          <a:rPr lang="en-AU" sz="2400" i="1">
                            <a:latin typeface="Cambria Math" panose="02040503050406030204" pitchFamily="18" charset="0"/>
                          </a:rPr>
                          <m:t>)</m:t>
                        </m:r>
                      </m:e>
                    </m:func>
                    <m:r>
                      <a:rPr lang="en-AU" sz="2400" b="0" i="1" smtClean="0">
                        <a:latin typeface="Cambria Math" panose="02040503050406030204" pitchFamily="18" charset="0"/>
                      </a:rPr>
                      <m:t>=</m:t>
                    </m:r>
                    <m:sSub>
                      <m:sSubPr>
                        <m:ctrlPr>
                          <a:rPr lang="en-AU" sz="2400" b="0" i="1" smtClean="0">
                            <a:latin typeface="Cambria Math" panose="02040503050406030204" pitchFamily="18" charset="0"/>
                          </a:rPr>
                        </m:ctrlPr>
                      </m:sSubPr>
                      <m:e>
                        <m:r>
                          <a:rPr lang="en-AU" sz="2400" b="0" i="1" smtClean="0">
                            <a:latin typeface="Cambria Math" panose="02040503050406030204" pitchFamily="18" charset="0"/>
                          </a:rPr>
                          <m:t>𝐿</m:t>
                        </m:r>
                      </m:e>
                      <m:sub>
                        <m:r>
                          <a:rPr lang="en-AU" sz="2400" b="0" i="1" smtClean="0">
                            <a:latin typeface="Cambria Math" panose="02040503050406030204" pitchFamily="18" charset="0"/>
                          </a:rPr>
                          <m:t>1</m:t>
                        </m:r>
                      </m:sub>
                    </m:sSub>
                    <m:r>
                      <a:rPr lang="en-AU" sz="2400" b="0" i="1" smtClean="0">
                        <a:latin typeface="Cambria Math" panose="02040503050406030204" pitchFamily="18" charset="0"/>
                        <a:ea typeface="Cambria Math" panose="02040503050406030204" pitchFamily="18" charset="0"/>
                      </a:rPr>
                      <m:t>±</m:t>
                    </m:r>
                    <m:sSub>
                      <m:sSubPr>
                        <m:ctrlPr>
                          <a:rPr lang="en-AU" sz="2400" b="0" i="1" smtClean="0">
                            <a:latin typeface="Cambria Math" panose="02040503050406030204" pitchFamily="18" charset="0"/>
                            <a:ea typeface="Cambria Math" panose="02040503050406030204" pitchFamily="18" charset="0"/>
                          </a:rPr>
                        </m:ctrlPr>
                      </m:sSubPr>
                      <m:e>
                        <m:r>
                          <a:rPr lang="en-AU" sz="2400" b="0" i="1" smtClean="0">
                            <a:latin typeface="Cambria Math" panose="02040503050406030204" pitchFamily="18" charset="0"/>
                            <a:ea typeface="Cambria Math" panose="02040503050406030204" pitchFamily="18" charset="0"/>
                          </a:rPr>
                          <m:t>𝐿</m:t>
                        </m:r>
                      </m:e>
                      <m:sub>
                        <m:r>
                          <a:rPr lang="en-AU" sz="2400" b="0" i="1" smtClean="0">
                            <a:latin typeface="Cambria Math" panose="02040503050406030204" pitchFamily="18" charset="0"/>
                            <a:ea typeface="Cambria Math" panose="02040503050406030204" pitchFamily="18" charset="0"/>
                          </a:rPr>
                          <m:t>2</m:t>
                        </m:r>
                      </m:sub>
                    </m:sSub>
                  </m:oMath>
                </a14:m>
                <a:endParaRPr lang="en-AU" sz="2400" dirty="0">
                  <a:latin typeface="+mj-lt"/>
                </a:endParaRPr>
              </a:p>
              <a:p>
                <a:endParaRPr lang="en-AU" sz="2400" dirty="0">
                  <a:latin typeface="+mj-lt"/>
                </a:endParaRPr>
              </a:p>
              <a:p>
                <a:r>
                  <a:rPr lang="en-AU" sz="2400" dirty="0">
                    <a:latin typeface="+mj-lt"/>
                  </a:rPr>
                  <a:t>2. Multiplication by a constant </a:t>
                </a:r>
                <a14:m>
                  <m:oMath xmlns:m="http://schemas.openxmlformats.org/officeDocument/2006/math">
                    <m:r>
                      <a:rPr lang="en-AU" sz="2400" b="0" i="1" smtClean="0">
                        <a:latin typeface="Cambria Math" panose="02040503050406030204" pitchFamily="18" charset="0"/>
                      </a:rPr>
                      <m:t>𝑐</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ℝ</m:t>
                    </m:r>
                  </m:oMath>
                </a14:m>
                <a:r>
                  <a:rPr lang="en-AU" sz="2400" dirty="0">
                    <a:latin typeface="+mj-lt"/>
                  </a:rPr>
                  <a:t>:    </a:t>
                </a:r>
                <a14:m>
                  <m:oMath xmlns:m="http://schemas.openxmlformats.org/officeDocument/2006/math">
                    <m:func>
                      <m:funcPr>
                        <m:ctrlPr>
                          <a:rPr lang="en-AU" sz="2400" i="1">
                            <a:latin typeface="Cambria Math" panose="02040503050406030204" pitchFamily="18" charset="0"/>
                          </a:rPr>
                        </m:ctrlPr>
                      </m:funcPr>
                      <m:fName>
                        <m:limLow>
                          <m:limLowPr>
                            <m:ctrlPr>
                              <a:rPr lang="en-AU" sz="2400" i="1">
                                <a:latin typeface="Cambria Math" panose="02040503050406030204" pitchFamily="18" charset="0"/>
                              </a:rPr>
                            </m:ctrlPr>
                          </m:limLowPr>
                          <m:e>
                            <m:r>
                              <a:rPr lang="en-AU" sz="2400" i="1">
                                <a:latin typeface="Cambria Math" panose="02040503050406030204" pitchFamily="18" charset="0"/>
                              </a:rPr>
                              <m:t>𝑙𝑖𝑚</m:t>
                            </m:r>
                          </m:e>
                          <m:lim>
                            <m:r>
                              <a:rPr lang="en-AU" sz="2400" i="1">
                                <a:latin typeface="Cambria Math" panose="02040503050406030204" pitchFamily="18" charset="0"/>
                              </a:rPr>
                              <m:t>𝑥</m:t>
                            </m:r>
                            <m:r>
                              <a:rPr lang="en-AU" sz="2400" i="1">
                                <a:latin typeface="Cambria Math" panose="02040503050406030204" pitchFamily="18" charset="0"/>
                              </a:rPr>
                              <m:t>→</m:t>
                            </m:r>
                            <m:r>
                              <a:rPr lang="en-AU" sz="2400" i="1">
                                <a:latin typeface="Cambria Math" panose="02040503050406030204" pitchFamily="18" charset="0"/>
                              </a:rPr>
                              <m:t>𝑎</m:t>
                            </m:r>
                          </m:lim>
                        </m:limLow>
                      </m:fName>
                      <m:e>
                        <m:r>
                          <a:rPr lang="en-AU" sz="2400" i="1">
                            <a:latin typeface="Cambria Math" panose="02040503050406030204" pitchFamily="18" charset="0"/>
                          </a:rPr>
                          <m:t>[</m:t>
                        </m:r>
                        <m:r>
                          <a:rPr lang="en-AU" sz="2400" b="0" i="1" smtClean="0">
                            <a:latin typeface="Cambria Math" panose="02040503050406030204" pitchFamily="18" charset="0"/>
                          </a:rPr>
                          <m:t>𝑐</m:t>
                        </m:r>
                        <m:r>
                          <a:rPr lang="en-AU" sz="2400" i="1">
                            <a:latin typeface="Cambria Math" panose="02040503050406030204" pitchFamily="18" charset="0"/>
                          </a:rPr>
                          <m:t>𝑓</m:t>
                        </m:r>
                        <m:d>
                          <m:dPr>
                            <m:ctrlPr>
                              <a:rPr lang="en-AU" sz="2400" i="1">
                                <a:latin typeface="Cambria Math" panose="02040503050406030204" pitchFamily="18" charset="0"/>
                              </a:rPr>
                            </m:ctrlPr>
                          </m:dPr>
                          <m:e>
                            <m:r>
                              <a:rPr lang="en-AU" sz="2400" i="1">
                                <a:latin typeface="Cambria Math" panose="02040503050406030204" pitchFamily="18" charset="0"/>
                              </a:rPr>
                              <m:t>𝑥</m:t>
                            </m:r>
                          </m:e>
                        </m:d>
                        <m:r>
                          <a:rPr lang="en-AU" sz="2400" i="1">
                            <a:latin typeface="Cambria Math" panose="02040503050406030204" pitchFamily="18" charset="0"/>
                          </a:rPr>
                          <m:t>]</m:t>
                        </m:r>
                      </m:e>
                    </m:func>
                    <m:r>
                      <a:rPr lang="en-AU" sz="2400" i="1">
                        <a:latin typeface="Cambria Math" panose="02040503050406030204" pitchFamily="18" charset="0"/>
                      </a:rPr>
                      <m:t>=</m:t>
                    </m:r>
                    <m:r>
                      <a:rPr lang="en-AU" sz="2400" b="0" i="1" smtClean="0">
                        <a:latin typeface="Cambria Math" panose="02040503050406030204" pitchFamily="18" charset="0"/>
                      </a:rPr>
                      <m:t>𝑐</m:t>
                    </m:r>
                    <m:func>
                      <m:funcPr>
                        <m:ctrlPr>
                          <a:rPr lang="en-AU" sz="2400" i="1">
                            <a:latin typeface="Cambria Math" panose="02040503050406030204" pitchFamily="18" charset="0"/>
                          </a:rPr>
                        </m:ctrlPr>
                      </m:funcPr>
                      <m:fName>
                        <m:limLow>
                          <m:limLowPr>
                            <m:ctrlPr>
                              <a:rPr lang="en-AU" sz="2400" i="1">
                                <a:latin typeface="Cambria Math" panose="02040503050406030204" pitchFamily="18" charset="0"/>
                              </a:rPr>
                            </m:ctrlPr>
                          </m:limLowPr>
                          <m:e>
                            <m:r>
                              <a:rPr lang="en-AU" sz="2400" i="1">
                                <a:latin typeface="Cambria Math" panose="02040503050406030204" pitchFamily="18" charset="0"/>
                              </a:rPr>
                              <m:t>𝑙𝑖𝑚</m:t>
                            </m:r>
                          </m:e>
                          <m:lim>
                            <m:r>
                              <a:rPr lang="en-AU" sz="2400" i="1">
                                <a:latin typeface="Cambria Math" panose="02040503050406030204" pitchFamily="18" charset="0"/>
                              </a:rPr>
                              <m:t>𝑥</m:t>
                            </m:r>
                            <m:r>
                              <a:rPr lang="en-AU" sz="2400" i="1">
                                <a:latin typeface="Cambria Math" panose="02040503050406030204" pitchFamily="18" charset="0"/>
                              </a:rPr>
                              <m:t>→</m:t>
                            </m:r>
                            <m:r>
                              <a:rPr lang="en-AU" sz="2400" i="1">
                                <a:latin typeface="Cambria Math" panose="02040503050406030204" pitchFamily="18" charset="0"/>
                              </a:rPr>
                              <m:t>𝑎</m:t>
                            </m:r>
                          </m:lim>
                        </m:limLow>
                      </m:fName>
                      <m:e>
                        <m:r>
                          <a:rPr lang="en-AU" sz="2400" i="1">
                            <a:latin typeface="Cambria Math" panose="02040503050406030204" pitchFamily="18" charset="0"/>
                          </a:rPr>
                          <m:t>𝑓</m:t>
                        </m:r>
                        <m:r>
                          <a:rPr lang="en-AU" sz="2400" i="1">
                            <a:latin typeface="Cambria Math" panose="02040503050406030204" pitchFamily="18" charset="0"/>
                          </a:rPr>
                          <m:t>(</m:t>
                        </m:r>
                        <m:r>
                          <a:rPr lang="en-AU" sz="2400" i="1">
                            <a:latin typeface="Cambria Math" panose="02040503050406030204" pitchFamily="18" charset="0"/>
                          </a:rPr>
                          <m:t>𝑥</m:t>
                        </m:r>
                        <m:r>
                          <a:rPr lang="en-AU" sz="2400" i="1">
                            <a:latin typeface="Cambria Math" panose="02040503050406030204" pitchFamily="18" charset="0"/>
                          </a:rPr>
                          <m:t>)</m:t>
                        </m:r>
                      </m:e>
                    </m:func>
                    <m:r>
                      <a:rPr lang="en-AU" sz="2400" i="1">
                        <a:latin typeface="Cambria Math" panose="02040503050406030204" pitchFamily="18" charset="0"/>
                      </a:rPr>
                      <m:t>=</m:t>
                    </m:r>
                    <m:r>
                      <a:rPr lang="en-AU" sz="2400" b="0" i="1" smtClean="0">
                        <a:latin typeface="Cambria Math" panose="02040503050406030204" pitchFamily="18" charset="0"/>
                      </a:rPr>
                      <m:t>𝑐</m:t>
                    </m:r>
                    <m:sSub>
                      <m:sSubPr>
                        <m:ctrlPr>
                          <a:rPr lang="en-AU" sz="2400" i="1">
                            <a:latin typeface="Cambria Math" panose="02040503050406030204" pitchFamily="18" charset="0"/>
                          </a:rPr>
                        </m:ctrlPr>
                      </m:sSubPr>
                      <m:e>
                        <m:r>
                          <a:rPr lang="en-AU" sz="2400" i="1">
                            <a:latin typeface="Cambria Math" panose="02040503050406030204" pitchFamily="18" charset="0"/>
                          </a:rPr>
                          <m:t>𝐿</m:t>
                        </m:r>
                      </m:e>
                      <m:sub>
                        <m:r>
                          <a:rPr lang="en-AU" sz="2400" i="1">
                            <a:latin typeface="Cambria Math" panose="02040503050406030204" pitchFamily="18" charset="0"/>
                          </a:rPr>
                          <m:t>1</m:t>
                        </m:r>
                      </m:sub>
                    </m:sSub>
                  </m:oMath>
                </a14:m>
                <a:endParaRPr lang="en-AU" sz="2400" dirty="0">
                  <a:latin typeface="+mj-lt"/>
                </a:endParaRPr>
              </a:p>
              <a:p>
                <a:endParaRPr lang="en-AU" sz="2400" dirty="0">
                  <a:latin typeface="+mj-lt"/>
                </a:endParaRPr>
              </a:p>
              <a:p>
                <a:r>
                  <a:rPr lang="en-AU" sz="2400" dirty="0">
                    <a:latin typeface="+mj-lt"/>
                  </a:rPr>
                  <a:t>3. Multiplication of limits:    </a:t>
                </a:r>
                <a14:m>
                  <m:oMath xmlns:m="http://schemas.openxmlformats.org/officeDocument/2006/math">
                    <m:func>
                      <m:funcPr>
                        <m:ctrlPr>
                          <a:rPr lang="en-AU" sz="2400" i="1" smtClean="0">
                            <a:latin typeface="Cambria Math" panose="02040503050406030204" pitchFamily="18" charset="0"/>
                          </a:rPr>
                        </m:ctrlPr>
                      </m:funcPr>
                      <m:fName>
                        <m:limLow>
                          <m:limLowPr>
                            <m:ctrlPr>
                              <a:rPr lang="en-AU" sz="2400" i="1">
                                <a:latin typeface="Cambria Math" panose="02040503050406030204" pitchFamily="18" charset="0"/>
                              </a:rPr>
                            </m:ctrlPr>
                          </m:limLowPr>
                          <m:e>
                            <m:r>
                              <a:rPr lang="en-AU" sz="2400" i="1">
                                <a:latin typeface="Cambria Math" panose="02040503050406030204" pitchFamily="18" charset="0"/>
                              </a:rPr>
                              <m:t>𝑙𝑖𝑚</m:t>
                            </m:r>
                          </m:e>
                          <m:lim>
                            <m:r>
                              <a:rPr lang="en-AU" sz="2400" i="1">
                                <a:latin typeface="Cambria Math" panose="02040503050406030204" pitchFamily="18" charset="0"/>
                              </a:rPr>
                              <m:t>𝑥</m:t>
                            </m:r>
                            <m:r>
                              <a:rPr lang="en-AU" sz="2400" i="1">
                                <a:latin typeface="Cambria Math" panose="02040503050406030204" pitchFamily="18" charset="0"/>
                              </a:rPr>
                              <m:t>→</m:t>
                            </m:r>
                            <m:r>
                              <a:rPr lang="en-AU" sz="2400" i="1">
                                <a:latin typeface="Cambria Math" panose="02040503050406030204" pitchFamily="18" charset="0"/>
                              </a:rPr>
                              <m:t>𝑎</m:t>
                            </m:r>
                          </m:lim>
                        </m:limLow>
                      </m:fName>
                      <m:e>
                        <m:r>
                          <a:rPr lang="en-AU" sz="2400" b="0" i="1" smtClean="0">
                            <a:latin typeface="Cambria Math" panose="02040503050406030204" pitchFamily="18" charset="0"/>
                          </a:rPr>
                          <m:t>[</m:t>
                        </m:r>
                        <m:r>
                          <a:rPr lang="en-AU" sz="2400" b="0" i="1" smtClean="0">
                            <a:latin typeface="Cambria Math" panose="02040503050406030204" pitchFamily="18" charset="0"/>
                          </a:rPr>
                          <m:t>𝑓</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r>
                          <a:rPr lang="en-AU" sz="2400" i="1">
                            <a:latin typeface="Cambria Math" panose="02040503050406030204" pitchFamily="18" charset="0"/>
                          </a:rPr>
                          <m:t>𝑔</m:t>
                        </m:r>
                        <m:d>
                          <m:dPr>
                            <m:ctrlPr>
                              <a:rPr lang="en-AU" sz="2400" i="1">
                                <a:latin typeface="Cambria Math" panose="02040503050406030204" pitchFamily="18" charset="0"/>
                              </a:rPr>
                            </m:ctrlPr>
                          </m:dPr>
                          <m:e>
                            <m:r>
                              <a:rPr lang="en-AU" sz="2400" i="1">
                                <a:latin typeface="Cambria Math" panose="02040503050406030204" pitchFamily="18" charset="0"/>
                              </a:rPr>
                              <m:t>𝑥</m:t>
                            </m:r>
                          </m:e>
                        </m:d>
                        <m:r>
                          <a:rPr lang="en-AU" sz="2400" b="0" i="1" smtClean="0">
                            <a:latin typeface="Cambria Math" panose="02040503050406030204" pitchFamily="18" charset="0"/>
                          </a:rPr>
                          <m:t>]</m:t>
                        </m:r>
                      </m:e>
                    </m:func>
                    <m:r>
                      <a:rPr lang="en-AU" sz="2400" b="0" i="1" smtClean="0">
                        <a:latin typeface="Cambria Math" panose="02040503050406030204" pitchFamily="18" charset="0"/>
                      </a:rPr>
                      <m:t>=</m:t>
                    </m:r>
                    <m:func>
                      <m:funcPr>
                        <m:ctrlPr>
                          <a:rPr lang="en-AU" sz="2400" i="1">
                            <a:latin typeface="Cambria Math" panose="02040503050406030204" pitchFamily="18" charset="0"/>
                          </a:rPr>
                        </m:ctrlPr>
                      </m:funcPr>
                      <m:fName>
                        <m:limLow>
                          <m:limLowPr>
                            <m:ctrlPr>
                              <a:rPr lang="en-AU" sz="2400" i="1">
                                <a:latin typeface="Cambria Math" panose="02040503050406030204" pitchFamily="18" charset="0"/>
                              </a:rPr>
                            </m:ctrlPr>
                          </m:limLowPr>
                          <m:e>
                            <m:r>
                              <a:rPr lang="en-AU" sz="2400" i="1">
                                <a:latin typeface="Cambria Math" panose="02040503050406030204" pitchFamily="18" charset="0"/>
                              </a:rPr>
                              <m:t>𝑙𝑖𝑚</m:t>
                            </m:r>
                          </m:e>
                          <m:lim>
                            <m:r>
                              <a:rPr lang="en-AU" sz="2400" i="1">
                                <a:latin typeface="Cambria Math" panose="02040503050406030204" pitchFamily="18" charset="0"/>
                              </a:rPr>
                              <m:t>𝑥</m:t>
                            </m:r>
                            <m:r>
                              <a:rPr lang="en-AU" sz="2400" i="1">
                                <a:latin typeface="Cambria Math" panose="02040503050406030204" pitchFamily="18" charset="0"/>
                              </a:rPr>
                              <m:t>→</m:t>
                            </m:r>
                            <m:r>
                              <a:rPr lang="en-AU" sz="2400" i="1">
                                <a:latin typeface="Cambria Math" panose="02040503050406030204" pitchFamily="18" charset="0"/>
                              </a:rPr>
                              <m:t>𝑎</m:t>
                            </m:r>
                          </m:lim>
                        </m:limLow>
                      </m:fName>
                      <m:e>
                        <m:r>
                          <a:rPr lang="en-AU" sz="2400" b="0" i="1" smtClean="0">
                            <a:latin typeface="Cambria Math" panose="02040503050406030204" pitchFamily="18" charset="0"/>
                          </a:rPr>
                          <m:t>𝑓</m:t>
                        </m:r>
                        <m:r>
                          <a:rPr lang="en-AU" sz="2400" i="1">
                            <a:latin typeface="Cambria Math" panose="02040503050406030204" pitchFamily="18" charset="0"/>
                          </a:rPr>
                          <m:t>(</m:t>
                        </m:r>
                        <m:r>
                          <a:rPr lang="en-AU" sz="2400" i="1">
                            <a:latin typeface="Cambria Math" panose="02040503050406030204" pitchFamily="18" charset="0"/>
                          </a:rPr>
                          <m:t>𝑥</m:t>
                        </m:r>
                        <m:r>
                          <a:rPr lang="en-AU" sz="2400" i="1">
                            <a:latin typeface="Cambria Math" panose="02040503050406030204" pitchFamily="18" charset="0"/>
                          </a:rPr>
                          <m:t>)</m:t>
                        </m:r>
                      </m:e>
                    </m:func>
                    <m:r>
                      <a:rPr lang="en-AU" sz="2400" i="1" smtClean="0">
                        <a:latin typeface="Cambria Math" panose="02040503050406030204" pitchFamily="18" charset="0"/>
                        <a:ea typeface="Cambria Math" panose="02040503050406030204" pitchFamily="18" charset="0"/>
                      </a:rPr>
                      <m:t>∙</m:t>
                    </m:r>
                    <m:func>
                      <m:funcPr>
                        <m:ctrlPr>
                          <a:rPr lang="en-AU" sz="2400" i="1">
                            <a:latin typeface="Cambria Math" panose="02040503050406030204" pitchFamily="18" charset="0"/>
                          </a:rPr>
                        </m:ctrlPr>
                      </m:funcPr>
                      <m:fName>
                        <m:limLow>
                          <m:limLowPr>
                            <m:ctrlPr>
                              <a:rPr lang="en-AU" sz="2400" i="1">
                                <a:latin typeface="Cambria Math" panose="02040503050406030204" pitchFamily="18" charset="0"/>
                              </a:rPr>
                            </m:ctrlPr>
                          </m:limLowPr>
                          <m:e>
                            <m:r>
                              <a:rPr lang="en-AU" sz="2400" i="1">
                                <a:latin typeface="Cambria Math" panose="02040503050406030204" pitchFamily="18" charset="0"/>
                              </a:rPr>
                              <m:t>𝑙𝑖𝑚</m:t>
                            </m:r>
                          </m:e>
                          <m:lim>
                            <m:r>
                              <a:rPr lang="en-AU" sz="2400" i="1">
                                <a:latin typeface="Cambria Math" panose="02040503050406030204" pitchFamily="18" charset="0"/>
                              </a:rPr>
                              <m:t>𝑥</m:t>
                            </m:r>
                            <m:r>
                              <a:rPr lang="en-AU" sz="2400" i="1">
                                <a:latin typeface="Cambria Math" panose="02040503050406030204" pitchFamily="18" charset="0"/>
                              </a:rPr>
                              <m:t>→</m:t>
                            </m:r>
                            <m:r>
                              <a:rPr lang="en-AU" sz="2400" i="1">
                                <a:latin typeface="Cambria Math" panose="02040503050406030204" pitchFamily="18" charset="0"/>
                              </a:rPr>
                              <m:t>𝑎</m:t>
                            </m:r>
                          </m:lim>
                        </m:limLow>
                      </m:fName>
                      <m:e>
                        <m:r>
                          <a:rPr lang="en-AU" sz="2400" b="0" i="1" smtClean="0">
                            <a:latin typeface="Cambria Math" panose="02040503050406030204" pitchFamily="18" charset="0"/>
                          </a:rPr>
                          <m:t>𝑔</m:t>
                        </m:r>
                        <m:r>
                          <a:rPr lang="en-AU" sz="2400" i="1">
                            <a:latin typeface="Cambria Math" panose="02040503050406030204" pitchFamily="18" charset="0"/>
                          </a:rPr>
                          <m:t>(</m:t>
                        </m:r>
                        <m:r>
                          <a:rPr lang="en-AU" sz="2400" i="1">
                            <a:latin typeface="Cambria Math" panose="02040503050406030204" pitchFamily="18" charset="0"/>
                          </a:rPr>
                          <m:t>𝑥</m:t>
                        </m:r>
                        <m:r>
                          <a:rPr lang="en-AU" sz="2400" i="1">
                            <a:latin typeface="Cambria Math" panose="02040503050406030204" pitchFamily="18" charset="0"/>
                          </a:rPr>
                          <m:t>)</m:t>
                        </m:r>
                      </m:e>
                    </m:func>
                    <m:r>
                      <a:rPr lang="en-AU" sz="2400" b="0" i="1" smtClean="0">
                        <a:latin typeface="Cambria Math" panose="02040503050406030204" pitchFamily="18" charset="0"/>
                      </a:rPr>
                      <m:t>=</m:t>
                    </m:r>
                    <m:sSub>
                      <m:sSubPr>
                        <m:ctrlPr>
                          <a:rPr lang="en-AU" sz="2400" b="0" i="1" smtClean="0">
                            <a:latin typeface="Cambria Math" panose="02040503050406030204" pitchFamily="18" charset="0"/>
                          </a:rPr>
                        </m:ctrlPr>
                      </m:sSubPr>
                      <m:e>
                        <m:r>
                          <a:rPr lang="en-AU" sz="2400" b="0" i="1" smtClean="0">
                            <a:latin typeface="Cambria Math" panose="02040503050406030204" pitchFamily="18" charset="0"/>
                          </a:rPr>
                          <m:t>𝐿</m:t>
                        </m:r>
                      </m:e>
                      <m:sub>
                        <m:r>
                          <a:rPr lang="en-AU" sz="2400" b="0" i="1" smtClean="0">
                            <a:latin typeface="Cambria Math" panose="02040503050406030204" pitchFamily="18" charset="0"/>
                          </a:rPr>
                          <m:t>1</m:t>
                        </m:r>
                      </m:sub>
                    </m:sSub>
                    <m:r>
                      <a:rPr lang="en-AU" sz="2400" b="0" i="1" smtClean="0">
                        <a:latin typeface="Cambria Math" panose="02040503050406030204" pitchFamily="18" charset="0"/>
                        <a:ea typeface="Cambria Math" panose="02040503050406030204" pitchFamily="18" charset="0"/>
                      </a:rPr>
                      <m:t>∙</m:t>
                    </m:r>
                    <m:sSub>
                      <m:sSubPr>
                        <m:ctrlPr>
                          <a:rPr lang="en-AU" sz="2400" b="0" i="1" smtClean="0">
                            <a:latin typeface="Cambria Math" panose="02040503050406030204" pitchFamily="18" charset="0"/>
                            <a:ea typeface="Cambria Math" panose="02040503050406030204" pitchFamily="18" charset="0"/>
                          </a:rPr>
                        </m:ctrlPr>
                      </m:sSubPr>
                      <m:e>
                        <m:r>
                          <a:rPr lang="en-AU" sz="2400" b="0" i="1" smtClean="0">
                            <a:latin typeface="Cambria Math" panose="02040503050406030204" pitchFamily="18" charset="0"/>
                            <a:ea typeface="Cambria Math" panose="02040503050406030204" pitchFamily="18" charset="0"/>
                          </a:rPr>
                          <m:t>𝐿</m:t>
                        </m:r>
                      </m:e>
                      <m:sub>
                        <m:r>
                          <a:rPr lang="en-AU" sz="2400" b="0" i="1" smtClean="0">
                            <a:latin typeface="Cambria Math" panose="02040503050406030204" pitchFamily="18" charset="0"/>
                            <a:ea typeface="Cambria Math" panose="02040503050406030204" pitchFamily="18" charset="0"/>
                          </a:rPr>
                          <m:t>2</m:t>
                        </m:r>
                      </m:sub>
                    </m:sSub>
                  </m:oMath>
                </a14:m>
                <a:endParaRPr lang="en-AU" sz="2400" i="1" dirty="0">
                  <a:latin typeface="+mj-lt"/>
                </a:endParaRPr>
              </a:p>
              <a:p>
                <a:endParaRPr lang="en-AU" sz="2400" dirty="0">
                  <a:latin typeface="+mj-lt"/>
                </a:endParaRPr>
              </a:p>
              <a:p>
                <a:r>
                  <a:rPr lang="en-AU" sz="2400" dirty="0">
                    <a:latin typeface="+mj-lt"/>
                  </a:rPr>
                  <a:t>4. Division of limits:     </a:t>
                </a:r>
                <a14:m>
                  <m:oMath xmlns:m="http://schemas.openxmlformats.org/officeDocument/2006/math">
                    <m:func>
                      <m:funcPr>
                        <m:ctrlPr>
                          <a:rPr lang="en-AU" sz="2400" i="1" smtClean="0">
                            <a:latin typeface="Cambria Math" panose="02040503050406030204" pitchFamily="18" charset="0"/>
                          </a:rPr>
                        </m:ctrlPr>
                      </m:funcPr>
                      <m:fName>
                        <m:limLow>
                          <m:limLowPr>
                            <m:ctrlPr>
                              <a:rPr lang="en-AU" sz="2400" i="1">
                                <a:latin typeface="Cambria Math" panose="02040503050406030204" pitchFamily="18" charset="0"/>
                              </a:rPr>
                            </m:ctrlPr>
                          </m:limLowPr>
                          <m:e>
                            <m:r>
                              <a:rPr lang="en-AU" sz="2400" i="1">
                                <a:latin typeface="Cambria Math" panose="02040503050406030204" pitchFamily="18" charset="0"/>
                              </a:rPr>
                              <m:t>𝑙𝑖𝑚</m:t>
                            </m:r>
                          </m:e>
                          <m:lim>
                            <m:r>
                              <a:rPr lang="en-AU" sz="2400" i="1">
                                <a:latin typeface="Cambria Math" panose="02040503050406030204" pitchFamily="18" charset="0"/>
                              </a:rPr>
                              <m:t>𝑥</m:t>
                            </m:r>
                            <m:r>
                              <a:rPr lang="en-AU" sz="2400" i="1">
                                <a:latin typeface="Cambria Math" panose="02040503050406030204" pitchFamily="18" charset="0"/>
                              </a:rPr>
                              <m:t>→</m:t>
                            </m:r>
                            <m:r>
                              <a:rPr lang="en-AU" sz="2400" i="1">
                                <a:latin typeface="Cambria Math" panose="02040503050406030204" pitchFamily="18" charset="0"/>
                              </a:rPr>
                              <m:t>𝑎</m:t>
                            </m:r>
                          </m:lim>
                        </m:limLow>
                      </m:fName>
                      <m:e>
                        <m:d>
                          <m:dPr>
                            <m:begChr m:val="["/>
                            <m:endChr m:val="]"/>
                            <m:ctrlPr>
                              <a:rPr lang="en-AU" sz="2400" i="1">
                                <a:latin typeface="Cambria Math" panose="02040503050406030204" pitchFamily="18" charset="0"/>
                              </a:rPr>
                            </m:ctrlPr>
                          </m:dPr>
                          <m:e>
                            <m:f>
                              <m:fPr>
                                <m:ctrlPr>
                                  <a:rPr lang="en-AU" sz="2400" i="1">
                                    <a:latin typeface="Cambria Math" panose="02040503050406030204" pitchFamily="18" charset="0"/>
                                  </a:rPr>
                                </m:ctrlPr>
                              </m:fPr>
                              <m:num>
                                <m:r>
                                  <a:rPr lang="en-AU" sz="2400" i="1">
                                    <a:latin typeface="Cambria Math" panose="02040503050406030204" pitchFamily="18" charset="0"/>
                                  </a:rPr>
                                  <m:t>𝑓</m:t>
                                </m:r>
                                <m:d>
                                  <m:dPr>
                                    <m:ctrlPr>
                                      <a:rPr lang="en-AU" sz="2400" i="1">
                                        <a:latin typeface="Cambria Math" panose="02040503050406030204" pitchFamily="18" charset="0"/>
                                      </a:rPr>
                                    </m:ctrlPr>
                                  </m:dPr>
                                  <m:e>
                                    <m:r>
                                      <a:rPr lang="en-AU" sz="2400" i="1">
                                        <a:latin typeface="Cambria Math" panose="02040503050406030204" pitchFamily="18" charset="0"/>
                                      </a:rPr>
                                      <m:t>𝑥</m:t>
                                    </m:r>
                                  </m:e>
                                </m:d>
                              </m:num>
                              <m:den>
                                <m:r>
                                  <a:rPr lang="en-AU" sz="2400" i="1">
                                    <a:latin typeface="Cambria Math" panose="02040503050406030204" pitchFamily="18" charset="0"/>
                                  </a:rPr>
                                  <m:t>𝑔</m:t>
                                </m:r>
                                <m:d>
                                  <m:dPr>
                                    <m:ctrlPr>
                                      <a:rPr lang="en-AU" sz="2400" i="1">
                                        <a:latin typeface="Cambria Math" panose="02040503050406030204" pitchFamily="18" charset="0"/>
                                      </a:rPr>
                                    </m:ctrlPr>
                                  </m:dPr>
                                  <m:e>
                                    <m:r>
                                      <a:rPr lang="en-AU" sz="2400" i="1">
                                        <a:latin typeface="Cambria Math" panose="02040503050406030204" pitchFamily="18" charset="0"/>
                                      </a:rPr>
                                      <m:t>𝑥</m:t>
                                    </m:r>
                                  </m:e>
                                </m:d>
                              </m:den>
                            </m:f>
                          </m:e>
                        </m:d>
                      </m:e>
                    </m:func>
                    <m:r>
                      <a:rPr lang="en-AU" sz="2400" b="0" i="1" smtClean="0">
                        <a:latin typeface="Cambria Math" panose="02040503050406030204" pitchFamily="18" charset="0"/>
                      </a:rPr>
                      <m:t>=</m:t>
                    </m:r>
                    <m:f>
                      <m:fPr>
                        <m:ctrlPr>
                          <a:rPr lang="en-AU" sz="2400" b="0" i="1" smtClean="0">
                            <a:latin typeface="Cambria Math" panose="02040503050406030204" pitchFamily="18" charset="0"/>
                          </a:rPr>
                        </m:ctrlPr>
                      </m:fPr>
                      <m:num>
                        <m:func>
                          <m:funcPr>
                            <m:ctrlPr>
                              <a:rPr lang="en-AU" sz="2400" i="1">
                                <a:latin typeface="Cambria Math" panose="02040503050406030204" pitchFamily="18" charset="0"/>
                              </a:rPr>
                            </m:ctrlPr>
                          </m:funcPr>
                          <m:fName>
                            <m:limLow>
                              <m:limLowPr>
                                <m:ctrlPr>
                                  <a:rPr lang="en-AU" sz="2400" i="1">
                                    <a:latin typeface="Cambria Math" panose="02040503050406030204" pitchFamily="18" charset="0"/>
                                  </a:rPr>
                                </m:ctrlPr>
                              </m:limLowPr>
                              <m:e>
                                <m:r>
                                  <a:rPr lang="en-AU" sz="2400" i="1">
                                    <a:latin typeface="Cambria Math" panose="02040503050406030204" pitchFamily="18" charset="0"/>
                                  </a:rPr>
                                  <m:t>𝑙𝑖𝑚</m:t>
                                </m:r>
                              </m:e>
                              <m:lim>
                                <m:r>
                                  <a:rPr lang="en-AU" sz="2400" i="1">
                                    <a:latin typeface="Cambria Math" panose="02040503050406030204" pitchFamily="18" charset="0"/>
                                  </a:rPr>
                                  <m:t>𝑥</m:t>
                                </m:r>
                                <m:r>
                                  <a:rPr lang="en-AU" sz="2400" i="1">
                                    <a:latin typeface="Cambria Math" panose="02040503050406030204" pitchFamily="18" charset="0"/>
                                  </a:rPr>
                                  <m:t>→</m:t>
                                </m:r>
                                <m:r>
                                  <a:rPr lang="en-AU" sz="2400" i="1">
                                    <a:latin typeface="Cambria Math" panose="02040503050406030204" pitchFamily="18" charset="0"/>
                                  </a:rPr>
                                  <m:t>𝑎</m:t>
                                </m:r>
                              </m:lim>
                            </m:limLow>
                          </m:fName>
                          <m:e>
                            <m:r>
                              <a:rPr lang="en-AU" sz="2400" b="0" i="1" smtClean="0">
                                <a:latin typeface="Cambria Math" panose="02040503050406030204" pitchFamily="18" charset="0"/>
                              </a:rPr>
                              <m:t>𝑓</m:t>
                            </m:r>
                            <m:d>
                              <m:dPr>
                                <m:ctrlPr>
                                  <a:rPr lang="en-AU" sz="2400" b="0" i="1">
                                    <a:latin typeface="Cambria Math" panose="02040503050406030204" pitchFamily="18" charset="0"/>
                                  </a:rPr>
                                </m:ctrlPr>
                              </m:dPr>
                              <m:e>
                                <m:r>
                                  <a:rPr lang="en-AU" sz="2400" i="1">
                                    <a:latin typeface="Cambria Math" panose="02040503050406030204" pitchFamily="18" charset="0"/>
                                  </a:rPr>
                                  <m:t>𝑥</m:t>
                                </m:r>
                              </m:e>
                            </m:d>
                          </m:e>
                        </m:func>
                      </m:num>
                      <m:den>
                        <m:func>
                          <m:funcPr>
                            <m:ctrlPr>
                              <a:rPr lang="en-AU" sz="2400" i="1">
                                <a:latin typeface="Cambria Math" panose="02040503050406030204" pitchFamily="18" charset="0"/>
                              </a:rPr>
                            </m:ctrlPr>
                          </m:funcPr>
                          <m:fName>
                            <m:limLow>
                              <m:limLowPr>
                                <m:ctrlPr>
                                  <a:rPr lang="en-AU" sz="2400" i="1">
                                    <a:latin typeface="Cambria Math" panose="02040503050406030204" pitchFamily="18" charset="0"/>
                                  </a:rPr>
                                </m:ctrlPr>
                              </m:limLowPr>
                              <m:e>
                                <m:r>
                                  <a:rPr lang="en-AU" sz="2400" i="1">
                                    <a:latin typeface="Cambria Math" panose="02040503050406030204" pitchFamily="18" charset="0"/>
                                  </a:rPr>
                                  <m:t>𝑙𝑖𝑚</m:t>
                                </m:r>
                              </m:e>
                              <m:lim>
                                <m:r>
                                  <a:rPr lang="en-AU" sz="2400" i="1">
                                    <a:latin typeface="Cambria Math" panose="02040503050406030204" pitchFamily="18" charset="0"/>
                                  </a:rPr>
                                  <m:t>𝑥</m:t>
                                </m:r>
                                <m:r>
                                  <a:rPr lang="en-AU" sz="2400" i="1">
                                    <a:latin typeface="Cambria Math" panose="02040503050406030204" pitchFamily="18" charset="0"/>
                                  </a:rPr>
                                  <m:t>→</m:t>
                                </m:r>
                                <m:r>
                                  <a:rPr lang="en-AU" sz="2400" i="1">
                                    <a:latin typeface="Cambria Math" panose="02040503050406030204" pitchFamily="18" charset="0"/>
                                  </a:rPr>
                                  <m:t>𝑎</m:t>
                                </m:r>
                              </m:lim>
                            </m:limLow>
                          </m:fName>
                          <m:e>
                            <m:r>
                              <a:rPr lang="en-AU" sz="2400" b="0" i="1" smtClean="0">
                                <a:latin typeface="Cambria Math" panose="02040503050406030204" pitchFamily="18" charset="0"/>
                              </a:rPr>
                              <m:t>𝑔</m:t>
                            </m:r>
                            <m:d>
                              <m:dPr>
                                <m:ctrlPr>
                                  <a:rPr lang="en-AU" sz="2400" b="0" i="1">
                                    <a:latin typeface="Cambria Math" panose="02040503050406030204" pitchFamily="18" charset="0"/>
                                  </a:rPr>
                                </m:ctrlPr>
                              </m:dPr>
                              <m:e>
                                <m:r>
                                  <a:rPr lang="en-AU" sz="2400" i="1">
                                    <a:latin typeface="Cambria Math" panose="02040503050406030204" pitchFamily="18" charset="0"/>
                                  </a:rPr>
                                  <m:t>𝑥</m:t>
                                </m:r>
                              </m:e>
                            </m:d>
                          </m:e>
                        </m:func>
                      </m:den>
                    </m:f>
                    <m:r>
                      <a:rPr lang="en-AU" sz="2400" b="0" i="1" smtClean="0">
                        <a:latin typeface="Cambria Math" panose="02040503050406030204" pitchFamily="18" charset="0"/>
                      </a:rPr>
                      <m:t>=</m:t>
                    </m:r>
                    <m:f>
                      <m:fPr>
                        <m:ctrlPr>
                          <a:rPr lang="en-AU" sz="2400" b="0" i="1" smtClean="0">
                            <a:latin typeface="Cambria Math" panose="02040503050406030204" pitchFamily="18" charset="0"/>
                          </a:rPr>
                        </m:ctrlPr>
                      </m:fPr>
                      <m:num>
                        <m:sSub>
                          <m:sSubPr>
                            <m:ctrlPr>
                              <a:rPr lang="en-AU" sz="2400" b="0" i="1" smtClean="0">
                                <a:latin typeface="Cambria Math" panose="02040503050406030204" pitchFamily="18" charset="0"/>
                              </a:rPr>
                            </m:ctrlPr>
                          </m:sSubPr>
                          <m:e>
                            <m:r>
                              <a:rPr lang="en-AU" sz="2400" b="0" i="1" smtClean="0">
                                <a:latin typeface="Cambria Math" panose="02040503050406030204" pitchFamily="18" charset="0"/>
                              </a:rPr>
                              <m:t>𝐿</m:t>
                            </m:r>
                          </m:e>
                          <m:sub>
                            <m:r>
                              <a:rPr lang="en-AU" sz="2400" b="0" i="1" smtClean="0">
                                <a:latin typeface="Cambria Math" panose="02040503050406030204" pitchFamily="18" charset="0"/>
                              </a:rPr>
                              <m:t>1</m:t>
                            </m:r>
                          </m:sub>
                        </m:sSub>
                      </m:num>
                      <m:den>
                        <m:sSub>
                          <m:sSubPr>
                            <m:ctrlPr>
                              <a:rPr lang="en-AU" sz="2400" i="1">
                                <a:latin typeface="Cambria Math" panose="02040503050406030204" pitchFamily="18" charset="0"/>
                                <a:ea typeface="Cambria Math" panose="02040503050406030204" pitchFamily="18" charset="0"/>
                              </a:rPr>
                            </m:ctrlPr>
                          </m:sSubPr>
                          <m:e>
                            <m:r>
                              <a:rPr lang="en-AU" sz="2400" i="1">
                                <a:latin typeface="Cambria Math" panose="02040503050406030204" pitchFamily="18" charset="0"/>
                                <a:ea typeface="Cambria Math" panose="02040503050406030204" pitchFamily="18" charset="0"/>
                              </a:rPr>
                              <m:t>𝐿</m:t>
                            </m:r>
                          </m:e>
                          <m:sub>
                            <m:r>
                              <a:rPr lang="en-AU" sz="2400" i="1">
                                <a:latin typeface="Cambria Math" panose="02040503050406030204" pitchFamily="18" charset="0"/>
                                <a:ea typeface="Cambria Math" panose="02040503050406030204" pitchFamily="18" charset="0"/>
                              </a:rPr>
                              <m:t>2</m:t>
                            </m:r>
                          </m:sub>
                        </m:sSub>
                      </m:den>
                    </m:f>
                  </m:oMath>
                </a14:m>
                <a:r>
                  <a:rPr lang="en-AU" sz="2400" dirty="0">
                    <a:latin typeface="+mj-lt"/>
                  </a:rPr>
                  <a:t>,    if </a:t>
                </a:r>
                <a14:m>
                  <m:oMath xmlns:m="http://schemas.openxmlformats.org/officeDocument/2006/math">
                    <m:sSub>
                      <m:sSubPr>
                        <m:ctrlPr>
                          <a:rPr lang="en-AU" sz="2400" i="1" smtClean="0">
                            <a:latin typeface="Cambria Math" panose="02040503050406030204" pitchFamily="18" charset="0"/>
                          </a:rPr>
                        </m:ctrlPr>
                      </m:sSubPr>
                      <m:e>
                        <m:r>
                          <a:rPr lang="en-AU" sz="2400" b="0" i="1" smtClean="0">
                            <a:latin typeface="Cambria Math" panose="02040503050406030204" pitchFamily="18" charset="0"/>
                          </a:rPr>
                          <m:t>𝐿</m:t>
                        </m:r>
                      </m:e>
                      <m:sub>
                        <m:r>
                          <a:rPr lang="en-AU" sz="2400" b="0" i="1" smtClean="0">
                            <a:latin typeface="Cambria Math" panose="02040503050406030204" pitchFamily="18" charset="0"/>
                          </a:rPr>
                          <m:t>2</m:t>
                        </m:r>
                      </m:sub>
                    </m:sSub>
                    <m:r>
                      <a:rPr lang="en-AU" sz="240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0</m:t>
                    </m:r>
                  </m:oMath>
                </a14:m>
                <a:endParaRPr lang="en-AU" sz="2400" dirty="0">
                  <a:latin typeface="+mj-lt"/>
                </a:endParaRPr>
              </a:p>
            </p:txBody>
          </p:sp>
        </mc:Choice>
        <mc:Fallback xmlns="">
          <p:sp>
            <p:nvSpPr>
              <p:cNvPr id="3" name="TextBox 2">
                <a:extLst>
                  <a:ext uri="{FF2B5EF4-FFF2-40B4-BE49-F238E27FC236}">
                    <a16:creationId xmlns:a16="http://schemas.microsoft.com/office/drawing/2014/main" id="{BCB5680B-B712-45CC-8AC6-96A5213E73CE}"/>
                  </a:ext>
                </a:extLst>
              </p:cNvPr>
              <p:cNvSpPr txBox="1">
                <a:spLocks noRot="1" noChangeAspect="1" noMove="1" noResize="1" noEditPoints="1" noAdjustHandles="1" noChangeArrowheads="1" noChangeShapeType="1" noTextEdit="1"/>
              </p:cNvSpPr>
              <p:nvPr/>
            </p:nvSpPr>
            <p:spPr>
              <a:xfrm>
                <a:off x="316357" y="1005370"/>
                <a:ext cx="11559285" cy="5371150"/>
              </a:xfrm>
              <a:prstGeom prst="rect">
                <a:avLst/>
              </a:prstGeom>
              <a:blipFill>
                <a:blip r:embed="rId2"/>
                <a:stretch>
                  <a:fillRect l="-844" t="-908"/>
                </a:stretch>
              </a:blipFill>
            </p:spPr>
            <p:txBody>
              <a:bodyPr/>
              <a:lstStyle/>
              <a:p>
                <a:r>
                  <a:rPr lang="en-GB">
                    <a:noFill/>
                  </a:rPr>
                  <a:t> </a:t>
                </a:r>
              </a:p>
            </p:txBody>
          </p:sp>
        </mc:Fallback>
      </mc:AlternateContent>
    </p:spTree>
    <p:extLst>
      <p:ext uri="{BB962C8B-B14F-4D97-AF65-F5344CB8AC3E}">
        <p14:creationId xmlns:p14="http://schemas.microsoft.com/office/powerpoint/2010/main" val="16371730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2087623" cy="523220"/>
          </a:xfrm>
          <a:prstGeom prst="rect">
            <a:avLst/>
          </a:prstGeom>
          <a:noFill/>
        </p:spPr>
        <p:txBody>
          <a:bodyPr wrap="none" rtlCol="0">
            <a:spAutoFit/>
          </a:bodyPr>
          <a:lstStyle/>
          <a:p>
            <a:r>
              <a:rPr lang="en-AU" sz="2800" b="1" cap="small" dirty="0">
                <a:solidFill>
                  <a:schemeClr val="bg1"/>
                </a:solidFill>
                <a:latin typeface="+mj-lt"/>
              </a:rPr>
              <a:t>2.2 Limit laws</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BCB5680B-B712-45CC-8AC6-96A5213E73CE}"/>
                  </a:ext>
                </a:extLst>
              </p:cNvPr>
              <p:cNvSpPr txBox="1"/>
              <p:nvPr/>
            </p:nvSpPr>
            <p:spPr>
              <a:xfrm>
                <a:off x="316357" y="1005370"/>
                <a:ext cx="11559285" cy="2995757"/>
              </a:xfrm>
              <a:prstGeom prst="rect">
                <a:avLst/>
              </a:prstGeom>
              <a:noFill/>
            </p:spPr>
            <p:txBody>
              <a:bodyPr wrap="square" rtlCol="0">
                <a:spAutoFit/>
              </a:bodyPr>
              <a:lstStyle/>
              <a:p>
                <a:r>
                  <a:rPr lang="en-AU" sz="2400" dirty="0">
                    <a:latin typeface="+mj-lt"/>
                  </a:rPr>
                  <a:t>5. Limit of a constant function:    </a:t>
                </a:r>
                <a14:m>
                  <m:oMath xmlns:m="http://schemas.openxmlformats.org/officeDocument/2006/math">
                    <m:func>
                      <m:funcPr>
                        <m:ctrlPr>
                          <a:rPr lang="en-AU" sz="2400" i="1">
                            <a:latin typeface="Cambria Math" panose="02040503050406030204" pitchFamily="18" charset="0"/>
                          </a:rPr>
                        </m:ctrlPr>
                      </m:funcPr>
                      <m:fName>
                        <m:limLow>
                          <m:limLowPr>
                            <m:ctrlPr>
                              <a:rPr lang="en-AU" sz="2400" i="1">
                                <a:latin typeface="Cambria Math" panose="02040503050406030204" pitchFamily="18" charset="0"/>
                              </a:rPr>
                            </m:ctrlPr>
                          </m:limLowPr>
                          <m:e>
                            <m:r>
                              <a:rPr lang="en-AU" sz="2400" i="1">
                                <a:latin typeface="Cambria Math" panose="02040503050406030204" pitchFamily="18" charset="0"/>
                              </a:rPr>
                              <m:t>𝑙𝑖𝑚</m:t>
                            </m:r>
                          </m:e>
                          <m:lim>
                            <m:r>
                              <a:rPr lang="en-AU" sz="2400" i="1">
                                <a:latin typeface="Cambria Math" panose="02040503050406030204" pitchFamily="18" charset="0"/>
                              </a:rPr>
                              <m:t>𝑥</m:t>
                            </m:r>
                            <m:r>
                              <a:rPr lang="en-AU" sz="2400" i="1">
                                <a:latin typeface="Cambria Math" panose="02040503050406030204" pitchFamily="18" charset="0"/>
                              </a:rPr>
                              <m:t>→</m:t>
                            </m:r>
                            <m:r>
                              <a:rPr lang="en-AU" sz="2400" i="1">
                                <a:latin typeface="Cambria Math" panose="02040503050406030204" pitchFamily="18" charset="0"/>
                              </a:rPr>
                              <m:t>𝑎</m:t>
                            </m:r>
                          </m:lim>
                        </m:limLow>
                      </m:fName>
                      <m:e>
                        <m:r>
                          <a:rPr lang="en-AU" sz="2400" b="0" i="1" smtClean="0">
                            <a:latin typeface="Cambria Math" panose="02040503050406030204" pitchFamily="18" charset="0"/>
                          </a:rPr>
                          <m:t>𝑐</m:t>
                        </m:r>
                      </m:e>
                    </m:func>
                    <m:r>
                      <a:rPr lang="en-AU" sz="2400" i="1">
                        <a:latin typeface="Cambria Math" panose="02040503050406030204" pitchFamily="18" charset="0"/>
                      </a:rPr>
                      <m:t>=</m:t>
                    </m:r>
                    <m:r>
                      <a:rPr lang="en-AU" sz="2400" b="0" i="1" smtClean="0">
                        <a:latin typeface="Cambria Math" panose="02040503050406030204" pitchFamily="18" charset="0"/>
                      </a:rPr>
                      <m:t>𝑐</m:t>
                    </m:r>
                  </m:oMath>
                </a14:m>
                <a:endParaRPr lang="en-AU" sz="2400" dirty="0">
                  <a:latin typeface="+mj-lt"/>
                </a:endParaRPr>
              </a:p>
              <a:p>
                <a:endParaRPr lang="en-AU" sz="2400" dirty="0">
                  <a:latin typeface="+mj-lt"/>
                </a:endParaRPr>
              </a:p>
              <a:p>
                <a:r>
                  <a:rPr lang="en-AU" sz="2400" dirty="0">
                    <a:latin typeface="+mj-lt"/>
                  </a:rPr>
                  <a:t>6. Limit of the function </a:t>
                </a:r>
                <a14:m>
                  <m:oMath xmlns:m="http://schemas.openxmlformats.org/officeDocument/2006/math">
                    <m:r>
                      <a:rPr lang="en-AU" sz="2400" b="0" i="1" smtClean="0">
                        <a:latin typeface="Cambria Math" panose="02040503050406030204" pitchFamily="18" charset="0"/>
                      </a:rPr>
                      <m:t>𝑥</m:t>
                    </m:r>
                  </m:oMath>
                </a14:m>
                <a:r>
                  <a:rPr lang="en-AU" sz="2400" dirty="0">
                    <a:latin typeface="+mj-lt"/>
                  </a:rPr>
                  <a:t>:   </a:t>
                </a:r>
                <a14:m>
                  <m:oMath xmlns:m="http://schemas.openxmlformats.org/officeDocument/2006/math">
                    <m:func>
                      <m:funcPr>
                        <m:ctrlPr>
                          <a:rPr lang="en-AU" sz="2400" i="1">
                            <a:latin typeface="Cambria Math" panose="02040503050406030204" pitchFamily="18" charset="0"/>
                          </a:rPr>
                        </m:ctrlPr>
                      </m:funcPr>
                      <m:fName>
                        <m:limLow>
                          <m:limLowPr>
                            <m:ctrlPr>
                              <a:rPr lang="en-AU" sz="2400" i="1">
                                <a:latin typeface="Cambria Math" panose="02040503050406030204" pitchFamily="18" charset="0"/>
                              </a:rPr>
                            </m:ctrlPr>
                          </m:limLowPr>
                          <m:e>
                            <m:r>
                              <a:rPr lang="en-AU" sz="2400" i="1">
                                <a:latin typeface="Cambria Math" panose="02040503050406030204" pitchFamily="18" charset="0"/>
                              </a:rPr>
                              <m:t>𝑙𝑖𝑚</m:t>
                            </m:r>
                          </m:e>
                          <m:lim>
                            <m:r>
                              <a:rPr lang="en-AU" sz="2400" i="1">
                                <a:latin typeface="Cambria Math" panose="02040503050406030204" pitchFamily="18" charset="0"/>
                              </a:rPr>
                              <m:t>𝑥</m:t>
                            </m:r>
                            <m:r>
                              <a:rPr lang="en-AU" sz="2400" i="1">
                                <a:latin typeface="Cambria Math" panose="02040503050406030204" pitchFamily="18" charset="0"/>
                              </a:rPr>
                              <m:t>→</m:t>
                            </m:r>
                            <m:r>
                              <a:rPr lang="en-AU" sz="2400" i="1">
                                <a:latin typeface="Cambria Math" panose="02040503050406030204" pitchFamily="18" charset="0"/>
                              </a:rPr>
                              <m:t>𝑎</m:t>
                            </m:r>
                          </m:lim>
                        </m:limLow>
                      </m:fName>
                      <m:e>
                        <m:r>
                          <a:rPr lang="en-AU" sz="2400" b="0" i="1" smtClean="0">
                            <a:latin typeface="Cambria Math" panose="02040503050406030204" pitchFamily="18" charset="0"/>
                          </a:rPr>
                          <m:t>𝑥</m:t>
                        </m:r>
                      </m:e>
                    </m:func>
                    <m:r>
                      <a:rPr lang="en-AU" sz="2400" i="1">
                        <a:latin typeface="Cambria Math" panose="02040503050406030204" pitchFamily="18" charset="0"/>
                      </a:rPr>
                      <m:t>=</m:t>
                    </m:r>
                    <m:r>
                      <a:rPr lang="en-AU" sz="2400" b="0" i="1" smtClean="0">
                        <a:latin typeface="Cambria Math" panose="02040503050406030204" pitchFamily="18" charset="0"/>
                      </a:rPr>
                      <m:t>𝑎</m:t>
                    </m:r>
                  </m:oMath>
                </a14:m>
                <a:endParaRPr lang="en-AU" sz="2400" dirty="0"/>
              </a:p>
              <a:p>
                <a:endParaRPr lang="en-AU" sz="2400" dirty="0">
                  <a:latin typeface="+mj-lt"/>
                </a:endParaRPr>
              </a:p>
              <a:p>
                <a:r>
                  <a:rPr lang="en-AU" sz="2400" dirty="0">
                    <a:latin typeface="+mj-lt"/>
                  </a:rPr>
                  <a:t>Using limit laws, evaluate the following limit:</a:t>
                </a:r>
              </a:p>
              <a:p>
                <a:pPr/>
                <a14:m>
                  <m:oMathPara xmlns:m="http://schemas.openxmlformats.org/officeDocument/2006/math">
                    <m:oMathParaPr>
                      <m:jc m:val="centerGroup"/>
                    </m:oMathParaPr>
                    <m:oMath xmlns:m="http://schemas.openxmlformats.org/officeDocument/2006/math">
                      <m:func>
                        <m:funcPr>
                          <m:ctrlPr>
                            <a:rPr lang="en-AU" sz="2400" i="1" smtClean="0">
                              <a:latin typeface="Cambria Math" panose="02040503050406030204" pitchFamily="18" charset="0"/>
                            </a:rPr>
                          </m:ctrlPr>
                        </m:funcPr>
                        <m:fName>
                          <m:limLow>
                            <m:limLowPr>
                              <m:ctrlPr>
                                <a:rPr lang="en-AU" sz="2400" i="1" smtClean="0">
                                  <a:latin typeface="Cambria Math" panose="02040503050406030204" pitchFamily="18" charset="0"/>
                                </a:rPr>
                              </m:ctrlPr>
                            </m:limLowPr>
                            <m:e>
                              <m:r>
                                <m:rPr>
                                  <m:sty m:val="p"/>
                                </m:rPr>
                                <a:rPr lang="en-AU" sz="2400" i="0" smtClean="0">
                                  <a:latin typeface="Cambria Math" panose="02040503050406030204" pitchFamily="18" charset="0"/>
                                </a:rPr>
                                <m:t>lim</m:t>
                              </m:r>
                            </m:e>
                            <m:lim>
                              <m:r>
                                <a:rPr lang="en-AU" sz="2400" b="0" i="1" smtClean="0">
                                  <a:latin typeface="Cambria Math" panose="02040503050406030204" pitchFamily="18" charset="0"/>
                                </a:rPr>
                                <m:t>𝑥</m:t>
                              </m:r>
                              <m:r>
                                <a:rPr lang="en-AU" sz="2400" b="0" i="1" smtClean="0">
                                  <a:latin typeface="Cambria Math" panose="02040503050406030204" pitchFamily="18" charset="0"/>
                                </a:rPr>
                                <m:t>→1</m:t>
                              </m:r>
                            </m:lim>
                          </m:limLow>
                        </m:fName>
                        <m:e>
                          <m:f>
                            <m:fPr>
                              <m:ctrlPr>
                                <a:rPr lang="en-AU" sz="2400" i="1" smtClean="0">
                                  <a:latin typeface="Cambria Math" panose="02040503050406030204" pitchFamily="18" charset="0"/>
                                </a:rPr>
                              </m:ctrlPr>
                            </m:fPr>
                            <m:num>
                              <m:sSup>
                                <m:sSupPr>
                                  <m:ctrlPr>
                                    <a:rPr lang="en-AU" sz="2400" i="1" smtClean="0">
                                      <a:latin typeface="Cambria Math" panose="02040503050406030204" pitchFamily="18" charset="0"/>
                                    </a:rPr>
                                  </m:ctrlPr>
                                </m:sSupPr>
                                <m:e>
                                  <m:r>
                                    <a:rPr lang="en-AU" sz="2400" b="0" i="1" smtClean="0">
                                      <a:latin typeface="Cambria Math" panose="02040503050406030204" pitchFamily="18" charset="0"/>
                                    </a:rPr>
                                    <m:t>𝑥</m:t>
                                  </m:r>
                                </m:e>
                                <m:sup>
                                  <m:r>
                                    <a:rPr lang="en-AU" sz="2400" b="0" i="1" smtClean="0">
                                      <a:latin typeface="Cambria Math" panose="02040503050406030204" pitchFamily="18" charset="0"/>
                                    </a:rPr>
                                    <m:t>3</m:t>
                                  </m:r>
                                </m:sup>
                              </m:sSup>
                              <m:r>
                                <a:rPr lang="en-AU" sz="2400" b="0" i="1" smtClean="0">
                                  <a:latin typeface="Cambria Math" panose="02040503050406030204" pitchFamily="18" charset="0"/>
                                </a:rPr>
                                <m:t>−2</m:t>
                              </m:r>
                              <m:sSup>
                                <m:sSupPr>
                                  <m:ctrlPr>
                                    <a:rPr lang="en-AU" sz="2400" i="1" smtClean="0">
                                      <a:latin typeface="Cambria Math" panose="02040503050406030204" pitchFamily="18" charset="0"/>
                                    </a:rPr>
                                  </m:ctrlPr>
                                </m:sSupPr>
                                <m:e>
                                  <m:r>
                                    <a:rPr lang="en-AU" sz="2400" b="0" i="1" smtClean="0">
                                      <a:latin typeface="Cambria Math" panose="02040503050406030204" pitchFamily="18" charset="0"/>
                                    </a:rPr>
                                    <m:t>𝑥</m:t>
                                  </m:r>
                                </m:e>
                                <m:sup>
                                  <m:r>
                                    <a:rPr lang="en-AU" sz="2400" b="0" i="1" smtClean="0">
                                      <a:latin typeface="Cambria Math" panose="02040503050406030204" pitchFamily="18" charset="0"/>
                                    </a:rPr>
                                    <m:t>2</m:t>
                                  </m:r>
                                </m:sup>
                              </m:sSup>
                              <m:r>
                                <a:rPr lang="en-AU" sz="2400" b="0" i="1" smtClean="0">
                                  <a:latin typeface="Cambria Math" panose="02040503050406030204" pitchFamily="18" charset="0"/>
                                </a:rPr>
                                <m:t>+7</m:t>
                              </m:r>
                            </m:num>
                            <m:den>
                              <m:r>
                                <a:rPr lang="en-AU" sz="2400" b="0" i="1" smtClean="0">
                                  <a:latin typeface="Cambria Math" panose="02040503050406030204" pitchFamily="18" charset="0"/>
                                </a:rPr>
                                <m:t>2</m:t>
                              </m:r>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𝑥</m:t>
                                  </m:r>
                                </m:e>
                                <m:sup>
                                  <m:r>
                                    <a:rPr lang="en-AU" sz="2400" b="0" i="1" smtClean="0">
                                      <a:latin typeface="Cambria Math" panose="02040503050406030204" pitchFamily="18" charset="0"/>
                                    </a:rPr>
                                    <m:t>2</m:t>
                                  </m:r>
                                </m:sup>
                              </m:sSup>
                              <m:r>
                                <a:rPr lang="en-AU" sz="2400" b="0" i="1" smtClean="0">
                                  <a:latin typeface="Cambria Math" panose="02040503050406030204" pitchFamily="18" charset="0"/>
                                </a:rPr>
                                <m:t>−3</m:t>
                              </m:r>
                              <m:r>
                                <a:rPr lang="en-AU" sz="2400" b="0" i="1" smtClean="0">
                                  <a:latin typeface="Cambria Math" panose="02040503050406030204" pitchFamily="18" charset="0"/>
                                </a:rPr>
                                <m:t>𝑥</m:t>
                              </m:r>
                              <m:r>
                                <a:rPr lang="en-AU" sz="2400" b="0" i="1" smtClean="0">
                                  <a:latin typeface="Cambria Math" panose="02040503050406030204" pitchFamily="18" charset="0"/>
                                </a:rPr>
                                <m:t>−4</m:t>
                              </m:r>
                            </m:den>
                          </m:f>
                        </m:e>
                      </m:func>
                    </m:oMath>
                  </m:oMathPara>
                </a14:m>
                <a:endParaRPr lang="en-AU" sz="2400" dirty="0">
                  <a:latin typeface="+mj-lt"/>
                </a:endParaRPr>
              </a:p>
            </p:txBody>
          </p:sp>
        </mc:Choice>
        <mc:Fallback xmlns="">
          <p:sp>
            <p:nvSpPr>
              <p:cNvPr id="3" name="TextBox 2">
                <a:extLst>
                  <a:ext uri="{FF2B5EF4-FFF2-40B4-BE49-F238E27FC236}">
                    <a16:creationId xmlns:a16="http://schemas.microsoft.com/office/drawing/2014/main" id="{BCB5680B-B712-45CC-8AC6-96A5213E73CE}"/>
                  </a:ext>
                </a:extLst>
              </p:cNvPr>
              <p:cNvSpPr txBox="1">
                <a:spLocks noRot="1" noChangeAspect="1" noMove="1" noResize="1" noEditPoints="1" noAdjustHandles="1" noChangeArrowheads="1" noChangeShapeType="1" noTextEdit="1"/>
              </p:cNvSpPr>
              <p:nvPr/>
            </p:nvSpPr>
            <p:spPr>
              <a:xfrm>
                <a:off x="316357" y="1005370"/>
                <a:ext cx="11559285" cy="2995757"/>
              </a:xfrm>
              <a:prstGeom prst="rect">
                <a:avLst/>
              </a:prstGeom>
              <a:blipFill>
                <a:blip r:embed="rId2"/>
                <a:stretch>
                  <a:fillRect l="-844" t="-1426"/>
                </a:stretch>
              </a:blipFill>
            </p:spPr>
            <p:txBody>
              <a:bodyPr/>
              <a:lstStyle/>
              <a:p>
                <a:r>
                  <a:rPr lang="en-GB">
                    <a:noFill/>
                  </a:rPr>
                  <a:t> </a:t>
                </a:r>
              </a:p>
            </p:txBody>
          </p:sp>
        </mc:Fallback>
      </mc:AlternateContent>
    </p:spTree>
    <p:extLst>
      <p:ext uri="{BB962C8B-B14F-4D97-AF65-F5344CB8AC3E}">
        <p14:creationId xmlns:p14="http://schemas.microsoft.com/office/powerpoint/2010/main" val="309949784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7FE63619-80A3-4A89-960D-0F91C6BB0AAA}"/>
              </a:ext>
            </a:extLst>
          </p:cNvPr>
          <p:cNvGrpSpPr/>
          <p:nvPr/>
        </p:nvGrpSpPr>
        <p:grpSpPr>
          <a:xfrm>
            <a:off x="0" y="361"/>
            <a:ext cx="12192000" cy="825314"/>
            <a:chOff x="0" y="213019"/>
            <a:chExt cx="12192000" cy="825314"/>
          </a:xfrm>
          <a:solidFill>
            <a:schemeClr val="accent2">
              <a:lumMod val="50000"/>
            </a:schemeClr>
          </a:solidFill>
        </p:grpSpPr>
        <p:sp>
          <p:nvSpPr>
            <p:cNvPr id="4" name="Rectangle 3">
              <a:extLst>
                <a:ext uri="{FF2B5EF4-FFF2-40B4-BE49-F238E27FC236}">
                  <a16:creationId xmlns:a16="http://schemas.microsoft.com/office/drawing/2014/main" id="{0F605405-8240-4BCC-AF89-B810229A04DC}"/>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F9556E24-176E-4E21-ACB9-FCE58612884D}"/>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B20AD420-227D-44EE-A46A-95E968DB5793}"/>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7" name="TextBox 6">
            <a:extLst>
              <a:ext uri="{FF2B5EF4-FFF2-40B4-BE49-F238E27FC236}">
                <a16:creationId xmlns:a16="http://schemas.microsoft.com/office/drawing/2014/main" id="{3833D331-C78A-418D-9AFF-6E3587061322}"/>
              </a:ext>
            </a:extLst>
          </p:cNvPr>
          <p:cNvSpPr txBox="1"/>
          <p:nvPr/>
        </p:nvSpPr>
        <p:spPr>
          <a:xfrm>
            <a:off x="66245" y="124632"/>
            <a:ext cx="2220673" cy="523220"/>
          </a:xfrm>
          <a:prstGeom prst="rect">
            <a:avLst/>
          </a:prstGeom>
          <a:noFill/>
        </p:spPr>
        <p:txBody>
          <a:bodyPr wrap="none" rtlCol="0">
            <a:spAutoFit/>
          </a:bodyPr>
          <a:lstStyle/>
          <a:p>
            <a:r>
              <a:rPr lang="en-AU" sz="2800" b="1" cap="small" dirty="0">
                <a:solidFill>
                  <a:schemeClr val="bg1"/>
                </a:solidFill>
                <a:latin typeface="+mj-lt"/>
              </a:rPr>
              <a:t>End of Lecture</a:t>
            </a:r>
            <a:endParaRPr lang="en-GB" sz="2800" b="1" cap="small" dirty="0">
              <a:solidFill>
                <a:schemeClr val="bg1"/>
              </a:solidFill>
              <a:latin typeface="+mj-lt"/>
            </a:endParaRPr>
          </a:p>
        </p:txBody>
      </p:sp>
    </p:spTree>
    <p:extLst>
      <p:ext uri="{BB962C8B-B14F-4D97-AF65-F5344CB8AC3E}">
        <p14:creationId xmlns:p14="http://schemas.microsoft.com/office/powerpoint/2010/main" val="36772078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3534</TotalTime>
  <Words>2510</Words>
  <Application>Microsoft Office PowerPoint</Application>
  <PresentationFormat>Widescreen</PresentationFormat>
  <Paragraphs>283</Paragraphs>
  <Slides>32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32</vt:i4>
      </vt:variant>
    </vt:vector>
  </HeadingPairs>
  <TitlesOfParts>
    <vt:vector size="38" baseType="lpstr">
      <vt:lpstr>Arial</vt:lpstr>
      <vt:lpstr>Calibri</vt:lpstr>
      <vt:lpstr>Calibri Light</vt:lpstr>
      <vt:lpstr>Cambria Math</vt:lpstr>
      <vt:lpstr>Times New Roman</vt:lpstr>
      <vt:lpstr>Office Theme</vt:lpstr>
      <vt:lpstr>Calculus and applications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PRELIMINARY MATHEMATICS</dc:title>
  <dc:creator>David</dc:creator>
  <cp:lastModifiedBy>Paul Hernandez Martinez</cp:lastModifiedBy>
  <cp:revision>252</cp:revision>
  <dcterms:created xsi:type="dcterms:W3CDTF">2018-11-23T00:41:45Z</dcterms:created>
  <dcterms:modified xsi:type="dcterms:W3CDTF">2024-08-02T00:16:48Z</dcterms:modified>
</cp:coreProperties>
</file>