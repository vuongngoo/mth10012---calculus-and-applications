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5"/>
  </p:notesMasterIdLst>
  <p:handoutMasterIdLst>
    <p:handoutMasterId r:id="rId36"/>
  </p:handoutMasterIdLst>
  <p:sldIdLst>
    <p:sldId id="256" r:id="rId2"/>
    <p:sldId id="261" r:id="rId3"/>
    <p:sldId id="258" r:id="rId4"/>
    <p:sldId id="260" r:id="rId5"/>
    <p:sldId id="343" r:id="rId6"/>
    <p:sldId id="359" r:id="rId7"/>
    <p:sldId id="259" r:id="rId8"/>
    <p:sldId id="351" r:id="rId9"/>
    <p:sldId id="358" r:id="rId10"/>
    <p:sldId id="352" r:id="rId11"/>
    <p:sldId id="353" r:id="rId12"/>
    <p:sldId id="375" r:id="rId13"/>
    <p:sldId id="374" r:id="rId14"/>
    <p:sldId id="346" r:id="rId15"/>
    <p:sldId id="355" r:id="rId16"/>
    <p:sldId id="356" r:id="rId17"/>
    <p:sldId id="357" r:id="rId18"/>
    <p:sldId id="373" r:id="rId19"/>
    <p:sldId id="360" r:id="rId20"/>
    <p:sldId id="361" r:id="rId21"/>
    <p:sldId id="362" r:id="rId22"/>
    <p:sldId id="363" r:id="rId23"/>
    <p:sldId id="364" r:id="rId24"/>
    <p:sldId id="365" r:id="rId25"/>
    <p:sldId id="366" r:id="rId26"/>
    <p:sldId id="367" r:id="rId27"/>
    <p:sldId id="368" r:id="rId28"/>
    <p:sldId id="377" r:id="rId29"/>
    <p:sldId id="369" r:id="rId30"/>
    <p:sldId id="376" r:id="rId31"/>
    <p:sldId id="370" r:id="rId32"/>
    <p:sldId id="371" r:id="rId33"/>
    <p:sldId id="337" r:id="rId34"/>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050C5"/>
    <a:srgbClr val="FFF2CC"/>
    <a:srgbClr val="FFEBB3"/>
    <a:srgbClr val="6C0000"/>
    <a:srgbClr val="75F8FF"/>
    <a:srgbClr val="A1FFE2"/>
    <a:srgbClr val="9AFFBF"/>
    <a:srgbClr val="00FF99"/>
    <a:srgbClr val="FFC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56" autoAdjust="0"/>
    <p:restoredTop sz="96625" autoAdjust="0"/>
  </p:normalViewPr>
  <p:slideViewPr>
    <p:cSldViewPr snapToGrid="0">
      <p:cViewPr varScale="1">
        <p:scale>
          <a:sx n="107" d="100"/>
          <a:sy n="107" d="100"/>
        </p:scale>
        <p:origin x="120" y="29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C00F1-1718-4925-A43A-175331727A83}"/>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46C4DA-E8E9-439A-AFBB-71B1FA85B9C5}"/>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95CF5198-13BD-4E71-A56E-DADFEA4013F7}" type="datetimeFigureOut">
              <a:rPr lang="en-US" smtClean="0"/>
              <a:t>8/2/2024</a:t>
            </a:fld>
            <a:endParaRPr lang="en-US"/>
          </a:p>
        </p:txBody>
      </p:sp>
      <p:sp>
        <p:nvSpPr>
          <p:cNvPr id="4" name="Footer Placeholder 3">
            <a:extLst>
              <a:ext uri="{FF2B5EF4-FFF2-40B4-BE49-F238E27FC236}">
                <a16:creationId xmlns:a16="http://schemas.microsoft.com/office/drawing/2014/main" id="{16877F23-B46D-4600-856F-446828C726E1}"/>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DDB845-9091-44C1-BB5A-012CFA80FFB2}"/>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BBB43135-408F-4918-93DC-4C4FABB8BA38}" type="slidenum">
              <a:rPr lang="en-US" smtClean="0"/>
              <a:t>‹#›</a:t>
            </a:fld>
            <a:endParaRPr lang="en-US"/>
          </a:p>
        </p:txBody>
      </p:sp>
    </p:spTree>
    <p:extLst>
      <p:ext uri="{BB962C8B-B14F-4D97-AF65-F5344CB8AC3E}">
        <p14:creationId xmlns:p14="http://schemas.microsoft.com/office/powerpoint/2010/main" val="349570519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A0D9DCAD-DE8F-4CDD-984A-DA4AA5EA435B}" type="datetimeFigureOut">
              <a:rPr lang="en-AU" smtClean="0"/>
              <a:t>2/08/2024</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C1C00294-AEF9-4034-8E81-4D594CB10C91}" type="slidenum">
              <a:rPr lang="en-AU" smtClean="0"/>
              <a:t>‹#›</a:t>
            </a:fld>
            <a:endParaRPr lang="en-AU"/>
          </a:p>
        </p:txBody>
      </p:sp>
    </p:spTree>
    <p:extLst>
      <p:ext uri="{BB962C8B-B14F-4D97-AF65-F5344CB8AC3E}">
        <p14:creationId xmlns:p14="http://schemas.microsoft.com/office/powerpoint/2010/main" val="1811991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BE2F-261A-488B-B93C-7BE08E26F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1D02DE-1CFE-4515-9E33-21EBC288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BA0201-588B-4FDC-B1A7-99525CBEE325}"/>
              </a:ext>
            </a:extLst>
          </p:cNvPr>
          <p:cNvSpPr>
            <a:spLocks noGrp="1"/>
          </p:cNvSpPr>
          <p:nvPr>
            <p:ph type="dt" sz="half" idx="10"/>
          </p:nvPr>
        </p:nvSpPr>
        <p:spPr/>
        <p:txBody>
          <a:bodyPr/>
          <a:lstStyle/>
          <a:p>
            <a:fld id="{6FF8AB16-CEA3-471F-8DD6-F4EB36AF83AE}" type="datetimeFigureOut">
              <a:rPr lang="en-US" smtClean="0"/>
              <a:t>8/2/2024</a:t>
            </a:fld>
            <a:endParaRPr lang="en-US"/>
          </a:p>
        </p:txBody>
      </p:sp>
      <p:sp>
        <p:nvSpPr>
          <p:cNvPr id="5" name="Footer Placeholder 4">
            <a:extLst>
              <a:ext uri="{FF2B5EF4-FFF2-40B4-BE49-F238E27FC236}">
                <a16:creationId xmlns:a16="http://schemas.microsoft.com/office/drawing/2014/main" id="{FD479FBC-E34E-463B-9581-0DBAF2C9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8FE7A-01BB-4021-8D2B-4591558BF158}"/>
              </a:ext>
            </a:extLst>
          </p:cNvPr>
          <p:cNvSpPr>
            <a:spLocks noGrp="1"/>
          </p:cNvSpPr>
          <p:nvPr>
            <p:ph type="sldNum" sz="quarter" idx="12"/>
          </p:nvPr>
        </p:nvSpPr>
        <p:spPr/>
        <p:txBody>
          <a:bodyPr/>
          <a:lstStyle/>
          <a:p>
            <a:fld id="{7420E577-446B-4DBC-A698-2A6B8DE6A948}" type="slidenum">
              <a:rPr lang="en-US" smtClean="0"/>
              <a:t>‹#›</a:t>
            </a:fld>
            <a:endParaRPr lang="en-US"/>
          </a:p>
        </p:txBody>
      </p:sp>
      <p:pic>
        <p:nvPicPr>
          <p:cNvPr id="7" name="Picture 6">
            <a:extLst>
              <a:ext uri="{FF2B5EF4-FFF2-40B4-BE49-F238E27FC236}">
                <a16:creationId xmlns:a16="http://schemas.microsoft.com/office/drawing/2014/main" id="{F9F5D431-79F7-473F-8B6E-B3955076C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2" y="6140610"/>
            <a:ext cx="1122769" cy="574290"/>
          </a:xfrm>
          <a:prstGeom prst="rect">
            <a:avLst/>
          </a:prstGeom>
        </p:spPr>
      </p:pic>
      <p:sp>
        <p:nvSpPr>
          <p:cNvPr id="8" name="TextBox 7">
            <a:extLst>
              <a:ext uri="{FF2B5EF4-FFF2-40B4-BE49-F238E27FC236}">
                <a16:creationId xmlns:a16="http://schemas.microsoft.com/office/drawing/2014/main" id="{C85D6FCD-D711-415C-BDDE-8F6DDE0408BE}"/>
              </a:ext>
            </a:extLst>
          </p:cNvPr>
          <p:cNvSpPr txBox="1"/>
          <p:nvPr userDrawn="1"/>
        </p:nvSpPr>
        <p:spPr>
          <a:xfrm>
            <a:off x="11443527" y="6227700"/>
            <a:ext cx="486030" cy="400110"/>
          </a:xfrm>
          <a:prstGeom prst="rect">
            <a:avLst/>
          </a:prstGeom>
          <a:noFill/>
        </p:spPr>
        <p:txBody>
          <a:bodyPr wrap="none" rtlCol="0">
            <a:spAutoFit/>
          </a:bodyPr>
          <a:lstStyle/>
          <a:p>
            <a:fld id="{B0E72E4E-4CBE-4D12-B6A9-8CB223CF8265}" type="slidenum">
              <a:rPr lang="en-AU" sz="2000" b="1" smtClean="0"/>
              <a:t>‹#›</a:t>
            </a:fld>
            <a:endParaRPr lang="en-AU" sz="2000" b="1" dirty="0"/>
          </a:p>
        </p:txBody>
      </p:sp>
    </p:spTree>
    <p:extLst>
      <p:ext uri="{BB962C8B-B14F-4D97-AF65-F5344CB8AC3E}">
        <p14:creationId xmlns:p14="http://schemas.microsoft.com/office/powerpoint/2010/main" val="349658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A2F9-7D55-40B9-B9F6-47CEB7F23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4E6F6-872B-4351-82CE-F6BDED6785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37C49-E28A-4BC7-B01F-46B9108294B4}"/>
              </a:ext>
            </a:extLst>
          </p:cNvPr>
          <p:cNvSpPr>
            <a:spLocks noGrp="1"/>
          </p:cNvSpPr>
          <p:nvPr>
            <p:ph type="dt" sz="half" idx="10"/>
          </p:nvPr>
        </p:nvSpPr>
        <p:spPr/>
        <p:txBody>
          <a:bodyPr/>
          <a:lstStyle/>
          <a:p>
            <a:fld id="{A2BBB18F-8376-4052-A4AC-9CEE87CB9347}" type="datetime1">
              <a:rPr lang="en-AU" smtClean="0"/>
              <a:t>2/08/2024</a:t>
            </a:fld>
            <a:endParaRPr lang="en-AU"/>
          </a:p>
        </p:txBody>
      </p:sp>
      <p:sp>
        <p:nvSpPr>
          <p:cNvPr id="5" name="Footer Placeholder 4">
            <a:extLst>
              <a:ext uri="{FF2B5EF4-FFF2-40B4-BE49-F238E27FC236}">
                <a16:creationId xmlns:a16="http://schemas.microsoft.com/office/drawing/2014/main" id="{CF8BD53B-FA02-45C3-B746-4698E5C7A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9585B1-EDCF-4B2C-AB51-34E6296E0D3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5367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CFC9-D1E8-4E90-A313-CE13BA34D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2CAFC9-3AAB-464E-BF70-473E57067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92BC8-6CF3-4155-A3AC-94AADADA0556}"/>
              </a:ext>
            </a:extLst>
          </p:cNvPr>
          <p:cNvSpPr>
            <a:spLocks noGrp="1"/>
          </p:cNvSpPr>
          <p:nvPr>
            <p:ph type="dt" sz="half" idx="10"/>
          </p:nvPr>
        </p:nvSpPr>
        <p:spPr/>
        <p:txBody>
          <a:bodyPr/>
          <a:lstStyle/>
          <a:p>
            <a:fld id="{EEBEFC66-FB02-44EA-BC04-6F096A7B7769}" type="datetime1">
              <a:rPr lang="en-AU" smtClean="0"/>
              <a:t>2/08/2024</a:t>
            </a:fld>
            <a:endParaRPr lang="en-AU"/>
          </a:p>
        </p:txBody>
      </p:sp>
      <p:sp>
        <p:nvSpPr>
          <p:cNvPr id="5" name="Footer Placeholder 4">
            <a:extLst>
              <a:ext uri="{FF2B5EF4-FFF2-40B4-BE49-F238E27FC236}">
                <a16:creationId xmlns:a16="http://schemas.microsoft.com/office/drawing/2014/main" id="{F1D31418-83C4-4996-B0E2-AABE17A110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6ECE1-87D5-4300-BACC-4A4EB5169CB0}"/>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32796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7873-C1A0-4FC9-9508-391EDD084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A00C2-E18A-49F2-813D-D096870601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FCC943-1A72-4568-B75B-790E77A35AE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6426C6-D368-434D-A76E-A08FE05B252C}"/>
              </a:ext>
            </a:extLst>
          </p:cNvPr>
          <p:cNvSpPr>
            <a:spLocks noGrp="1"/>
          </p:cNvSpPr>
          <p:nvPr>
            <p:ph type="dt" sz="half" idx="10"/>
          </p:nvPr>
        </p:nvSpPr>
        <p:spPr/>
        <p:txBody>
          <a:bodyPr/>
          <a:lstStyle/>
          <a:p>
            <a:fld id="{BE266C89-1765-4641-A2C2-0C255FF54FD1}" type="datetime1">
              <a:rPr lang="en-AU" smtClean="0"/>
              <a:t>2/08/2024</a:t>
            </a:fld>
            <a:endParaRPr lang="en-AU"/>
          </a:p>
        </p:txBody>
      </p:sp>
      <p:sp>
        <p:nvSpPr>
          <p:cNvPr id="6" name="Footer Placeholder 5">
            <a:extLst>
              <a:ext uri="{FF2B5EF4-FFF2-40B4-BE49-F238E27FC236}">
                <a16:creationId xmlns:a16="http://schemas.microsoft.com/office/drawing/2014/main" id="{A5F1A0D2-A40A-49C1-8234-B7D2E59752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D5590CF-5EB7-4621-AF70-49745B7E8CB1}"/>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44901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EC4E-7129-4DFE-A8BF-D2F4C51EB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868A7-B0A8-48B8-9C40-76D73A53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E52730-3A93-4774-B024-FF41D7ADBB4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1560C-643D-4E43-9F3C-1BAB21E1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AC2905-B67E-4FAA-969B-8323B9811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1CAE1-7796-4C1F-9BED-1A8C90ABA79C}"/>
              </a:ext>
            </a:extLst>
          </p:cNvPr>
          <p:cNvSpPr>
            <a:spLocks noGrp="1"/>
          </p:cNvSpPr>
          <p:nvPr>
            <p:ph type="dt" sz="half" idx="10"/>
          </p:nvPr>
        </p:nvSpPr>
        <p:spPr/>
        <p:txBody>
          <a:bodyPr/>
          <a:lstStyle/>
          <a:p>
            <a:fld id="{4A873857-A5A5-474E-9E58-C4E578787857}" type="datetime1">
              <a:rPr lang="en-AU" smtClean="0"/>
              <a:t>2/08/2024</a:t>
            </a:fld>
            <a:endParaRPr lang="en-AU"/>
          </a:p>
        </p:txBody>
      </p:sp>
      <p:sp>
        <p:nvSpPr>
          <p:cNvPr id="8" name="Footer Placeholder 7">
            <a:extLst>
              <a:ext uri="{FF2B5EF4-FFF2-40B4-BE49-F238E27FC236}">
                <a16:creationId xmlns:a16="http://schemas.microsoft.com/office/drawing/2014/main" id="{D0D73460-6DE1-4496-9257-1CF265A781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59E5745-5DC0-47E7-86B4-926C3EEB61DA}"/>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1098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0E46-5C93-447B-AA2A-FABDBC833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D545D-C4CE-4C13-933E-BB80F082B875}"/>
              </a:ext>
            </a:extLst>
          </p:cNvPr>
          <p:cNvSpPr>
            <a:spLocks noGrp="1"/>
          </p:cNvSpPr>
          <p:nvPr>
            <p:ph type="dt" sz="half" idx="10"/>
          </p:nvPr>
        </p:nvSpPr>
        <p:spPr/>
        <p:txBody>
          <a:bodyPr/>
          <a:lstStyle/>
          <a:p>
            <a:fld id="{4C4A7F37-9D1F-41EA-AAC5-1B6F73404883}" type="datetime1">
              <a:rPr lang="en-AU" smtClean="0"/>
              <a:t>2/08/2024</a:t>
            </a:fld>
            <a:endParaRPr lang="en-AU"/>
          </a:p>
        </p:txBody>
      </p:sp>
      <p:sp>
        <p:nvSpPr>
          <p:cNvPr id="4" name="Footer Placeholder 3">
            <a:extLst>
              <a:ext uri="{FF2B5EF4-FFF2-40B4-BE49-F238E27FC236}">
                <a16:creationId xmlns:a16="http://schemas.microsoft.com/office/drawing/2014/main" id="{F055F992-DE21-4FF8-9EC3-24F7AAB4599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FA18A99-A541-4FC4-8B0F-E2C0D8ED3C39}"/>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608956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9AF43-84E3-4B89-A20D-5AD12A924EFB}"/>
              </a:ext>
            </a:extLst>
          </p:cNvPr>
          <p:cNvSpPr>
            <a:spLocks noGrp="1"/>
          </p:cNvSpPr>
          <p:nvPr>
            <p:ph type="dt" sz="half" idx="10"/>
          </p:nvPr>
        </p:nvSpPr>
        <p:spPr/>
        <p:txBody>
          <a:bodyPr/>
          <a:lstStyle/>
          <a:p>
            <a:fld id="{4520FDF9-A986-4905-9508-247B7F4B200D}" type="datetime1">
              <a:rPr lang="en-AU" smtClean="0"/>
              <a:t>2/08/2024</a:t>
            </a:fld>
            <a:endParaRPr lang="en-AU"/>
          </a:p>
        </p:txBody>
      </p:sp>
      <p:sp>
        <p:nvSpPr>
          <p:cNvPr id="3" name="Footer Placeholder 2">
            <a:extLst>
              <a:ext uri="{FF2B5EF4-FFF2-40B4-BE49-F238E27FC236}">
                <a16:creationId xmlns:a16="http://schemas.microsoft.com/office/drawing/2014/main" id="{BC552FC8-6766-4AF6-AE1B-3E3E40DE160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198A401-3F10-4AB5-B56C-A44167EC985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23013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E79-7D0A-4913-9B9D-D14A14012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2F2BE-34D1-4394-A79C-56929CB7F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6DDC-E9A4-494D-8DA3-DF6FF0CB2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DC4CB1-DD02-4E14-8070-D529601AE306}"/>
              </a:ext>
            </a:extLst>
          </p:cNvPr>
          <p:cNvSpPr>
            <a:spLocks noGrp="1"/>
          </p:cNvSpPr>
          <p:nvPr>
            <p:ph type="dt" sz="half" idx="10"/>
          </p:nvPr>
        </p:nvSpPr>
        <p:spPr/>
        <p:txBody>
          <a:bodyPr/>
          <a:lstStyle/>
          <a:p>
            <a:fld id="{F0A57C78-DADF-4969-B242-4855E9F4C4D5}" type="datetime1">
              <a:rPr lang="en-AU" smtClean="0"/>
              <a:t>2/08/2024</a:t>
            </a:fld>
            <a:endParaRPr lang="en-AU"/>
          </a:p>
        </p:txBody>
      </p:sp>
      <p:sp>
        <p:nvSpPr>
          <p:cNvPr id="6" name="Footer Placeholder 5">
            <a:extLst>
              <a:ext uri="{FF2B5EF4-FFF2-40B4-BE49-F238E27FC236}">
                <a16:creationId xmlns:a16="http://schemas.microsoft.com/office/drawing/2014/main" id="{9998DCFE-E8EA-4807-BCD4-B175C0E2A2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24BDD04-DF59-476B-A2E1-B91A947D91FE}"/>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782135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D7C8-9040-4BEA-BDE3-ABA1A1C27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8E7C11-8D21-434A-A6FD-3E8617092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D949-D4DE-4581-87B3-C03FD4FD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6D51E2-1921-40F3-AC40-E142F785D206}"/>
              </a:ext>
            </a:extLst>
          </p:cNvPr>
          <p:cNvSpPr>
            <a:spLocks noGrp="1"/>
          </p:cNvSpPr>
          <p:nvPr>
            <p:ph type="dt" sz="half" idx="10"/>
          </p:nvPr>
        </p:nvSpPr>
        <p:spPr/>
        <p:txBody>
          <a:bodyPr/>
          <a:lstStyle/>
          <a:p>
            <a:fld id="{6E70D74D-1239-4392-A26B-B7E440CEC8CB}" type="datetime1">
              <a:rPr lang="en-AU" smtClean="0"/>
              <a:t>2/08/2024</a:t>
            </a:fld>
            <a:endParaRPr lang="en-AU"/>
          </a:p>
        </p:txBody>
      </p:sp>
      <p:sp>
        <p:nvSpPr>
          <p:cNvPr id="6" name="Footer Placeholder 5">
            <a:extLst>
              <a:ext uri="{FF2B5EF4-FFF2-40B4-BE49-F238E27FC236}">
                <a16:creationId xmlns:a16="http://schemas.microsoft.com/office/drawing/2014/main" id="{2D614FAF-0386-4409-8BFE-A413765B3E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31F7AEF-E743-4036-9326-1065E481120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23280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7700-60C9-4E9C-9852-C7B6C38A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8E9C5B-FA98-43FE-90F2-7DDE18ED865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FD572-AD9E-4D3B-8F7B-2BB536B5FD27}"/>
              </a:ext>
            </a:extLst>
          </p:cNvPr>
          <p:cNvSpPr>
            <a:spLocks noGrp="1"/>
          </p:cNvSpPr>
          <p:nvPr>
            <p:ph type="dt" sz="half" idx="10"/>
          </p:nvPr>
        </p:nvSpPr>
        <p:spPr/>
        <p:txBody>
          <a:bodyPr/>
          <a:lstStyle/>
          <a:p>
            <a:fld id="{2391578B-E5FA-490D-8208-9FBD9A867E75}" type="datetime1">
              <a:rPr lang="en-AU" smtClean="0"/>
              <a:t>2/08/2024</a:t>
            </a:fld>
            <a:endParaRPr lang="en-AU"/>
          </a:p>
        </p:txBody>
      </p:sp>
      <p:sp>
        <p:nvSpPr>
          <p:cNvPr id="5" name="Footer Placeholder 4">
            <a:extLst>
              <a:ext uri="{FF2B5EF4-FFF2-40B4-BE49-F238E27FC236}">
                <a16:creationId xmlns:a16="http://schemas.microsoft.com/office/drawing/2014/main" id="{7EA1E37F-1B21-4246-BA36-73956FFE9F7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CEDB52-5DFE-4447-91E2-9787D84DBB86}"/>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754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283C-E2F0-4A6F-9AD9-82CA902DE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E5EE6-7D9F-42B2-94B0-02A3E84F5E0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C19CB-43F8-4CC0-903E-C23803089474}"/>
              </a:ext>
            </a:extLst>
          </p:cNvPr>
          <p:cNvSpPr>
            <a:spLocks noGrp="1"/>
          </p:cNvSpPr>
          <p:nvPr>
            <p:ph type="dt" sz="half" idx="10"/>
          </p:nvPr>
        </p:nvSpPr>
        <p:spPr/>
        <p:txBody>
          <a:bodyPr/>
          <a:lstStyle/>
          <a:p>
            <a:fld id="{24F54018-37EC-481E-B7F2-FDEEBA0F84AF}" type="datetime1">
              <a:rPr lang="en-AU" smtClean="0"/>
              <a:t>2/08/2024</a:t>
            </a:fld>
            <a:endParaRPr lang="en-AU"/>
          </a:p>
        </p:txBody>
      </p:sp>
      <p:sp>
        <p:nvSpPr>
          <p:cNvPr id="5" name="Footer Placeholder 4">
            <a:extLst>
              <a:ext uri="{FF2B5EF4-FFF2-40B4-BE49-F238E27FC236}">
                <a16:creationId xmlns:a16="http://schemas.microsoft.com/office/drawing/2014/main" id="{D9F45F0E-7361-4676-B432-1D05B70CFB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84F4EB-1112-445C-96AB-93D5D84332BF}"/>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1924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2DA63-5604-4C8B-A185-3346EDDFF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5E662-E32E-4BF0-B3BA-15B99830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18C86-7471-4189-957D-1CEA3FBEE7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43812-AA3E-4766-916C-F1E5A438B57F}" type="datetime1">
              <a:rPr lang="en-AU" smtClean="0"/>
              <a:t>2/08/2024</a:t>
            </a:fld>
            <a:endParaRPr lang="en-AU"/>
          </a:p>
        </p:txBody>
      </p:sp>
      <p:sp>
        <p:nvSpPr>
          <p:cNvPr id="5" name="Footer Placeholder 4">
            <a:extLst>
              <a:ext uri="{FF2B5EF4-FFF2-40B4-BE49-F238E27FC236}">
                <a16:creationId xmlns:a16="http://schemas.microsoft.com/office/drawing/2014/main" id="{09B3008F-2F27-46E4-A82E-92541B128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76096A-7E11-4FA7-B795-CF89E7D09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F08E9-1735-422C-B5C5-130668B15985}" type="slidenum">
              <a:rPr lang="en-AU" smtClean="0"/>
              <a:t>‹#›</a:t>
            </a:fld>
            <a:endParaRPr lang="en-AU"/>
          </a:p>
        </p:txBody>
      </p:sp>
    </p:spTree>
    <p:extLst>
      <p:ext uri="{BB962C8B-B14F-4D97-AF65-F5344CB8AC3E}">
        <p14:creationId xmlns:p14="http://schemas.microsoft.com/office/powerpoint/2010/main" val="12188343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20.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241.png"/><Relationship Id="rId7" Type="http://schemas.openxmlformats.org/officeDocument/2006/relationships/image" Target="../media/image34.png"/><Relationship Id="rId2" Type="http://schemas.openxmlformats.org/officeDocument/2006/relationships/image" Target="../media/image231.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60.png"/><Relationship Id="rId4" Type="http://schemas.openxmlformats.org/officeDocument/2006/relationships/image" Target="../media/image250.png"/></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0.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38.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descr="red pencil on top of mathematical quiz paper">
            <a:extLst>
              <a:ext uri="{FF2B5EF4-FFF2-40B4-BE49-F238E27FC236}">
                <a16:creationId xmlns:a16="http://schemas.microsoft.com/office/drawing/2014/main" id="{DBC03516-FFDC-4FCD-825A-55148772EFA4}"/>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t="47148"/>
          <a:stretch/>
        </p:blipFill>
        <p:spPr bwMode="auto">
          <a:xfrm>
            <a:off x="1" y="0"/>
            <a:ext cx="12191999" cy="4591664"/>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p:cNvSpPr txBox="1">
            <a:spLocks/>
          </p:cNvSpPr>
          <p:nvPr/>
        </p:nvSpPr>
        <p:spPr>
          <a:xfrm>
            <a:off x="1292225" y="4850229"/>
            <a:ext cx="9607550" cy="1475746"/>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latin typeface="+mj-lt"/>
              </a:rPr>
              <a:t>Week 1</a:t>
            </a:r>
          </a:p>
        </p:txBody>
      </p:sp>
      <p:sp>
        <p:nvSpPr>
          <p:cNvPr id="5" name="Title 1">
            <a:extLst>
              <a:ext uri="{FF2B5EF4-FFF2-40B4-BE49-F238E27FC236}">
                <a16:creationId xmlns:a16="http://schemas.microsoft.com/office/drawing/2014/main" id="{50029B91-E5FE-43A6-9535-58B2F4EBB5EE}"/>
              </a:ext>
            </a:extLst>
          </p:cNvPr>
          <p:cNvSpPr txBox="1">
            <a:spLocks/>
          </p:cNvSpPr>
          <p:nvPr/>
        </p:nvSpPr>
        <p:spPr>
          <a:xfrm>
            <a:off x="0" y="-1"/>
            <a:ext cx="12192000" cy="4591665"/>
          </a:xfrm>
          <a:prstGeom prst="rect">
            <a:avLst/>
          </a:prstGeom>
          <a:solidFill>
            <a:schemeClr val="accent4">
              <a:lumMod val="60000"/>
              <a:lumOff val="40000"/>
              <a:alpha val="40000"/>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sz="4400" b="1" dirty="0">
              <a:solidFill>
                <a:schemeClr val="accent4">
                  <a:lumMod val="75000"/>
                </a:schemeClr>
              </a:solidFill>
            </a:endParaRPr>
          </a:p>
        </p:txBody>
      </p:sp>
      <p:sp>
        <p:nvSpPr>
          <p:cNvPr id="2" name="Title 1"/>
          <p:cNvSpPr>
            <a:spLocks noGrp="1"/>
          </p:cNvSpPr>
          <p:nvPr>
            <p:ph type="ctrTitle"/>
          </p:nvPr>
        </p:nvSpPr>
        <p:spPr>
          <a:xfrm>
            <a:off x="589935" y="2295831"/>
            <a:ext cx="11012129" cy="1518035"/>
          </a:xfrm>
        </p:spPr>
        <p:txBody>
          <a:bodyPr>
            <a:noAutofit/>
          </a:bodyPr>
          <a:lstStyle/>
          <a:p>
            <a:r>
              <a:rPr lang="en-AU" sz="5400" b="1" dirty="0">
                <a:solidFill>
                  <a:schemeClr val="accent4">
                    <a:lumMod val="75000"/>
                  </a:schemeClr>
                </a:solidFill>
                <a:effectLst>
                  <a:outerShdw blurRad="50800" dist="38100" dir="2700000" algn="tl" rotWithShape="0">
                    <a:prstClr val="black"/>
                  </a:outerShdw>
                </a:effectLst>
                <a:latin typeface="Times New Roman" panose="02020603050405020304" pitchFamily="18" charset="0"/>
                <a:cs typeface="Times New Roman" panose="02020603050405020304" pitchFamily="18" charset="0"/>
              </a:rPr>
              <a:t>Calculus and applications</a:t>
            </a:r>
          </a:p>
        </p:txBody>
      </p:sp>
      <p:sp>
        <p:nvSpPr>
          <p:cNvPr id="3" name="Subtitle 2"/>
          <p:cNvSpPr>
            <a:spLocks noGrp="1"/>
          </p:cNvSpPr>
          <p:nvPr>
            <p:ph type="subTitle" idx="1"/>
          </p:nvPr>
        </p:nvSpPr>
        <p:spPr>
          <a:xfrm>
            <a:off x="1524000" y="1923654"/>
            <a:ext cx="9144000" cy="562707"/>
          </a:xfrm>
        </p:spPr>
        <p:txBody>
          <a:bodyPr>
            <a:noAutofit/>
          </a:bodyPr>
          <a:lstStyle/>
          <a:p>
            <a:r>
              <a:rPr lang="en-AU" sz="3200" dirty="0">
                <a:latin typeface="+mj-lt"/>
              </a:rPr>
              <a:t>MTH10012</a:t>
            </a:r>
          </a:p>
        </p:txBody>
      </p:sp>
      <p:pic>
        <p:nvPicPr>
          <p:cNvPr id="7" name="Picture 6" descr="A close up of a logo&#10;&#10;Description automatically generated">
            <a:extLst>
              <a:ext uri="{FF2B5EF4-FFF2-40B4-BE49-F238E27FC236}">
                <a16:creationId xmlns:a16="http://schemas.microsoft.com/office/drawing/2014/main" id="{DCCAF879-A57E-4938-88B5-1CA526E0E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39" y="701528"/>
            <a:ext cx="1927122" cy="963561"/>
          </a:xfrm>
          <a:prstGeom prst="rect">
            <a:avLst/>
          </a:prstGeom>
        </p:spPr>
      </p:pic>
    </p:spTree>
    <p:extLst>
      <p:ext uri="{BB962C8B-B14F-4D97-AF65-F5344CB8AC3E}">
        <p14:creationId xmlns:p14="http://schemas.microsoft.com/office/powerpoint/2010/main" val="3477091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991443" cy="523220"/>
          </a:xfrm>
          <a:prstGeom prst="rect">
            <a:avLst/>
          </a:prstGeom>
          <a:noFill/>
        </p:spPr>
        <p:txBody>
          <a:bodyPr wrap="none" rtlCol="0">
            <a:spAutoFit/>
          </a:bodyPr>
          <a:lstStyle/>
          <a:p>
            <a:r>
              <a:rPr lang="en-AU" sz="2800" b="1" cap="small" dirty="0">
                <a:solidFill>
                  <a:schemeClr val="bg1"/>
                </a:solidFill>
                <a:latin typeface="+mj-lt"/>
              </a:rPr>
              <a:t>Introduction</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26DFD1E0-E30E-4A41-9A5D-72A8EFAA21AB}"/>
              </a:ext>
            </a:extLst>
          </p:cNvPr>
          <p:cNvSpPr txBox="1"/>
          <p:nvPr/>
        </p:nvSpPr>
        <p:spPr>
          <a:xfrm>
            <a:off x="307593" y="980501"/>
            <a:ext cx="1508746" cy="461665"/>
          </a:xfrm>
          <a:prstGeom prst="rect">
            <a:avLst/>
          </a:prstGeom>
          <a:noFill/>
          <a:ln>
            <a:solidFill>
              <a:schemeClr val="accent2">
                <a:lumMod val="50000"/>
              </a:schemeClr>
            </a:solidFill>
          </a:ln>
        </p:spPr>
        <p:txBody>
          <a:bodyPr wrap="none" rtlCol="0">
            <a:spAutoFit/>
          </a:bodyPr>
          <a:lstStyle/>
          <a:p>
            <a:r>
              <a:rPr lang="en-AU" sz="2400" b="1" dirty="0">
                <a:latin typeface="+mj-lt"/>
              </a:rPr>
              <a:t>MODULE 1</a:t>
            </a:r>
            <a:endParaRPr lang="en-GB" sz="2400" b="1" dirty="0">
              <a:latin typeface="+mj-lt"/>
            </a:endParaRPr>
          </a:p>
        </p:txBody>
      </p:sp>
      <p:sp>
        <p:nvSpPr>
          <p:cNvPr id="12" name="TextBox 11">
            <a:extLst>
              <a:ext uri="{FF2B5EF4-FFF2-40B4-BE49-F238E27FC236}">
                <a16:creationId xmlns:a16="http://schemas.microsoft.com/office/drawing/2014/main" id="{CAEC57D0-AC67-44EF-AAC1-EB45706D89C7}"/>
              </a:ext>
            </a:extLst>
          </p:cNvPr>
          <p:cNvSpPr txBox="1"/>
          <p:nvPr/>
        </p:nvSpPr>
        <p:spPr>
          <a:xfrm>
            <a:off x="1816339" y="1596992"/>
            <a:ext cx="7385420" cy="4524315"/>
          </a:xfrm>
          <a:prstGeom prst="rect">
            <a:avLst/>
          </a:prstGeom>
          <a:noFill/>
        </p:spPr>
        <p:txBody>
          <a:bodyPr wrap="none" rtlCol="0">
            <a:spAutoFit/>
          </a:bodyPr>
          <a:lstStyle/>
          <a:p>
            <a:pPr marL="342900" indent="-342900">
              <a:buFont typeface="Arial" panose="020B0604020202020204" pitchFamily="34" charset="0"/>
              <a:buChar char="•"/>
            </a:pPr>
            <a:r>
              <a:rPr lang="en-AU" sz="2400" b="1" dirty="0">
                <a:latin typeface="+mj-lt"/>
              </a:rPr>
              <a:t>Sets of numbers</a:t>
            </a:r>
          </a:p>
          <a:p>
            <a:pPr marL="800100" lvl="1" indent="-342900">
              <a:buFont typeface="Arial" panose="020B0604020202020204" pitchFamily="34" charset="0"/>
              <a:buChar char="•"/>
            </a:pPr>
            <a:r>
              <a:rPr lang="en-AU" sz="2400" b="1" dirty="0">
                <a:latin typeface="+mj-lt"/>
              </a:rPr>
              <a:t>Real numbers, completeness, order, inequalities</a:t>
            </a:r>
          </a:p>
          <a:p>
            <a:pPr marL="342900" indent="-342900">
              <a:buFont typeface="Arial" panose="020B0604020202020204" pitchFamily="34" charset="0"/>
              <a:buChar char="•"/>
            </a:pPr>
            <a:r>
              <a:rPr lang="en-AU" sz="2400" b="1" dirty="0">
                <a:latin typeface="+mj-lt"/>
              </a:rPr>
              <a:t>Sets and their operations</a:t>
            </a:r>
          </a:p>
          <a:p>
            <a:pPr marL="800100" lvl="1" indent="-342900">
              <a:buFont typeface="Arial" panose="020B0604020202020204" pitchFamily="34" charset="0"/>
              <a:buChar char="•"/>
            </a:pPr>
            <a:r>
              <a:rPr lang="en-AU" sz="2400" b="1" dirty="0">
                <a:latin typeface="+mj-lt"/>
              </a:rPr>
              <a:t>Intervals (open and close)</a:t>
            </a:r>
          </a:p>
          <a:p>
            <a:pPr marL="800100" lvl="1" indent="-342900">
              <a:buFont typeface="Arial" panose="020B0604020202020204" pitchFamily="34" charset="0"/>
              <a:buChar char="•"/>
            </a:pPr>
            <a:r>
              <a:rPr lang="en-AU" sz="2400" b="1" dirty="0">
                <a:latin typeface="+mj-lt"/>
              </a:rPr>
              <a:t>Union, intersection, complement, subset, empty set</a:t>
            </a:r>
          </a:p>
          <a:p>
            <a:pPr marL="342900" lvl="1" indent="-342900">
              <a:buFont typeface="Arial" panose="020B0604020202020204" pitchFamily="34" charset="0"/>
              <a:buChar char="•"/>
            </a:pPr>
            <a:r>
              <a:rPr lang="en-AU" sz="2400" b="1" dirty="0">
                <a:latin typeface="+mj-lt"/>
              </a:rPr>
              <a:t>Natural numbers and the induction principle</a:t>
            </a:r>
          </a:p>
          <a:p>
            <a:pPr marL="342900" lvl="1" indent="-342900">
              <a:buFont typeface="Arial" panose="020B0604020202020204" pitchFamily="34" charset="0"/>
              <a:buChar char="•"/>
            </a:pPr>
            <a:endParaRPr lang="en-AU" sz="2400" b="1" dirty="0">
              <a:latin typeface="+mj-lt"/>
            </a:endParaRPr>
          </a:p>
          <a:p>
            <a:pPr marL="342900" lvl="1" indent="-342900">
              <a:buFont typeface="Arial" panose="020B0604020202020204" pitchFamily="34" charset="0"/>
              <a:buChar char="•"/>
            </a:pPr>
            <a:r>
              <a:rPr lang="en-AU" sz="2400" b="1" dirty="0">
                <a:latin typeface="+mj-lt"/>
              </a:rPr>
              <a:t>Functions and their properties</a:t>
            </a:r>
          </a:p>
          <a:p>
            <a:pPr marL="800100" lvl="2" indent="-342900">
              <a:buFont typeface="Arial" panose="020B0604020202020204" pitchFamily="34" charset="0"/>
              <a:buChar char="•"/>
            </a:pPr>
            <a:r>
              <a:rPr lang="en-AU" sz="2400" b="1" dirty="0">
                <a:latin typeface="+mj-lt"/>
              </a:rPr>
              <a:t>Definition of function, domain, range and graph</a:t>
            </a:r>
          </a:p>
          <a:p>
            <a:pPr marL="800100" lvl="2" indent="-342900">
              <a:buFont typeface="Arial" panose="020B0604020202020204" pitchFamily="34" charset="0"/>
              <a:buChar char="•"/>
            </a:pPr>
            <a:r>
              <a:rPr lang="en-AU" sz="2400" b="1" dirty="0">
                <a:latin typeface="+mj-lt"/>
              </a:rPr>
              <a:t>Natural domain</a:t>
            </a:r>
          </a:p>
          <a:p>
            <a:pPr marL="800100" lvl="2" indent="-342900">
              <a:buFont typeface="Arial" panose="020B0604020202020204" pitchFamily="34" charset="0"/>
              <a:buChar char="•"/>
            </a:pPr>
            <a:r>
              <a:rPr lang="en-AU" sz="2400" b="1" dirty="0">
                <a:latin typeface="+mj-lt"/>
              </a:rPr>
              <a:t>Composition of functions</a:t>
            </a:r>
          </a:p>
          <a:p>
            <a:pPr marL="800100" lvl="2" indent="-342900">
              <a:buFont typeface="Arial" panose="020B0604020202020204" pitchFamily="34" charset="0"/>
              <a:buChar char="•"/>
            </a:pPr>
            <a:r>
              <a:rPr lang="en-AU" sz="2400" b="1" dirty="0">
                <a:latin typeface="+mj-lt"/>
              </a:rPr>
              <a:t>Inverse of a function</a:t>
            </a:r>
            <a:endParaRPr lang="en-GB" sz="2400" b="1" dirty="0">
              <a:latin typeface="+mj-lt"/>
            </a:endParaRPr>
          </a:p>
        </p:txBody>
      </p:sp>
    </p:spTree>
    <p:extLst>
      <p:ext uri="{BB962C8B-B14F-4D97-AF65-F5344CB8AC3E}">
        <p14:creationId xmlns:p14="http://schemas.microsoft.com/office/powerpoint/2010/main" val="357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subTnLst>
                                    <p:animClr clrSpc="rgb" dir="cw">
                                      <p:cBhvr override="childStyle">
                                        <p:cTn dur="1" fill="hold" display="0" masterRel="nextClick" afterEffect="1"/>
                                        <p:tgtEl>
                                          <p:spTgt spid="12">
                                            <p:txEl>
                                              <p:pRg st="0" end="0"/>
                                            </p:txEl>
                                          </p:spTgt>
                                        </p:tgtEl>
                                        <p:attrNameLst>
                                          <p:attrName>ppt_c</p:attrName>
                                        </p:attrNameLst>
                                      </p:cBhvr>
                                      <p:to>
                                        <a:srgbClr val="90ABDC"/>
                                      </p:to>
                                    </p:animClr>
                                  </p:subTnLst>
                                </p:cTn>
                              </p:par>
                              <p:par>
                                <p:cTn id="8" presetID="22" presetClass="entr" presetSubtype="8"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wipe(left)">
                                      <p:cBhvr>
                                        <p:cTn id="10" dur="500"/>
                                        <p:tgtEl>
                                          <p:spTgt spid="12">
                                            <p:txEl>
                                              <p:pRg st="1" end="1"/>
                                            </p:txEl>
                                          </p:spTgt>
                                        </p:tgtEl>
                                      </p:cBhvr>
                                    </p:animEffect>
                                  </p:childTnLst>
                                  <p:subTnLst>
                                    <p:animClr clrSpc="rgb" dir="cw">
                                      <p:cBhvr override="childStyle">
                                        <p:cTn dur="1" fill="hold" display="0" masterRel="nextClick" afterEffect="1"/>
                                        <p:tgtEl>
                                          <p:spTgt spid="12">
                                            <p:txEl>
                                              <p:pRg st="1" end="1"/>
                                            </p:txEl>
                                          </p:spTgt>
                                        </p:tgtEl>
                                        <p:attrNameLst>
                                          <p:attrName>ppt_c</p:attrName>
                                        </p:attrNameLst>
                                      </p:cBhvr>
                                      <p:to>
                                        <a:srgbClr val="90ABDC"/>
                                      </p:to>
                                    </p:animClr>
                                  </p:sub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wipe(left)">
                                      <p:cBhvr>
                                        <p:cTn id="15" dur="500"/>
                                        <p:tgtEl>
                                          <p:spTgt spid="12">
                                            <p:txEl>
                                              <p:pRg st="2" end="2"/>
                                            </p:txEl>
                                          </p:spTgt>
                                        </p:tgtEl>
                                      </p:cBhvr>
                                    </p:animEffect>
                                  </p:childTnLst>
                                  <p:subTnLst>
                                    <p:animClr clrSpc="rgb" dir="cw">
                                      <p:cBhvr override="childStyle">
                                        <p:cTn dur="1" fill="hold" display="0" masterRel="nextClick" afterEffect="1"/>
                                        <p:tgtEl>
                                          <p:spTgt spid="12">
                                            <p:txEl>
                                              <p:pRg st="2" end="2"/>
                                            </p:txEl>
                                          </p:spTgt>
                                        </p:tgtEl>
                                        <p:attrNameLst>
                                          <p:attrName>ppt_c</p:attrName>
                                        </p:attrNameLst>
                                      </p:cBhvr>
                                      <p:to>
                                        <a:srgbClr val="90ABDC"/>
                                      </p:to>
                                    </p:animClr>
                                  </p:subTnLst>
                                </p:cTn>
                              </p:par>
                              <p:par>
                                <p:cTn id="16" presetID="22" presetClass="entr" presetSubtype="8" fill="hold" nodeType="withEffect">
                                  <p:stCondLst>
                                    <p:cond delay="0"/>
                                  </p:stCondLst>
                                  <p:childTnLst>
                                    <p:set>
                                      <p:cBhvr>
                                        <p:cTn id="17" dur="1" fill="hold">
                                          <p:stCondLst>
                                            <p:cond delay="0"/>
                                          </p:stCondLst>
                                        </p:cTn>
                                        <p:tgtEl>
                                          <p:spTgt spid="12">
                                            <p:txEl>
                                              <p:pRg st="3" end="3"/>
                                            </p:txEl>
                                          </p:spTgt>
                                        </p:tgtEl>
                                        <p:attrNameLst>
                                          <p:attrName>style.visibility</p:attrName>
                                        </p:attrNameLst>
                                      </p:cBhvr>
                                      <p:to>
                                        <p:strVal val="visible"/>
                                      </p:to>
                                    </p:set>
                                    <p:animEffect transition="in" filter="wipe(left)">
                                      <p:cBhvr>
                                        <p:cTn id="18" dur="500"/>
                                        <p:tgtEl>
                                          <p:spTgt spid="12">
                                            <p:txEl>
                                              <p:pRg st="3" end="3"/>
                                            </p:txEl>
                                          </p:spTgt>
                                        </p:tgtEl>
                                      </p:cBhvr>
                                    </p:animEffect>
                                  </p:childTnLst>
                                  <p:subTnLst>
                                    <p:animClr clrSpc="rgb" dir="cw">
                                      <p:cBhvr override="childStyle">
                                        <p:cTn dur="1" fill="hold" display="0" masterRel="nextClick" afterEffect="1"/>
                                        <p:tgtEl>
                                          <p:spTgt spid="12">
                                            <p:txEl>
                                              <p:pRg st="3" end="3"/>
                                            </p:txEl>
                                          </p:spTgt>
                                        </p:tgtEl>
                                        <p:attrNameLst>
                                          <p:attrName>ppt_c</p:attrName>
                                        </p:attrNameLst>
                                      </p:cBhvr>
                                      <p:to>
                                        <a:srgbClr val="90ABDC"/>
                                      </p:to>
                                    </p:animClr>
                                  </p:subTnLst>
                                </p:cTn>
                              </p:par>
                              <p:par>
                                <p:cTn id="19" presetID="22" presetClass="entr" presetSubtype="8"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wipe(left)">
                                      <p:cBhvr>
                                        <p:cTn id="21" dur="500"/>
                                        <p:tgtEl>
                                          <p:spTgt spid="12">
                                            <p:txEl>
                                              <p:pRg st="4" end="4"/>
                                            </p:txEl>
                                          </p:spTgt>
                                        </p:tgtEl>
                                      </p:cBhvr>
                                    </p:animEffect>
                                  </p:childTnLst>
                                  <p:subTnLst>
                                    <p:animClr clrSpc="rgb" dir="cw">
                                      <p:cBhvr override="childStyle">
                                        <p:cTn dur="1" fill="hold" display="0" masterRel="nextClick" afterEffect="1"/>
                                        <p:tgtEl>
                                          <p:spTgt spid="12">
                                            <p:txEl>
                                              <p:pRg st="4" end="4"/>
                                            </p:txEl>
                                          </p:spTgt>
                                        </p:tgtEl>
                                        <p:attrNameLst>
                                          <p:attrName>ppt_c</p:attrName>
                                        </p:attrNameLst>
                                      </p:cBhvr>
                                      <p:to>
                                        <a:srgbClr val="90ABDC"/>
                                      </p:to>
                                    </p:animClr>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xEl>
                                              <p:pRg st="5" end="5"/>
                                            </p:txEl>
                                          </p:spTgt>
                                        </p:tgtEl>
                                        <p:attrNameLst>
                                          <p:attrName>style.visibility</p:attrName>
                                        </p:attrNameLst>
                                      </p:cBhvr>
                                      <p:to>
                                        <p:strVal val="visible"/>
                                      </p:to>
                                    </p:set>
                                    <p:animEffect transition="in" filter="wipe(left)">
                                      <p:cBhvr>
                                        <p:cTn id="26" dur="500"/>
                                        <p:tgtEl>
                                          <p:spTgt spid="12">
                                            <p:txEl>
                                              <p:pRg st="5" end="5"/>
                                            </p:txEl>
                                          </p:spTgt>
                                        </p:tgtEl>
                                      </p:cBhvr>
                                    </p:animEffect>
                                  </p:childTnLst>
                                  <p:subTnLst>
                                    <p:animClr clrSpc="rgb" dir="cw">
                                      <p:cBhvr override="childStyle">
                                        <p:cTn dur="1" fill="hold" display="0" masterRel="nextClick" afterEffect="1"/>
                                        <p:tgtEl>
                                          <p:spTgt spid="12">
                                            <p:txEl>
                                              <p:pRg st="5" end="5"/>
                                            </p:txEl>
                                          </p:spTgt>
                                        </p:tgtEl>
                                        <p:attrNameLst>
                                          <p:attrName>ppt_c</p:attrName>
                                        </p:attrNameLst>
                                      </p:cBhvr>
                                      <p:to>
                                        <a:srgbClr val="90ABDC"/>
                                      </p:to>
                                    </p:animClr>
                                  </p:sub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animEffect transition="in" filter="wipe(left)">
                                      <p:cBhvr>
                                        <p:cTn id="31" dur="500"/>
                                        <p:tgtEl>
                                          <p:spTgt spid="12">
                                            <p:txEl>
                                              <p:pRg st="7" end="7"/>
                                            </p:txEl>
                                          </p:spTgt>
                                        </p:tgtEl>
                                      </p:cBhvr>
                                    </p:animEffect>
                                  </p:childTnLst>
                                  <p:subTnLst>
                                    <p:animClr clrSpc="rgb" dir="cw">
                                      <p:cBhvr override="childStyle">
                                        <p:cTn dur="1" fill="hold" display="0" masterRel="nextClick" afterEffect="1"/>
                                        <p:tgtEl>
                                          <p:spTgt spid="12">
                                            <p:txEl>
                                              <p:pRg st="7" end="7"/>
                                            </p:txEl>
                                          </p:spTgt>
                                        </p:tgtEl>
                                        <p:attrNameLst>
                                          <p:attrName>ppt_c</p:attrName>
                                        </p:attrNameLst>
                                      </p:cBhvr>
                                      <p:to>
                                        <a:srgbClr val="90ABDC"/>
                                      </p:to>
                                    </p:animClr>
                                  </p:sub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2">
                                            <p:txEl>
                                              <p:pRg st="8" end="8"/>
                                            </p:txEl>
                                          </p:spTgt>
                                        </p:tgtEl>
                                        <p:attrNameLst>
                                          <p:attrName>style.visibility</p:attrName>
                                        </p:attrNameLst>
                                      </p:cBhvr>
                                      <p:to>
                                        <p:strVal val="visible"/>
                                      </p:to>
                                    </p:set>
                                    <p:animEffect transition="in" filter="wipe(left)">
                                      <p:cBhvr>
                                        <p:cTn id="36" dur="500"/>
                                        <p:tgtEl>
                                          <p:spTgt spid="12">
                                            <p:txEl>
                                              <p:pRg st="8" end="8"/>
                                            </p:txEl>
                                          </p:spTgt>
                                        </p:tgtEl>
                                      </p:cBhvr>
                                    </p:animEffect>
                                  </p:childTnLst>
                                  <p:subTnLst>
                                    <p:animClr clrSpc="rgb" dir="cw">
                                      <p:cBhvr override="childStyle">
                                        <p:cTn dur="1" fill="hold" display="0" masterRel="nextClick" afterEffect="1"/>
                                        <p:tgtEl>
                                          <p:spTgt spid="12">
                                            <p:txEl>
                                              <p:pRg st="8" end="8"/>
                                            </p:txEl>
                                          </p:spTgt>
                                        </p:tgtEl>
                                        <p:attrNameLst>
                                          <p:attrName>ppt_c</p:attrName>
                                        </p:attrNameLst>
                                      </p:cBhvr>
                                      <p:to>
                                        <a:srgbClr val="90ABDC"/>
                                      </p:to>
                                    </p:animClr>
                                  </p:sub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2">
                                            <p:txEl>
                                              <p:pRg st="9" end="9"/>
                                            </p:txEl>
                                          </p:spTgt>
                                        </p:tgtEl>
                                        <p:attrNameLst>
                                          <p:attrName>style.visibility</p:attrName>
                                        </p:attrNameLst>
                                      </p:cBhvr>
                                      <p:to>
                                        <p:strVal val="visible"/>
                                      </p:to>
                                    </p:set>
                                    <p:animEffect transition="in" filter="wipe(left)">
                                      <p:cBhvr>
                                        <p:cTn id="41" dur="500"/>
                                        <p:tgtEl>
                                          <p:spTgt spid="12">
                                            <p:txEl>
                                              <p:pRg st="9" end="9"/>
                                            </p:txEl>
                                          </p:spTgt>
                                        </p:tgtEl>
                                      </p:cBhvr>
                                    </p:animEffect>
                                  </p:childTnLst>
                                  <p:subTnLst>
                                    <p:animClr clrSpc="rgb" dir="cw">
                                      <p:cBhvr override="childStyle">
                                        <p:cTn dur="1" fill="hold" display="0" masterRel="nextClick" afterEffect="1"/>
                                        <p:tgtEl>
                                          <p:spTgt spid="12">
                                            <p:txEl>
                                              <p:pRg st="9" end="9"/>
                                            </p:txEl>
                                          </p:spTgt>
                                        </p:tgtEl>
                                        <p:attrNameLst>
                                          <p:attrName>ppt_c</p:attrName>
                                        </p:attrNameLst>
                                      </p:cBhvr>
                                      <p:to>
                                        <a:srgbClr val="90ABDC"/>
                                      </p:to>
                                    </p:animClr>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2">
                                            <p:txEl>
                                              <p:pRg st="10" end="10"/>
                                            </p:txEl>
                                          </p:spTgt>
                                        </p:tgtEl>
                                        <p:attrNameLst>
                                          <p:attrName>style.visibility</p:attrName>
                                        </p:attrNameLst>
                                      </p:cBhvr>
                                      <p:to>
                                        <p:strVal val="visible"/>
                                      </p:to>
                                    </p:set>
                                    <p:animEffect transition="in" filter="wipe(left)">
                                      <p:cBhvr>
                                        <p:cTn id="46" dur="500"/>
                                        <p:tgtEl>
                                          <p:spTgt spid="12">
                                            <p:txEl>
                                              <p:pRg st="10" end="10"/>
                                            </p:txEl>
                                          </p:spTgt>
                                        </p:tgtEl>
                                      </p:cBhvr>
                                    </p:animEffect>
                                  </p:childTnLst>
                                  <p:subTnLst>
                                    <p:animClr clrSpc="rgb" dir="cw">
                                      <p:cBhvr override="childStyle">
                                        <p:cTn dur="1" fill="hold" display="0" masterRel="nextClick" afterEffect="1"/>
                                        <p:tgtEl>
                                          <p:spTgt spid="12">
                                            <p:txEl>
                                              <p:pRg st="10" end="10"/>
                                            </p:txEl>
                                          </p:spTgt>
                                        </p:tgtEl>
                                        <p:attrNameLst>
                                          <p:attrName>ppt_c</p:attrName>
                                        </p:attrNameLst>
                                      </p:cBhvr>
                                      <p:to>
                                        <a:srgbClr val="90ABDC"/>
                                      </p:to>
                                    </p:animClr>
                                  </p:sub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2">
                                            <p:txEl>
                                              <p:pRg st="11" end="11"/>
                                            </p:txEl>
                                          </p:spTgt>
                                        </p:tgtEl>
                                        <p:attrNameLst>
                                          <p:attrName>style.visibility</p:attrName>
                                        </p:attrNameLst>
                                      </p:cBhvr>
                                      <p:to>
                                        <p:strVal val="visible"/>
                                      </p:to>
                                    </p:set>
                                    <p:animEffect transition="in" filter="wipe(left)">
                                      <p:cBhvr>
                                        <p:cTn id="51" dur="500"/>
                                        <p:tgtEl>
                                          <p:spTgt spid="12">
                                            <p:txEl>
                                              <p:pRg st="11" end="11"/>
                                            </p:txEl>
                                          </p:spTgt>
                                        </p:tgtEl>
                                      </p:cBhvr>
                                    </p:animEffect>
                                  </p:childTnLst>
                                  <p:subTnLst>
                                    <p:animClr clrSpc="rgb" dir="cw">
                                      <p:cBhvr override="childStyle">
                                        <p:cTn dur="1" fill="hold" display="0" masterRel="nextClick" afterEffect="1"/>
                                        <p:tgtEl>
                                          <p:spTgt spid="12">
                                            <p:txEl>
                                              <p:pRg st="11" end="11"/>
                                            </p:txEl>
                                          </p:spTgt>
                                        </p:tgtEl>
                                        <p:attrNameLst>
                                          <p:attrName>ppt_c</p:attrName>
                                        </p:attrNameLst>
                                      </p:cBhvr>
                                      <p:to>
                                        <a:srgbClr val="90ABDC"/>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2"/>
              <p:cNvSpPr txBox="1">
                <a:spLocks/>
              </p:cNvSpPr>
              <p:nvPr/>
            </p:nvSpPr>
            <p:spPr>
              <a:xfrm>
                <a:off x="5813542" y="1480637"/>
                <a:ext cx="5124047" cy="27220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
                </a:pPr>
                <a:r>
                  <a:rPr lang="en-AU" b="1" dirty="0">
                    <a:solidFill>
                      <a:schemeClr val="accent6"/>
                    </a:solidFill>
                    <a:latin typeface="+mj-lt"/>
                  </a:rPr>
                  <a:t>Natural</a:t>
                </a:r>
                <a:r>
                  <a:rPr lang="en-AU" b="1" dirty="0">
                    <a:latin typeface="+mj-lt"/>
                  </a:rPr>
                  <a:t> (</a:t>
                </a:r>
                <a14:m>
                  <m:oMath xmlns:m="http://schemas.openxmlformats.org/officeDocument/2006/math">
                    <m:r>
                      <a:rPr lang="en-AU" b="1" i="1" smtClean="0">
                        <a:latin typeface="Cambria Math" panose="02040503050406030204" pitchFamily="18" charset="0"/>
                        <a:ea typeface="Cambria Math" panose="02040503050406030204" pitchFamily="18" charset="0"/>
                      </a:rPr>
                      <m:t>ℕ</m:t>
                    </m:r>
                  </m:oMath>
                </a14:m>
                <a:r>
                  <a:rPr lang="en-AU" b="1" dirty="0">
                    <a:latin typeface="+mj-lt"/>
                  </a:rPr>
                  <a:t>) </a:t>
                </a:r>
                <a:r>
                  <a:rPr lang="en-AU" dirty="0">
                    <a:latin typeface="+mj-lt"/>
                  </a:rPr>
                  <a:t>– numbers you can count with (non-negative whole numbers)</a:t>
                </a:r>
              </a:p>
              <a:p>
                <a:r>
                  <a:rPr lang="en-AU" dirty="0">
                    <a:latin typeface="+mj-lt"/>
                  </a:rPr>
                  <a:t>1, 2, 3, 4,…</a:t>
                </a:r>
              </a:p>
              <a:p>
                <a:pPr algn="l"/>
                <a:r>
                  <a:rPr lang="en-AU" b="0" dirty="0"/>
                  <a:t>	We write: </a:t>
                </a:r>
                <a14:m>
                  <m:oMath xmlns:m="http://schemas.openxmlformats.org/officeDocument/2006/math">
                    <m:r>
                      <a:rPr lang="en-AU" b="0" i="1" smtClean="0">
                        <a:latin typeface="Cambria Math" panose="02040503050406030204" pitchFamily="18" charset="0"/>
                      </a:rPr>
                      <m:t>𝑛</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ℕ</m:t>
                    </m:r>
                  </m:oMath>
                </a14:m>
                <a:r>
                  <a:rPr lang="en-AU" dirty="0">
                    <a:latin typeface="+mj-lt"/>
                  </a:rPr>
                  <a:t> </a:t>
                </a:r>
                <a:br>
                  <a:rPr lang="en-AU" dirty="0">
                    <a:latin typeface="+mj-lt"/>
                  </a:rPr>
                </a:br>
                <a:endParaRPr lang="en-AU" dirty="0">
                  <a:latin typeface="+mj-lt"/>
                </a:endParaRPr>
              </a:p>
              <a:p>
                <a:pPr marL="342900" indent="-342900" algn="l">
                  <a:buFont typeface="Wingdings" panose="05000000000000000000" pitchFamily="2" charset="2"/>
                  <a:buChar char="§"/>
                </a:pPr>
                <a:r>
                  <a:rPr lang="en-AU" b="1" dirty="0">
                    <a:solidFill>
                      <a:srgbClr val="C00000"/>
                    </a:solidFill>
                    <a:latin typeface="+mj-lt"/>
                  </a:rPr>
                  <a:t>Negative whole numbers</a:t>
                </a:r>
              </a:p>
              <a:p>
                <a:r>
                  <a:rPr lang="en-AU" dirty="0">
                    <a:latin typeface="+mj-lt"/>
                  </a:rPr>
                  <a:t>-1, -2, -3, -4,…</a:t>
                </a:r>
              </a:p>
              <a:p>
                <a:pPr marL="342900" indent="-342900" algn="l">
                  <a:buFont typeface="Wingdings" panose="05000000000000000000" pitchFamily="2" charset="2"/>
                  <a:buChar char="§"/>
                </a:pPr>
                <a:endParaRPr lang="en-AU" dirty="0">
                  <a:latin typeface="+mj-lt"/>
                </a:endParaRPr>
              </a:p>
              <a:p>
                <a:pPr algn="l"/>
                <a:endParaRPr lang="en-AU" dirty="0">
                  <a:latin typeface="+mj-lt"/>
                </a:endParaRP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5813542" y="1480637"/>
                <a:ext cx="5124047" cy="2722083"/>
              </a:xfrm>
              <a:prstGeom prst="rect">
                <a:avLst/>
              </a:prstGeom>
              <a:blipFill>
                <a:blip r:embed="rId2"/>
                <a:stretch>
                  <a:fillRect l="-1667" t="-3139" r="-1429" b="-11883"/>
                </a:stretch>
              </a:blipFill>
            </p:spPr>
            <p:txBody>
              <a:bodyPr/>
              <a:lstStyle/>
              <a:p>
                <a:r>
                  <a:rPr lang="en-AU">
                    <a:noFill/>
                  </a:rPr>
                  <a:t> </a:t>
                </a:r>
              </a:p>
            </p:txBody>
          </p:sp>
        </mc:Fallback>
      </mc:AlternateContent>
      <p:sp>
        <p:nvSpPr>
          <p:cNvPr id="6" name="Right Brace 5"/>
          <p:cNvSpPr/>
          <p:nvPr/>
        </p:nvSpPr>
        <p:spPr>
          <a:xfrm rot="10800000">
            <a:off x="5031093" y="1499416"/>
            <a:ext cx="549499" cy="2755903"/>
          </a:xfrm>
          <a:prstGeom prst="rightBrac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975837" y="2416685"/>
                <a:ext cx="3959942" cy="120916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AU" dirty="0">
                    <a:latin typeface="+mj-lt"/>
                  </a:rPr>
                  <a:t>Together with </a:t>
                </a:r>
                <a:r>
                  <a:rPr lang="en-AU" b="1" dirty="0">
                    <a:solidFill>
                      <a:schemeClr val="accent4">
                        <a:lumMod val="75000"/>
                      </a:schemeClr>
                    </a:solidFill>
                    <a:latin typeface="+mj-lt"/>
                  </a:rPr>
                  <a:t>zero</a:t>
                </a:r>
                <a:r>
                  <a:rPr lang="en-AU" dirty="0">
                    <a:latin typeface="+mj-lt"/>
                  </a:rPr>
                  <a:t> they make:</a:t>
                </a:r>
                <a:endParaRPr lang="en-AU" b="1" dirty="0">
                  <a:latin typeface="+mj-lt"/>
                </a:endParaRPr>
              </a:p>
              <a:p>
                <a:pPr algn="l"/>
                <a:r>
                  <a:rPr lang="en-AU" b="1" dirty="0">
                    <a:latin typeface="+mj-lt"/>
                  </a:rPr>
                  <a:t>Integer (</a:t>
                </a:r>
                <a14:m>
                  <m:oMath xmlns:m="http://schemas.openxmlformats.org/officeDocument/2006/math">
                    <m:r>
                      <a:rPr lang="en-AU" b="1" i="1" dirty="0" smtClean="0">
                        <a:latin typeface="Cambria Math" panose="02040503050406030204" pitchFamily="18" charset="0"/>
                        <a:ea typeface="Cambria Math" panose="02040503050406030204" pitchFamily="18" charset="0"/>
                      </a:rPr>
                      <m:t>ℤ</m:t>
                    </m:r>
                  </m:oMath>
                </a14:m>
                <a:r>
                  <a:rPr lang="en-AU" b="1" dirty="0">
                    <a:latin typeface="+mj-lt"/>
                  </a:rPr>
                  <a:t>) numbers</a:t>
                </a:r>
              </a:p>
              <a:p>
                <a:pPr algn="l"/>
                <a:r>
                  <a:rPr lang="en-AU" dirty="0">
                    <a:latin typeface="+mj-lt"/>
                  </a:rPr>
                  <a:t>We write: </a:t>
                </a:r>
                <a14:m>
                  <m:oMath xmlns:m="http://schemas.openxmlformats.org/officeDocument/2006/math">
                    <m:r>
                      <a:rPr lang="en-AU" b="0" i="1" smtClean="0">
                        <a:latin typeface="Cambria Math" panose="02040503050406030204" pitchFamily="18" charset="0"/>
                      </a:rPr>
                      <m:t>𝑧</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ℤ</m:t>
                    </m:r>
                  </m:oMath>
                </a14:m>
                <a:endParaRPr lang="en-AU" dirty="0">
                  <a:latin typeface="+mj-lt"/>
                </a:endParaRPr>
              </a:p>
              <a:p>
                <a:pPr algn="l"/>
                <a:endParaRPr lang="en-AU" dirty="0">
                  <a:latin typeface="+mj-lt"/>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975837" y="2416685"/>
                <a:ext cx="3959942" cy="1209165"/>
              </a:xfrm>
              <a:prstGeom prst="rect">
                <a:avLst/>
              </a:prstGeom>
              <a:blipFill>
                <a:blip r:embed="rId3"/>
                <a:stretch>
                  <a:fillRect l="-2308" t="-7035" r="-308" b="-21608"/>
                </a:stretch>
              </a:blipFill>
            </p:spPr>
            <p:txBody>
              <a:bodyPr/>
              <a:lstStyle/>
              <a:p>
                <a:r>
                  <a:rPr lang="en-AU">
                    <a:noFill/>
                  </a:rPr>
                  <a:t> </a:t>
                </a:r>
              </a:p>
            </p:txBody>
          </p:sp>
        </mc:Fallback>
      </mc:AlternateContent>
      <p:sp>
        <p:nvSpPr>
          <p:cNvPr id="3" name="Rectangle 2">
            <a:extLst>
              <a:ext uri="{FF2B5EF4-FFF2-40B4-BE49-F238E27FC236}">
                <a16:creationId xmlns:a16="http://schemas.microsoft.com/office/drawing/2014/main" id="{94B0B524-DA3B-4EB3-B9A6-E5B412868D17}"/>
              </a:ext>
            </a:extLst>
          </p:cNvPr>
          <p:cNvSpPr/>
          <p:nvPr/>
        </p:nvSpPr>
        <p:spPr>
          <a:xfrm>
            <a:off x="9555880" y="3371921"/>
            <a:ext cx="1698955" cy="1095416"/>
          </a:xfrm>
          <a:prstGeom prst="rect">
            <a:avLst/>
          </a:prstGeom>
          <a:noFill/>
          <a:ln>
            <a:solidFill>
              <a:srgbClr val="6C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solidFill>
                  <a:srgbClr val="C00000"/>
                </a:solidFill>
              </a:rPr>
              <a:t>7</a:t>
            </a:r>
            <a:r>
              <a:rPr lang="en-GB" baseline="30000" dirty="0">
                <a:solidFill>
                  <a:srgbClr val="C00000"/>
                </a:solidFill>
              </a:rPr>
              <a:t>th</a:t>
            </a:r>
            <a:r>
              <a:rPr lang="en-GB" dirty="0">
                <a:solidFill>
                  <a:srgbClr val="C00000"/>
                </a:solidFill>
              </a:rPr>
              <a:t> century AD India to represent debt</a:t>
            </a:r>
          </a:p>
        </p:txBody>
      </p:sp>
      <p:grpSp>
        <p:nvGrpSpPr>
          <p:cNvPr id="43" name="Group 42"/>
          <p:cNvGrpSpPr/>
          <p:nvPr/>
        </p:nvGrpSpPr>
        <p:grpSpPr>
          <a:xfrm>
            <a:off x="3235909" y="5204806"/>
            <a:ext cx="5289871" cy="891367"/>
            <a:chOff x="3530156" y="5677507"/>
            <a:chExt cx="5289871" cy="891367"/>
          </a:xfrm>
        </p:grpSpPr>
        <p:cxnSp>
          <p:nvCxnSpPr>
            <p:cNvPr id="4" name="Straight Arrow Connector 3"/>
            <p:cNvCxnSpPr/>
            <p:nvPr/>
          </p:nvCxnSpPr>
          <p:spPr>
            <a:xfrm>
              <a:off x="3858178" y="5987845"/>
              <a:ext cx="46722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096000"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69773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24637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78911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42549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97413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551687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944339" y="6193643"/>
              <a:ext cx="301686" cy="369332"/>
            </a:xfrm>
            <a:prstGeom prst="rect">
              <a:avLst/>
            </a:prstGeom>
            <a:noFill/>
          </p:spPr>
          <p:txBody>
            <a:bodyPr wrap="none" rtlCol="0">
              <a:spAutoFit/>
            </a:bodyPr>
            <a:lstStyle/>
            <a:p>
              <a:r>
                <a:rPr lang="en-AU" b="1" dirty="0">
                  <a:solidFill>
                    <a:schemeClr val="accent4">
                      <a:lumMod val="75000"/>
                    </a:schemeClr>
                  </a:solidFill>
                </a:rPr>
                <a:t>0</a:t>
              </a:r>
            </a:p>
          </p:txBody>
        </p:sp>
        <p:sp>
          <p:nvSpPr>
            <p:cNvPr id="31" name="TextBox 30"/>
            <p:cNvSpPr txBox="1"/>
            <p:nvPr/>
          </p:nvSpPr>
          <p:spPr>
            <a:xfrm>
              <a:off x="6546891" y="6188727"/>
              <a:ext cx="301686" cy="369332"/>
            </a:xfrm>
            <a:prstGeom prst="rect">
              <a:avLst/>
            </a:prstGeom>
            <a:noFill/>
          </p:spPr>
          <p:txBody>
            <a:bodyPr wrap="none" rtlCol="0">
              <a:spAutoFit/>
            </a:bodyPr>
            <a:lstStyle/>
            <a:p>
              <a:r>
                <a:rPr lang="en-AU" b="1" dirty="0">
                  <a:solidFill>
                    <a:schemeClr val="accent6"/>
                  </a:solidFill>
                </a:rPr>
                <a:t>1</a:t>
              </a:r>
            </a:p>
          </p:txBody>
        </p:sp>
        <p:sp>
          <p:nvSpPr>
            <p:cNvPr id="32" name="TextBox 31"/>
            <p:cNvSpPr txBox="1"/>
            <p:nvPr/>
          </p:nvSpPr>
          <p:spPr>
            <a:xfrm>
              <a:off x="7094930" y="6199542"/>
              <a:ext cx="301686" cy="369332"/>
            </a:xfrm>
            <a:prstGeom prst="rect">
              <a:avLst/>
            </a:prstGeom>
            <a:noFill/>
          </p:spPr>
          <p:txBody>
            <a:bodyPr wrap="none" rtlCol="0">
              <a:spAutoFit/>
            </a:bodyPr>
            <a:lstStyle/>
            <a:p>
              <a:r>
                <a:rPr lang="en-AU" b="1" dirty="0">
                  <a:solidFill>
                    <a:schemeClr val="accent6"/>
                  </a:solidFill>
                </a:rPr>
                <a:t>2</a:t>
              </a:r>
            </a:p>
          </p:txBody>
        </p:sp>
        <p:sp>
          <p:nvSpPr>
            <p:cNvPr id="33" name="TextBox 32"/>
            <p:cNvSpPr txBox="1"/>
            <p:nvPr/>
          </p:nvSpPr>
          <p:spPr>
            <a:xfrm>
              <a:off x="7643569" y="6193643"/>
              <a:ext cx="301686" cy="369332"/>
            </a:xfrm>
            <a:prstGeom prst="rect">
              <a:avLst/>
            </a:prstGeom>
            <a:noFill/>
          </p:spPr>
          <p:txBody>
            <a:bodyPr wrap="none" rtlCol="0">
              <a:spAutoFit/>
            </a:bodyPr>
            <a:lstStyle/>
            <a:p>
              <a:r>
                <a:rPr lang="en-AU" b="1" dirty="0">
                  <a:solidFill>
                    <a:schemeClr val="accent6"/>
                  </a:solidFill>
                </a:rPr>
                <a:t>3</a:t>
              </a:r>
            </a:p>
          </p:txBody>
        </p:sp>
        <p:sp>
          <p:nvSpPr>
            <p:cNvPr id="34" name="TextBox 33"/>
            <p:cNvSpPr txBox="1"/>
            <p:nvPr/>
          </p:nvSpPr>
          <p:spPr>
            <a:xfrm>
              <a:off x="8433383" y="5677507"/>
              <a:ext cx="386644" cy="369332"/>
            </a:xfrm>
            <a:prstGeom prst="rect">
              <a:avLst/>
            </a:prstGeom>
            <a:noFill/>
          </p:spPr>
          <p:txBody>
            <a:bodyPr wrap="none" rtlCol="0">
              <a:spAutoFit/>
            </a:bodyPr>
            <a:lstStyle/>
            <a:p>
              <a:r>
                <a:rPr lang="en-AU" dirty="0"/>
                <a:t>ꚙ</a:t>
              </a:r>
            </a:p>
          </p:txBody>
        </p:sp>
        <p:sp>
          <p:nvSpPr>
            <p:cNvPr id="35" name="TextBox 34"/>
            <p:cNvSpPr txBox="1"/>
            <p:nvPr/>
          </p:nvSpPr>
          <p:spPr>
            <a:xfrm>
              <a:off x="3530156" y="5677507"/>
              <a:ext cx="609462" cy="369332"/>
            </a:xfrm>
            <a:prstGeom prst="rect">
              <a:avLst/>
            </a:prstGeom>
            <a:noFill/>
          </p:spPr>
          <p:txBody>
            <a:bodyPr wrap="none" rtlCol="0">
              <a:spAutoFit/>
            </a:bodyPr>
            <a:lstStyle/>
            <a:p>
              <a:r>
                <a:rPr lang="en-AU" dirty="0"/>
                <a:t>– ꚙ </a:t>
              </a:r>
            </a:p>
          </p:txBody>
        </p:sp>
        <p:cxnSp>
          <p:nvCxnSpPr>
            <p:cNvPr id="37" name="Straight Connector 36"/>
            <p:cNvCxnSpPr/>
            <p:nvPr/>
          </p:nvCxnSpPr>
          <p:spPr>
            <a:xfrm>
              <a:off x="442549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97413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51687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239390" y="6188727"/>
              <a:ext cx="372218" cy="369332"/>
            </a:xfrm>
            <a:prstGeom prst="rect">
              <a:avLst/>
            </a:prstGeom>
            <a:noFill/>
          </p:spPr>
          <p:txBody>
            <a:bodyPr wrap="none" rtlCol="0">
              <a:spAutoFit/>
            </a:bodyPr>
            <a:lstStyle/>
            <a:p>
              <a:r>
                <a:rPr lang="en-AU" b="1" dirty="0">
                  <a:solidFill>
                    <a:srgbClr val="C00000"/>
                  </a:solidFill>
                </a:rPr>
                <a:t>-3</a:t>
              </a:r>
            </a:p>
          </p:txBody>
        </p:sp>
        <p:sp>
          <p:nvSpPr>
            <p:cNvPr id="41" name="TextBox 40"/>
            <p:cNvSpPr txBox="1"/>
            <p:nvPr/>
          </p:nvSpPr>
          <p:spPr>
            <a:xfrm>
              <a:off x="4782429" y="6199542"/>
              <a:ext cx="372218" cy="369332"/>
            </a:xfrm>
            <a:prstGeom prst="rect">
              <a:avLst/>
            </a:prstGeom>
            <a:noFill/>
          </p:spPr>
          <p:txBody>
            <a:bodyPr wrap="none" rtlCol="0">
              <a:spAutoFit/>
            </a:bodyPr>
            <a:lstStyle/>
            <a:p>
              <a:r>
                <a:rPr lang="en-AU" b="1" dirty="0">
                  <a:solidFill>
                    <a:srgbClr val="C00000"/>
                  </a:solidFill>
                </a:rPr>
                <a:t>-2</a:t>
              </a:r>
            </a:p>
          </p:txBody>
        </p:sp>
        <p:sp>
          <p:nvSpPr>
            <p:cNvPr id="42" name="TextBox 41"/>
            <p:cNvSpPr txBox="1"/>
            <p:nvPr/>
          </p:nvSpPr>
          <p:spPr>
            <a:xfrm>
              <a:off x="5325168" y="6199542"/>
              <a:ext cx="372218" cy="369332"/>
            </a:xfrm>
            <a:prstGeom prst="rect">
              <a:avLst/>
            </a:prstGeom>
            <a:noFill/>
          </p:spPr>
          <p:txBody>
            <a:bodyPr wrap="none" rtlCol="0">
              <a:spAutoFit/>
            </a:bodyPr>
            <a:lstStyle/>
            <a:p>
              <a:r>
                <a:rPr lang="en-AU" b="1" dirty="0">
                  <a:solidFill>
                    <a:srgbClr val="C00000"/>
                  </a:solidFill>
                </a:rPr>
                <a:t>-1</a:t>
              </a:r>
            </a:p>
          </p:txBody>
        </p:sp>
      </p:grpSp>
      <p:grpSp>
        <p:nvGrpSpPr>
          <p:cNvPr id="29" name="Group 28">
            <a:extLst>
              <a:ext uri="{FF2B5EF4-FFF2-40B4-BE49-F238E27FC236}">
                <a16:creationId xmlns:a16="http://schemas.microsoft.com/office/drawing/2014/main" id="{2F437120-C197-468E-B8A0-582D1BFBE47F}"/>
              </a:ext>
            </a:extLst>
          </p:cNvPr>
          <p:cNvGrpSpPr/>
          <p:nvPr/>
        </p:nvGrpSpPr>
        <p:grpSpPr>
          <a:xfrm>
            <a:off x="0" y="361"/>
            <a:ext cx="12192000" cy="825314"/>
            <a:chOff x="0" y="213019"/>
            <a:chExt cx="12192000" cy="825314"/>
          </a:xfrm>
          <a:solidFill>
            <a:schemeClr val="accent2">
              <a:lumMod val="50000"/>
            </a:schemeClr>
          </a:solidFill>
        </p:grpSpPr>
        <p:sp>
          <p:nvSpPr>
            <p:cNvPr id="36" name="Rectangle 35">
              <a:extLst>
                <a:ext uri="{FF2B5EF4-FFF2-40B4-BE49-F238E27FC236}">
                  <a16:creationId xmlns:a16="http://schemas.microsoft.com/office/drawing/2014/main" id="{464A47B0-EA3C-4D4A-9A73-F442B5726F3D}"/>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3F6734EA-F408-4533-BC38-2C005709EDC1}"/>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8C226DBA-28B4-456E-819F-88F519644982}"/>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6" name="TextBox 45">
            <a:extLst>
              <a:ext uri="{FF2B5EF4-FFF2-40B4-BE49-F238E27FC236}">
                <a16:creationId xmlns:a16="http://schemas.microsoft.com/office/drawing/2014/main" id="{E7278E25-C871-4FED-8FA0-9BEDDF80E0C8}"/>
              </a:ext>
            </a:extLst>
          </p:cNvPr>
          <p:cNvSpPr txBox="1"/>
          <p:nvPr/>
        </p:nvSpPr>
        <p:spPr>
          <a:xfrm>
            <a:off x="66245" y="124632"/>
            <a:ext cx="6477992" cy="523220"/>
          </a:xfrm>
          <a:prstGeom prst="rect">
            <a:avLst/>
          </a:prstGeom>
          <a:noFill/>
        </p:spPr>
        <p:txBody>
          <a:bodyPr wrap="none" rtlCol="0">
            <a:spAutoFit/>
          </a:bodyPr>
          <a:lstStyle/>
          <a:p>
            <a:r>
              <a:rPr lang="en-AU" sz="2800" b="1" cap="small" dirty="0">
                <a:solidFill>
                  <a:schemeClr val="bg1"/>
                </a:solidFill>
                <a:latin typeface="+mj-lt"/>
              </a:rPr>
              <a:t>1.1 Numbers, sets, completeness and ordering</a:t>
            </a:r>
            <a:endParaRPr lang="en-GB" sz="2800" b="1" cap="small" dirty="0">
              <a:solidFill>
                <a:schemeClr val="bg1"/>
              </a:solidFill>
              <a:latin typeface="+mj-lt"/>
            </a:endParaRPr>
          </a:p>
        </p:txBody>
      </p:sp>
    </p:spTree>
    <p:extLst>
      <p:ext uri="{BB962C8B-B14F-4D97-AF65-F5344CB8AC3E}">
        <p14:creationId xmlns:p14="http://schemas.microsoft.com/office/powerpoint/2010/main" val="290211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2"/>
              <p:cNvSpPr txBox="1">
                <a:spLocks/>
              </p:cNvSpPr>
              <p:nvPr/>
            </p:nvSpPr>
            <p:spPr>
              <a:xfrm>
                <a:off x="5832152" y="1277769"/>
                <a:ext cx="5775166" cy="36146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
                </a:pPr>
                <a:r>
                  <a:rPr lang="en-AU" b="1" dirty="0">
                    <a:solidFill>
                      <a:srgbClr val="7030A0"/>
                    </a:solidFill>
                    <a:latin typeface="+mj-lt"/>
                  </a:rPr>
                  <a:t>Rational</a:t>
                </a:r>
                <a:r>
                  <a:rPr lang="en-AU" b="1" dirty="0">
                    <a:latin typeface="+mj-lt"/>
                  </a:rPr>
                  <a:t> (</a:t>
                </a:r>
                <a14:m>
                  <m:oMath xmlns:m="http://schemas.openxmlformats.org/officeDocument/2006/math">
                    <m:r>
                      <a:rPr lang="en-AU" b="1" i="1" smtClean="0">
                        <a:latin typeface="Cambria Math" panose="02040503050406030204" pitchFamily="18" charset="0"/>
                        <a:ea typeface="Cambria Math" panose="02040503050406030204" pitchFamily="18" charset="0"/>
                      </a:rPr>
                      <m:t>ℚ</m:t>
                    </m:r>
                  </m:oMath>
                </a14:m>
                <a:r>
                  <a:rPr lang="en-AU" b="1" dirty="0">
                    <a:latin typeface="+mj-lt"/>
                  </a:rPr>
                  <a:t>) </a:t>
                </a:r>
                <a:r>
                  <a:rPr lang="en-AU" dirty="0">
                    <a:latin typeface="+mj-lt"/>
                  </a:rPr>
                  <a:t>– numbers that can be written as the ratio of two integers, e.g.</a:t>
                </a:r>
              </a:p>
              <a:p>
                <a14:m>
                  <m:oMath xmlns:m="http://schemas.openxmlformats.org/officeDocument/2006/math">
                    <m:box>
                      <m:boxPr>
                        <m:ctrlPr>
                          <a:rPr lang="en-AU" i="1" smtClean="0">
                            <a:latin typeface="Cambria Math" panose="02040503050406030204" pitchFamily="18" charset="0"/>
                          </a:rPr>
                        </m:ctrlPr>
                      </m:boxPr>
                      <m:e>
                        <m:argPr>
                          <m:argSz m:val="-1"/>
                        </m:argPr>
                        <m:f>
                          <m:fPr>
                            <m:ctrlPr>
                              <a:rPr lang="en-AU"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den>
                        </m:f>
                      </m:e>
                    </m:box>
                  </m:oMath>
                </a14:m>
                <a:r>
                  <a:rPr lang="en-AU" dirty="0">
                    <a:latin typeface="+mj-lt"/>
                  </a:rPr>
                  <a:t>, </a:t>
                </a:r>
                <a14:m>
                  <m:oMath xmlns:m="http://schemas.openxmlformats.org/officeDocument/2006/math">
                    <m:box>
                      <m:boxPr>
                        <m:ctrlPr>
                          <a:rPr lang="en-AU" i="1" smtClean="0">
                            <a:latin typeface="Cambria Math" panose="02040503050406030204" pitchFamily="18" charset="0"/>
                          </a:rPr>
                        </m:ctrlPr>
                      </m:boxPr>
                      <m:e>
                        <m:argPr>
                          <m:argSz m:val="-1"/>
                        </m:argPr>
                        <m:f>
                          <m:fPr>
                            <m:ctrlPr>
                              <a:rPr lang="en-AU"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3</m:t>
                            </m:r>
                          </m:den>
                        </m:f>
                      </m:e>
                    </m:box>
                  </m:oMath>
                </a14:m>
                <a:r>
                  <a:rPr lang="en-AU" dirty="0">
                    <a:latin typeface="+mj-lt"/>
                  </a:rPr>
                  <a:t>, </a:t>
                </a:r>
                <a14:m>
                  <m:oMath xmlns:m="http://schemas.openxmlformats.org/officeDocument/2006/math">
                    <m:box>
                      <m:boxPr>
                        <m:ctrlPr>
                          <a:rPr lang="en-AU" b="0" i="1" smtClean="0">
                            <a:latin typeface="Cambria Math" panose="02040503050406030204" pitchFamily="18" charset="0"/>
                          </a:rPr>
                        </m:ctrlPr>
                      </m:boxPr>
                      <m:e>
                        <m:argPr>
                          <m:argSz m:val="-1"/>
                        </m:argPr>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4</m:t>
                            </m:r>
                          </m:den>
                        </m:f>
                      </m:e>
                    </m:box>
                  </m:oMath>
                </a14:m>
                <a:r>
                  <a:rPr lang="en-AU" dirty="0">
                    <a:latin typeface="+mj-lt"/>
                  </a:rPr>
                  <a:t>,-</a:t>
                </a:r>
                <a14:m>
                  <m:oMath xmlns:m="http://schemas.openxmlformats.org/officeDocument/2006/math">
                    <m:box>
                      <m:boxPr>
                        <m:ctrlPr>
                          <a:rPr lang="en-AU" i="1" smtClean="0">
                            <a:latin typeface="Cambria Math" panose="02040503050406030204" pitchFamily="18" charset="0"/>
                          </a:rPr>
                        </m:ctrlPr>
                      </m:boxPr>
                      <m:e>
                        <m:argPr>
                          <m:argSz m:val="-1"/>
                        </m:argPr>
                        <m:f>
                          <m:fPr>
                            <m:ctrlPr>
                              <a:rPr lang="en-AU"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6</m:t>
                            </m:r>
                          </m:den>
                        </m:f>
                      </m:e>
                    </m:box>
                  </m:oMath>
                </a14:m>
                <a:r>
                  <a:rPr lang="en-AU" dirty="0">
                    <a:latin typeface="+mj-lt"/>
                  </a:rPr>
                  <a:t>  </a:t>
                </a:r>
              </a:p>
              <a:p>
                <a:pPr marL="360363" algn="l">
                  <a:tabLst>
                    <a:tab pos="361950" algn="l"/>
                  </a:tabLst>
                </a:pPr>
                <a:r>
                  <a:rPr lang="en-AU" dirty="0">
                    <a:latin typeface="+mj-lt"/>
                  </a:rPr>
                  <a:t>These can be written as decimals, either with finite expansion (e.g. 0.5, 0.25) or with infinite repeating pattern expansion (e.g. 0.333…, 0.1666…, - 0.234234…)   </a:t>
                </a:r>
              </a:p>
              <a:p>
                <a:pPr marL="360363" algn="l">
                  <a:tabLst>
                    <a:tab pos="361950" algn="l"/>
                  </a:tabLst>
                </a:pPr>
                <a:r>
                  <a:rPr lang="en-AU" dirty="0">
                    <a:latin typeface="+mj-lt"/>
                  </a:rPr>
                  <a:t>We write 𝑞∈ℚ</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5832152" y="1277769"/>
                <a:ext cx="5775166" cy="3614637"/>
              </a:xfrm>
              <a:prstGeom prst="rect">
                <a:avLst/>
              </a:prstGeom>
              <a:blipFill>
                <a:blip r:embed="rId2"/>
                <a:stretch>
                  <a:fillRect l="-1478" t="-2361" r="-2429"/>
                </a:stretch>
              </a:blipFill>
            </p:spPr>
            <p:txBody>
              <a:bodyPr/>
              <a:lstStyle/>
              <a:p>
                <a:r>
                  <a:rPr lang="en-AU">
                    <a:noFill/>
                  </a:rPr>
                  <a:t> </a:t>
                </a:r>
              </a:p>
            </p:txBody>
          </p:sp>
        </mc:Fallback>
      </mc:AlternateContent>
      <p:sp>
        <p:nvSpPr>
          <p:cNvPr id="7" name="Content Placeholder 2"/>
          <p:cNvSpPr txBox="1">
            <a:spLocks/>
          </p:cNvSpPr>
          <p:nvPr/>
        </p:nvSpPr>
        <p:spPr>
          <a:xfrm>
            <a:off x="5848261" y="4458228"/>
            <a:ext cx="5775165" cy="153214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
            </a:pPr>
            <a:r>
              <a:rPr lang="en-AU" b="1" dirty="0">
                <a:solidFill>
                  <a:schemeClr val="accent1"/>
                </a:solidFill>
                <a:latin typeface="+mj-lt"/>
              </a:rPr>
              <a:t>Irrational</a:t>
            </a:r>
            <a:r>
              <a:rPr lang="en-AU" dirty="0">
                <a:latin typeface="+mj-lt"/>
              </a:rPr>
              <a:t> – numbers that cannot be written as a ratio of two integers.</a:t>
            </a:r>
          </a:p>
          <a:p>
            <a:pPr marL="360363" algn="l">
              <a:tabLst>
                <a:tab pos="361950" algn="l"/>
              </a:tabLst>
            </a:pPr>
            <a:r>
              <a:rPr lang="en-AU" dirty="0">
                <a:latin typeface="+mj-lt"/>
              </a:rPr>
              <a:t>These can be written as decimals with infinite non-repeating pattern expansion.</a:t>
            </a:r>
          </a:p>
          <a:p>
            <a:pPr algn="l"/>
            <a:endParaRPr lang="en-AU" dirty="0">
              <a:latin typeface="+mj-lt"/>
            </a:endParaRPr>
          </a:p>
        </p:txBody>
      </p:sp>
      <p:sp>
        <p:nvSpPr>
          <p:cNvPr id="3" name="Right Brace 2"/>
          <p:cNvSpPr/>
          <p:nvPr/>
        </p:nvSpPr>
        <p:spPr>
          <a:xfrm rot="10800000">
            <a:off x="5553582" y="1190563"/>
            <a:ext cx="501844" cy="4808917"/>
          </a:xfrm>
          <a:prstGeom prst="rightBrace">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8" name="Content Placeholder 2"/>
              <p:cNvSpPr txBox="1">
                <a:spLocks/>
              </p:cNvSpPr>
              <p:nvPr/>
            </p:nvSpPr>
            <p:spPr>
              <a:xfrm>
                <a:off x="2740144" y="2764689"/>
                <a:ext cx="2914650" cy="14615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AU" dirty="0">
                    <a:latin typeface="+mj-lt"/>
                  </a:rPr>
                  <a:t>Together they make:</a:t>
                </a:r>
                <a:endParaRPr lang="en-AU" b="1" dirty="0">
                  <a:latin typeface="+mj-lt"/>
                </a:endParaRPr>
              </a:p>
              <a:p>
                <a:pPr algn="l"/>
                <a:r>
                  <a:rPr lang="en-AU" b="1" dirty="0">
                    <a:latin typeface="+mj-lt"/>
                  </a:rPr>
                  <a:t>Real (</a:t>
                </a:r>
                <a14:m>
                  <m:oMath xmlns:m="http://schemas.openxmlformats.org/officeDocument/2006/math">
                    <m:r>
                      <a:rPr lang="en-AU" b="1" i="1" smtClean="0">
                        <a:latin typeface="Cambria Math" panose="02040503050406030204" pitchFamily="18" charset="0"/>
                        <a:ea typeface="Cambria Math" panose="02040503050406030204" pitchFamily="18" charset="0"/>
                      </a:rPr>
                      <m:t>ℝ</m:t>
                    </m:r>
                  </m:oMath>
                </a14:m>
                <a:r>
                  <a:rPr lang="en-AU" b="1" dirty="0">
                    <a:latin typeface="+mj-lt"/>
                  </a:rPr>
                  <a:t>) numbers</a:t>
                </a:r>
              </a:p>
              <a:p>
                <a:pPr algn="l"/>
                <a:r>
                  <a:rPr lang="en-AU" dirty="0">
                    <a:latin typeface="+mj-lt"/>
                  </a:rPr>
                  <a:t>We write: </a:t>
                </a:r>
                <a14:m>
                  <m:oMath xmlns:m="http://schemas.openxmlformats.org/officeDocument/2006/math">
                    <m:r>
                      <a:rPr lang="en-AU" b="0" i="1" smtClean="0">
                        <a:latin typeface="Cambria Math" panose="02040503050406030204" pitchFamily="18" charset="0"/>
                      </a:rPr>
                      <m:t>𝑟</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ℝ</m:t>
                    </m:r>
                  </m:oMath>
                </a14:m>
                <a:endParaRPr lang="en-AU" dirty="0">
                  <a:latin typeface="+mj-lt"/>
                </a:endParaRPr>
              </a:p>
              <a:p>
                <a:pPr algn="l"/>
                <a:endParaRPr lang="en-AU" dirty="0">
                  <a:latin typeface="+mj-lt"/>
                </a:endParaRPr>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2740144" y="2764689"/>
                <a:ext cx="2914650" cy="1461558"/>
              </a:xfrm>
              <a:prstGeom prst="rect">
                <a:avLst/>
              </a:prstGeom>
              <a:blipFill>
                <a:blip r:embed="rId3"/>
                <a:stretch>
                  <a:fillRect l="-3132" t="-5858" b="-1255"/>
                </a:stretch>
              </a:blipFill>
            </p:spPr>
            <p:txBody>
              <a:bodyPr/>
              <a:lstStyle/>
              <a:p>
                <a:r>
                  <a:rPr lang="en-AU">
                    <a:noFill/>
                  </a:rPr>
                  <a:t> </a:t>
                </a:r>
              </a:p>
            </p:txBody>
          </p:sp>
        </mc:Fallback>
      </mc:AlternateContent>
      <p:grpSp>
        <p:nvGrpSpPr>
          <p:cNvPr id="10" name="Group 9"/>
          <p:cNvGrpSpPr/>
          <p:nvPr/>
        </p:nvGrpSpPr>
        <p:grpSpPr>
          <a:xfrm>
            <a:off x="193072" y="4877239"/>
            <a:ext cx="5289871" cy="891367"/>
            <a:chOff x="3530156" y="5677507"/>
            <a:chExt cx="5289871" cy="891367"/>
          </a:xfrm>
        </p:grpSpPr>
        <p:cxnSp>
          <p:nvCxnSpPr>
            <p:cNvPr id="11" name="Straight Arrow Connector 10"/>
            <p:cNvCxnSpPr/>
            <p:nvPr/>
          </p:nvCxnSpPr>
          <p:spPr>
            <a:xfrm>
              <a:off x="3858178" y="5987845"/>
              <a:ext cx="46722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096000"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69773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24637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78911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42549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97413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51687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944339" y="6193643"/>
              <a:ext cx="301686" cy="369332"/>
            </a:xfrm>
            <a:prstGeom prst="rect">
              <a:avLst/>
            </a:prstGeom>
            <a:noFill/>
          </p:spPr>
          <p:txBody>
            <a:bodyPr wrap="none" rtlCol="0">
              <a:spAutoFit/>
            </a:bodyPr>
            <a:lstStyle/>
            <a:p>
              <a:r>
                <a:rPr lang="en-AU" b="1" dirty="0">
                  <a:solidFill>
                    <a:schemeClr val="accent4">
                      <a:lumMod val="75000"/>
                    </a:schemeClr>
                  </a:solidFill>
                </a:rPr>
                <a:t>0</a:t>
              </a:r>
            </a:p>
          </p:txBody>
        </p:sp>
        <p:sp>
          <p:nvSpPr>
            <p:cNvPr id="20" name="TextBox 19"/>
            <p:cNvSpPr txBox="1"/>
            <p:nvPr/>
          </p:nvSpPr>
          <p:spPr>
            <a:xfrm>
              <a:off x="6546891" y="6188727"/>
              <a:ext cx="301686" cy="369332"/>
            </a:xfrm>
            <a:prstGeom prst="rect">
              <a:avLst/>
            </a:prstGeom>
            <a:noFill/>
          </p:spPr>
          <p:txBody>
            <a:bodyPr wrap="none" rtlCol="0">
              <a:spAutoFit/>
            </a:bodyPr>
            <a:lstStyle/>
            <a:p>
              <a:r>
                <a:rPr lang="en-AU" b="1" dirty="0">
                  <a:solidFill>
                    <a:schemeClr val="accent6"/>
                  </a:solidFill>
                </a:rPr>
                <a:t>1</a:t>
              </a:r>
            </a:p>
          </p:txBody>
        </p:sp>
        <p:sp>
          <p:nvSpPr>
            <p:cNvPr id="21" name="TextBox 20"/>
            <p:cNvSpPr txBox="1"/>
            <p:nvPr/>
          </p:nvSpPr>
          <p:spPr>
            <a:xfrm>
              <a:off x="7094930" y="6199542"/>
              <a:ext cx="301686" cy="369332"/>
            </a:xfrm>
            <a:prstGeom prst="rect">
              <a:avLst/>
            </a:prstGeom>
            <a:noFill/>
          </p:spPr>
          <p:txBody>
            <a:bodyPr wrap="none" rtlCol="0">
              <a:spAutoFit/>
            </a:bodyPr>
            <a:lstStyle/>
            <a:p>
              <a:r>
                <a:rPr lang="en-AU" b="1" dirty="0">
                  <a:solidFill>
                    <a:schemeClr val="accent6"/>
                  </a:solidFill>
                </a:rPr>
                <a:t>2</a:t>
              </a:r>
            </a:p>
          </p:txBody>
        </p:sp>
        <p:sp>
          <p:nvSpPr>
            <p:cNvPr id="22" name="TextBox 21"/>
            <p:cNvSpPr txBox="1"/>
            <p:nvPr/>
          </p:nvSpPr>
          <p:spPr>
            <a:xfrm>
              <a:off x="7643569" y="6193643"/>
              <a:ext cx="301686" cy="369332"/>
            </a:xfrm>
            <a:prstGeom prst="rect">
              <a:avLst/>
            </a:prstGeom>
            <a:noFill/>
          </p:spPr>
          <p:txBody>
            <a:bodyPr wrap="none" rtlCol="0">
              <a:spAutoFit/>
            </a:bodyPr>
            <a:lstStyle/>
            <a:p>
              <a:r>
                <a:rPr lang="en-AU" b="1" dirty="0">
                  <a:solidFill>
                    <a:schemeClr val="accent6"/>
                  </a:solidFill>
                </a:rPr>
                <a:t>3</a:t>
              </a:r>
            </a:p>
          </p:txBody>
        </p:sp>
        <p:sp>
          <p:nvSpPr>
            <p:cNvPr id="23" name="TextBox 22"/>
            <p:cNvSpPr txBox="1"/>
            <p:nvPr/>
          </p:nvSpPr>
          <p:spPr>
            <a:xfrm>
              <a:off x="8433383" y="5677507"/>
              <a:ext cx="386644" cy="369332"/>
            </a:xfrm>
            <a:prstGeom prst="rect">
              <a:avLst/>
            </a:prstGeom>
            <a:noFill/>
          </p:spPr>
          <p:txBody>
            <a:bodyPr wrap="none" rtlCol="0">
              <a:spAutoFit/>
            </a:bodyPr>
            <a:lstStyle/>
            <a:p>
              <a:r>
                <a:rPr lang="en-AU" dirty="0"/>
                <a:t>ꚙ</a:t>
              </a:r>
            </a:p>
          </p:txBody>
        </p:sp>
        <p:sp>
          <p:nvSpPr>
            <p:cNvPr id="24" name="TextBox 23"/>
            <p:cNvSpPr txBox="1"/>
            <p:nvPr/>
          </p:nvSpPr>
          <p:spPr>
            <a:xfrm>
              <a:off x="3530156" y="5677507"/>
              <a:ext cx="609462" cy="369332"/>
            </a:xfrm>
            <a:prstGeom prst="rect">
              <a:avLst/>
            </a:prstGeom>
            <a:noFill/>
          </p:spPr>
          <p:txBody>
            <a:bodyPr wrap="none" rtlCol="0">
              <a:spAutoFit/>
            </a:bodyPr>
            <a:lstStyle/>
            <a:p>
              <a:r>
                <a:rPr lang="en-AU" dirty="0"/>
                <a:t>– ꚙ </a:t>
              </a:r>
            </a:p>
          </p:txBody>
        </p:sp>
        <p:cxnSp>
          <p:nvCxnSpPr>
            <p:cNvPr id="25" name="Straight Connector 24"/>
            <p:cNvCxnSpPr/>
            <p:nvPr/>
          </p:nvCxnSpPr>
          <p:spPr>
            <a:xfrm>
              <a:off x="442549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97413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51687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239390" y="6188727"/>
              <a:ext cx="372218" cy="369332"/>
            </a:xfrm>
            <a:prstGeom prst="rect">
              <a:avLst/>
            </a:prstGeom>
            <a:noFill/>
          </p:spPr>
          <p:txBody>
            <a:bodyPr wrap="none" rtlCol="0">
              <a:spAutoFit/>
            </a:bodyPr>
            <a:lstStyle/>
            <a:p>
              <a:r>
                <a:rPr lang="en-AU" b="1" dirty="0">
                  <a:solidFill>
                    <a:srgbClr val="C00000"/>
                  </a:solidFill>
                </a:rPr>
                <a:t>-3</a:t>
              </a:r>
            </a:p>
          </p:txBody>
        </p:sp>
        <p:sp>
          <p:nvSpPr>
            <p:cNvPr id="29" name="TextBox 28"/>
            <p:cNvSpPr txBox="1"/>
            <p:nvPr/>
          </p:nvSpPr>
          <p:spPr>
            <a:xfrm>
              <a:off x="4782429" y="6199542"/>
              <a:ext cx="372218" cy="369332"/>
            </a:xfrm>
            <a:prstGeom prst="rect">
              <a:avLst/>
            </a:prstGeom>
            <a:noFill/>
          </p:spPr>
          <p:txBody>
            <a:bodyPr wrap="none" rtlCol="0">
              <a:spAutoFit/>
            </a:bodyPr>
            <a:lstStyle/>
            <a:p>
              <a:r>
                <a:rPr lang="en-AU" b="1" dirty="0">
                  <a:solidFill>
                    <a:srgbClr val="C00000"/>
                  </a:solidFill>
                </a:rPr>
                <a:t>-2</a:t>
              </a:r>
            </a:p>
          </p:txBody>
        </p:sp>
        <p:sp>
          <p:nvSpPr>
            <p:cNvPr id="30" name="TextBox 29"/>
            <p:cNvSpPr txBox="1"/>
            <p:nvPr/>
          </p:nvSpPr>
          <p:spPr>
            <a:xfrm>
              <a:off x="5325168" y="6199542"/>
              <a:ext cx="372218" cy="369332"/>
            </a:xfrm>
            <a:prstGeom prst="rect">
              <a:avLst/>
            </a:prstGeom>
            <a:noFill/>
          </p:spPr>
          <p:txBody>
            <a:bodyPr wrap="none" rtlCol="0">
              <a:spAutoFit/>
            </a:bodyPr>
            <a:lstStyle/>
            <a:p>
              <a:r>
                <a:rPr lang="en-AU" b="1" dirty="0">
                  <a:solidFill>
                    <a:srgbClr val="C00000"/>
                  </a:solidFill>
                </a:rPr>
                <a:t>-1</a:t>
              </a:r>
            </a:p>
          </p:txBody>
        </p:sp>
      </p:grpSp>
      <p:cxnSp>
        <p:nvCxnSpPr>
          <p:cNvPr id="4" name="Straight Connector 3"/>
          <p:cNvCxnSpPr/>
          <p:nvPr/>
        </p:nvCxnSpPr>
        <p:spPr>
          <a:xfrm>
            <a:off x="4564103" y="5187577"/>
            <a:ext cx="0" cy="720474"/>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451718" y="5823826"/>
            <a:ext cx="1218603" cy="338554"/>
          </a:xfrm>
          <a:prstGeom prst="rect">
            <a:avLst/>
          </a:prstGeom>
          <a:noFill/>
        </p:spPr>
        <p:txBody>
          <a:bodyPr wrap="none" rtlCol="0">
            <a:spAutoFit/>
          </a:bodyPr>
          <a:lstStyle/>
          <a:p>
            <a:r>
              <a:rPr lang="el-GR" sz="1600" dirty="0">
                <a:solidFill>
                  <a:schemeClr val="accent1"/>
                </a:solidFill>
              </a:rPr>
              <a:t>π</a:t>
            </a:r>
            <a:r>
              <a:rPr lang="en-AU" sz="1600" dirty="0">
                <a:solidFill>
                  <a:schemeClr val="accent1"/>
                </a:solidFill>
              </a:rPr>
              <a:t>=3.14159…</a:t>
            </a:r>
          </a:p>
        </p:txBody>
      </p:sp>
      <p:cxnSp>
        <p:nvCxnSpPr>
          <p:cNvPr id="31" name="Straight Connector 30"/>
          <p:cNvCxnSpPr/>
          <p:nvPr/>
        </p:nvCxnSpPr>
        <p:spPr>
          <a:xfrm>
            <a:off x="4247971" y="5187577"/>
            <a:ext cx="0" cy="720474"/>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091518" y="5823826"/>
            <a:ext cx="300082" cy="369332"/>
          </a:xfrm>
          <a:prstGeom prst="rect">
            <a:avLst/>
          </a:prstGeom>
          <a:noFill/>
        </p:spPr>
        <p:txBody>
          <a:bodyPr wrap="none" rtlCol="0">
            <a:spAutoFit/>
          </a:bodyPr>
          <a:lstStyle/>
          <a:p>
            <a:r>
              <a:rPr lang="en-AU" i="1" dirty="0">
                <a:solidFill>
                  <a:schemeClr val="accent1"/>
                </a:solidFill>
              </a:rPr>
              <a:t>e</a:t>
            </a:r>
          </a:p>
        </p:txBody>
      </p:sp>
      <p:cxnSp>
        <p:nvCxnSpPr>
          <p:cNvPr id="33" name="Straight Connector 32"/>
          <p:cNvCxnSpPr/>
          <p:nvPr/>
        </p:nvCxnSpPr>
        <p:spPr>
          <a:xfrm>
            <a:off x="3577595" y="5191711"/>
            <a:ext cx="0" cy="57709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p:cNvSpPr txBox="1"/>
              <p:nvPr/>
            </p:nvSpPr>
            <p:spPr>
              <a:xfrm>
                <a:off x="2341332" y="5729370"/>
                <a:ext cx="1573636" cy="333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l-GR" sz="1400" i="1" dirty="0" smtClean="0">
                              <a:solidFill>
                                <a:schemeClr val="accent1"/>
                              </a:solidFill>
                              <a:latin typeface="Cambria Math" panose="02040503050406030204" pitchFamily="18" charset="0"/>
                            </a:rPr>
                          </m:ctrlPr>
                        </m:radPr>
                        <m:deg/>
                        <m:e>
                          <m:r>
                            <a:rPr lang="en-AU" sz="1400" b="0" i="1" dirty="0" smtClean="0">
                              <a:solidFill>
                                <a:schemeClr val="accent1"/>
                              </a:solidFill>
                              <a:latin typeface="Cambria Math" panose="02040503050406030204" pitchFamily="18" charset="0"/>
                            </a:rPr>
                            <m:t>2</m:t>
                          </m:r>
                        </m:e>
                      </m:rad>
                      <m:r>
                        <a:rPr lang="en-AU" sz="1400" b="0" i="1" dirty="0" smtClean="0">
                          <a:solidFill>
                            <a:schemeClr val="accent1"/>
                          </a:solidFill>
                          <a:latin typeface="Cambria Math" panose="02040503050406030204" pitchFamily="18" charset="0"/>
                        </a:rPr>
                        <m:t>=1.414213…</m:t>
                      </m:r>
                    </m:oMath>
                  </m:oMathPara>
                </a14:m>
                <a:endParaRPr lang="en-AU" sz="1400" dirty="0">
                  <a:solidFill>
                    <a:schemeClr val="accent1"/>
                  </a:solidFill>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2341332" y="5729370"/>
                <a:ext cx="1573636" cy="333168"/>
              </a:xfrm>
              <a:prstGeom prst="rect">
                <a:avLst/>
              </a:prstGeom>
              <a:blipFill>
                <a:blip r:embed="rId4"/>
                <a:stretch>
                  <a:fillRect/>
                </a:stretch>
              </a:blipFill>
            </p:spPr>
            <p:txBody>
              <a:bodyPr/>
              <a:lstStyle/>
              <a:p>
                <a:r>
                  <a:rPr lang="en-GB">
                    <a:noFill/>
                  </a:rPr>
                  <a:t> </a:t>
                </a:r>
              </a:p>
            </p:txBody>
          </p:sp>
        </mc:Fallback>
      </mc:AlternateContent>
      <p:cxnSp>
        <p:nvCxnSpPr>
          <p:cNvPr id="36" name="Straight Connector 35"/>
          <p:cNvCxnSpPr>
            <a:cxnSpLocks/>
          </p:cNvCxnSpPr>
          <p:nvPr/>
        </p:nvCxnSpPr>
        <p:spPr>
          <a:xfrm flipH="1">
            <a:off x="3766245" y="5198619"/>
            <a:ext cx="9993" cy="1008857"/>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647311" y="6174967"/>
            <a:ext cx="1447832" cy="338554"/>
          </a:xfrm>
          <a:prstGeom prst="rect">
            <a:avLst/>
          </a:prstGeom>
          <a:noFill/>
        </p:spPr>
        <p:txBody>
          <a:bodyPr wrap="none" rtlCol="0">
            <a:spAutoFit/>
          </a:bodyPr>
          <a:lstStyle/>
          <a:p>
            <a:r>
              <a:rPr lang="el-GR" sz="1600" dirty="0">
                <a:solidFill>
                  <a:schemeClr val="accent1"/>
                </a:solidFill>
              </a:rPr>
              <a:t>ϕ</a:t>
            </a:r>
            <a:r>
              <a:rPr lang="en-AU" sz="1600" dirty="0">
                <a:solidFill>
                  <a:schemeClr val="accent1"/>
                </a:solidFill>
              </a:rPr>
              <a:t>=1.6180339…</a:t>
            </a:r>
          </a:p>
        </p:txBody>
      </p:sp>
      <p:cxnSp>
        <p:nvCxnSpPr>
          <p:cNvPr id="103" name="Straight Connector 102"/>
          <p:cNvCxnSpPr/>
          <p:nvPr/>
        </p:nvCxnSpPr>
        <p:spPr>
          <a:xfrm>
            <a:off x="3069088" y="4842202"/>
            <a:ext cx="0" cy="350118"/>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TextBox 103"/>
              <p:cNvSpPr txBox="1"/>
              <p:nvPr/>
            </p:nvSpPr>
            <p:spPr>
              <a:xfrm>
                <a:off x="2911405" y="4409070"/>
                <a:ext cx="335348" cy="41505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box>
                        <m:boxPr>
                          <m:ctrlPr>
                            <a:rPr lang="en-AU" i="1" smtClean="0">
                              <a:solidFill>
                                <a:srgbClr val="7030A0"/>
                              </a:solidFill>
                              <a:latin typeface="Cambria Math" panose="02040503050406030204" pitchFamily="18" charset="0"/>
                            </a:rPr>
                          </m:ctrlPr>
                        </m:boxPr>
                        <m:e>
                          <m:argPr>
                            <m:argSz m:val="-1"/>
                          </m:argPr>
                          <m:f>
                            <m:fPr>
                              <m:ctrlPr>
                                <a:rPr lang="en-AU" i="1" smtClean="0">
                                  <a:solidFill>
                                    <a:srgbClr val="7030A0"/>
                                  </a:solidFill>
                                  <a:latin typeface="Cambria Math" panose="02040503050406030204" pitchFamily="18" charset="0"/>
                                </a:rPr>
                              </m:ctrlPr>
                            </m:fPr>
                            <m:num>
                              <m:r>
                                <a:rPr lang="en-AU" b="0" i="1" smtClean="0">
                                  <a:solidFill>
                                    <a:srgbClr val="7030A0"/>
                                  </a:solidFill>
                                  <a:latin typeface="Cambria Math" panose="02040503050406030204" pitchFamily="18" charset="0"/>
                                </a:rPr>
                                <m:t>1</m:t>
                              </m:r>
                            </m:num>
                            <m:den>
                              <m:r>
                                <a:rPr lang="en-AU" b="0" i="1" smtClean="0">
                                  <a:solidFill>
                                    <a:srgbClr val="7030A0"/>
                                  </a:solidFill>
                                  <a:latin typeface="Cambria Math" panose="02040503050406030204" pitchFamily="18" charset="0"/>
                                </a:rPr>
                                <m:t>2</m:t>
                              </m:r>
                            </m:den>
                          </m:f>
                        </m:e>
                      </m:box>
                    </m:oMath>
                  </m:oMathPara>
                </a14:m>
                <a:endParaRPr lang="en-AU" dirty="0">
                  <a:solidFill>
                    <a:srgbClr val="7030A0"/>
                  </a:solidFill>
                </a:endParaRPr>
              </a:p>
            </p:txBody>
          </p:sp>
        </mc:Choice>
        <mc:Fallback xmlns="">
          <p:sp>
            <p:nvSpPr>
              <p:cNvPr id="104" name="TextBox 103"/>
              <p:cNvSpPr txBox="1">
                <a:spLocks noRot="1" noChangeAspect="1" noMove="1" noResize="1" noEditPoints="1" noAdjustHandles="1" noChangeArrowheads="1" noChangeShapeType="1" noTextEdit="1"/>
              </p:cNvSpPr>
              <p:nvPr/>
            </p:nvSpPr>
            <p:spPr>
              <a:xfrm>
                <a:off x="2911405" y="4409070"/>
                <a:ext cx="335348" cy="415050"/>
              </a:xfrm>
              <a:prstGeom prst="rect">
                <a:avLst/>
              </a:prstGeom>
              <a:blipFill>
                <a:blip r:embed="rId5"/>
                <a:stretch>
                  <a:fillRect b="-2941"/>
                </a:stretch>
              </a:blipFill>
            </p:spPr>
            <p:txBody>
              <a:bodyPr/>
              <a:lstStyle/>
              <a:p>
                <a:r>
                  <a:rPr lang="en-AU">
                    <a:noFill/>
                  </a:rPr>
                  <a:t> </a:t>
                </a:r>
              </a:p>
            </p:txBody>
          </p:sp>
        </mc:Fallback>
      </mc:AlternateContent>
      <p:cxnSp>
        <p:nvCxnSpPr>
          <p:cNvPr id="105" name="Straight Connector 104"/>
          <p:cNvCxnSpPr/>
          <p:nvPr/>
        </p:nvCxnSpPr>
        <p:spPr>
          <a:xfrm>
            <a:off x="4019804" y="4824120"/>
            <a:ext cx="0" cy="350118"/>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TextBox 105"/>
              <p:cNvSpPr txBox="1"/>
              <p:nvPr/>
            </p:nvSpPr>
            <p:spPr>
              <a:xfrm>
                <a:off x="3862121" y="4390988"/>
                <a:ext cx="335348" cy="41505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box>
                        <m:boxPr>
                          <m:ctrlPr>
                            <a:rPr lang="en-AU" i="1" smtClean="0">
                              <a:solidFill>
                                <a:srgbClr val="7030A0"/>
                              </a:solidFill>
                              <a:latin typeface="Cambria Math" panose="02040503050406030204" pitchFamily="18" charset="0"/>
                            </a:rPr>
                          </m:ctrlPr>
                        </m:boxPr>
                        <m:e>
                          <m:argPr>
                            <m:argSz m:val="-1"/>
                          </m:argPr>
                          <m:f>
                            <m:fPr>
                              <m:ctrlPr>
                                <a:rPr lang="en-AU" i="1" smtClean="0">
                                  <a:solidFill>
                                    <a:srgbClr val="7030A0"/>
                                  </a:solidFill>
                                  <a:latin typeface="Cambria Math" panose="02040503050406030204" pitchFamily="18" charset="0"/>
                                </a:rPr>
                              </m:ctrlPr>
                            </m:fPr>
                            <m:num>
                              <m:r>
                                <a:rPr lang="en-AU" b="0" i="1" smtClean="0">
                                  <a:solidFill>
                                    <a:srgbClr val="7030A0"/>
                                  </a:solidFill>
                                  <a:latin typeface="Cambria Math" panose="02040503050406030204" pitchFamily="18" charset="0"/>
                                </a:rPr>
                                <m:t>7</m:t>
                              </m:r>
                            </m:num>
                            <m:den>
                              <m:r>
                                <a:rPr lang="en-AU" b="0" i="1" smtClean="0">
                                  <a:solidFill>
                                    <a:srgbClr val="7030A0"/>
                                  </a:solidFill>
                                  <a:latin typeface="Cambria Math" panose="02040503050406030204" pitchFamily="18" charset="0"/>
                                </a:rPr>
                                <m:t>3</m:t>
                              </m:r>
                            </m:den>
                          </m:f>
                        </m:e>
                      </m:box>
                    </m:oMath>
                  </m:oMathPara>
                </a14:m>
                <a:endParaRPr lang="en-AU" dirty="0">
                  <a:solidFill>
                    <a:srgbClr val="7030A0"/>
                  </a:solidFill>
                </a:endParaRPr>
              </a:p>
            </p:txBody>
          </p:sp>
        </mc:Choice>
        <mc:Fallback xmlns="">
          <p:sp>
            <p:nvSpPr>
              <p:cNvPr id="106" name="TextBox 105"/>
              <p:cNvSpPr txBox="1">
                <a:spLocks noRot="1" noChangeAspect="1" noMove="1" noResize="1" noEditPoints="1" noAdjustHandles="1" noChangeArrowheads="1" noChangeShapeType="1" noTextEdit="1"/>
              </p:cNvSpPr>
              <p:nvPr/>
            </p:nvSpPr>
            <p:spPr>
              <a:xfrm>
                <a:off x="3862121" y="4390988"/>
                <a:ext cx="335348" cy="415050"/>
              </a:xfrm>
              <a:prstGeom prst="rect">
                <a:avLst/>
              </a:prstGeom>
              <a:blipFill>
                <a:blip r:embed="rId6"/>
                <a:stretch>
                  <a:fillRect b="-2941"/>
                </a:stretch>
              </a:blipFill>
            </p:spPr>
            <p:txBody>
              <a:bodyPr/>
              <a:lstStyle/>
              <a:p>
                <a:r>
                  <a:rPr lang="en-AU">
                    <a:noFill/>
                  </a:rPr>
                  <a:t> </a:t>
                </a:r>
              </a:p>
            </p:txBody>
          </p:sp>
        </mc:Fallback>
      </mc:AlternateContent>
      <p:cxnSp>
        <p:nvCxnSpPr>
          <p:cNvPr id="107" name="Straight Connector 106"/>
          <p:cNvCxnSpPr/>
          <p:nvPr/>
        </p:nvCxnSpPr>
        <p:spPr>
          <a:xfrm>
            <a:off x="3647311" y="4822700"/>
            <a:ext cx="0" cy="350118"/>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3458153" y="4512907"/>
            <a:ext cx="380232" cy="276999"/>
          </a:xfrm>
          <a:prstGeom prst="rect">
            <a:avLst/>
          </a:prstGeom>
          <a:noFill/>
        </p:spPr>
        <p:txBody>
          <a:bodyPr wrap="none" rtlCol="0">
            <a:spAutoFit/>
          </a:bodyPr>
          <a:lstStyle/>
          <a:p>
            <a:r>
              <a:rPr lang="en-AU" sz="1200" dirty="0">
                <a:solidFill>
                  <a:srgbClr val="7030A0"/>
                </a:solidFill>
              </a:rPr>
              <a:t>1.5</a:t>
            </a:r>
          </a:p>
        </p:txBody>
      </p:sp>
      <p:grpSp>
        <p:nvGrpSpPr>
          <p:cNvPr id="42" name="Group 41">
            <a:extLst>
              <a:ext uri="{FF2B5EF4-FFF2-40B4-BE49-F238E27FC236}">
                <a16:creationId xmlns:a16="http://schemas.microsoft.com/office/drawing/2014/main" id="{421881E8-2820-4216-9F9D-50A313C1B4D0}"/>
              </a:ext>
            </a:extLst>
          </p:cNvPr>
          <p:cNvGrpSpPr/>
          <p:nvPr/>
        </p:nvGrpSpPr>
        <p:grpSpPr>
          <a:xfrm>
            <a:off x="0" y="361"/>
            <a:ext cx="12192000" cy="825314"/>
            <a:chOff x="0" y="213019"/>
            <a:chExt cx="12192000" cy="825314"/>
          </a:xfrm>
          <a:solidFill>
            <a:schemeClr val="accent2">
              <a:lumMod val="50000"/>
            </a:schemeClr>
          </a:solidFill>
        </p:grpSpPr>
        <p:sp>
          <p:nvSpPr>
            <p:cNvPr id="43" name="Rectangle 42">
              <a:extLst>
                <a:ext uri="{FF2B5EF4-FFF2-40B4-BE49-F238E27FC236}">
                  <a16:creationId xmlns:a16="http://schemas.microsoft.com/office/drawing/2014/main" id="{2A4845B5-10E0-45A5-9C79-B8F8D808D26A}"/>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3FA19936-CC4E-440C-9B47-C5EC0346C061}"/>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8DC0E6B3-A59A-4108-BB20-D299841528A7}"/>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6" name="TextBox 45">
            <a:extLst>
              <a:ext uri="{FF2B5EF4-FFF2-40B4-BE49-F238E27FC236}">
                <a16:creationId xmlns:a16="http://schemas.microsoft.com/office/drawing/2014/main" id="{83651CD3-4324-48B9-A52C-7708F21A30BA}"/>
              </a:ext>
            </a:extLst>
          </p:cNvPr>
          <p:cNvSpPr txBox="1"/>
          <p:nvPr/>
        </p:nvSpPr>
        <p:spPr>
          <a:xfrm>
            <a:off x="66245" y="124632"/>
            <a:ext cx="6477992" cy="523220"/>
          </a:xfrm>
          <a:prstGeom prst="rect">
            <a:avLst/>
          </a:prstGeom>
          <a:noFill/>
        </p:spPr>
        <p:txBody>
          <a:bodyPr wrap="none" rtlCol="0">
            <a:spAutoFit/>
          </a:bodyPr>
          <a:lstStyle/>
          <a:p>
            <a:r>
              <a:rPr lang="en-AU" sz="2800" b="1" cap="small" dirty="0">
                <a:solidFill>
                  <a:schemeClr val="bg1"/>
                </a:solidFill>
                <a:latin typeface="+mj-lt"/>
              </a:rPr>
              <a:t>1.1 Numbers, sets, completeness and ordering</a:t>
            </a:r>
            <a:endParaRPr lang="en-GB" sz="2800" b="1" cap="small" dirty="0">
              <a:solidFill>
                <a:schemeClr val="bg1"/>
              </a:solidFill>
              <a:latin typeface="+mj-lt"/>
            </a:endParaRPr>
          </a:p>
        </p:txBody>
      </p:sp>
    </p:spTree>
    <p:extLst>
      <p:ext uri="{BB962C8B-B14F-4D97-AF65-F5344CB8AC3E}">
        <p14:creationId xmlns:p14="http://schemas.microsoft.com/office/powerpoint/2010/main" val="131561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6" grpId="0"/>
      <p:bldP spid="32" grpId="0"/>
      <p:bldP spid="34" grpId="0"/>
      <p:bldP spid="37" grpId="0"/>
      <p:bldP spid="104" grpId="0"/>
      <p:bldP spid="106" grpId="0"/>
      <p:bldP spid="10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D8155E4-1AB0-4B90-A922-2D75A4583A3C}"/>
              </a:ext>
            </a:extLst>
          </p:cNvPr>
          <p:cNvGrpSpPr/>
          <p:nvPr/>
        </p:nvGrpSpPr>
        <p:grpSpPr>
          <a:xfrm>
            <a:off x="0" y="361"/>
            <a:ext cx="12192000" cy="825314"/>
            <a:chOff x="0" y="213019"/>
            <a:chExt cx="12192000" cy="825314"/>
          </a:xfrm>
          <a:solidFill>
            <a:schemeClr val="accent2">
              <a:lumMod val="50000"/>
            </a:schemeClr>
          </a:solidFill>
        </p:grpSpPr>
        <p:sp>
          <p:nvSpPr>
            <p:cNvPr id="5" name="Rectangle 4">
              <a:extLst>
                <a:ext uri="{FF2B5EF4-FFF2-40B4-BE49-F238E27FC236}">
                  <a16:creationId xmlns:a16="http://schemas.microsoft.com/office/drawing/2014/main" id="{F28376F0-FC53-4CC2-B338-27C8B014CDDB}"/>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15FC6F4C-7023-4169-BD23-3A1C6AE938A1}"/>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F2DEF2B2-851D-426A-89A5-E3A5160068F8}"/>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 name="TextBox 7">
            <a:extLst>
              <a:ext uri="{FF2B5EF4-FFF2-40B4-BE49-F238E27FC236}">
                <a16:creationId xmlns:a16="http://schemas.microsoft.com/office/drawing/2014/main" id="{057007BF-2F8D-4E4C-B885-CD09EFA39A0E}"/>
              </a:ext>
            </a:extLst>
          </p:cNvPr>
          <p:cNvSpPr txBox="1"/>
          <p:nvPr/>
        </p:nvSpPr>
        <p:spPr>
          <a:xfrm>
            <a:off x="66245" y="124632"/>
            <a:ext cx="6477992" cy="523220"/>
          </a:xfrm>
          <a:prstGeom prst="rect">
            <a:avLst/>
          </a:prstGeom>
          <a:noFill/>
        </p:spPr>
        <p:txBody>
          <a:bodyPr wrap="none" rtlCol="0">
            <a:spAutoFit/>
          </a:bodyPr>
          <a:lstStyle/>
          <a:p>
            <a:r>
              <a:rPr lang="en-AU" sz="2800" b="1" cap="small" dirty="0">
                <a:solidFill>
                  <a:schemeClr val="bg1"/>
                </a:solidFill>
                <a:latin typeface="+mj-lt"/>
              </a:rPr>
              <a:t>1.1 Numbers, sets, completeness and ordering</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55194C5-6ADD-46E8-B5C5-30E4C918FF49}"/>
                  </a:ext>
                </a:extLst>
              </p:cNvPr>
              <p:cNvSpPr txBox="1"/>
              <p:nvPr/>
            </p:nvSpPr>
            <p:spPr>
              <a:xfrm>
                <a:off x="304800" y="941294"/>
                <a:ext cx="11573435" cy="5318957"/>
              </a:xfrm>
              <a:prstGeom prst="rect">
                <a:avLst/>
              </a:prstGeom>
              <a:noFill/>
            </p:spPr>
            <p:txBody>
              <a:bodyPr wrap="square" rtlCol="0">
                <a:spAutoFit/>
              </a:bodyPr>
              <a:lstStyle/>
              <a:p>
                <a:r>
                  <a:rPr lang="en-AU" sz="2400" dirty="0">
                    <a:latin typeface="+mj-lt"/>
                  </a:rPr>
                  <a:t>The Euler number </a:t>
                </a:r>
                <a14:m>
                  <m:oMath xmlns:m="http://schemas.openxmlformats.org/officeDocument/2006/math">
                    <m:r>
                      <a:rPr lang="en-AU" sz="2400" b="0" i="1" smtClean="0">
                        <a:latin typeface="Cambria Math" panose="02040503050406030204" pitchFamily="18" charset="0"/>
                      </a:rPr>
                      <m:t>𝑒</m:t>
                    </m:r>
                    <m:r>
                      <a:rPr lang="en-AU" sz="2400" b="0" i="1" smtClean="0">
                        <a:latin typeface="Cambria Math" panose="02040503050406030204" pitchFamily="18" charset="0"/>
                      </a:rPr>
                      <m:t>=2.718281828459…</m:t>
                    </m:r>
                  </m:oMath>
                </a14:m>
                <a:r>
                  <a:rPr lang="en-GB" sz="2400" dirty="0">
                    <a:latin typeface="+mj-lt"/>
                  </a:rPr>
                  <a:t> is an irrational number but can be approximated by a </a:t>
                </a:r>
                <a:r>
                  <a:rPr lang="en-GB" sz="2400" i="1" u="sng" dirty="0">
                    <a:latin typeface="+mj-lt"/>
                  </a:rPr>
                  <a:t>sequence</a:t>
                </a:r>
                <a:r>
                  <a:rPr lang="en-GB" sz="2400" dirty="0">
                    <a:latin typeface="+mj-lt"/>
                  </a:rPr>
                  <a:t> of rational numbers:</a:t>
                </a:r>
              </a:p>
              <a:p>
                <a:pPr/>
                <a14:m>
                  <m:oMathPara xmlns:m="http://schemas.openxmlformats.org/officeDocument/2006/math">
                    <m:oMathParaPr>
                      <m:jc m:val="centerGroup"/>
                    </m:oMathParaPr>
                    <m:oMath xmlns:m="http://schemas.openxmlformats.org/officeDocument/2006/math">
                      <m:sSup>
                        <m:sSupPr>
                          <m:ctrlPr>
                            <a:rPr lang="en-GB" sz="2400" i="1" smtClean="0">
                              <a:latin typeface="Cambria Math" panose="02040503050406030204" pitchFamily="18" charset="0"/>
                            </a:rPr>
                          </m:ctrlPr>
                        </m:sSupPr>
                        <m:e>
                          <m:d>
                            <m:dPr>
                              <m:ctrlPr>
                                <a:rPr lang="en-GB" sz="2400" i="1" smtClean="0">
                                  <a:latin typeface="Cambria Math" panose="02040503050406030204" pitchFamily="18" charset="0"/>
                                </a:rPr>
                              </m:ctrlPr>
                            </m:dPr>
                            <m:e>
                              <m:r>
                                <a:rPr lang="en-AU" sz="2400" b="0" i="1" smtClean="0">
                                  <a:latin typeface="Cambria Math" panose="02040503050406030204" pitchFamily="18" charset="0"/>
                                </a:rPr>
                                <m:t>1+</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𝑛</m:t>
                                  </m:r>
                                </m:den>
                              </m:f>
                            </m:e>
                          </m:d>
                        </m:e>
                        <m:sup>
                          <m:r>
                            <a:rPr lang="en-AU" sz="2400" b="0" i="1" smtClean="0">
                              <a:latin typeface="Cambria Math" panose="02040503050406030204" pitchFamily="18" charset="0"/>
                            </a:rPr>
                            <m:t>𝑛</m:t>
                          </m:r>
                        </m:sup>
                      </m:sSup>
                      <m:r>
                        <a:rPr lang="en-AU" sz="2400" b="0" i="0" smtClean="0">
                          <a:latin typeface="Cambria Math" panose="02040503050406030204" pitchFamily="18" charset="0"/>
                        </a:rPr>
                        <m:t> , </m:t>
                      </m:r>
                      <m:r>
                        <a:rPr lang="en-AU" sz="2400" b="0" i="1" smtClean="0">
                          <a:latin typeface="Cambria Math" panose="02040503050406030204" pitchFamily="18" charset="0"/>
                        </a:rPr>
                        <m:t>  </m:t>
                      </m:r>
                      <m:r>
                        <a:rPr lang="en-AU" sz="2400" b="0" i="1" smtClean="0">
                          <a:latin typeface="Cambria Math" panose="02040503050406030204" pitchFamily="18" charset="0"/>
                        </a:rPr>
                        <m:t>𝑛</m:t>
                      </m:r>
                      <m:r>
                        <m:rPr>
                          <m:sty m:val="p"/>
                        </m:rPr>
                        <a:rPr lang="el-GR" sz="2400" b="0" i="1" smtClean="0">
                          <a:latin typeface="Cambria Math" panose="02040503050406030204" pitchFamily="18" charset="0"/>
                          <a:ea typeface="Cambria Math" panose="02040503050406030204" pitchFamily="18" charset="0"/>
                        </a:rPr>
                        <m:t>ϵ</m:t>
                      </m:r>
                      <m:r>
                        <a:rPr lang="el-GR" sz="2400" b="0" i="1" smtClean="0">
                          <a:latin typeface="Cambria Math" panose="02040503050406030204" pitchFamily="18" charset="0"/>
                          <a:ea typeface="Cambria Math" panose="02040503050406030204" pitchFamily="18" charset="0"/>
                        </a:rPr>
                        <m:t>ℕ</m:t>
                      </m:r>
                    </m:oMath>
                  </m:oMathPara>
                </a14:m>
                <a:endParaRPr lang="en-GB" sz="2400" dirty="0">
                  <a:latin typeface="+mj-lt"/>
                </a:endParaRPr>
              </a:p>
              <a:p>
                <a:endParaRPr lang="en-GB" sz="2400" dirty="0">
                  <a:latin typeface="+mj-lt"/>
                </a:endParaRPr>
              </a:p>
              <a:p>
                <a:r>
                  <a:rPr lang="en-GB" sz="2400" dirty="0">
                    <a:latin typeface="+mj-lt"/>
                  </a:rPr>
                  <a:t>Taking increasing values of </a:t>
                </a:r>
                <a:r>
                  <a:rPr lang="en-GB" sz="2400" i="1" dirty="0">
                    <a:latin typeface="+mj-lt"/>
                  </a:rPr>
                  <a:t>n</a:t>
                </a:r>
                <a:r>
                  <a:rPr lang="en-GB" sz="2400" dirty="0">
                    <a:latin typeface="+mj-lt"/>
                  </a:rPr>
                  <a:t>, we have that:</a:t>
                </a:r>
              </a:p>
              <a:p>
                <a:r>
                  <a:rPr lang="en-GB" sz="2400" dirty="0">
                    <a:latin typeface="+mj-lt"/>
                  </a:rPr>
                  <a:t>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=1,         </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1+</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1</m:t>
                                </m:r>
                              </m:den>
                            </m:f>
                          </m:e>
                        </m:d>
                      </m:e>
                      <m:sup>
                        <m:r>
                          <a:rPr lang="en-AU" sz="2400" b="0" i="1" smtClean="0">
                            <a:latin typeface="Cambria Math" panose="02040503050406030204" pitchFamily="18" charset="0"/>
                          </a:rPr>
                          <m:t>1</m:t>
                        </m:r>
                      </m:sup>
                    </m:sSup>
                    <m:r>
                      <a:rPr lang="en-AU" sz="2400" b="0" i="1" smtClean="0">
                        <a:latin typeface="Cambria Math" panose="02040503050406030204" pitchFamily="18" charset="0"/>
                      </a:rPr>
                      <m:t>=2</m:t>
                    </m:r>
                  </m:oMath>
                </a14:m>
                <a:endParaRPr lang="en-GB" sz="2400" dirty="0">
                  <a:latin typeface="+mj-lt"/>
                </a:endParaRPr>
              </a:p>
              <a:p>
                <a:r>
                  <a:rPr lang="en-GB" sz="2400" dirty="0">
                    <a:latin typeface="+mj-lt"/>
                  </a:rPr>
                  <a:t>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=2,         </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1+</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e>
                        </m:d>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9</m:t>
                        </m:r>
                      </m:num>
                      <m:den>
                        <m:r>
                          <a:rPr lang="en-AU" sz="2400" b="0" i="1" smtClean="0">
                            <a:latin typeface="Cambria Math" panose="02040503050406030204" pitchFamily="18" charset="0"/>
                          </a:rPr>
                          <m:t>4</m:t>
                        </m:r>
                      </m:den>
                    </m:f>
                    <m:r>
                      <a:rPr lang="en-AU" sz="2400" b="0" i="1" smtClean="0">
                        <a:latin typeface="Cambria Math" panose="02040503050406030204" pitchFamily="18" charset="0"/>
                      </a:rPr>
                      <m:t>=2.25</m:t>
                    </m:r>
                  </m:oMath>
                </a14:m>
                <a:endParaRPr lang="en-GB" sz="2400" dirty="0">
                  <a:latin typeface="+mj-lt"/>
                </a:endParaRPr>
              </a:p>
              <a:p>
                <a:r>
                  <a:rPr lang="en-AU" sz="2400" b="0" dirty="0"/>
                  <a:t>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=3,         </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1+</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3</m:t>
                                </m:r>
                              </m:den>
                            </m:f>
                          </m:e>
                        </m:d>
                      </m:e>
                      <m:sup>
                        <m:r>
                          <a:rPr lang="en-AU" sz="2400" b="0" i="1" smtClean="0">
                            <a:latin typeface="Cambria Math" panose="02040503050406030204" pitchFamily="18" charset="0"/>
                          </a:rPr>
                          <m:t>3</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64</m:t>
                        </m:r>
                      </m:num>
                      <m:den>
                        <m:r>
                          <a:rPr lang="en-AU" sz="2400" b="0" i="1" smtClean="0">
                            <a:latin typeface="Cambria Math" panose="02040503050406030204" pitchFamily="18" charset="0"/>
                          </a:rPr>
                          <m:t>27</m:t>
                        </m:r>
                      </m:den>
                    </m:f>
                    <m:r>
                      <a:rPr lang="en-AU" sz="2400" b="0" i="1" smtClean="0">
                        <a:latin typeface="Cambria Math" panose="02040503050406030204" pitchFamily="18" charset="0"/>
                      </a:rPr>
                      <m:t>=2.</m:t>
                    </m:r>
                    <m:acc>
                      <m:accPr>
                        <m:chr m:val="̅"/>
                        <m:ctrlPr>
                          <a:rPr lang="en-AU" sz="2400" b="0" i="1" smtClean="0">
                            <a:latin typeface="Cambria Math" panose="02040503050406030204" pitchFamily="18" charset="0"/>
                          </a:rPr>
                        </m:ctrlPr>
                      </m:accPr>
                      <m:e>
                        <m:r>
                          <a:rPr lang="en-AU" sz="2400" i="1">
                            <a:latin typeface="Cambria Math" panose="02040503050406030204" pitchFamily="18" charset="0"/>
                          </a:rPr>
                          <m:t>370</m:t>
                        </m:r>
                      </m:e>
                    </m:acc>
                  </m:oMath>
                </a14:m>
                <a:endParaRPr lang="en-GB" sz="2400" dirty="0">
                  <a:latin typeface="+mj-lt"/>
                </a:endParaRPr>
              </a:p>
              <a:p>
                <a:r>
                  <a:rPr lang="en-GB" sz="2400" dirty="0">
                    <a:latin typeface="+mj-lt"/>
                  </a:rPr>
                  <a:t>…</a:t>
                </a:r>
              </a:p>
              <a:p>
                <a:r>
                  <a:rPr lang="en-AU" sz="2400" b="0" dirty="0"/>
                  <a:t>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rPr>
                      <m:t>=500,         </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1+</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500</m:t>
                                </m:r>
                              </m:den>
                            </m:f>
                          </m:e>
                        </m:d>
                      </m:e>
                      <m:sup>
                        <m:r>
                          <a:rPr lang="en-AU" sz="2400" b="0" i="1" smtClean="0">
                            <a:latin typeface="Cambria Math" panose="02040503050406030204" pitchFamily="18" charset="0"/>
                          </a:rPr>
                          <m:t>500</m:t>
                        </m:r>
                      </m:sup>
                    </m:sSup>
                    <m:r>
                      <a:rPr lang="en-AU" sz="2400" b="0" i="1" smtClean="0">
                        <a:latin typeface="Cambria Math" panose="02040503050406030204" pitchFamily="18" charset="0"/>
                      </a:rPr>
                      <m:t>=2.71556852065…</m:t>
                    </m:r>
                  </m:oMath>
                </a14:m>
                <a:endParaRPr lang="en-GB" sz="2400" dirty="0">
                  <a:latin typeface="+mj-lt"/>
                </a:endParaRPr>
              </a:p>
            </p:txBody>
          </p:sp>
        </mc:Choice>
        <mc:Fallback xmlns="">
          <p:sp>
            <p:nvSpPr>
              <p:cNvPr id="2" name="TextBox 1">
                <a:extLst>
                  <a:ext uri="{FF2B5EF4-FFF2-40B4-BE49-F238E27FC236}">
                    <a16:creationId xmlns:a16="http://schemas.microsoft.com/office/drawing/2014/main" id="{D55194C5-6ADD-46E8-B5C5-30E4C918FF49}"/>
                  </a:ext>
                </a:extLst>
              </p:cNvPr>
              <p:cNvSpPr txBox="1">
                <a:spLocks noRot="1" noChangeAspect="1" noMove="1" noResize="1" noEditPoints="1" noAdjustHandles="1" noChangeArrowheads="1" noChangeShapeType="1" noTextEdit="1"/>
              </p:cNvSpPr>
              <p:nvPr/>
            </p:nvSpPr>
            <p:spPr>
              <a:xfrm>
                <a:off x="304800" y="941294"/>
                <a:ext cx="11573435" cy="5318957"/>
              </a:xfrm>
              <a:prstGeom prst="rect">
                <a:avLst/>
              </a:prstGeom>
              <a:blipFill>
                <a:blip r:embed="rId2"/>
                <a:stretch>
                  <a:fillRect l="-790" t="-916" r="-632"/>
                </a:stretch>
              </a:blipFill>
            </p:spPr>
            <p:txBody>
              <a:bodyPr/>
              <a:lstStyle/>
              <a:p>
                <a:r>
                  <a:rPr lang="en-GB">
                    <a:noFill/>
                  </a:rPr>
                  <a:t> </a:t>
                </a:r>
              </a:p>
            </p:txBody>
          </p:sp>
        </mc:Fallback>
      </mc:AlternateContent>
      <p:sp>
        <p:nvSpPr>
          <p:cNvPr id="10" name="Rectangle 9">
            <a:extLst>
              <a:ext uri="{FF2B5EF4-FFF2-40B4-BE49-F238E27FC236}">
                <a16:creationId xmlns:a16="http://schemas.microsoft.com/office/drawing/2014/main" id="{F86EC17F-2593-4C18-912B-FE937F824AE5}"/>
              </a:ext>
            </a:extLst>
          </p:cNvPr>
          <p:cNvSpPr/>
          <p:nvPr/>
        </p:nvSpPr>
        <p:spPr>
          <a:xfrm>
            <a:off x="4204447" y="5710518"/>
            <a:ext cx="600635" cy="3675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n>
                <a:solidFill>
                  <a:srgbClr val="FF0000"/>
                </a:solidFill>
              </a:ln>
              <a:noFill/>
            </a:endParaRPr>
          </a:p>
        </p:txBody>
      </p:sp>
      <p:grpSp>
        <p:nvGrpSpPr>
          <p:cNvPr id="65" name="Group 64">
            <a:extLst>
              <a:ext uri="{FF2B5EF4-FFF2-40B4-BE49-F238E27FC236}">
                <a16:creationId xmlns:a16="http://schemas.microsoft.com/office/drawing/2014/main" id="{FC6DC89E-A05F-44B2-B256-4007EFF422D1}"/>
              </a:ext>
            </a:extLst>
          </p:cNvPr>
          <p:cNvGrpSpPr/>
          <p:nvPr/>
        </p:nvGrpSpPr>
        <p:grpSpPr>
          <a:xfrm>
            <a:off x="6194611" y="2641325"/>
            <a:ext cx="5289871" cy="2014994"/>
            <a:chOff x="6194611" y="2641325"/>
            <a:chExt cx="5289871" cy="2014994"/>
          </a:xfrm>
        </p:grpSpPr>
        <p:grpSp>
          <p:nvGrpSpPr>
            <p:cNvPr id="25" name="Group 24">
              <a:extLst>
                <a:ext uri="{FF2B5EF4-FFF2-40B4-BE49-F238E27FC236}">
                  <a16:creationId xmlns:a16="http://schemas.microsoft.com/office/drawing/2014/main" id="{FAF2A46D-8033-40F1-B186-489FAB9CF239}"/>
                </a:ext>
              </a:extLst>
            </p:cNvPr>
            <p:cNvGrpSpPr/>
            <p:nvPr/>
          </p:nvGrpSpPr>
          <p:grpSpPr>
            <a:xfrm>
              <a:off x="6194611" y="3332192"/>
              <a:ext cx="5289871" cy="891367"/>
              <a:chOff x="3530156" y="5677507"/>
              <a:chExt cx="5289871" cy="891367"/>
            </a:xfrm>
          </p:grpSpPr>
          <p:cxnSp>
            <p:nvCxnSpPr>
              <p:cNvPr id="26" name="Straight Arrow Connector 25">
                <a:extLst>
                  <a:ext uri="{FF2B5EF4-FFF2-40B4-BE49-F238E27FC236}">
                    <a16:creationId xmlns:a16="http://schemas.microsoft.com/office/drawing/2014/main" id="{F7D147B0-77F8-41F5-8C0D-97F1282E1187}"/>
                  </a:ext>
                </a:extLst>
              </p:cNvPr>
              <p:cNvCxnSpPr/>
              <p:nvPr/>
            </p:nvCxnSpPr>
            <p:spPr>
              <a:xfrm>
                <a:off x="3858178" y="5987845"/>
                <a:ext cx="46722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E914CB4-B595-4FCA-85A3-FDD9F4307BEF}"/>
                  </a:ext>
                </a:extLst>
              </p:cNvPr>
              <p:cNvCxnSpPr/>
              <p:nvPr/>
            </p:nvCxnSpPr>
            <p:spPr>
              <a:xfrm>
                <a:off x="6096000"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1ADDABA-4268-4777-8445-0E9386DB96A7}"/>
                  </a:ext>
                </a:extLst>
              </p:cNvPr>
              <p:cNvCxnSpPr/>
              <p:nvPr/>
            </p:nvCxnSpPr>
            <p:spPr>
              <a:xfrm>
                <a:off x="669773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ACCAE59-23FB-49B6-BE57-B7CBC36183F8}"/>
                  </a:ext>
                </a:extLst>
              </p:cNvPr>
              <p:cNvCxnSpPr/>
              <p:nvPr/>
            </p:nvCxnSpPr>
            <p:spPr>
              <a:xfrm>
                <a:off x="724637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43FE813-4FD2-4375-8023-3A8A5E1618FE}"/>
                  </a:ext>
                </a:extLst>
              </p:cNvPr>
              <p:cNvCxnSpPr/>
              <p:nvPr/>
            </p:nvCxnSpPr>
            <p:spPr>
              <a:xfrm>
                <a:off x="778911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8EACC68-262F-4B7F-AA80-6BE00D52BE87}"/>
                  </a:ext>
                </a:extLst>
              </p:cNvPr>
              <p:cNvCxnSpPr/>
              <p:nvPr/>
            </p:nvCxnSpPr>
            <p:spPr>
              <a:xfrm>
                <a:off x="442549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323B4A-6473-4B79-8B9D-DF03EFC8CC43}"/>
                  </a:ext>
                </a:extLst>
              </p:cNvPr>
              <p:cNvCxnSpPr/>
              <p:nvPr/>
            </p:nvCxnSpPr>
            <p:spPr>
              <a:xfrm>
                <a:off x="497413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51F9E07-AAF5-4859-9181-2B053217E65F}"/>
                  </a:ext>
                </a:extLst>
              </p:cNvPr>
              <p:cNvCxnSpPr/>
              <p:nvPr/>
            </p:nvCxnSpPr>
            <p:spPr>
              <a:xfrm>
                <a:off x="551687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2D944D6-F31A-43F1-B870-39E9728D046C}"/>
                  </a:ext>
                </a:extLst>
              </p:cNvPr>
              <p:cNvSpPr txBox="1"/>
              <p:nvPr/>
            </p:nvSpPr>
            <p:spPr>
              <a:xfrm>
                <a:off x="5944339" y="6193643"/>
                <a:ext cx="301686" cy="369332"/>
              </a:xfrm>
              <a:prstGeom prst="rect">
                <a:avLst/>
              </a:prstGeom>
              <a:noFill/>
            </p:spPr>
            <p:txBody>
              <a:bodyPr wrap="none" rtlCol="0">
                <a:spAutoFit/>
              </a:bodyPr>
              <a:lstStyle/>
              <a:p>
                <a:r>
                  <a:rPr lang="en-AU" b="1" dirty="0">
                    <a:solidFill>
                      <a:schemeClr val="accent4">
                        <a:lumMod val="75000"/>
                      </a:schemeClr>
                    </a:solidFill>
                  </a:rPr>
                  <a:t>0</a:t>
                </a:r>
              </a:p>
            </p:txBody>
          </p:sp>
          <p:sp>
            <p:nvSpPr>
              <p:cNvPr id="35" name="TextBox 34">
                <a:extLst>
                  <a:ext uri="{FF2B5EF4-FFF2-40B4-BE49-F238E27FC236}">
                    <a16:creationId xmlns:a16="http://schemas.microsoft.com/office/drawing/2014/main" id="{AED1DBAF-00BC-4093-9213-1B5E99FDFC16}"/>
                  </a:ext>
                </a:extLst>
              </p:cNvPr>
              <p:cNvSpPr txBox="1"/>
              <p:nvPr/>
            </p:nvSpPr>
            <p:spPr>
              <a:xfrm>
                <a:off x="6546891" y="6188727"/>
                <a:ext cx="301686" cy="369332"/>
              </a:xfrm>
              <a:prstGeom prst="rect">
                <a:avLst/>
              </a:prstGeom>
              <a:noFill/>
            </p:spPr>
            <p:txBody>
              <a:bodyPr wrap="none" rtlCol="0">
                <a:spAutoFit/>
              </a:bodyPr>
              <a:lstStyle/>
              <a:p>
                <a:r>
                  <a:rPr lang="en-AU" b="1" dirty="0">
                    <a:solidFill>
                      <a:schemeClr val="accent6"/>
                    </a:solidFill>
                  </a:rPr>
                  <a:t>1</a:t>
                </a:r>
              </a:p>
            </p:txBody>
          </p:sp>
          <p:sp>
            <p:nvSpPr>
              <p:cNvPr id="36" name="TextBox 35">
                <a:extLst>
                  <a:ext uri="{FF2B5EF4-FFF2-40B4-BE49-F238E27FC236}">
                    <a16:creationId xmlns:a16="http://schemas.microsoft.com/office/drawing/2014/main" id="{D9C37243-6963-4E32-9BB0-7FC95D097E19}"/>
                  </a:ext>
                </a:extLst>
              </p:cNvPr>
              <p:cNvSpPr txBox="1"/>
              <p:nvPr/>
            </p:nvSpPr>
            <p:spPr>
              <a:xfrm>
                <a:off x="7094930" y="6199542"/>
                <a:ext cx="301686" cy="369332"/>
              </a:xfrm>
              <a:prstGeom prst="rect">
                <a:avLst/>
              </a:prstGeom>
              <a:noFill/>
            </p:spPr>
            <p:txBody>
              <a:bodyPr wrap="none" rtlCol="0">
                <a:spAutoFit/>
              </a:bodyPr>
              <a:lstStyle/>
              <a:p>
                <a:r>
                  <a:rPr lang="en-AU" b="1" dirty="0">
                    <a:solidFill>
                      <a:schemeClr val="accent6"/>
                    </a:solidFill>
                  </a:rPr>
                  <a:t>2</a:t>
                </a:r>
              </a:p>
            </p:txBody>
          </p:sp>
          <p:sp>
            <p:nvSpPr>
              <p:cNvPr id="37" name="TextBox 36">
                <a:extLst>
                  <a:ext uri="{FF2B5EF4-FFF2-40B4-BE49-F238E27FC236}">
                    <a16:creationId xmlns:a16="http://schemas.microsoft.com/office/drawing/2014/main" id="{7BA20724-F32D-4D53-8848-1151FACF8425}"/>
                  </a:ext>
                </a:extLst>
              </p:cNvPr>
              <p:cNvSpPr txBox="1"/>
              <p:nvPr/>
            </p:nvSpPr>
            <p:spPr>
              <a:xfrm>
                <a:off x="7643569" y="6193643"/>
                <a:ext cx="301686" cy="369332"/>
              </a:xfrm>
              <a:prstGeom prst="rect">
                <a:avLst/>
              </a:prstGeom>
              <a:noFill/>
            </p:spPr>
            <p:txBody>
              <a:bodyPr wrap="none" rtlCol="0">
                <a:spAutoFit/>
              </a:bodyPr>
              <a:lstStyle/>
              <a:p>
                <a:r>
                  <a:rPr lang="en-AU" b="1" dirty="0">
                    <a:solidFill>
                      <a:schemeClr val="accent6"/>
                    </a:solidFill>
                  </a:rPr>
                  <a:t>3</a:t>
                </a:r>
              </a:p>
            </p:txBody>
          </p:sp>
          <p:sp>
            <p:nvSpPr>
              <p:cNvPr id="38" name="TextBox 37">
                <a:extLst>
                  <a:ext uri="{FF2B5EF4-FFF2-40B4-BE49-F238E27FC236}">
                    <a16:creationId xmlns:a16="http://schemas.microsoft.com/office/drawing/2014/main" id="{D2BE7C5F-A34E-4CCB-B614-7800E4911B44}"/>
                  </a:ext>
                </a:extLst>
              </p:cNvPr>
              <p:cNvSpPr txBox="1"/>
              <p:nvPr/>
            </p:nvSpPr>
            <p:spPr>
              <a:xfrm>
                <a:off x="8433383" y="5677507"/>
                <a:ext cx="386644" cy="369332"/>
              </a:xfrm>
              <a:prstGeom prst="rect">
                <a:avLst/>
              </a:prstGeom>
              <a:noFill/>
            </p:spPr>
            <p:txBody>
              <a:bodyPr wrap="none" rtlCol="0">
                <a:spAutoFit/>
              </a:bodyPr>
              <a:lstStyle/>
              <a:p>
                <a:r>
                  <a:rPr lang="en-AU" dirty="0"/>
                  <a:t>ꚙ</a:t>
                </a:r>
              </a:p>
            </p:txBody>
          </p:sp>
          <p:sp>
            <p:nvSpPr>
              <p:cNvPr id="39" name="TextBox 38">
                <a:extLst>
                  <a:ext uri="{FF2B5EF4-FFF2-40B4-BE49-F238E27FC236}">
                    <a16:creationId xmlns:a16="http://schemas.microsoft.com/office/drawing/2014/main" id="{5E26275E-40F4-4C09-B3B3-EF9EEFD95032}"/>
                  </a:ext>
                </a:extLst>
              </p:cNvPr>
              <p:cNvSpPr txBox="1"/>
              <p:nvPr/>
            </p:nvSpPr>
            <p:spPr>
              <a:xfrm>
                <a:off x="3530156" y="5677507"/>
                <a:ext cx="609462" cy="369332"/>
              </a:xfrm>
              <a:prstGeom prst="rect">
                <a:avLst/>
              </a:prstGeom>
              <a:noFill/>
            </p:spPr>
            <p:txBody>
              <a:bodyPr wrap="none" rtlCol="0">
                <a:spAutoFit/>
              </a:bodyPr>
              <a:lstStyle/>
              <a:p>
                <a:r>
                  <a:rPr lang="en-AU" dirty="0"/>
                  <a:t>– ꚙ </a:t>
                </a:r>
              </a:p>
            </p:txBody>
          </p:sp>
          <p:cxnSp>
            <p:nvCxnSpPr>
              <p:cNvPr id="40" name="Straight Connector 39">
                <a:extLst>
                  <a:ext uri="{FF2B5EF4-FFF2-40B4-BE49-F238E27FC236}">
                    <a16:creationId xmlns:a16="http://schemas.microsoft.com/office/drawing/2014/main" id="{0E031F0C-665A-42FB-9703-D2FDF48F7D80}"/>
                  </a:ext>
                </a:extLst>
              </p:cNvPr>
              <p:cNvCxnSpPr/>
              <p:nvPr/>
            </p:nvCxnSpPr>
            <p:spPr>
              <a:xfrm>
                <a:off x="442549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80D1D79-199B-4248-BF30-A3C9A12AD57F}"/>
                  </a:ext>
                </a:extLst>
              </p:cNvPr>
              <p:cNvCxnSpPr/>
              <p:nvPr/>
            </p:nvCxnSpPr>
            <p:spPr>
              <a:xfrm>
                <a:off x="497413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EB20723-E1E1-4846-B102-F62B8A35D13B}"/>
                  </a:ext>
                </a:extLst>
              </p:cNvPr>
              <p:cNvCxnSpPr/>
              <p:nvPr/>
            </p:nvCxnSpPr>
            <p:spPr>
              <a:xfrm>
                <a:off x="551687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B501A40B-DD3A-4368-B64F-C7D6213F4983}"/>
                  </a:ext>
                </a:extLst>
              </p:cNvPr>
              <p:cNvSpPr txBox="1"/>
              <p:nvPr/>
            </p:nvSpPr>
            <p:spPr>
              <a:xfrm>
                <a:off x="4239390" y="6188727"/>
                <a:ext cx="372218" cy="369332"/>
              </a:xfrm>
              <a:prstGeom prst="rect">
                <a:avLst/>
              </a:prstGeom>
              <a:noFill/>
            </p:spPr>
            <p:txBody>
              <a:bodyPr wrap="none" rtlCol="0">
                <a:spAutoFit/>
              </a:bodyPr>
              <a:lstStyle/>
              <a:p>
                <a:r>
                  <a:rPr lang="en-AU" b="1" dirty="0">
                    <a:solidFill>
                      <a:srgbClr val="C00000"/>
                    </a:solidFill>
                  </a:rPr>
                  <a:t>-3</a:t>
                </a:r>
              </a:p>
            </p:txBody>
          </p:sp>
          <p:sp>
            <p:nvSpPr>
              <p:cNvPr id="44" name="TextBox 43">
                <a:extLst>
                  <a:ext uri="{FF2B5EF4-FFF2-40B4-BE49-F238E27FC236}">
                    <a16:creationId xmlns:a16="http://schemas.microsoft.com/office/drawing/2014/main" id="{F6F80AA8-3A9C-4E65-912F-CFD4863A1C21}"/>
                  </a:ext>
                </a:extLst>
              </p:cNvPr>
              <p:cNvSpPr txBox="1"/>
              <p:nvPr/>
            </p:nvSpPr>
            <p:spPr>
              <a:xfrm>
                <a:off x="4782429" y="6199542"/>
                <a:ext cx="372218" cy="369332"/>
              </a:xfrm>
              <a:prstGeom prst="rect">
                <a:avLst/>
              </a:prstGeom>
              <a:noFill/>
            </p:spPr>
            <p:txBody>
              <a:bodyPr wrap="none" rtlCol="0">
                <a:spAutoFit/>
              </a:bodyPr>
              <a:lstStyle/>
              <a:p>
                <a:r>
                  <a:rPr lang="en-AU" b="1" dirty="0">
                    <a:solidFill>
                      <a:srgbClr val="C00000"/>
                    </a:solidFill>
                  </a:rPr>
                  <a:t>-2</a:t>
                </a:r>
              </a:p>
            </p:txBody>
          </p:sp>
          <p:sp>
            <p:nvSpPr>
              <p:cNvPr id="45" name="TextBox 44">
                <a:extLst>
                  <a:ext uri="{FF2B5EF4-FFF2-40B4-BE49-F238E27FC236}">
                    <a16:creationId xmlns:a16="http://schemas.microsoft.com/office/drawing/2014/main" id="{FC91CE08-2C0F-4FF3-846C-D4CA6C4F9AA0}"/>
                  </a:ext>
                </a:extLst>
              </p:cNvPr>
              <p:cNvSpPr txBox="1"/>
              <p:nvPr/>
            </p:nvSpPr>
            <p:spPr>
              <a:xfrm>
                <a:off x="5325168" y="6199542"/>
                <a:ext cx="372218" cy="369332"/>
              </a:xfrm>
              <a:prstGeom prst="rect">
                <a:avLst/>
              </a:prstGeom>
              <a:noFill/>
            </p:spPr>
            <p:txBody>
              <a:bodyPr wrap="none" rtlCol="0">
                <a:spAutoFit/>
              </a:bodyPr>
              <a:lstStyle/>
              <a:p>
                <a:r>
                  <a:rPr lang="en-AU" b="1" dirty="0">
                    <a:solidFill>
                      <a:srgbClr val="C00000"/>
                    </a:solidFill>
                  </a:rPr>
                  <a:t>-1</a:t>
                </a:r>
              </a:p>
            </p:txBody>
          </p:sp>
        </p:grpSp>
        <p:cxnSp>
          <p:nvCxnSpPr>
            <p:cNvPr id="48" name="Straight Connector 47">
              <a:extLst>
                <a:ext uri="{FF2B5EF4-FFF2-40B4-BE49-F238E27FC236}">
                  <a16:creationId xmlns:a16="http://schemas.microsoft.com/office/drawing/2014/main" id="{D4C0CD6C-3FE7-456F-A1F5-B55CD3DA985F}"/>
                </a:ext>
              </a:extLst>
            </p:cNvPr>
            <p:cNvCxnSpPr/>
            <p:nvPr/>
          </p:nvCxnSpPr>
          <p:spPr>
            <a:xfrm>
              <a:off x="10308024" y="3642530"/>
              <a:ext cx="0" cy="720474"/>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5731AD7-8A1F-414B-8EB8-26409E8A00FC}"/>
                </a:ext>
              </a:extLst>
            </p:cNvPr>
            <p:cNvSpPr txBox="1"/>
            <p:nvPr/>
          </p:nvSpPr>
          <p:spPr>
            <a:xfrm>
              <a:off x="10171595" y="4286987"/>
              <a:ext cx="300082" cy="369332"/>
            </a:xfrm>
            <a:prstGeom prst="rect">
              <a:avLst/>
            </a:prstGeom>
            <a:noFill/>
          </p:spPr>
          <p:txBody>
            <a:bodyPr wrap="none" rtlCol="0">
              <a:spAutoFit/>
            </a:bodyPr>
            <a:lstStyle/>
            <a:p>
              <a:r>
                <a:rPr lang="en-AU" i="1" dirty="0">
                  <a:solidFill>
                    <a:schemeClr val="accent1"/>
                  </a:solidFill>
                </a:rPr>
                <a:t>e</a:t>
              </a:r>
            </a:p>
          </p:txBody>
        </p:sp>
        <p:cxnSp>
          <p:nvCxnSpPr>
            <p:cNvPr id="50" name="Straight Connector 49">
              <a:extLst>
                <a:ext uri="{FF2B5EF4-FFF2-40B4-BE49-F238E27FC236}">
                  <a16:creationId xmlns:a16="http://schemas.microsoft.com/office/drawing/2014/main" id="{CAA3F1D6-33FB-4662-9F55-98AC961DE193}"/>
                </a:ext>
              </a:extLst>
            </p:cNvPr>
            <p:cNvCxnSpPr/>
            <p:nvPr/>
          </p:nvCxnSpPr>
          <p:spPr>
            <a:xfrm>
              <a:off x="10025211" y="3052608"/>
              <a:ext cx="0" cy="5770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034A04B-4C7B-4BED-AAE5-7A007B2725BA}"/>
                    </a:ext>
                  </a:extLst>
                </p:cNvPr>
                <p:cNvSpPr txBox="1"/>
                <p:nvPr/>
              </p:nvSpPr>
              <p:spPr>
                <a:xfrm>
                  <a:off x="9865398" y="2840912"/>
                  <a:ext cx="32412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1100" i="1" dirty="0" smtClean="0">
                            <a:solidFill>
                              <a:srgbClr val="FF0000"/>
                            </a:solidFill>
                            <a:latin typeface="Cambria Math" panose="02040503050406030204" pitchFamily="18" charset="0"/>
                          </a:rPr>
                          <m:t>2</m:t>
                        </m:r>
                      </m:oMath>
                    </m:oMathPara>
                  </a14:m>
                  <a:endParaRPr lang="en-AU" sz="1100" dirty="0">
                    <a:solidFill>
                      <a:srgbClr val="FF0000"/>
                    </a:solidFill>
                  </a:endParaRPr>
                </a:p>
              </p:txBody>
            </p:sp>
          </mc:Choice>
          <mc:Fallback xmlns="">
            <p:sp>
              <p:nvSpPr>
                <p:cNvPr id="51" name="TextBox 50">
                  <a:extLst>
                    <a:ext uri="{FF2B5EF4-FFF2-40B4-BE49-F238E27FC236}">
                      <a16:creationId xmlns:a16="http://schemas.microsoft.com/office/drawing/2014/main" id="{0034A04B-4C7B-4BED-AAE5-7A007B2725BA}"/>
                    </a:ext>
                  </a:extLst>
                </p:cNvPr>
                <p:cNvSpPr txBox="1">
                  <a:spLocks noRot="1" noChangeAspect="1" noMove="1" noResize="1" noEditPoints="1" noAdjustHandles="1" noChangeArrowheads="1" noChangeShapeType="1" noTextEdit="1"/>
                </p:cNvSpPr>
                <p:nvPr/>
              </p:nvSpPr>
              <p:spPr>
                <a:xfrm>
                  <a:off x="9865398" y="2840912"/>
                  <a:ext cx="324125" cy="261610"/>
                </a:xfrm>
                <a:prstGeom prst="rect">
                  <a:avLst/>
                </a:prstGeom>
                <a:blipFill>
                  <a:blip r:embed="rId3"/>
                  <a:stretch>
                    <a:fillRect/>
                  </a:stretch>
                </a:blipFill>
              </p:spPr>
              <p:txBody>
                <a:bodyPr/>
                <a:lstStyle/>
                <a:p>
                  <a:r>
                    <a:rPr lang="en-GB">
                      <a:noFill/>
                    </a:rPr>
                    <a:t> </a:t>
                  </a:r>
                </a:p>
              </p:txBody>
            </p:sp>
          </mc:Fallback>
        </mc:AlternateContent>
        <p:cxnSp>
          <p:nvCxnSpPr>
            <p:cNvPr id="52" name="Straight Connector 51">
              <a:extLst>
                <a:ext uri="{FF2B5EF4-FFF2-40B4-BE49-F238E27FC236}">
                  <a16:creationId xmlns:a16="http://schemas.microsoft.com/office/drawing/2014/main" id="{C9095FD5-D391-47DC-93A7-4ECF9312AAF8}"/>
                </a:ext>
              </a:extLst>
            </p:cNvPr>
            <p:cNvCxnSpPr/>
            <p:nvPr/>
          </p:nvCxnSpPr>
          <p:spPr>
            <a:xfrm>
              <a:off x="9919193" y="2922056"/>
              <a:ext cx="0" cy="7204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8FA4CF3-0DDB-4FD7-8CCA-1F5EF96785FA}"/>
                </a:ext>
              </a:extLst>
            </p:cNvPr>
            <p:cNvSpPr txBox="1"/>
            <p:nvPr/>
          </p:nvSpPr>
          <p:spPr>
            <a:xfrm>
              <a:off x="9778621" y="2655401"/>
              <a:ext cx="263214" cy="276999"/>
            </a:xfrm>
            <a:prstGeom prst="rect">
              <a:avLst/>
            </a:prstGeom>
            <a:noFill/>
          </p:spPr>
          <p:txBody>
            <a:bodyPr wrap="none" rtlCol="0">
              <a:spAutoFit/>
            </a:bodyPr>
            <a:lstStyle/>
            <a:p>
              <a:r>
                <a:rPr lang="en-AU" sz="1200" dirty="0">
                  <a:solidFill>
                    <a:srgbClr val="FF0000"/>
                  </a:solidFill>
                </a:rPr>
                <a:t>1</a:t>
              </a:r>
            </a:p>
          </p:txBody>
        </p:sp>
        <p:cxnSp>
          <p:nvCxnSpPr>
            <p:cNvPr id="60" name="Straight Connector 59">
              <a:extLst>
                <a:ext uri="{FF2B5EF4-FFF2-40B4-BE49-F238E27FC236}">
                  <a16:creationId xmlns:a16="http://schemas.microsoft.com/office/drawing/2014/main" id="{B28B89D6-468A-4EF8-A64A-E4F0EEECBED6}"/>
                </a:ext>
              </a:extLst>
            </p:cNvPr>
            <p:cNvCxnSpPr>
              <a:cxnSpLocks/>
            </p:cNvCxnSpPr>
            <p:nvPr/>
          </p:nvCxnSpPr>
          <p:spPr>
            <a:xfrm>
              <a:off x="10087370" y="2863495"/>
              <a:ext cx="0" cy="7790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53AEC58-34F9-4D40-AB4F-E17D4246FBF0}"/>
                    </a:ext>
                  </a:extLst>
                </p:cNvPr>
                <p:cNvSpPr txBox="1"/>
                <p:nvPr/>
              </p:nvSpPr>
              <p:spPr>
                <a:xfrm>
                  <a:off x="9927557" y="2651799"/>
                  <a:ext cx="32412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1100" b="0" i="1" dirty="0" smtClean="0">
                            <a:solidFill>
                              <a:srgbClr val="FF0000"/>
                            </a:solidFill>
                            <a:latin typeface="Cambria Math" panose="02040503050406030204" pitchFamily="18" charset="0"/>
                          </a:rPr>
                          <m:t>3</m:t>
                        </m:r>
                      </m:oMath>
                    </m:oMathPara>
                  </a14:m>
                  <a:endParaRPr lang="en-AU" sz="1100" dirty="0">
                    <a:solidFill>
                      <a:srgbClr val="FF0000"/>
                    </a:solidFill>
                  </a:endParaRPr>
                </a:p>
              </p:txBody>
            </p:sp>
          </mc:Choice>
          <mc:Fallback xmlns="">
            <p:sp>
              <p:nvSpPr>
                <p:cNvPr id="61" name="TextBox 60">
                  <a:extLst>
                    <a:ext uri="{FF2B5EF4-FFF2-40B4-BE49-F238E27FC236}">
                      <a16:creationId xmlns:a16="http://schemas.microsoft.com/office/drawing/2014/main" id="{653AEC58-34F9-4D40-AB4F-E17D4246FBF0}"/>
                    </a:ext>
                  </a:extLst>
                </p:cNvPr>
                <p:cNvSpPr txBox="1">
                  <a:spLocks noRot="1" noChangeAspect="1" noMove="1" noResize="1" noEditPoints="1" noAdjustHandles="1" noChangeArrowheads="1" noChangeShapeType="1" noTextEdit="1"/>
                </p:cNvSpPr>
                <p:nvPr/>
              </p:nvSpPr>
              <p:spPr>
                <a:xfrm>
                  <a:off x="9927557" y="2651799"/>
                  <a:ext cx="324125" cy="261610"/>
                </a:xfrm>
                <a:prstGeom prst="rect">
                  <a:avLst/>
                </a:prstGeom>
                <a:blipFill>
                  <a:blip r:embed="rId4"/>
                  <a:stretch>
                    <a:fillRect/>
                  </a:stretch>
                </a:blipFill>
              </p:spPr>
              <p:txBody>
                <a:bodyPr/>
                <a:lstStyle/>
                <a:p>
                  <a:r>
                    <a:rPr lang="en-GB">
                      <a:noFill/>
                    </a:rPr>
                    <a:t> </a:t>
                  </a:r>
                </a:p>
              </p:txBody>
            </p:sp>
          </mc:Fallback>
        </mc:AlternateContent>
        <p:cxnSp>
          <p:nvCxnSpPr>
            <p:cNvPr id="63" name="Straight Connector 62">
              <a:extLst>
                <a:ext uri="{FF2B5EF4-FFF2-40B4-BE49-F238E27FC236}">
                  <a16:creationId xmlns:a16="http://schemas.microsoft.com/office/drawing/2014/main" id="{135828A8-AA1A-47D3-A39A-25ECC81772DF}"/>
                </a:ext>
              </a:extLst>
            </p:cNvPr>
            <p:cNvCxnSpPr>
              <a:cxnSpLocks/>
            </p:cNvCxnSpPr>
            <p:nvPr/>
          </p:nvCxnSpPr>
          <p:spPr>
            <a:xfrm>
              <a:off x="10255546" y="2853021"/>
              <a:ext cx="0" cy="7790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83BE301B-4843-466D-B4C9-840CFE7091E3}"/>
                    </a:ext>
                  </a:extLst>
                </p:cNvPr>
                <p:cNvSpPr txBox="1"/>
                <p:nvPr/>
              </p:nvSpPr>
              <p:spPr>
                <a:xfrm>
                  <a:off x="10095733" y="2641325"/>
                  <a:ext cx="32412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1100" b="0" i="1" dirty="0" smtClean="0">
                            <a:solidFill>
                              <a:srgbClr val="FF0000"/>
                            </a:solidFill>
                            <a:latin typeface="Cambria Math" panose="02040503050406030204" pitchFamily="18" charset="0"/>
                          </a:rPr>
                          <m:t>500</m:t>
                        </m:r>
                      </m:oMath>
                    </m:oMathPara>
                  </a14:m>
                  <a:endParaRPr lang="en-AU" sz="1100" dirty="0">
                    <a:solidFill>
                      <a:srgbClr val="FF0000"/>
                    </a:solidFill>
                  </a:endParaRPr>
                </a:p>
              </p:txBody>
            </p:sp>
          </mc:Choice>
          <mc:Fallback xmlns="">
            <p:sp>
              <p:nvSpPr>
                <p:cNvPr id="64" name="TextBox 63">
                  <a:extLst>
                    <a:ext uri="{FF2B5EF4-FFF2-40B4-BE49-F238E27FC236}">
                      <a16:creationId xmlns:a16="http://schemas.microsoft.com/office/drawing/2014/main" id="{83BE301B-4843-466D-B4C9-840CFE7091E3}"/>
                    </a:ext>
                  </a:extLst>
                </p:cNvPr>
                <p:cNvSpPr txBox="1">
                  <a:spLocks noRot="1" noChangeAspect="1" noMove="1" noResize="1" noEditPoints="1" noAdjustHandles="1" noChangeArrowheads="1" noChangeShapeType="1" noTextEdit="1"/>
                </p:cNvSpPr>
                <p:nvPr/>
              </p:nvSpPr>
              <p:spPr>
                <a:xfrm>
                  <a:off x="10095733" y="2641325"/>
                  <a:ext cx="324125" cy="261610"/>
                </a:xfrm>
                <a:prstGeom prst="rect">
                  <a:avLst/>
                </a:prstGeom>
                <a:blipFill>
                  <a:blip r:embed="rId5"/>
                  <a:stretch>
                    <a:fillRect r="-18868"/>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F1AA571E-958D-4207-A0E0-A3627FD522DD}"/>
                  </a:ext>
                </a:extLst>
              </p:cNvPr>
              <p:cNvSpPr txBox="1"/>
              <p:nvPr/>
            </p:nvSpPr>
            <p:spPr>
              <a:xfrm>
                <a:off x="7989623" y="5177204"/>
                <a:ext cx="2641364" cy="9650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pt-BR" sz="2400" i="1" smtClean="0">
                              <a:latin typeface="Cambria Math" panose="02040503050406030204" pitchFamily="18" charset="0"/>
                            </a:rPr>
                          </m:ctrlPr>
                        </m:funcPr>
                        <m:fName>
                          <m:limLow>
                            <m:limLowPr>
                              <m:ctrlPr>
                                <a:rPr lang="pt-BR" sz="2400" i="1" smtClean="0">
                                  <a:latin typeface="Cambria Math" panose="02040503050406030204" pitchFamily="18" charset="0"/>
                                </a:rPr>
                              </m:ctrlPr>
                            </m:limLowPr>
                            <m:e>
                              <m:r>
                                <m:rPr>
                                  <m:sty m:val="p"/>
                                </m:rPr>
                                <a:rPr lang="pt-BR" sz="2400" i="0" smtClean="0">
                                  <a:latin typeface="Cambria Math" panose="02040503050406030204" pitchFamily="18" charset="0"/>
                                </a:rPr>
                                <m:t>lim</m:t>
                              </m:r>
                            </m:e>
                            <m:lim>
                              <m:r>
                                <a:rPr lang="pt-BR" sz="2400" i="1" smtClean="0">
                                  <a:latin typeface="Cambria Math" panose="02040503050406030204" pitchFamily="18" charset="0"/>
                                </a:rPr>
                                <m:t>𝑛</m:t>
                              </m:r>
                              <m:r>
                                <a:rPr lang="pt-BR" sz="2400" i="1" smtClean="0">
                                  <a:latin typeface="Cambria Math" panose="02040503050406030204" pitchFamily="18" charset="0"/>
                                </a:rPr>
                                <m:t>→∞</m:t>
                              </m:r>
                            </m:lim>
                          </m:limLow>
                        </m:fName>
                        <m:e>
                          <m:sSup>
                            <m:sSupPr>
                              <m:ctrlPr>
                                <a:rPr lang="pt-BR" sz="2400" i="1" smtClean="0">
                                  <a:latin typeface="Cambria Math" panose="02040503050406030204" pitchFamily="18" charset="0"/>
                                </a:rPr>
                              </m:ctrlPr>
                            </m:sSupPr>
                            <m:e>
                              <m:d>
                                <m:dPr>
                                  <m:ctrlPr>
                                    <a:rPr lang="pt-BR" sz="2400" i="1" smtClean="0">
                                      <a:latin typeface="Cambria Math" panose="02040503050406030204" pitchFamily="18" charset="0"/>
                                    </a:rPr>
                                  </m:ctrlPr>
                                </m:dPr>
                                <m:e>
                                  <m:r>
                                    <a:rPr lang="pt-BR" sz="2400" i="1" smtClean="0">
                                      <a:latin typeface="Cambria Math" panose="02040503050406030204" pitchFamily="18" charset="0"/>
                                    </a:rPr>
                                    <m:t>1+</m:t>
                                  </m:r>
                                  <m:f>
                                    <m:fPr>
                                      <m:ctrlPr>
                                        <a:rPr lang="pt-BR" sz="2400" i="1" smtClean="0">
                                          <a:latin typeface="Cambria Math" panose="02040503050406030204" pitchFamily="18" charset="0"/>
                                        </a:rPr>
                                      </m:ctrlPr>
                                    </m:fPr>
                                    <m:num>
                                      <m:r>
                                        <a:rPr lang="pt-BR" sz="2400" i="1" smtClean="0">
                                          <a:latin typeface="Cambria Math" panose="02040503050406030204" pitchFamily="18" charset="0"/>
                                        </a:rPr>
                                        <m:t>1</m:t>
                                      </m:r>
                                    </m:num>
                                    <m:den>
                                      <m:r>
                                        <a:rPr lang="pt-BR" sz="2400" i="1" smtClean="0">
                                          <a:latin typeface="Cambria Math" panose="02040503050406030204" pitchFamily="18" charset="0"/>
                                        </a:rPr>
                                        <m:t>𝑛</m:t>
                                      </m:r>
                                    </m:den>
                                  </m:f>
                                </m:e>
                              </m:d>
                            </m:e>
                            <m:sup>
                              <m:r>
                                <a:rPr lang="pt-BR" sz="2400" i="1" smtClean="0">
                                  <a:latin typeface="Cambria Math" panose="02040503050406030204" pitchFamily="18" charset="0"/>
                                </a:rPr>
                                <m:t>𝑛</m:t>
                              </m:r>
                            </m:sup>
                          </m:sSup>
                          <m:r>
                            <a:rPr lang="en-AU" sz="2400" b="0" i="1" smtClean="0">
                              <a:latin typeface="Cambria Math" panose="02040503050406030204" pitchFamily="18" charset="0"/>
                            </a:rPr>
                            <m:t>=</m:t>
                          </m:r>
                          <m:r>
                            <a:rPr lang="en-AU" sz="2400" b="0" i="1" smtClean="0">
                              <a:latin typeface="Cambria Math" panose="02040503050406030204" pitchFamily="18" charset="0"/>
                            </a:rPr>
                            <m:t>𝑒</m:t>
                          </m:r>
                        </m:e>
                      </m:func>
                    </m:oMath>
                  </m:oMathPara>
                </a14:m>
                <a:endParaRPr lang="en-GB" sz="2400" dirty="0"/>
              </a:p>
            </p:txBody>
          </p:sp>
        </mc:Choice>
        <mc:Fallback xmlns="">
          <p:sp>
            <p:nvSpPr>
              <p:cNvPr id="66" name="TextBox 65">
                <a:extLst>
                  <a:ext uri="{FF2B5EF4-FFF2-40B4-BE49-F238E27FC236}">
                    <a16:creationId xmlns:a16="http://schemas.microsoft.com/office/drawing/2014/main" id="{F1AA571E-958D-4207-A0E0-A3627FD522DD}"/>
                  </a:ext>
                </a:extLst>
              </p:cNvPr>
              <p:cNvSpPr txBox="1">
                <a:spLocks noRot="1" noChangeAspect="1" noMove="1" noResize="1" noEditPoints="1" noAdjustHandles="1" noChangeArrowheads="1" noChangeShapeType="1" noTextEdit="1"/>
              </p:cNvSpPr>
              <p:nvPr/>
            </p:nvSpPr>
            <p:spPr>
              <a:xfrm>
                <a:off x="7989623" y="5177204"/>
                <a:ext cx="2641364" cy="965072"/>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344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A809689-878A-4B08-AB83-A4D53128B199}"/>
              </a:ext>
            </a:extLst>
          </p:cNvPr>
          <p:cNvGrpSpPr/>
          <p:nvPr/>
        </p:nvGrpSpPr>
        <p:grpSpPr>
          <a:xfrm>
            <a:off x="0" y="361"/>
            <a:ext cx="12192000" cy="825314"/>
            <a:chOff x="0" y="213019"/>
            <a:chExt cx="12192000" cy="825314"/>
          </a:xfrm>
          <a:solidFill>
            <a:schemeClr val="accent2">
              <a:lumMod val="50000"/>
            </a:schemeClr>
          </a:solidFill>
        </p:grpSpPr>
        <p:sp>
          <p:nvSpPr>
            <p:cNvPr id="10" name="Rectangle 9">
              <a:extLst>
                <a:ext uri="{FF2B5EF4-FFF2-40B4-BE49-F238E27FC236}">
                  <a16:creationId xmlns:a16="http://schemas.microsoft.com/office/drawing/2014/main" id="{031B6C8E-EB30-42EE-8F53-5C670B1E1078}"/>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A9F1BBBB-FD5A-4EAE-84FF-62D9697BBBB7}"/>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EE48C44C-8F6F-46DD-B861-F0273E00544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TextBox 12">
            <a:extLst>
              <a:ext uri="{FF2B5EF4-FFF2-40B4-BE49-F238E27FC236}">
                <a16:creationId xmlns:a16="http://schemas.microsoft.com/office/drawing/2014/main" id="{952B69EB-9259-47B8-BEF3-59636EAC8146}"/>
              </a:ext>
            </a:extLst>
          </p:cNvPr>
          <p:cNvSpPr txBox="1"/>
          <p:nvPr/>
        </p:nvSpPr>
        <p:spPr>
          <a:xfrm>
            <a:off x="66245" y="124632"/>
            <a:ext cx="6477992" cy="523220"/>
          </a:xfrm>
          <a:prstGeom prst="rect">
            <a:avLst/>
          </a:prstGeom>
          <a:noFill/>
        </p:spPr>
        <p:txBody>
          <a:bodyPr wrap="none" rtlCol="0">
            <a:spAutoFit/>
          </a:bodyPr>
          <a:lstStyle/>
          <a:p>
            <a:r>
              <a:rPr lang="en-AU" sz="2800" b="1" cap="small" dirty="0">
                <a:solidFill>
                  <a:schemeClr val="bg1"/>
                </a:solidFill>
                <a:latin typeface="+mj-lt"/>
              </a:rPr>
              <a:t>1.1 Numbers, sets, completeness and ordering</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9089C69-80DA-4FF8-99A3-5C86095D4F16}"/>
                  </a:ext>
                </a:extLst>
              </p:cNvPr>
              <p:cNvSpPr txBox="1"/>
              <p:nvPr/>
            </p:nvSpPr>
            <p:spPr>
              <a:xfrm>
                <a:off x="240535" y="1035134"/>
                <a:ext cx="11710929" cy="2336537"/>
              </a:xfrm>
              <a:prstGeom prst="rect">
                <a:avLst/>
              </a:prstGeom>
              <a:noFill/>
            </p:spPr>
            <p:txBody>
              <a:bodyPr wrap="square" rtlCol="0">
                <a:spAutoFit/>
              </a:bodyPr>
              <a:lstStyle/>
              <a:p>
                <a:r>
                  <a:rPr lang="en-AU" sz="2400" dirty="0">
                    <a:latin typeface="+mj-lt"/>
                  </a:rPr>
                  <a:t>Find out to which real number does the following sequence converge:</a:t>
                </a:r>
              </a:p>
              <a:p>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i="1" smtClean="0">
                              <a:latin typeface="Cambria Math" panose="02040503050406030204" pitchFamily="18" charset="0"/>
                            </a:rPr>
                          </m:ctrlPr>
                        </m:fPr>
                        <m:num>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𝑛</m:t>
                              </m:r>
                              <m:r>
                                <a:rPr lang="en-AU" sz="2400" b="0" i="1" smtClean="0">
                                  <a:latin typeface="Cambria Math" panose="02040503050406030204" pitchFamily="18" charset="0"/>
                                </a:rPr>
                                <m:t>+1</m:t>
                              </m:r>
                            </m:sub>
                          </m:sSub>
                        </m:num>
                        <m:den>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𝑛</m:t>
                              </m:r>
                            </m:sub>
                          </m:sSub>
                        </m:den>
                      </m:f>
                      <m:r>
                        <a:rPr lang="en-AU" sz="2400" b="0" i="1" smtClean="0">
                          <a:latin typeface="Cambria Math" panose="02040503050406030204" pitchFamily="18" charset="0"/>
                        </a:rPr>
                        <m:t> ,    </m:t>
                      </m:r>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ℕ</m:t>
                      </m:r>
                    </m:oMath>
                  </m:oMathPara>
                </a14:m>
                <a:endParaRPr lang="en-AU" sz="2400" dirty="0">
                  <a:latin typeface="+mj-lt"/>
                </a:endParaRPr>
              </a:p>
              <a:p>
                <a:endParaRPr lang="en-AU" sz="2400" dirty="0">
                  <a:latin typeface="+mj-lt"/>
                </a:endParaRPr>
              </a:p>
              <a:p>
                <a:r>
                  <a:rPr lang="en-AU" sz="2400" dirty="0">
                    <a:latin typeface="+mj-lt"/>
                  </a:rPr>
                  <a:t>where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𝑛</m:t>
                        </m:r>
                        <m:r>
                          <a:rPr lang="en-AU" sz="2400" b="0" i="1" smtClean="0">
                            <a:latin typeface="Cambria Math" panose="02040503050406030204" pitchFamily="18" charset="0"/>
                          </a:rPr>
                          <m:t>−1</m:t>
                        </m:r>
                      </m:sub>
                    </m:sSub>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𝑛</m:t>
                        </m:r>
                        <m:r>
                          <a:rPr lang="en-AU" sz="2400" b="0" i="1" smtClean="0">
                            <a:latin typeface="Cambria Math" panose="02040503050406030204" pitchFamily="18" charset="0"/>
                          </a:rPr>
                          <m:t>−2</m:t>
                        </m:r>
                      </m:sub>
                    </m:sSub>
                  </m:oMath>
                </a14:m>
                <a:r>
                  <a:rPr lang="en-AU" sz="2400" dirty="0">
                    <a:latin typeface="+mj-lt"/>
                  </a:rPr>
                  <a:t>   with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2</m:t>
                        </m:r>
                      </m:sub>
                    </m:sSub>
                    <m:r>
                      <a:rPr lang="en-AU" sz="2400" b="0" i="1" smtClean="0">
                        <a:latin typeface="Cambria Math" panose="02040503050406030204" pitchFamily="18" charset="0"/>
                      </a:rPr>
                      <m:t>=1</m:t>
                    </m:r>
                  </m:oMath>
                </a14:m>
                <a:r>
                  <a:rPr lang="en-AU" sz="2400" dirty="0">
                    <a:latin typeface="+mj-lt"/>
                  </a:rPr>
                  <a:t>.</a:t>
                </a:r>
              </a:p>
            </p:txBody>
          </p:sp>
        </mc:Choice>
        <mc:Fallback xmlns="">
          <p:sp>
            <p:nvSpPr>
              <p:cNvPr id="3" name="TextBox 2">
                <a:extLst>
                  <a:ext uri="{FF2B5EF4-FFF2-40B4-BE49-F238E27FC236}">
                    <a16:creationId xmlns:a16="http://schemas.microsoft.com/office/drawing/2014/main" id="{E9089C69-80DA-4FF8-99A3-5C86095D4F16}"/>
                  </a:ext>
                </a:extLst>
              </p:cNvPr>
              <p:cNvSpPr txBox="1">
                <a:spLocks noRot="1" noChangeAspect="1" noMove="1" noResize="1" noEditPoints="1" noAdjustHandles="1" noChangeArrowheads="1" noChangeShapeType="1" noTextEdit="1"/>
              </p:cNvSpPr>
              <p:nvPr/>
            </p:nvSpPr>
            <p:spPr>
              <a:xfrm>
                <a:off x="240535" y="1035134"/>
                <a:ext cx="11710929" cy="2336537"/>
              </a:xfrm>
              <a:prstGeom prst="rect">
                <a:avLst/>
              </a:prstGeom>
              <a:blipFill>
                <a:blip r:embed="rId2"/>
                <a:stretch>
                  <a:fillRect l="-780" t="-2089" b="-5222"/>
                </a:stretch>
              </a:blipFill>
            </p:spPr>
            <p:txBody>
              <a:bodyPr/>
              <a:lstStyle/>
              <a:p>
                <a:r>
                  <a:rPr lang="en-GB">
                    <a:noFill/>
                  </a:rPr>
                  <a:t> </a:t>
                </a:r>
              </a:p>
            </p:txBody>
          </p:sp>
        </mc:Fallback>
      </mc:AlternateContent>
    </p:spTree>
    <p:extLst>
      <p:ext uri="{BB962C8B-B14F-4D97-AF65-F5344CB8AC3E}">
        <p14:creationId xmlns:p14="http://schemas.microsoft.com/office/powerpoint/2010/main" val="2819380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A809689-878A-4B08-AB83-A4D53128B199}"/>
              </a:ext>
            </a:extLst>
          </p:cNvPr>
          <p:cNvGrpSpPr/>
          <p:nvPr/>
        </p:nvGrpSpPr>
        <p:grpSpPr>
          <a:xfrm>
            <a:off x="0" y="361"/>
            <a:ext cx="12192000" cy="825314"/>
            <a:chOff x="0" y="213019"/>
            <a:chExt cx="12192000" cy="825314"/>
          </a:xfrm>
          <a:solidFill>
            <a:schemeClr val="accent2">
              <a:lumMod val="50000"/>
            </a:schemeClr>
          </a:solidFill>
        </p:grpSpPr>
        <p:sp>
          <p:nvSpPr>
            <p:cNvPr id="10" name="Rectangle 9">
              <a:extLst>
                <a:ext uri="{FF2B5EF4-FFF2-40B4-BE49-F238E27FC236}">
                  <a16:creationId xmlns:a16="http://schemas.microsoft.com/office/drawing/2014/main" id="{031B6C8E-EB30-42EE-8F53-5C670B1E1078}"/>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A9F1BBBB-FD5A-4EAE-84FF-62D9697BBBB7}"/>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EE48C44C-8F6F-46DD-B861-F0273E00544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TextBox 12">
            <a:extLst>
              <a:ext uri="{FF2B5EF4-FFF2-40B4-BE49-F238E27FC236}">
                <a16:creationId xmlns:a16="http://schemas.microsoft.com/office/drawing/2014/main" id="{952B69EB-9259-47B8-BEF3-59636EAC8146}"/>
              </a:ext>
            </a:extLst>
          </p:cNvPr>
          <p:cNvSpPr txBox="1"/>
          <p:nvPr/>
        </p:nvSpPr>
        <p:spPr>
          <a:xfrm>
            <a:off x="66245" y="124632"/>
            <a:ext cx="6477992" cy="523220"/>
          </a:xfrm>
          <a:prstGeom prst="rect">
            <a:avLst/>
          </a:prstGeom>
          <a:noFill/>
        </p:spPr>
        <p:txBody>
          <a:bodyPr wrap="none" rtlCol="0">
            <a:spAutoFit/>
          </a:bodyPr>
          <a:lstStyle/>
          <a:p>
            <a:r>
              <a:rPr lang="en-AU" sz="2800" b="1" cap="small" dirty="0">
                <a:solidFill>
                  <a:schemeClr val="bg1"/>
                </a:solidFill>
                <a:latin typeface="+mj-lt"/>
              </a:rPr>
              <a:t>1.1 Numbers, sets, completeness and ordering</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8AC6F54-43D1-4F9A-94B6-A8294E4FC58F}"/>
                  </a:ext>
                </a:extLst>
              </p:cNvPr>
              <p:cNvSpPr txBox="1"/>
              <p:nvPr/>
            </p:nvSpPr>
            <p:spPr>
              <a:xfrm>
                <a:off x="220338" y="1057620"/>
                <a:ext cx="2551019" cy="461665"/>
              </a:xfrm>
              <a:prstGeom prst="rect">
                <a:avLst/>
              </a:prstGeom>
              <a:noFill/>
              <a:ln>
                <a:solidFill>
                  <a:schemeClr val="accent2">
                    <a:lumMod val="50000"/>
                  </a:schemeClr>
                </a:solidFill>
              </a:ln>
            </p:spPr>
            <p:txBody>
              <a:bodyPr wrap="none" rtlCol="0">
                <a:spAutoFit/>
              </a:bodyPr>
              <a:lstStyle/>
              <a:p>
                <a:r>
                  <a:rPr lang="en-AU" sz="2400" dirty="0">
                    <a:latin typeface="+mj-lt"/>
                  </a:rPr>
                  <a:t>Completeness of </a:t>
                </a:r>
                <a14:m>
                  <m:oMath xmlns:m="http://schemas.openxmlformats.org/officeDocument/2006/math">
                    <m:r>
                      <a:rPr lang="en-AU" sz="2400" i="1" smtClean="0">
                        <a:latin typeface="Cambria Math" panose="02040503050406030204" pitchFamily="18" charset="0"/>
                        <a:ea typeface="Cambria Math" panose="02040503050406030204" pitchFamily="18" charset="0"/>
                      </a:rPr>
                      <m:t>ℝ</m:t>
                    </m:r>
                  </m:oMath>
                </a14:m>
                <a:endParaRPr lang="en-GB" sz="2400" dirty="0">
                  <a:latin typeface="+mj-lt"/>
                </a:endParaRPr>
              </a:p>
            </p:txBody>
          </p:sp>
        </mc:Choice>
        <mc:Fallback xmlns="">
          <p:sp>
            <p:nvSpPr>
              <p:cNvPr id="2" name="TextBox 1">
                <a:extLst>
                  <a:ext uri="{FF2B5EF4-FFF2-40B4-BE49-F238E27FC236}">
                    <a16:creationId xmlns:a16="http://schemas.microsoft.com/office/drawing/2014/main" id="{98AC6F54-43D1-4F9A-94B6-A8294E4FC58F}"/>
                  </a:ext>
                </a:extLst>
              </p:cNvPr>
              <p:cNvSpPr txBox="1">
                <a:spLocks noRot="1" noChangeAspect="1" noMove="1" noResize="1" noEditPoints="1" noAdjustHandles="1" noChangeArrowheads="1" noChangeShapeType="1" noTextEdit="1"/>
              </p:cNvSpPr>
              <p:nvPr/>
            </p:nvSpPr>
            <p:spPr>
              <a:xfrm>
                <a:off x="220338" y="1057620"/>
                <a:ext cx="2551019" cy="461665"/>
              </a:xfrm>
              <a:prstGeom prst="rect">
                <a:avLst/>
              </a:prstGeom>
              <a:blipFill>
                <a:blip r:embed="rId2"/>
                <a:stretch>
                  <a:fillRect l="-3325" t="-8974" b="-26923"/>
                </a:stretch>
              </a:blipFill>
              <a:ln>
                <a:solidFill>
                  <a:schemeClr val="accent2">
                    <a:lumMod val="50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9089C69-80DA-4FF8-99A3-5C86095D4F16}"/>
                  </a:ext>
                </a:extLst>
              </p:cNvPr>
              <p:cNvSpPr txBox="1"/>
              <p:nvPr/>
            </p:nvSpPr>
            <p:spPr>
              <a:xfrm>
                <a:off x="220338" y="1751230"/>
                <a:ext cx="11710929" cy="830997"/>
              </a:xfrm>
              <a:prstGeom prst="rect">
                <a:avLst/>
              </a:prstGeom>
              <a:noFill/>
            </p:spPr>
            <p:txBody>
              <a:bodyPr wrap="square" rtlCol="0">
                <a:spAutoFit/>
              </a:bodyPr>
              <a:lstStyle/>
              <a:p>
                <a:r>
                  <a:rPr lang="en-AU" sz="2400" dirty="0">
                    <a:latin typeface="+mj-lt"/>
                  </a:rPr>
                  <a:t>This means that sequences such as the one used to approximate </a:t>
                </a:r>
                <a:r>
                  <a:rPr lang="en-AU" sz="2400" i="1" dirty="0">
                    <a:latin typeface="+mj-lt"/>
                  </a:rPr>
                  <a:t>e</a:t>
                </a:r>
                <a:r>
                  <a:rPr lang="en-AU" sz="2400" dirty="0">
                    <a:latin typeface="+mj-lt"/>
                  </a:rPr>
                  <a:t> will </a:t>
                </a:r>
                <a:r>
                  <a:rPr lang="en-AU" sz="2400" i="1" u="sng" dirty="0">
                    <a:latin typeface="+mj-lt"/>
                  </a:rPr>
                  <a:t>converge</a:t>
                </a:r>
                <a:r>
                  <a:rPr lang="en-AU" sz="2400" dirty="0">
                    <a:latin typeface="+mj-lt"/>
                  </a:rPr>
                  <a:t> to an element in </a:t>
                </a:r>
                <a14:m>
                  <m:oMath xmlns:m="http://schemas.openxmlformats.org/officeDocument/2006/math">
                    <m:r>
                      <a:rPr lang="en-AU" sz="2400" i="1" smtClean="0">
                        <a:latin typeface="Cambria Math" panose="02040503050406030204" pitchFamily="18" charset="0"/>
                        <a:ea typeface="Cambria Math" panose="02040503050406030204" pitchFamily="18" charset="0"/>
                      </a:rPr>
                      <m:t>ℝ</m:t>
                    </m:r>
                  </m:oMath>
                </a14:m>
                <a:r>
                  <a:rPr lang="en-GB" sz="2400" dirty="0">
                    <a:latin typeface="+mj-lt"/>
                  </a:rPr>
                  <a:t>.</a:t>
                </a:r>
              </a:p>
            </p:txBody>
          </p:sp>
        </mc:Choice>
        <mc:Fallback xmlns="">
          <p:sp>
            <p:nvSpPr>
              <p:cNvPr id="3" name="TextBox 2">
                <a:extLst>
                  <a:ext uri="{FF2B5EF4-FFF2-40B4-BE49-F238E27FC236}">
                    <a16:creationId xmlns:a16="http://schemas.microsoft.com/office/drawing/2014/main" id="{E9089C69-80DA-4FF8-99A3-5C86095D4F16}"/>
                  </a:ext>
                </a:extLst>
              </p:cNvPr>
              <p:cNvSpPr txBox="1">
                <a:spLocks noRot="1" noChangeAspect="1" noMove="1" noResize="1" noEditPoints="1" noAdjustHandles="1" noChangeArrowheads="1" noChangeShapeType="1" noTextEdit="1"/>
              </p:cNvSpPr>
              <p:nvPr/>
            </p:nvSpPr>
            <p:spPr>
              <a:xfrm>
                <a:off x="220338" y="1751230"/>
                <a:ext cx="11710929" cy="830997"/>
              </a:xfrm>
              <a:prstGeom prst="rect">
                <a:avLst/>
              </a:prstGeom>
              <a:blipFill>
                <a:blip r:embed="rId3"/>
                <a:stretch>
                  <a:fillRect l="-781" t="-5839" r="-1145" b="-1532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8970047-AC55-404C-95F3-181C15C600B1}"/>
                  </a:ext>
                </a:extLst>
              </p:cNvPr>
              <p:cNvSpPr txBox="1"/>
              <p:nvPr/>
            </p:nvSpPr>
            <p:spPr>
              <a:xfrm>
                <a:off x="220337" y="2676785"/>
                <a:ext cx="11710929" cy="1200329"/>
              </a:xfrm>
              <a:prstGeom prst="rect">
                <a:avLst/>
              </a:prstGeom>
              <a:noFill/>
            </p:spPr>
            <p:txBody>
              <a:bodyPr wrap="square" rtlCol="0">
                <a:spAutoFit/>
              </a:bodyPr>
              <a:lstStyle/>
              <a:p>
                <a:r>
                  <a:rPr lang="en-AU" sz="2400" dirty="0">
                    <a:latin typeface="+mj-lt"/>
                  </a:rPr>
                  <a:t>A second property of </a:t>
                </a:r>
                <a14:m>
                  <m:oMath xmlns:m="http://schemas.openxmlformats.org/officeDocument/2006/math">
                    <m:r>
                      <a:rPr lang="en-AU" sz="2400" i="1" smtClean="0">
                        <a:latin typeface="Cambria Math" panose="02040503050406030204" pitchFamily="18" charset="0"/>
                        <a:ea typeface="Cambria Math" panose="02040503050406030204" pitchFamily="18" charset="0"/>
                      </a:rPr>
                      <m:t>ℝ</m:t>
                    </m:r>
                  </m:oMath>
                </a14:m>
                <a:r>
                  <a:rPr lang="en-AU" sz="2400" dirty="0">
                    <a:latin typeface="+mj-lt"/>
                  </a:rPr>
                  <a:t> associated by completeness is that, for any two elements on the real line, there is also a third element in between those two, no matter how close the two initial elements are. </a:t>
                </a:r>
                <a:endParaRPr lang="en-GB" sz="2400" dirty="0">
                  <a:latin typeface="+mj-lt"/>
                </a:endParaRPr>
              </a:p>
            </p:txBody>
          </p:sp>
        </mc:Choice>
        <mc:Fallback xmlns="">
          <p:sp>
            <p:nvSpPr>
              <p:cNvPr id="14" name="TextBox 13">
                <a:extLst>
                  <a:ext uri="{FF2B5EF4-FFF2-40B4-BE49-F238E27FC236}">
                    <a16:creationId xmlns:a16="http://schemas.microsoft.com/office/drawing/2014/main" id="{78970047-AC55-404C-95F3-181C15C600B1}"/>
                  </a:ext>
                </a:extLst>
              </p:cNvPr>
              <p:cNvSpPr txBox="1">
                <a:spLocks noRot="1" noChangeAspect="1" noMove="1" noResize="1" noEditPoints="1" noAdjustHandles="1" noChangeArrowheads="1" noChangeShapeType="1" noTextEdit="1"/>
              </p:cNvSpPr>
              <p:nvPr/>
            </p:nvSpPr>
            <p:spPr>
              <a:xfrm>
                <a:off x="220337" y="2676785"/>
                <a:ext cx="11710929" cy="1200329"/>
              </a:xfrm>
              <a:prstGeom prst="rect">
                <a:avLst/>
              </a:prstGeom>
              <a:blipFill>
                <a:blip r:embed="rId4"/>
                <a:stretch>
                  <a:fillRect l="-781" t="-4061" b="-10660"/>
                </a:stretch>
              </a:blipFill>
            </p:spPr>
            <p:txBody>
              <a:bodyPr/>
              <a:lstStyle/>
              <a:p>
                <a:r>
                  <a:rPr lang="en-GB">
                    <a:noFill/>
                  </a:rPr>
                  <a:t> </a:t>
                </a:r>
              </a:p>
            </p:txBody>
          </p:sp>
        </mc:Fallback>
      </mc:AlternateContent>
      <p:grpSp>
        <p:nvGrpSpPr>
          <p:cNvPr id="16" name="Group 15">
            <a:extLst>
              <a:ext uri="{FF2B5EF4-FFF2-40B4-BE49-F238E27FC236}">
                <a16:creationId xmlns:a16="http://schemas.microsoft.com/office/drawing/2014/main" id="{8AEBD63F-B4DE-45F5-A0DF-B5DF96F59A24}"/>
              </a:ext>
            </a:extLst>
          </p:cNvPr>
          <p:cNvGrpSpPr/>
          <p:nvPr/>
        </p:nvGrpSpPr>
        <p:grpSpPr>
          <a:xfrm>
            <a:off x="2064774" y="4580090"/>
            <a:ext cx="5289871" cy="891367"/>
            <a:chOff x="3530156" y="5677507"/>
            <a:chExt cx="5289871" cy="891367"/>
          </a:xfrm>
        </p:grpSpPr>
        <p:cxnSp>
          <p:nvCxnSpPr>
            <p:cNvPr id="27" name="Straight Arrow Connector 26">
              <a:extLst>
                <a:ext uri="{FF2B5EF4-FFF2-40B4-BE49-F238E27FC236}">
                  <a16:creationId xmlns:a16="http://schemas.microsoft.com/office/drawing/2014/main" id="{B0D1D5D7-DE9F-447B-8DAD-8DC6B0B7F12D}"/>
                </a:ext>
              </a:extLst>
            </p:cNvPr>
            <p:cNvCxnSpPr/>
            <p:nvPr/>
          </p:nvCxnSpPr>
          <p:spPr>
            <a:xfrm>
              <a:off x="3858178" y="5987845"/>
              <a:ext cx="46722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C25A723-96E5-43C9-A9F8-D9DD47A33E9D}"/>
                </a:ext>
              </a:extLst>
            </p:cNvPr>
            <p:cNvCxnSpPr/>
            <p:nvPr/>
          </p:nvCxnSpPr>
          <p:spPr>
            <a:xfrm>
              <a:off x="6096000"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32FC8FE-2100-4E28-AD62-9F557B53A73B}"/>
                </a:ext>
              </a:extLst>
            </p:cNvPr>
            <p:cNvCxnSpPr/>
            <p:nvPr/>
          </p:nvCxnSpPr>
          <p:spPr>
            <a:xfrm>
              <a:off x="669773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D09380-C3CB-493B-9B20-34D22E67B3D3}"/>
                </a:ext>
              </a:extLst>
            </p:cNvPr>
            <p:cNvCxnSpPr/>
            <p:nvPr/>
          </p:nvCxnSpPr>
          <p:spPr>
            <a:xfrm>
              <a:off x="724637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934B4EC-F1DE-45E8-8568-AFFB009DFE3F}"/>
                </a:ext>
              </a:extLst>
            </p:cNvPr>
            <p:cNvCxnSpPr/>
            <p:nvPr/>
          </p:nvCxnSpPr>
          <p:spPr>
            <a:xfrm>
              <a:off x="778911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9C49ED3-393E-48CE-A0C9-7386EDC24A4C}"/>
                </a:ext>
              </a:extLst>
            </p:cNvPr>
            <p:cNvCxnSpPr/>
            <p:nvPr/>
          </p:nvCxnSpPr>
          <p:spPr>
            <a:xfrm>
              <a:off x="442549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D26C88B-4C1C-4F96-A0DD-1075EF7589C1}"/>
                </a:ext>
              </a:extLst>
            </p:cNvPr>
            <p:cNvCxnSpPr/>
            <p:nvPr/>
          </p:nvCxnSpPr>
          <p:spPr>
            <a:xfrm>
              <a:off x="497413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80C9CC3-380E-44B8-B2BE-E1FC7232DFB2}"/>
                </a:ext>
              </a:extLst>
            </p:cNvPr>
            <p:cNvCxnSpPr/>
            <p:nvPr/>
          </p:nvCxnSpPr>
          <p:spPr>
            <a:xfrm>
              <a:off x="551687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C2286FC-D3DA-405B-8689-240A2C4AD327}"/>
                </a:ext>
              </a:extLst>
            </p:cNvPr>
            <p:cNvSpPr txBox="1"/>
            <p:nvPr/>
          </p:nvSpPr>
          <p:spPr>
            <a:xfrm>
              <a:off x="5944339" y="6193643"/>
              <a:ext cx="301686" cy="369332"/>
            </a:xfrm>
            <a:prstGeom prst="rect">
              <a:avLst/>
            </a:prstGeom>
            <a:noFill/>
          </p:spPr>
          <p:txBody>
            <a:bodyPr wrap="none" rtlCol="0">
              <a:spAutoFit/>
            </a:bodyPr>
            <a:lstStyle/>
            <a:p>
              <a:r>
                <a:rPr lang="en-AU" b="1" dirty="0">
                  <a:solidFill>
                    <a:schemeClr val="accent4">
                      <a:lumMod val="75000"/>
                    </a:schemeClr>
                  </a:solidFill>
                </a:rPr>
                <a:t>0</a:t>
              </a:r>
            </a:p>
          </p:txBody>
        </p:sp>
        <p:sp>
          <p:nvSpPr>
            <p:cNvPr id="36" name="TextBox 35">
              <a:extLst>
                <a:ext uri="{FF2B5EF4-FFF2-40B4-BE49-F238E27FC236}">
                  <a16:creationId xmlns:a16="http://schemas.microsoft.com/office/drawing/2014/main" id="{8DA40E60-074A-466D-A520-D0673B27A4A7}"/>
                </a:ext>
              </a:extLst>
            </p:cNvPr>
            <p:cNvSpPr txBox="1"/>
            <p:nvPr/>
          </p:nvSpPr>
          <p:spPr>
            <a:xfrm>
              <a:off x="6546891" y="6188727"/>
              <a:ext cx="301686" cy="369332"/>
            </a:xfrm>
            <a:prstGeom prst="rect">
              <a:avLst/>
            </a:prstGeom>
            <a:noFill/>
          </p:spPr>
          <p:txBody>
            <a:bodyPr wrap="none" rtlCol="0">
              <a:spAutoFit/>
            </a:bodyPr>
            <a:lstStyle/>
            <a:p>
              <a:r>
                <a:rPr lang="en-AU" b="1" dirty="0">
                  <a:solidFill>
                    <a:schemeClr val="accent6"/>
                  </a:solidFill>
                </a:rPr>
                <a:t>1</a:t>
              </a:r>
            </a:p>
          </p:txBody>
        </p:sp>
        <p:sp>
          <p:nvSpPr>
            <p:cNvPr id="37" name="TextBox 36">
              <a:extLst>
                <a:ext uri="{FF2B5EF4-FFF2-40B4-BE49-F238E27FC236}">
                  <a16:creationId xmlns:a16="http://schemas.microsoft.com/office/drawing/2014/main" id="{82BDA403-17DF-481B-B96A-8E09E1EF2CEE}"/>
                </a:ext>
              </a:extLst>
            </p:cNvPr>
            <p:cNvSpPr txBox="1"/>
            <p:nvPr/>
          </p:nvSpPr>
          <p:spPr>
            <a:xfrm>
              <a:off x="7094930" y="6199542"/>
              <a:ext cx="301686" cy="369332"/>
            </a:xfrm>
            <a:prstGeom prst="rect">
              <a:avLst/>
            </a:prstGeom>
            <a:noFill/>
          </p:spPr>
          <p:txBody>
            <a:bodyPr wrap="none" rtlCol="0">
              <a:spAutoFit/>
            </a:bodyPr>
            <a:lstStyle/>
            <a:p>
              <a:r>
                <a:rPr lang="en-AU" b="1" dirty="0">
                  <a:solidFill>
                    <a:schemeClr val="accent6"/>
                  </a:solidFill>
                </a:rPr>
                <a:t>2</a:t>
              </a:r>
            </a:p>
          </p:txBody>
        </p:sp>
        <p:sp>
          <p:nvSpPr>
            <p:cNvPr id="38" name="TextBox 37">
              <a:extLst>
                <a:ext uri="{FF2B5EF4-FFF2-40B4-BE49-F238E27FC236}">
                  <a16:creationId xmlns:a16="http://schemas.microsoft.com/office/drawing/2014/main" id="{DEDDC789-D693-4E47-96F5-0FECDBDCD240}"/>
                </a:ext>
              </a:extLst>
            </p:cNvPr>
            <p:cNvSpPr txBox="1"/>
            <p:nvPr/>
          </p:nvSpPr>
          <p:spPr>
            <a:xfrm>
              <a:off x="7643569" y="6193643"/>
              <a:ext cx="301686" cy="369332"/>
            </a:xfrm>
            <a:prstGeom prst="rect">
              <a:avLst/>
            </a:prstGeom>
            <a:noFill/>
          </p:spPr>
          <p:txBody>
            <a:bodyPr wrap="none" rtlCol="0">
              <a:spAutoFit/>
            </a:bodyPr>
            <a:lstStyle/>
            <a:p>
              <a:r>
                <a:rPr lang="en-AU" b="1" dirty="0">
                  <a:solidFill>
                    <a:schemeClr val="accent6"/>
                  </a:solidFill>
                </a:rPr>
                <a:t>3</a:t>
              </a:r>
            </a:p>
          </p:txBody>
        </p:sp>
        <p:sp>
          <p:nvSpPr>
            <p:cNvPr id="39" name="TextBox 38">
              <a:extLst>
                <a:ext uri="{FF2B5EF4-FFF2-40B4-BE49-F238E27FC236}">
                  <a16:creationId xmlns:a16="http://schemas.microsoft.com/office/drawing/2014/main" id="{432BFC65-B0A3-42DE-82FC-077125B6D547}"/>
                </a:ext>
              </a:extLst>
            </p:cNvPr>
            <p:cNvSpPr txBox="1"/>
            <p:nvPr/>
          </p:nvSpPr>
          <p:spPr>
            <a:xfrm>
              <a:off x="8433383" y="5677507"/>
              <a:ext cx="386644" cy="369332"/>
            </a:xfrm>
            <a:prstGeom prst="rect">
              <a:avLst/>
            </a:prstGeom>
            <a:noFill/>
          </p:spPr>
          <p:txBody>
            <a:bodyPr wrap="none" rtlCol="0">
              <a:spAutoFit/>
            </a:bodyPr>
            <a:lstStyle/>
            <a:p>
              <a:r>
                <a:rPr lang="en-AU" dirty="0"/>
                <a:t>ꚙ</a:t>
              </a:r>
            </a:p>
          </p:txBody>
        </p:sp>
        <p:sp>
          <p:nvSpPr>
            <p:cNvPr id="40" name="TextBox 39">
              <a:extLst>
                <a:ext uri="{FF2B5EF4-FFF2-40B4-BE49-F238E27FC236}">
                  <a16:creationId xmlns:a16="http://schemas.microsoft.com/office/drawing/2014/main" id="{FFD41E83-FD46-4846-A143-645D26B46DC1}"/>
                </a:ext>
              </a:extLst>
            </p:cNvPr>
            <p:cNvSpPr txBox="1"/>
            <p:nvPr/>
          </p:nvSpPr>
          <p:spPr>
            <a:xfrm>
              <a:off x="3530156" y="5677507"/>
              <a:ext cx="609462" cy="369332"/>
            </a:xfrm>
            <a:prstGeom prst="rect">
              <a:avLst/>
            </a:prstGeom>
            <a:noFill/>
          </p:spPr>
          <p:txBody>
            <a:bodyPr wrap="none" rtlCol="0">
              <a:spAutoFit/>
            </a:bodyPr>
            <a:lstStyle/>
            <a:p>
              <a:r>
                <a:rPr lang="en-AU" dirty="0"/>
                <a:t>– ꚙ </a:t>
              </a:r>
            </a:p>
          </p:txBody>
        </p:sp>
        <p:cxnSp>
          <p:nvCxnSpPr>
            <p:cNvPr id="41" name="Straight Connector 40">
              <a:extLst>
                <a:ext uri="{FF2B5EF4-FFF2-40B4-BE49-F238E27FC236}">
                  <a16:creationId xmlns:a16="http://schemas.microsoft.com/office/drawing/2014/main" id="{A4AFD3C8-A256-472F-BEB2-7FD8E37D8747}"/>
                </a:ext>
              </a:extLst>
            </p:cNvPr>
            <p:cNvCxnSpPr/>
            <p:nvPr/>
          </p:nvCxnSpPr>
          <p:spPr>
            <a:xfrm>
              <a:off x="442549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EB2E61D-E72D-462A-9E4B-454419DD944A}"/>
                </a:ext>
              </a:extLst>
            </p:cNvPr>
            <p:cNvCxnSpPr/>
            <p:nvPr/>
          </p:nvCxnSpPr>
          <p:spPr>
            <a:xfrm>
              <a:off x="497413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4CAB8D5-2C8D-4F91-A13B-FB9E2AE30670}"/>
                </a:ext>
              </a:extLst>
            </p:cNvPr>
            <p:cNvCxnSpPr/>
            <p:nvPr/>
          </p:nvCxnSpPr>
          <p:spPr>
            <a:xfrm>
              <a:off x="551687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C20392A-A6AB-4BA4-9969-6A31B2FEDA9B}"/>
                </a:ext>
              </a:extLst>
            </p:cNvPr>
            <p:cNvSpPr txBox="1"/>
            <p:nvPr/>
          </p:nvSpPr>
          <p:spPr>
            <a:xfrm>
              <a:off x="4239390" y="6188727"/>
              <a:ext cx="372218" cy="369332"/>
            </a:xfrm>
            <a:prstGeom prst="rect">
              <a:avLst/>
            </a:prstGeom>
            <a:noFill/>
          </p:spPr>
          <p:txBody>
            <a:bodyPr wrap="none" rtlCol="0">
              <a:spAutoFit/>
            </a:bodyPr>
            <a:lstStyle/>
            <a:p>
              <a:r>
                <a:rPr lang="en-AU" b="1" dirty="0">
                  <a:solidFill>
                    <a:srgbClr val="C00000"/>
                  </a:solidFill>
                </a:rPr>
                <a:t>-3</a:t>
              </a:r>
            </a:p>
          </p:txBody>
        </p:sp>
        <p:sp>
          <p:nvSpPr>
            <p:cNvPr id="45" name="TextBox 44">
              <a:extLst>
                <a:ext uri="{FF2B5EF4-FFF2-40B4-BE49-F238E27FC236}">
                  <a16:creationId xmlns:a16="http://schemas.microsoft.com/office/drawing/2014/main" id="{3926A790-4D77-47AE-A3B2-91D570D8AE9B}"/>
                </a:ext>
              </a:extLst>
            </p:cNvPr>
            <p:cNvSpPr txBox="1"/>
            <p:nvPr/>
          </p:nvSpPr>
          <p:spPr>
            <a:xfrm>
              <a:off x="4782429" y="6199542"/>
              <a:ext cx="372218" cy="369332"/>
            </a:xfrm>
            <a:prstGeom prst="rect">
              <a:avLst/>
            </a:prstGeom>
            <a:noFill/>
          </p:spPr>
          <p:txBody>
            <a:bodyPr wrap="none" rtlCol="0">
              <a:spAutoFit/>
            </a:bodyPr>
            <a:lstStyle/>
            <a:p>
              <a:r>
                <a:rPr lang="en-AU" b="1" dirty="0">
                  <a:solidFill>
                    <a:srgbClr val="C00000"/>
                  </a:solidFill>
                </a:rPr>
                <a:t>-2</a:t>
              </a:r>
            </a:p>
          </p:txBody>
        </p:sp>
        <p:sp>
          <p:nvSpPr>
            <p:cNvPr id="46" name="TextBox 45">
              <a:extLst>
                <a:ext uri="{FF2B5EF4-FFF2-40B4-BE49-F238E27FC236}">
                  <a16:creationId xmlns:a16="http://schemas.microsoft.com/office/drawing/2014/main" id="{7896A911-BC2C-4271-BD55-004673EF2F1F}"/>
                </a:ext>
              </a:extLst>
            </p:cNvPr>
            <p:cNvSpPr txBox="1"/>
            <p:nvPr/>
          </p:nvSpPr>
          <p:spPr>
            <a:xfrm>
              <a:off x="5325168" y="6199542"/>
              <a:ext cx="372218" cy="369332"/>
            </a:xfrm>
            <a:prstGeom prst="rect">
              <a:avLst/>
            </a:prstGeom>
            <a:noFill/>
          </p:spPr>
          <p:txBody>
            <a:bodyPr wrap="none" rtlCol="0">
              <a:spAutoFit/>
            </a:bodyPr>
            <a:lstStyle/>
            <a:p>
              <a:r>
                <a:rPr lang="en-AU" b="1" dirty="0">
                  <a:solidFill>
                    <a:srgbClr val="C00000"/>
                  </a:solidFill>
                </a:rPr>
                <a:t>-1</a:t>
              </a:r>
            </a:p>
          </p:txBody>
        </p:sp>
      </p:grpSp>
      <p:cxnSp>
        <p:nvCxnSpPr>
          <p:cNvPr id="17" name="Straight Connector 16">
            <a:extLst>
              <a:ext uri="{FF2B5EF4-FFF2-40B4-BE49-F238E27FC236}">
                <a16:creationId xmlns:a16="http://schemas.microsoft.com/office/drawing/2014/main" id="{66D44105-9A55-4D89-B3D4-5E1817F0B79A}"/>
              </a:ext>
            </a:extLst>
          </p:cNvPr>
          <p:cNvCxnSpPr/>
          <p:nvPr/>
        </p:nvCxnSpPr>
        <p:spPr>
          <a:xfrm>
            <a:off x="6178187" y="4890428"/>
            <a:ext cx="0" cy="720474"/>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6894FD7-8FEE-4DA1-AED0-8D38F93630DA}"/>
              </a:ext>
            </a:extLst>
          </p:cNvPr>
          <p:cNvSpPr txBox="1"/>
          <p:nvPr/>
        </p:nvSpPr>
        <p:spPr>
          <a:xfrm>
            <a:off x="6041758" y="5534885"/>
            <a:ext cx="300082" cy="369332"/>
          </a:xfrm>
          <a:prstGeom prst="rect">
            <a:avLst/>
          </a:prstGeom>
          <a:noFill/>
        </p:spPr>
        <p:txBody>
          <a:bodyPr wrap="none" rtlCol="0">
            <a:spAutoFit/>
          </a:bodyPr>
          <a:lstStyle/>
          <a:p>
            <a:r>
              <a:rPr lang="en-AU" i="1" dirty="0">
                <a:solidFill>
                  <a:schemeClr val="accent1"/>
                </a:solidFill>
              </a:rPr>
              <a:t>e</a:t>
            </a:r>
          </a:p>
        </p:txBody>
      </p:sp>
      <p:cxnSp>
        <p:nvCxnSpPr>
          <p:cNvPr id="23" name="Straight Connector 22">
            <a:extLst>
              <a:ext uri="{FF2B5EF4-FFF2-40B4-BE49-F238E27FC236}">
                <a16:creationId xmlns:a16="http://schemas.microsoft.com/office/drawing/2014/main" id="{2076202D-7F4C-473C-BC49-6D8A58925C9B}"/>
              </a:ext>
            </a:extLst>
          </p:cNvPr>
          <p:cNvCxnSpPr>
            <a:cxnSpLocks/>
          </p:cNvCxnSpPr>
          <p:nvPr/>
        </p:nvCxnSpPr>
        <p:spPr>
          <a:xfrm>
            <a:off x="6220771" y="4350420"/>
            <a:ext cx="0" cy="5287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A0EA81A-7A49-40CB-BCDE-9939C5056C36}"/>
                  </a:ext>
                </a:extLst>
              </p:cNvPr>
              <p:cNvSpPr txBox="1"/>
              <p:nvPr/>
            </p:nvSpPr>
            <p:spPr>
              <a:xfrm>
                <a:off x="6068049" y="4116924"/>
                <a:ext cx="32412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1100" b="0" i="1" dirty="0" smtClean="0">
                          <a:solidFill>
                            <a:srgbClr val="FF0000"/>
                          </a:solidFill>
                          <a:latin typeface="Cambria Math" panose="02040503050406030204" pitchFamily="18" charset="0"/>
                        </a:rPr>
                        <m:t>2.8</m:t>
                      </m:r>
                    </m:oMath>
                  </m:oMathPara>
                </a14:m>
                <a:endParaRPr lang="en-AU" sz="1100" dirty="0">
                  <a:solidFill>
                    <a:srgbClr val="FF0000"/>
                  </a:solidFill>
                </a:endParaRPr>
              </a:p>
            </p:txBody>
          </p:sp>
        </mc:Choice>
        <mc:Fallback xmlns="">
          <p:sp>
            <p:nvSpPr>
              <p:cNvPr id="24" name="TextBox 23">
                <a:extLst>
                  <a:ext uri="{FF2B5EF4-FFF2-40B4-BE49-F238E27FC236}">
                    <a16:creationId xmlns:a16="http://schemas.microsoft.com/office/drawing/2014/main" id="{7A0EA81A-7A49-40CB-BCDE-9939C5056C36}"/>
                  </a:ext>
                </a:extLst>
              </p:cNvPr>
              <p:cNvSpPr txBox="1">
                <a:spLocks noRot="1" noChangeAspect="1" noMove="1" noResize="1" noEditPoints="1" noAdjustHandles="1" noChangeArrowheads="1" noChangeShapeType="1" noTextEdit="1"/>
              </p:cNvSpPr>
              <p:nvPr/>
            </p:nvSpPr>
            <p:spPr>
              <a:xfrm>
                <a:off x="6068049" y="4116924"/>
                <a:ext cx="324125" cy="261610"/>
              </a:xfrm>
              <a:prstGeom prst="rect">
                <a:avLst/>
              </a:prstGeom>
              <a:blipFill>
                <a:blip r:embed="rId5"/>
                <a:stretch>
                  <a:fillRect/>
                </a:stretch>
              </a:blipFill>
            </p:spPr>
            <p:txBody>
              <a:bodyPr/>
              <a:lstStyle/>
              <a:p>
                <a:r>
                  <a:rPr lang="en-GB">
                    <a:noFill/>
                  </a:rPr>
                  <a:t> </a:t>
                </a:r>
              </a:p>
            </p:txBody>
          </p:sp>
        </mc:Fallback>
      </mc:AlternateContent>
      <p:cxnSp>
        <p:nvCxnSpPr>
          <p:cNvPr id="25" name="Straight Connector 24">
            <a:extLst>
              <a:ext uri="{FF2B5EF4-FFF2-40B4-BE49-F238E27FC236}">
                <a16:creationId xmlns:a16="http://schemas.microsoft.com/office/drawing/2014/main" id="{EBB68923-3782-4924-A5A5-4D71504B4422}"/>
              </a:ext>
            </a:extLst>
          </p:cNvPr>
          <p:cNvCxnSpPr>
            <a:cxnSpLocks/>
          </p:cNvCxnSpPr>
          <p:nvPr/>
        </p:nvCxnSpPr>
        <p:spPr>
          <a:xfrm>
            <a:off x="6125709" y="4111936"/>
            <a:ext cx="0" cy="7790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3DBB92B-AA40-48C3-B7EB-8EE2577B7A87}"/>
                  </a:ext>
                </a:extLst>
              </p:cNvPr>
              <p:cNvSpPr txBox="1"/>
              <p:nvPr/>
            </p:nvSpPr>
            <p:spPr>
              <a:xfrm>
                <a:off x="5930023" y="3877114"/>
                <a:ext cx="324125"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1100" b="0" i="1" dirty="0" smtClean="0">
                          <a:solidFill>
                            <a:srgbClr val="FF0000"/>
                          </a:solidFill>
                          <a:latin typeface="Cambria Math" panose="02040503050406030204" pitchFamily="18" charset="0"/>
                        </a:rPr>
                        <m:t>2.7</m:t>
                      </m:r>
                    </m:oMath>
                  </m:oMathPara>
                </a14:m>
                <a:endParaRPr lang="en-AU" sz="1100" dirty="0">
                  <a:solidFill>
                    <a:srgbClr val="FF0000"/>
                  </a:solidFill>
                </a:endParaRPr>
              </a:p>
            </p:txBody>
          </p:sp>
        </mc:Choice>
        <mc:Fallback xmlns="">
          <p:sp>
            <p:nvSpPr>
              <p:cNvPr id="26" name="TextBox 25">
                <a:extLst>
                  <a:ext uri="{FF2B5EF4-FFF2-40B4-BE49-F238E27FC236}">
                    <a16:creationId xmlns:a16="http://schemas.microsoft.com/office/drawing/2014/main" id="{33DBB92B-AA40-48C3-B7EB-8EE2577B7A87}"/>
                  </a:ext>
                </a:extLst>
              </p:cNvPr>
              <p:cNvSpPr txBox="1">
                <a:spLocks noRot="1" noChangeAspect="1" noMove="1" noResize="1" noEditPoints="1" noAdjustHandles="1" noChangeArrowheads="1" noChangeShapeType="1" noTextEdit="1"/>
              </p:cNvSpPr>
              <p:nvPr/>
            </p:nvSpPr>
            <p:spPr>
              <a:xfrm>
                <a:off x="5930023" y="3877114"/>
                <a:ext cx="324125" cy="261610"/>
              </a:xfrm>
              <a:prstGeom prst="rect">
                <a:avLst/>
              </a:prstGeom>
              <a:blipFill>
                <a:blip r:embed="rId6"/>
                <a:stretch>
                  <a:fillRect r="-1887"/>
                </a:stretch>
              </a:blipFill>
            </p:spPr>
            <p:txBody>
              <a:bodyPr/>
              <a:lstStyle/>
              <a:p>
                <a:r>
                  <a:rPr lang="en-GB">
                    <a:noFill/>
                  </a:rPr>
                  <a:t> </a:t>
                </a:r>
              </a:p>
            </p:txBody>
          </p:sp>
        </mc:Fallback>
      </mc:AlternateContent>
      <p:sp>
        <p:nvSpPr>
          <p:cNvPr id="47" name="Rectangle 46">
            <a:extLst>
              <a:ext uri="{FF2B5EF4-FFF2-40B4-BE49-F238E27FC236}">
                <a16:creationId xmlns:a16="http://schemas.microsoft.com/office/drawing/2014/main" id="{D6BF0C93-9673-4C22-9AEC-591C6492BD88}"/>
              </a:ext>
            </a:extLst>
          </p:cNvPr>
          <p:cNvSpPr/>
          <p:nvPr/>
        </p:nvSpPr>
        <p:spPr>
          <a:xfrm>
            <a:off x="8515135" y="4090850"/>
            <a:ext cx="2467780" cy="167374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dirty="0">
                <a:latin typeface="+mj-lt"/>
              </a:rPr>
              <a:t>There are no “gaps” in the real number line</a:t>
            </a:r>
            <a:endParaRPr lang="en-GB" sz="2400" dirty="0">
              <a:latin typeface="+mj-lt"/>
            </a:endParaRPr>
          </a:p>
        </p:txBody>
      </p:sp>
    </p:spTree>
    <p:extLst>
      <p:ext uri="{BB962C8B-B14F-4D97-AF65-F5344CB8AC3E}">
        <p14:creationId xmlns:p14="http://schemas.microsoft.com/office/powerpoint/2010/main" val="42639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4" grpId="0"/>
      <p:bldP spid="26" grpId="0"/>
      <p:bldP spid="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0AE8E3D2-FBBA-47D2-902A-8FA348CD99FA}"/>
              </a:ext>
            </a:extLst>
          </p:cNvPr>
          <p:cNvGrpSpPr/>
          <p:nvPr/>
        </p:nvGrpSpPr>
        <p:grpSpPr>
          <a:xfrm>
            <a:off x="0" y="361"/>
            <a:ext cx="12192000" cy="825314"/>
            <a:chOff x="0" y="213019"/>
            <a:chExt cx="12192000" cy="825314"/>
          </a:xfrm>
          <a:solidFill>
            <a:schemeClr val="accent2">
              <a:lumMod val="50000"/>
            </a:schemeClr>
          </a:solidFill>
        </p:grpSpPr>
        <p:sp>
          <p:nvSpPr>
            <p:cNvPr id="49" name="Rectangle 48">
              <a:extLst>
                <a:ext uri="{FF2B5EF4-FFF2-40B4-BE49-F238E27FC236}">
                  <a16:creationId xmlns:a16="http://schemas.microsoft.com/office/drawing/2014/main" id="{EC509571-99DA-495B-B03D-AC7EDEE9EADD}"/>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6C398C98-9CF8-4CAD-8AA6-C33D71A0570C}"/>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50">
              <a:extLst>
                <a:ext uri="{FF2B5EF4-FFF2-40B4-BE49-F238E27FC236}">
                  <a16:creationId xmlns:a16="http://schemas.microsoft.com/office/drawing/2014/main" id="{9FF2F533-5CC3-4E0A-A4A6-2E001650C13C}"/>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2" name="TextBox 51">
            <a:extLst>
              <a:ext uri="{FF2B5EF4-FFF2-40B4-BE49-F238E27FC236}">
                <a16:creationId xmlns:a16="http://schemas.microsoft.com/office/drawing/2014/main" id="{53BF9EFD-8518-44F2-AB94-A960761BBF41}"/>
              </a:ext>
            </a:extLst>
          </p:cNvPr>
          <p:cNvSpPr txBox="1"/>
          <p:nvPr/>
        </p:nvSpPr>
        <p:spPr>
          <a:xfrm>
            <a:off x="66245" y="124632"/>
            <a:ext cx="6477992" cy="523220"/>
          </a:xfrm>
          <a:prstGeom prst="rect">
            <a:avLst/>
          </a:prstGeom>
          <a:noFill/>
        </p:spPr>
        <p:txBody>
          <a:bodyPr wrap="none" rtlCol="0">
            <a:spAutoFit/>
          </a:bodyPr>
          <a:lstStyle/>
          <a:p>
            <a:r>
              <a:rPr lang="en-AU" sz="2800" b="1" cap="small" dirty="0">
                <a:solidFill>
                  <a:schemeClr val="bg1"/>
                </a:solidFill>
                <a:latin typeface="+mj-lt"/>
              </a:rPr>
              <a:t>1.1 Numbers, sets, completeness and ordering</a:t>
            </a:r>
            <a:endParaRPr lang="en-GB" sz="2800" b="1" cap="small" dirty="0">
              <a:solidFill>
                <a:schemeClr val="bg1"/>
              </a:solidFill>
              <a:latin typeface="+mj-lt"/>
            </a:endParaRPr>
          </a:p>
        </p:txBody>
      </p:sp>
      <p:sp>
        <p:nvSpPr>
          <p:cNvPr id="53" name="TextBox 52">
            <a:extLst>
              <a:ext uri="{FF2B5EF4-FFF2-40B4-BE49-F238E27FC236}">
                <a16:creationId xmlns:a16="http://schemas.microsoft.com/office/drawing/2014/main" id="{E54A52C7-F7BD-4CB1-A2EF-CC6F7ABA66B8}"/>
              </a:ext>
            </a:extLst>
          </p:cNvPr>
          <p:cNvSpPr txBox="1"/>
          <p:nvPr/>
        </p:nvSpPr>
        <p:spPr>
          <a:xfrm>
            <a:off x="220338" y="1057620"/>
            <a:ext cx="3299621" cy="461665"/>
          </a:xfrm>
          <a:prstGeom prst="rect">
            <a:avLst/>
          </a:prstGeom>
          <a:noFill/>
          <a:ln>
            <a:solidFill>
              <a:schemeClr val="accent2">
                <a:lumMod val="50000"/>
              </a:schemeClr>
            </a:solidFill>
          </a:ln>
        </p:spPr>
        <p:txBody>
          <a:bodyPr wrap="none" rtlCol="0">
            <a:spAutoFit/>
          </a:bodyPr>
          <a:lstStyle/>
          <a:p>
            <a:r>
              <a:rPr lang="en-AU" sz="2400" dirty="0">
                <a:latin typeface="+mj-lt"/>
              </a:rPr>
              <a:t>Ordering and inequalities</a:t>
            </a:r>
            <a:endParaRPr lang="en-GB" sz="2400" dirty="0">
              <a:latin typeface="+mj-lt"/>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EC45009-9418-4E7F-9ED6-675A905D29D0}"/>
                  </a:ext>
                </a:extLst>
              </p:cNvPr>
              <p:cNvSpPr txBox="1"/>
              <p:nvPr/>
            </p:nvSpPr>
            <p:spPr>
              <a:xfrm>
                <a:off x="220338" y="1751230"/>
                <a:ext cx="11710929" cy="2308324"/>
              </a:xfrm>
              <a:prstGeom prst="rect">
                <a:avLst/>
              </a:prstGeom>
              <a:noFill/>
            </p:spPr>
            <p:txBody>
              <a:bodyPr wrap="square" rtlCol="0">
                <a:spAutoFit/>
              </a:bodyPr>
              <a:lstStyle/>
              <a:p>
                <a:r>
                  <a:rPr lang="en-AU" sz="2400" i="1" dirty="0">
                    <a:latin typeface="+mj-lt"/>
                  </a:rPr>
                  <a:t>Definition</a:t>
                </a:r>
                <a:r>
                  <a:rPr lang="en-AU" sz="2400" dirty="0">
                    <a:latin typeface="+mj-lt"/>
                  </a:rPr>
                  <a:t>. Numbers can be ordered by saying </a:t>
                </a:r>
                <a14:m>
                  <m:oMath xmlns:m="http://schemas.openxmlformats.org/officeDocument/2006/math">
                    <m:r>
                      <a:rPr lang="en-AU" sz="2400" b="0" i="1" smtClean="0">
                        <a:latin typeface="Cambria Math" panose="02040503050406030204" pitchFamily="18" charset="0"/>
                      </a:rPr>
                      <m:t>𝑏</m:t>
                    </m:r>
                    <m:r>
                      <a:rPr lang="en-AU" sz="2400" b="0" i="1" smtClean="0">
                        <a:latin typeface="Cambria Math" panose="02040503050406030204" pitchFamily="18" charset="0"/>
                      </a:rPr>
                      <m:t>&gt;</m:t>
                    </m:r>
                    <m:r>
                      <a:rPr lang="en-AU" sz="2400" b="0" i="1" smtClean="0">
                        <a:latin typeface="Cambria Math" panose="02040503050406030204" pitchFamily="18" charset="0"/>
                      </a:rPr>
                      <m:t>𝑎</m:t>
                    </m:r>
                  </m:oMath>
                </a14:m>
                <a:r>
                  <a:rPr lang="en-GB" sz="2400" dirty="0">
                    <a:latin typeface="+mj-lt"/>
                  </a:rPr>
                  <a:t> if and only if </a:t>
                </a:r>
                <a14:m>
                  <m:oMath xmlns:m="http://schemas.openxmlformats.org/officeDocument/2006/math">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&gt;0</m:t>
                    </m:r>
                  </m:oMath>
                </a14:m>
                <a:r>
                  <a:rPr lang="en-GB" sz="2400" dirty="0">
                    <a:latin typeface="+mj-lt"/>
                  </a:rPr>
                  <a:t>. A set of all of whose elements can be ordered is called an ordered set.</a:t>
                </a:r>
              </a:p>
              <a:p>
                <a:r>
                  <a:rPr lang="en-GB" sz="2400" dirty="0">
                    <a:latin typeface="+mj-lt"/>
                  </a:rPr>
                  <a:t>In the set of real numbers, we determine whether a number is larger or smaller than a given one by comparing their respective digits.</a:t>
                </a:r>
              </a:p>
              <a:p>
                <a:endParaRPr lang="en-GB" sz="2400" dirty="0">
                  <a:latin typeface="+mj-lt"/>
                </a:endParaRPr>
              </a:p>
              <a:p>
                <a:pPr algn="ctr"/>
                <a:r>
                  <a:rPr lang="en-GB" sz="2400" dirty="0">
                    <a:latin typeface="+mj-lt"/>
                  </a:rPr>
                  <a:t>e.g. </a:t>
                </a:r>
                <a14:m>
                  <m:oMath xmlns:m="http://schemas.openxmlformats.org/officeDocument/2006/math">
                    <m:r>
                      <a:rPr lang="en-AU" sz="2400" b="0" i="1" smtClean="0">
                        <a:latin typeface="Cambria Math" panose="02040503050406030204" pitchFamily="18" charset="0"/>
                      </a:rPr>
                      <m:t>0.234&gt;0.233</m:t>
                    </m:r>
                  </m:oMath>
                </a14:m>
                <a:endParaRPr lang="en-GB" sz="2400" dirty="0">
                  <a:latin typeface="+mj-lt"/>
                </a:endParaRPr>
              </a:p>
            </p:txBody>
          </p:sp>
        </mc:Choice>
        <mc:Fallback xmlns="">
          <p:sp>
            <p:nvSpPr>
              <p:cNvPr id="54" name="TextBox 53">
                <a:extLst>
                  <a:ext uri="{FF2B5EF4-FFF2-40B4-BE49-F238E27FC236}">
                    <a16:creationId xmlns:a16="http://schemas.microsoft.com/office/drawing/2014/main" id="{2EC45009-9418-4E7F-9ED6-675A905D29D0}"/>
                  </a:ext>
                </a:extLst>
              </p:cNvPr>
              <p:cNvSpPr txBox="1">
                <a:spLocks noRot="1" noChangeAspect="1" noMove="1" noResize="1" noEditPoints="1" noAdjustHandles="1" noChangeArrowheads="1" noChangeShapeType="1" noTextEdit="1"/>
              </p:cNvSpPr>
              <p:nvPr/>
            </p:nvSpPr>
            <p:spPr>
              <a:xfrm>
                <a:off x="220338" y="1751230"/>
                <a:ext cx="11710929" cy="2308324"/>
              </a:xfrm>
              <a:prstGeom prst="rect">
                <a:avLst/>
              </a:prstGeom>
              <a:blipFill>
                <a:blip r:embed="rId2"/>
                <a:stretch>
                  <a:fillRect l="-781" t="-2111" b="-5013"/>
                </a:stretch>
              </a:blipFill>
            </p:spPr>
            <p:txBody>
              <a:bodyPr/>
              <a:lstStyle/>
              <a:p>
                <a:r>
                  <a:rPr lang="en-GB">
                    <a:noFill/>
                  </a:rPr>
                  <a:t> </a:t>
                </a:r>
              </a:p>
            </p:txBody>
          </p:sp>
        </mc:Fallback>
      </mc:AlternateContent>
      <p:cxnSp>
        <p:nvCxnSpPr>
          <p:cNvPr id="55" name="Straight Connector 54">
            <a:extLst>
              <a:ext uri="{FF2B5EF4-FFF2-40B4-BE49-F238E27FC236}">
                <a16:creationId xmlns:a16="http://schemas.microsoft.com/office/drawing/2014/main" id="{1A1DE79C-EEA6-43D4-819B-E7C9CD46E19B}"/>
              </a:ext>
            </a:extLst>
          </p:cNvPr>
          <p:cNvCxnSpPr/>
          <p:nvPr/>
        </p:nvCxnSpPr>
        <p:spPr>
          <a:xfrm>
            <a:off x="5993176" y="3955053"/>
            <a:ext cx="12485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B593014-DEFA-42EC-A191-9174F89D379A}"/>
              </a:ext>
            </a:extLst>
          </p:cNvPr>
          <p:cNvCxnSpPr>
            <a:cxnSpLocks/>
          </p:cNvCxnSpPr>
          <p:nvPr/>
        </p:nvCxnSpPr>
        <p:spPr>
          <a:xfrm>
            <a:off x="7116897" y="3966077"/>
            <a:ext cx="12485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1375235-5C9C-4923-B597-D2EDED709278}"/>
                  </a:ext>
                </a:extLst>
              </p:cNvPr>
              <p:cNvSpPr txBox="1"/>
              <p:nvPr/>
            </p:nvSpPr>
            <p:spPr>
              <a:xfrm>
                <a:off x="220337" y="4168215"/>
                <a:ext cx="11710929" cy="1569660"/>
              </a:xfrm>
              <a:prstGeom prst="rect">
                <a:avLst/>
              </a:prstGeom>
              <a:noFill/>
            </p:spPr>
            <p:txBody>
              <a:bodyPr wrap="square" rtlCol="0">
                <a:spAutoFit/>
              </a:bodyPr>
              <a:lstStyle/>
              <a:p>
                <a:r>
                  <a:rPr lang="en-AU" sz="2400" dirty="0">
                    <a:latin typeface="+mj-lt"/>
                  </a:rPr>
                  <a:t>This allow us to solve inequalities, following the next rules:</a:t>
                </a:r>
              </a:p>
              <a:p>
                <a:pPr marL="342900" indent="-342900">
                  <a:buFont typeface="Arial" panose="020B0604020202020204" pitchFamily="34" charset="0"/>
                  <a:buChar char="•"/>
                </a:pPr>
                <a14:m>
                  <m:oMath xmlns:m="http://schemas.openxmlformats.org/officeDocument/2006/math">
                    <m:r>
                      <m:rPr>
                        <m:sty m:val="p"/>
                      </m:rPr>
                      <a:rPr lang="en-AU" sz="2400" b="0" i="0" smtClean="0">
                        <a:latin typeface="Cambria Math" panose="02040503050406030204" pitchFamily="18" charset="0"/>
                      </a:rPr>
                      <m:t>If</m:t>
                    </m:r>
                    <m:r>
                      <a:rPr lang="en-AU" sz="2400" b="0" i="1" smtClean="0">
                        <a:latin typeface="Cambria Math" panose="02040503050406030204" pitchFamily="18" charset="0"/>
                      </a:rPr>
                      <m:t> </m:t>
                    </m:r>
                    <m:r>
                      <a:rPr lang="en-AU" sz="2400" b="0" i="1" smtClean="0">
                        <a:latin typeface="Cambria Math" panose="02040503050406030204" pitchFamily="18" charset="0"/>
                      </a:rPr>
                      <m:t>𝑎</m:t>
                    </m:r>
                    <m:r>
                      <a:rPr lang="en-AU" sz="2400" b="0" i="1" smtClean="0">
                        <a:latin typeface="Cambria Math" panose="02040503050406030204" pitchFamily="18" charset="0"/>
                      </a:rPr>
                      <m:t>&lt;</m:t>
                    </m:r>
                    <m:r>
                      <a:rPr lang="en-AU" sz="2400" b="0" i="1" smtClean="0">
                        <a:latin typeface="Cambria Math" panose="02040503050406030204" pitchFamily="18" charset="0"/>
                      </a:rPr>
                      <m:t>𝑏</m:t>
                    </m:r>
                    <m:r>
                      <a:rPr lang="en-AU" sz="2400" b="0" i="1" smtClean="0">
                        <a:latin typeface="Cambria Math" panose="02040503050406030204" pitchFamily="18" charset="0"/>
                      </a:rPr>
                      <m:t> </m:t>
                    </m:r>
                    <m:r>
                      <m:rPr>
                        <m:sty m:val="p"/>
                      </m:rPr>
                      <a:rPr lang="en-AU" sz="2400" b="0" i="0" smtClean="0">
                        <a:latin typeface="Cambria Math" panose="02040503050406030204" pitchFamily="18" charset="0"/>
                      </a:rPr>
                      <m:t>then</m:t>
                    </m:r>
                    <m:r>
                      <a:rPr lang="en-AU" sz="2400" b="0" i="0" smtClean="0">
                        <a:latin typeface="Cambria Math" panose="02040503050406030204" pitchFamily="18" charset="0"/>
                      </a:rPr>
                      <m:t> </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𝑐</m:t>
                    </m:r>
                    <m:r>
                      <a:rPr lang="en-AU" sz="2400" b="0" i="1" smtClean="0">
                        <a:latin typeface="Cambria Math" panose="02040503050406030204" pitchFamily="18" charset="0"/>
                      </a:rPr>
                      <m:t>&lt;</m:t>
                    </m:r>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rPr>
                      <m:t>𝑐</m:t>
                    </m:r>
                    <m:r>
                      <a:rPr lang="en-AU" sz="2400" b="0" i="1" smtClean="0">
                        <a:latin typeface="Cambria Math" panose="02040503050406030204" pitchFamily="18" charset="0"/>
                      </a:rPr>
                      <m:t>,  </m:t>
                    </m:r>
                    <m:r>
                      <m:rPr>
                        <m:sty m:val="p"/>
                      </m:rPr>
                      <a:rPr lang="en-AU" sz="2400">
                        <a:latin typeface="Cambria Math" panose="02040503050406030204" pitchFamily="18" charset="0"/>
                      </a:rPr>
                      <m:t>for</m:t>
                    </m:r>
                    <m:r>
                      <a:rPr lang="en-AU" sz="2400">
                        <a:latin typeface="Cambria Math" panose="02040503050406030204" pitchFamily="18" charset="0"/>
                      </a:rPr>
                      <m:t> </m:t>
                    </m:r>
                    <m:r>
                      <m:rPr>
                        <m:sty m:val="p"/>
                      </m:rPr>
                      <a:rPr lang="en-AU" sz="2400">
                        <a:latin typeface="Cambria Math" panose="02040503050406030204" pitchFamily="18" charset="0"/>
                      </a:rPr>
                      <m:t>any</m:t>
                    </m:r>
                    <m:r>
                      <a:rPr lang="en-AU" sz="2400" b="0" i="0" smtClean="0">
                        <a:latin typeface="Cambria Math" panose="02040503050406030204" pitchFamily="18" charset="0"/>
                      </a:rPr>
                      <m:t> </m:t>
                    </m:r>
                    <m:r>
                      <a:rPr lang="en-AU" sz="2400" b="0" i="1" smtClean="0">
                        <a:latin typeface="Cambria Math" panose="02040503050406030204" pitchFamily="18" charset="0"/>
                      </a:rPr>
                      <m:t>𝑐</m:t>
                    </m:r>
                    <m:r>
                      <a:rPr lang="en-AU" sz="2400" b="0" i="1" smtClean="0">
                        <a:latin typeface="Cambria Math" panose="02040503050406030204" pitchFamily="18" charset="0"/>
                      </a:rPr>
                      <m:t>.</m:t>
                    </m:r>
                  </m:oMath>
                </a14:m>
                <a:endParaRPr lang="en-GB" sz="2400" dirty="0">
                  <a:latin typeface="+mj-lt"/>
                </a:endParaRPr>
              </a:p>
              <a:p>
                <a:pPr marL="342900" indent="-342900">
                  <a:buFont typeface="Arial" panose="020B0604020202020204" pitchFamily="34" charset="0"/>
                  <a:buChar char="•"/>
                </a:pPr>
                <a14:m>
                  <m:oMath xmlns:m="http://schemas.openxmlformats.org/officeDocument/2006/math">
                    <m:r>
                      <m:rPr>
                        <m:sty m:val="p"/>
                      </m:rPr>
                      <a:rPr lang="en-AU" sz="2400" b="0" i="0" smtClean="0">
                        <a:latin typeface="Cambria Math" panose="02040503050406030204" pitchFamily="18" charset="0"/>
                      </a:rPr>
                      <m:t>If</m:t>
                    </m:r>
                    <m:r>
                      <a:rPr lang="en-AU" sz="2400" b="0" i="1" smtClean="0">
                        <a:latin typeface="Cambria Math" panose="02040503050406030204" pitchFamily="18" charset="0"/>
                      </a:rPr>
                      <m:t> </m:t>
                    </m:r>
                    <m:r>
                      <a:rPr lang="en-AU" sz="2400" b="0" i="1" smtClean="0">
                        <a:latin typeface="Cambria Math" panose="02040503050406030204" pitchFamily="18" charset="0"/>
                      </a:rPr>
                      <m:t>𝑎</m:t>
                    </m:r>
                    <m:r>
                      <a:rPr lang="en-AU" sz="2400" b="0" i="1" smtClean="0">
                        <a:latin typeface="Cambria Math" panose="02040503050406030204" pitchFamily="18" charset="0"/>
                      </a:rPr>
                      <m:t>&lt;</m:t>
                    </m:r>
                    <m:r>
                      <a:rPr lang="en-AU" sz="2400" b="0" i="1" smtClean="0">
                        <a:latin typeface="Cambria Math" panose="02040503050406030204" pitchFamily="18" charset="0"/>
                      </a:rPr>
                      <m:t>𝑏</m:t>
                    </m:r>
                    <m:r>
                      <a:rPr lang="en-AU" sz="2400" b="0" i="1" smtClean="0">
                        <a:latin typeface="Cambria Math" panose="02040503050406030204" pitchFamily="18" charset="0"/>
                      </a:rPr>
                      <m:t> </m:t>
                    </m:r>
                    <m:r>
                      <m:rPr>
                        <m:sty m:val="p"/>
                      </m:rPr>
                      <a:rPr lang="en-AU" sz="2400" b="0" i="0" smtClean="0">
                        <a:latin typeface="Cambria Math" panose="02040503050406030204" pitchFamily="18" charset="0"/>
                      </a:rPr>
                      <m:t>and</m:t>
                    </m:r>
                    <m:r>
                      <a:rPr lang="en-AU" sz="2400" b="0" i="1" smtClean="0">
                        <a:latin typeface="Cambria Math" panose="02040503050406030204" pitchFamily="18" charset="0"/>
                      </a:rPr>
                      <m:t> </m:t>
                    </m:r>
                    <m:r>
                      <a:rPr lang="en-AU" sz="2400" b="0" i="1" smtClean="0">
                        <a:latin typeface="Cambria Math" panose="02040503050406030204" pitchFamily="18" charset="0"/>
                      </a:rPr>
                      <m:t>𝑐</m:t>
                    </m:r>
                    <m:r>
                      <a:rPr lang="en-AU" sz="2400" b="0" i="1" smtClean="0">
                        <a:latin typeface="Cambria Math" panose="02040503050406030204" pitchFamily="18" charset="0"/>
                      </a:rPr>
                      <m:t>&gt;0 </m:t>
                    </m:r>
                    <m:r>
                      <m:rPr>
                        <m:sty m:val="p"/>
                      </m:rPr>
                      <a:rPr lang="en-AU" sz="2400" b="0" i="0" smtClean="0">
                        <a:latin typeface="Cambria Math" panose="02040503050406030204" pitchFamily="18" charset="0"/>
                      </a:rPr>
                      <m:t>then</m:t>
                    </m:r>
                    <m:r>
                      <a:rPr lang="en-AU" sz="2400" b="0" i="0" smtClean="0">
                        <a:latin typeface="Cambria Math" panose="02040503050406030204" pitchFamily="18" charset="0"/>
                      </a:rPr>
                      <m:t> </m:t>
                    </m:r>
                    <m:r>
                      <a:rPr lang="en-AU" sz="2400" b="0" i="1" smtClean="0">
                        <a:latin typeface="Cambria Math" panose="02040503050406030204" pitchFamily="18" charset="0"/>
                      </a:rPr>
                      <m:t>𝑎𝑐</m:t>
                    </m:r>
                    <m:r>
                      <a:rPr lang="en-AU" sz="2400" b="0" i="1" smtClean="0">
                        <a:latin typeface="Cambria Math" panose="02040503050406030204" pitchFamily="18" charset="0"/>
                      </a:rPr>
                      <m:t>&lt;</m:t>
                    </m:r>
                    <m:r>
                      <a:rPr lang="en-AU" sz="2400" b="0" i="1" smtClean="0">
                        <a:latin typeface="Cambria Math" panose="02040503050406030204" pitchFamily="18" charset="0"/>
                      </a:rPr>
                      <m:t>𝑏𝑐</m:t>
                    </m:r>
                    <m:r>
                      <a:rPr lang="en-AU" sz="2400" b="0" i="1" smtClean="0">
                        <a:latin typeface="Cambria Math" panose="02040503050406030204" pitchFamily="18" charset="0"/>
                      </a:rPr>
                      <m:t>.</m:t>
                    </m:r>
                  </m:oMath>
                </a14:m>
                <a:endParaRPr lang="en-GB" sz="2400" dirty="0">
                  <a:latin typeface="+mj-lt"/>
                </a:endParaRPr>
              </a:p>
              <a:p>
                <a:pPr marL="342900" indent="-342900">
                  <a:buFont typeface="Arial" panose="020B0604020202020204" pitchFamily="34" charset="0"/>
                  <a:buChar char="•"/>
                </a:pPr>
                <a14:m>
                  <m:oMath xmlns:m="http://schemas.openxmlformats.org/officeDocument/2006/math">
                    <m:r>
                      <m:rPr>
                        <m:sty m:val="p"/>
                      </m:rPr>
                      <a:rPr lang="en-AU" sz="2400" b="0" i="0" smtClean="0">
                        <a:latin typeface="Cambria Math" panose="02040503050406030204" pitchFamily="18" charset="0"/>
                      </a:rPr>
                      <m:t>If</m:t>
                    </m:r>
                    <m:r>
                      <a:rPr lang="en-AU" sz="2400" b="0" i="1" smtClean="0">
                        <a:latin typeface="Cambria Math" panose="02040503050406030204" pitchFamily="18" charset="0"/>
                      </a:rPr>
                      <m:t> </m:t>
                    </m:r>
                    <m:r>
                      <a:rPr lang="en-AU" sz="2400" b="0" i="1" smtClean="0">
                        <a:latin typeface="Cambria Math" panose="02040503050406030204" pitchFamily="18" charset="0"/>
                      </a:rPr>
                      <m:t>𝑎</m:t>
                    </m:r>
                    <m:r>
                      <a:rPr lang="en-AU" sz="2400" b="0" i="1" smtClean="0">
                        <a:latin typeface="Cambria Math" panose="02040503050406030204" pitchFamily="18" charset="0"/>
                      </a:rPr>
                      <m:t>&lt;</m:t>
                    </m:r>
                    <m:r>
                      <a:rPr lang="en-AU" sz="2400" b="0" i="1" smtClean="0">
                        <a:latin typeface="Cambria Math" panose="02040503050406030204" pitchFamily="18" charset="0"/>
                      </a:rPr>
                      <m:t>𝑏</m:t>
                    </m:r>
                    <m:r>
                      <a:rPr lang="en-AU" sz="2400" b="0" i="1" smtClean="0">
                        <a:latin typeface="Cambria Math" panose="02040503050406030204" pitchFamily="18" charset="0"/>
                      </a:rPr>
                      <m:t> </m:t>
                    </m:r>
                    <m:r>
                      <m:rPr>
                        <m:sty m:val="p"/>
                      </m:rPr>
                      <a:rPr lang="en-AU" sz="2400" b="0" i="0" smtClean="0">
                        <a:latin typeface="Cambria Math" panose="02040503050406030204" pitchFamily="18" charset="0"/>
                      </a:rPr>
                      <m:t>and</m:t>
                    </m:r>
                    <m:r>
                      <a:rPr lang="en-AU" sz="2400" b="0" i="1" smtClean="0">
                        <a:latin typeface="Cambria Math" panose="02040503050406030204" pitchFamily="18" charset="0"/>
                      </a:rPr>
                      <m:t> </m:t>
                    </m:r>
                    <m:r>
                      <a:rPr lang="en-AU" sz="2400" b="0" i="1" smtClean="0">
                        <a:latin typeface="Cambria Math" panose="02040503050406030204" pitchFamily="18" charset="0"/>
                      </a:rPr>
                      <m:t>𝑐</m:t>
                    </m:r>
                    <m:r>
                      <a:rPr lang="en-AU" sz="2400" b="0" i="1" smtClean="0">
                        <a:latin typeface="Cambria Math" panose="02040503050406030204" pitchFamily="18" charset="0"/>
                      </a:rPr>
                      <m:t>&lt;0 </m:t>
                    </m:r>
                    <m:r>
                      <m:rPr>
                        <m:sty m:val="p"/>
                      </m:rPr>
                      <a:rPr lang="en-AU" sz="2400" b="0" i="0" smtClean="0">
                        <a:latin typeface="Cambria Math" panose="02040503050406030204" pitchFamily="18" charset="0"/>
                      </a:rPr>
                      <m:t>then</m:t>
                    </m:r>
                    <m:r>
                      <a:rPr lang="en-AU" sz="2400" b="0" i="0" smtClean="0">
                        <a:latin typeface="Cambria Math" panose="02040503050406030204" pitchFamily="18" charset="0"/>
                      </a:rPr>
                      <m:t> </m:t>
                    </m:r>
                    <m:r>
                      <a:rPr lang="en-AU" sz="2400" b="0" i="1" smtClean="0">
                        <a:latin typeface="Cambria Math" panose="02040503050406030204" pitchFamily="18" charset="0"/>
                      </a:rPr>
                      <m:t>𝑎𝑐</m:t>
                    </m:r>
                    <m:r>
                      <a:rPr lang="en-AU" sz="2400" b="0" i="1" smtClean="0">
                        <a:latin typeface="Cambria Math" panose="02040503050406030204" pitchFamily="18" charset="0"/>
                      </a:rPr>
                      <m:t>&gt;</m:t>
                    </m:r>
                    <m:r>
                      <a:rPr lang="en-AU" sz="2400" b="0" i="1" smtClean="0">
                        <a:latin typeface="Cambria Math" panose="02040503050406030204" pitchFamily="18" charset="0"/>
                      </a:rPr>
                      <m:t>𝑏𝑐</m:t>
                    </m:r>
                    <m:r>
                      <a:rPr lang="en-AU" sz="2400" b="0" i="1" smtClean="0">
                        <a:latin typeface="Cambria Math" panose="02040503050406030204" pitchFamily="18" charset="0"/>
                      </a:rPr>
                      <m:t>.</m:t>
                    </m:r>
                  </m:oMath>
                </a14:m>
                <a:endParaRPr lang="en-GB" sz="2400" dirty="0">
                  <a:latin typeface="+mj-lt"/>
                </a:endParaRPr>
              </a:p>
            </p:txBody>
          </p:sp>
        </mc:Choice>
        <mc:Fallback xmlns="">
          <p:sp>
            <p:nvSpPr>
              <p:cNvPr id="57" name="TextBox 56">
                <a:extLst>
                  <a:ext uri="{FF2B5EF4-FFF2-40B4-BE49-F238E27FC236}">
                    <a16:creationId xmlns:a16="http://schemas.microsoft.com/office/drawing/2014/main" id="{51375235-5C9C-4923-B597-D2EDED709278}"/>
                  </a:ext>
                </a:extLst>
              </p:cNvPr>
              <p:cNvSpPr txBox="1">
                <a:spLocks noRot="1" noChangeAspect="1" noMove="1" noResize="1" noEditPoints="1" noAdjustHandles="1" noChangeArrowheads="1" noChangeShapeType="1" noTextEdit="1"/>
              </p:cNvSpPr>
              <p:nvPr/>
            </p:nvSpPr>
            <p:spPr>
              <a:xfrm>
                <a:off x="220337" y="4168215"/>
                <a:ext cx="11710929" cy="1569660"/>
              </a:xfrm>
              <a:prstGeom prst="rect">
                <a:avLst/>
              </a:prstGeom>
              <a:blipFill>
                <a:blip r:embed="rId3"/>
                <a:stretch>
                  <a:fillRect l="-781" t="-3113" b="-6615"/>
                </a:stretch>
              </a:blipFill>
            </p:spPr>
            <p:txBody>
              <a:bodyPr/>
              <a:lstStyle/>
              <a:p>
                <a:r>
                  <a:rPr lang="en-GB">
                    <a:noFill/>
                  </a:rPr>
                  <a:t> </a:t>
                </a:r>
              </a:p>
            </p:txBody>
          </p:sp>
        </mc:Fallback>
      </mc:AlternateContent>
    </p:spTree>
    <p:extLst>
      <p:ext uri="{BB962C8B-B14F-4D97-AF65-F5344CB8AC3E}">
        <p14:creationId xmlns:p14="http://schemas.microsoft.com/office/powerpoint/2010/main" val="1148214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F2C45E-056E-445F-9C36-CB0C5AEA5C24}"/>
              </a:ext>
            </a:extLst>
          </p:cNvPr>
          <p:cNvSpPr>
            <a:spLocks noGrp="1"/>
          </p:cNvSpPr>
          <p:nvPr>
            <p:ph type="sldNum" sz="quarter" idx="12"/>
          </p:nvPr>
        </p:nvSpPr>
        <p:spPr>
          <a:xfrm>
            <a:off x="9094694" y="6365314"/>
            <a:ext cx="2743200" cy="365125"/>
          </a:xfrm>
        </p:spPr>
        <p:txBody>
          <a:bodyPr/>
          <a:lstStyle/>
          <a:p>
            <a:fld id="{529F08E9-1735-422C-B5C5-130668B15985}" type="slidenum">
              <a:rPr lang="en-AU" sz="1600" b="1" smtClean="0">
                <a:solidFill>
                  <a:schemeClr val="tx1"/>
                </a:solidFill>
              </a:rPr>
              <a:t>9</a:t>
            </a:fld>
            <a:endParaRPr lang="en-AU" sz="1600" b="1" dirty="0">
              <a:solidFill>
                <a:schemeClr val="tx1"/>
              </a:solidFill>
            </a:endParaRPr>
          </a:p>
        </p:txBody>
      </p:sp>
      <p:grpSp>
        <p:nvGrpSpPr>
          <p:cNvPr id="5" name="Group 4">
            <a:extLst>
              <a:ext uri="{FF2B5EF4-FFF2-40B4-BE49-F238E27FC236}">
                <a16:creationId xmlns:a16="http://schemas.microsoft.com/office/drawing/2014/main" id="{9CDA9514-9C1A-4DDE-95DE-7040A206B81F}"/>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4BAFC352-19E2-496D-98C7-3044453BF6FA}"/>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3772E0E8-85F6-47FD-89A0-39A194FC4013}"/>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5D99C195-E99C-49FA-8F56-60C9D4B705D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631638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73D7CF4-34FA-47E6-A709-4485593BAF30}"/>
              </a:ext>
            </a:extLst>
          </p:cNvPr>
          <p:cNvGrpSpPr/>
          <p:nvPr/>
        </p:nvGrpSpPr>
        <p:grpSpPr>
          <a:xfrm>
            <a:off x="0" y="361"/>
            <a:ext cx="12192000" cy="825314"/>
            <a:chOff x="0" y="213019"/>
            <a:chExt cx="12192000" cy="825314"/>
          </a:xfrm>
          <a:solidFill>
            <a:schemeClr val="accent2">
              <a:lumMod val="50000"/>
            </a:schemeClr>
          </a:solidFill>
        </p:grpSpPr>
        <p:sp>
          <p:nvSpPr>
            <p:cNvPr id="13" name="Rectangle 12">
              <a:extLst>
                <a:ext uri="{FF2B5EF4-FFF2-40B4-BE49-F238E27FC236}">
                  <a16:creationId xmlns:a16="http://schemas.microsoft.com/office/drawing/2014/main" id="{4770FF35-F91A-4F7A-AEFD-B5C6E6B3D7FF}"/>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BE1E8B07-8632-4883-BDE6-BDE8E6E4B2D2}"/>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AE15CBA-F532-403D-9FCF-E2233DE19677}"/>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TextBox 15">
            <a:extLst>
              <a:ext uri="{FF2B5EF4-FFF2-40B4-BE49-F238E27FC236}">
                <a16:creationId xmlns:a16="http://schemas.microsoft.com/office/drawing/2014/main" id="{3C0C86EA-770B-43DA-9C4C-DD3A5430E073}"/>
              </a:ext>
            </a:extLst>
          </p:cNvPr>
          <p:cNvSpPr txBox="1"/>
          <p:nvPr/>
        </p:nvSpPr>
        <p:spPr>
          <a:xfrm>
            <a:off x="66245" y="124632"/>
            <a:ext cx="4136261" cy="523220"/>
          </a:xfrm>
          <a:prstGeom prst="rect">
            <a:avLst/>
          </a:prstGeom>
          <a:noFill/>
        </p:spPr>
        <p:txBody>
          <a:bodyPr wrap="none" rtlCol="0">
            <a:spAutoFit/>
          </a:bodyPr>
          <a:lstStyle/>
          <a:p>
            <a:r>
              <a:rPr lang="en-AU" sz="2800" b="1" cap="small" dirty="0">
                <a:solidFill>
                  <a:schemeClr val="bg1"/>
                </a:solidFill>
                <a:latin typeface="+mj-lt"/>
              </a:rPr>
              <a:t>1.2 Sets and their operations</a:t>
            </a:r>
            <a:endParaRPr lang="en-GB" sz="2800" b="1" cap="small" dirty="0">
              <a:solidFill>
                <a:schemeClr val="bg1"/>
              </a:solidFill>
              <a:latin typeface="+mj-lt"/>
            </a:endParaRPr>
          </a:p>
        </p:txBody>
      </p:sp>
      <p:sp>
        <p:nvSpPr>
          <p:cNvPr id="17" name="TextBox 16">
            <a:extLst>
              <a:ext uri="{FF2B5EF4-FFF2-40B4-BE49-F238E27FC236}">
                <a16:creationId xmlns:a16="http://schemas.microsoft.com/office/drawing/2014/main" id="{F49C5B0F-16E8-47DD-BDA8-7F93025E7B98}"/>
              </a:ext>
            </a:extLst>
          </p:cNvPr>
          <p:cNvSpPr txBox="1"/>
          <p:nvPr/>
        </p:nvSpPr>
        <p:spPr>
          <a:xfrm>
            <a:off x="220338" y="1057620"/>
            <a:ext cx="3274358" cy="461665"/>
          </a:xfrm>
          <a:prstGeom prst="rect">
            <a:avLst/>
          </a:prstGeom>
          <a:noFill/>
          <a:ln>
            <a:solidFill>
              <a:schemeClr val="accent2">
                <a:lumMod val="50000"/>
              </a:schemeClr>
            </a:solidFill>
          </a:ln>
        </p:spPr>
        <p:txBody>
          <a:bodyPr wrap="none" rtlCol="0">
            <a:spAutoFit/>
          </a:bodyPr>
          <a:lstStyle/>
          <a:p>
            <a:r>
              <a:rPr lang="en-AU" sz="2400" dirty="0">
                <a:latin typeface="+mj-lt"/>
              </a:rPr>
              <a:t>Sets and their operations</a:t>
            </a:r>
            <a:endParaRPr lang="en-GB" sz="2400" dirty="0">
              <a:latin typeface="+mj-lt"/>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1590D8A-E197-461A-885C-7814FA3682CB}"/>
                  </a:ext>
                </a:extLst>
              </p:cNvPr>
              <p:cNvSpPr txBox="1"/>
              <p:nvPr/>
            </p:nvSpPr>
            <p:spPr>
              <a:xfrm>
                <a:off x="220338" y="1751230"/>
                <a:ext cx="11710929" cy="830997"/>
              </a:xfrm>
              <a:prstGeom prst="rect">
                <a:avLst/>
              </a:prstGeom>
              <a:noFill/>
            </p:spPr>
            <p:txBody>
              <a:bodyPr wrap="square" rtlCol="0">
                <a:spAutoFit/>
              </a:bodyPr>
              <a:lstStyle/>
              <a:p>
                <a:r>
                  <a:rPr lang="en-AU" sz="2400" i="1" dirty="0">
                    <a:latin typeface="+mj-lt"/>
                  </a:rPr>
                  <a:t>Definition</a:t>
                </a:r>
                <a:r>
                  <a:rPr lang="en-AU" sz="2400" dirty="0">
                    <a:latin typeface="+mj-lt"/>
                  </a:rPr>
                  <a:t>. In </a:t>
                </a:r>
                <a14:m>
                  <m:oMath xmlns:m="http://schemas.openxmlformats.org/officeDocument/2006/math">
                    <m:r>
                      <a:rPr lang="en-AU" sz="2400" i="1" smtClean="0">
                        <a:latin typeface="Cambria Math" panose="02040503050406030204" pitchFamily="18" charset="0"/>
                        <a:ea typeface="Cambria Math" panose="02040503050406030204" pitchFamily="18" charset="0"/>
                      </a:rPr>
                      <m:t>ℝ</m:t>
                    </m:r>
                  </m:oMath>
                </a14:m>
                <a:r>
                  <a:rPr lang="en-AU" sz="2400" dirty="0">
                    <a:latin typeface="+mj-lt"/>
                  </a:rPr>
                  <a:t>, the set of numbers between two elements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excluding </a:t>
                </a:r>
                <a:r>
                  <a:rPr lang="en-AU" sz="2400" i="1" dirty="0">
                    <a:latin typeface="+mj-lt"/>
                  </a:rPr>
                  <a:t>a</a:t>
                </a:r>
                <a:r>
                  <a:rPr lang="en-AU" sz="2400" dirty="0">
                    <a:latin typeface="+mj-lt"/>
                  </a:rPr>
                  <a:t> and </a:t>
                </a:r>
                <a:r>
                  <a:rPr lang="en-AU" sz="2400" i="1" dirty="0">
                    <a:latin typeface="+mj-lt"/>
                  </a:rPr>
                  <a:t>b</a:t>
                </a:r>
                <a:r>
                  <a:rPr lang="en-AU" sz="2400" dirty="0">
                    <a:latin typeface="+mj-lt"/>
                  </a:rPr>
                  <a:t> themselves, is called an open interval, and denoted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oMath>
                </a14:m>
                <a:r>
                  <a:rPr lang="en-AU" sz="2400" dirty="0">
                    <a:latin typeface="+mj-lt"/>
                  </a:rPr>
                  <a:t>, i.e.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e>
                      <m:e>
                        <m:r>
                          <a:rPr lang="en-AU" sz="2400" b="0" i="1" smtClean="0">
                            <a:latin typeface="Cambria Math" panose="02040503050406030204" pitchFamily="18" charset="0"/>
                          </a:rPr>
                          <m:t>𝑎</m:t>
                        </m:r>
                        <m:r>
                          <a:rPr lang="en-AU" sz="2400" b="0" i="1" smtClean="0">
                            <a:latin typeface="Cambria Math" panose="02040503050406030204" pitchFamily="18" charset="0"/>
                          </a:rPr>
                          <m:t>&lt;</m:t>
                        </m:r>
                        <m:r>
                          <a:rPr lang="en-AU" sz="2400" b="0" i="1" smtClean="0">
                            <a:latin typeface="Cambria Math" panose="02040503050406030204" pitchFamily="18" charset="0"/>
                          </a:rPr>
                          <m:t>𝑥</m:t>
                        </m:r>
                        <m:r>
                          <a:rPr lang="en-AU" sz="2400" b="0" i="1" smtClean="0">
                            <a:latin typeface="Cambria Math" panose="02040503050406030204" pitchFamily="18" charset="0"/>
                          </a:rPr>
                          <m:t>&lt;</m:t>
                        </m:r>
                        <m:r>
                          <a:rPr lang="en-AU" sz="2400" b="0" i="1" smtClean="0">
                            <a:latin typeface="Cambria Math" panose="02040503050406030204" pitchFamily="18" charset="0"/>
                          </a:rPr>
                          <m:t>𝑏</m:t>
                        </m:r>
                      </m:e>
                    </m:d>
                  </m:oMath>
                </a14:m>
                <a:r>
                  <a:rPr lang="en-AU" sz="2400" dirty="0">
                    <a:latin typeface="+mj-lt"/>
                  </a:rPr>
                  <a:t> </a:t>
                </a:r>
                <a:endParaRPr lang="en-GB" sz="2400" dirty="0">
                  <a:latin typeface="+mj-lt"/>
                </a:endParaRPr>
              </a:p>
            </p:txBody>
          </p:sp>
        </mc:Choice>
        <mc:Fallback xmlns="">
          <p:sp>
            <p:nvSpPr>
              <p:cNvPr id="18" name="TextBox 17">
                <a:extLst>
                  <a:ext uri="{FF2B5EF4-FFF2-40B4-BE49-F238E27FC236}">
                    <a16:creationId xmlns:a16="http://schemas.microsoft.com/office/drawing/2014/main" id="{61590D8A-E197-461A-885C-7814FA3682CB}"/>
                  </a:ext>
                </a:extLst>
              </p:cNvPr>
              <p:cNvSpPr txBox="1">
                <a:spLocks noRot="1" noChangeAspect="1" noMove="1" noResize="1" noEditPoints="1" noAdjustHandles="1" noChangeArrowheads="1" noChangeShapeType="1" noTextEdit="1"/>
              </p:cNvSpPr>
              <p:nvPr/>
            </p:nvSpPr>
            <p:spPr>
              <a:xfrm>
                <a:off x="220338" y="1751230"/>
                <a:ext cx="11710929" cy="830997"/>
              </a:xfrm>
              <a:prstGeom prst="rect">
                <a:avLst/>
              </a:prstGeom>
              <a:blipFill>
                <a:blip r:embed="rId2"/>
                <a:stretch>
                  <a:fillRect l="-781" t="-5839" b="-15328"/>
                </a:stretch>
              </a:blipFill>
            </p:spPr>
            <p:txBody>
              <a:bodyPr/>
              <a:lstStyle/>
              <a:p>
                <a:r>
                  <a:rPr lang="en-GB">
                    <a:noFill/>
                  </a:rPr>
                  <a:t> </a:t>
                </a:r>
              </a:p>
            </p:txBody>
          </p:sp>
        </mc:Fallback>
      </mc:AlternateContent>
      <p:grpSp>
        <p:nvGrpSpPr>
          <p:cNvPr id="19" name="Group 18">
            <a:extLst>
              <a:ext uri="{FF2B5EF4-FFF2-40B4-BE49-F238E27FC236}">
                <a16:creationId xmlns:a16="http://schemas.microsoft.com/office/drawing/2014/main" id="{58DF7BAC-54FE-4CC1-A998-461BB893E38C}"/>
              </a:ext>
            </a:extLst>
          </p:cNvPr>
          <p:cNvGrpSpPr/>
          <p:nvPr/>
        </p:nvGrpSpPr>
        <p:grpSpPr>
          <a:xfrm>
            <a:off x="1857517" y="2960663"/>
            <a:ext cx="5289871" cy="891367"/>
            <a:chOff x="3530156" y="5677507"/>
            <a:chExt cx="5289871" cy="891367"/>
          </a:xfrm>
        </p:grpSpPr>
        <p:cxnSp>
          <p:nvCxnSpPr>
            <p:cNvPr id="20" name="Straight Arrow Connector 19">
              <a:extLst>
                <a:ext uri="{FF2B5EF4-FFF2-40B4-BE49-F238E27FC236}">
                  <a16:creationId xmlns:a16="http://schemas.microsoft.com/office/drawing/2014/main" id="{A56DF86B-B827-43D5-AE23-124E2CD3E4A4}"/>
                </a:ext>
              </a:extLst>
            </p:cNvPr>
            <p:cNvCxnSpPr/>
            <p:nvPr/>
          </p:nvCxnSpPr>
          <p:spPr>
            <a:xfrm>
              <a:off x="3858178" y="5987845"/>
              <a:ext cx="46722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157598D-7FAF-4FDD-86AD-6623108B86F0}"/>
                </a:ext>
              </a:extLst>
            </p:cNvPr>
            <p:cNvCxnSpPr/>
            <p:nvPr/>
          </p:nvCxnSpPr>
          <p:spPr>
            <a:xfrm>
              <a:off x="6096000"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6B64586-8399-4D3B-9A48-6B4687E7E02C}"/>
                </a:ext>
              </a:extLst>
            </p:cNvPr>
            <p:cNvCxnSpPr/>
            <p:nvPr/>
          </p:nvCxnSpPr>
          <p:spPr>
            <a:xfrm>
              <a:off x="669773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19DB032-A7ED-4165-8D6F-13B00D0EA2CC}"/>
                </a:ext>
              </a:extLst>
            </p:cNvPr>
            <p:cNvCxnSpPr/>
            <p:nvPr/>
          </p:nvCxnSpPr>
          <p:spPr>
            <a:xfrm>
              <a:off x="724637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C7643B-315C-441C-9083-C0DBA3F26BBF}"/>
                </a:ext>
              </a:extLst>
            </p:cNvPr>
            <p:cNvCxnSpPr/>
            <p:nvPr/>
          </p:nvCxnSpPr>
          <p:spPr>
            <a:xfrm>
              <a:off x="778911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141CFFD-DCC3-4F3D-A6EC-963A247BD1FA}"/>
                </a:ext>
              </a:extLst>
            </p:cNvPr>
            <p:cNvCxnSpPr/>
            <p:nvPr/>
          </p:nvCxnSpPr>
          <p:spPr>
            <a:xfrm>
              <a:off x="442549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49C0863-FF1E-443C-89E7-563D83FF88C7}"/>
                </a:ext>
              </a:extLst>
            </p:cNvPr>
            <p:cNvCxnSpPr/>
            <p:nvPr/>
          </p:nvCxnSpPr>
          <p:spPr>
            <a:xfrm>
              <a:off x="497413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EE284E9-E0C6-4257-BCF4-A25A54564BCA}"/>
                </a:ext>
              </a:extLst>
            </p:cNvPr>
            <p:cNvCxnSpPr/>
            <p:nvPr/>
          </p:nvCxnSpPr>
          <p:spPr>
            <a:xfrm>
              <a:off x="551687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23AE38D-0883-4D9A-A99F-FD6D8B3ECF41}"/>
                </a:ext>
              </a:extLst>
            </p:cNvPr>
            <p:cNvSpPr txBox="1"/>
            <p:nvPr/>
          </p:nvSpPr>
          <p:spPr>
            <a:xfrm>
              <a:off x="5944339" y="6193643"/>
              <a:ext cx="301686" cy="369332"/>
            </a:xfrm>
            <a:prstGeom prst="rect">
              <a:avLst/>
            </a:prstGeom>
            <a:noFill/>
          </p:spPr>
          <p:txBody>
            <a:bodyPr wrap="none" rtlCol="0">
              <a:spAutoFit/>
            </a:bodyPr>
            <a:lstStyle/>
            <a:p>
              <a:r>
                <a:rPr lang="en-AU" b="1" dirty="0">
                  <a:solidFill>
                    <a:schemeClr val="accent4">
                      <a:lumMod val="75000"/>
                    </a:schemeClr>
                  </a:solidFill>
                </a:rPr>
                <a:t>0</a:t>
              </a:r>
            </a:p>
          </p:txBody>
        </p:sp>
        <p:sp>
          <p:nvSpPr>
            <p:cNvPr id="29" name="TextBox 28">
              <a:extLst>
                <a:ext uri="{FF2B5EF4-FFF2-40B4-BE49-F238E27FC236}">
                  <a16:creationId xmlns:a16="http://schemas.microsoft.com/office/drawing/2014/main" id="{A857C552-5B0F-43E1-BA46-66319CC06E42}"/>
                </a:ext>
              </a:extLst>
            </p:cNvPr>
            <p:cNvSpPr txBox="1"/>
            <p:nvPr/>
          </p:nvSpPr>
          <p:spPr>
            <a:xfrm>
              <a:off x="6546891" y="6188727"/>
              <a:ext cx="301686" cy="369332"/>
            </a:xfrm>
            <a:prstGeom prst="rect">
              <a:avLst/>
            </a:prstGeom>
            <a:noFill/>
          </p:spPr>
          <p:txBody>
            <a:bodyPr wrap="none" rtlCol="0">
              <a:spAutoFit/>
            </a:bodyPr>
            <a:lstStyle/>
            <a:p>
              <a:r>
                <a:rPr lang="en-AU" b="1" dirty="0">
                  <a:solidFill>
                    <a:schemeClr val="accent6"/>
                  </a:solidFill>
                </a:rPr>
                <a:t>1</a:t>
              </a:r>
            </a:p>
          </p:txBody>
        </p:sp>
        <p:sp>
          <p:nvSpPr>
            <p:cNvPr id="30" name="TextBox 29">
              <a:extLst>
                <a:ext uri="{FF2B5EF4-FFF2-40B4-BE49-F238E27FC236}">
                  <a16:creationId xmlns:a16="http://schemas.microsoft.com/office/drawing/2014/main" id="{8074C09A-65D1-45F4-80B8-244A7B504EDE}"/>
                </a:ext>
              </a:extLst>
            </p:cNvPr>
            <p:cNvSpPr txBox="1"/>
            <p:nvPr/>
          </p:nvSpPr>
          <p:spPr>
            <a:xfrm>
              <a:off x="7094930" y="6199542"/>
              <a:ext cx="301686" cy="369332"/>
            </a:xfrm>
            <a:prstGeom prst="rect">
              <a:avLst/>
            </a:prstGeom>
            <a:noFill/>
          </p:spPr>
          <p:txBody>
            <a:bodyPr wrap="none" rtlCol="0">
              <a:spAutoFit/>
            </a:bodyPr>
            <a:lstStyle/>
            <a:p>
              <a:r>
                <a:rPr lang="en-AU" b="1" dirty="0">
                  <a:solidFill>
                    <a:schemeClr val="accent6"/>
                  </a:solidFill>
                </a:rPr>
                <a:t>2</a:t>
              </a:r>
            </a:p>
          </p:txBody>
        </p:sp>
        <p:sp>
          <p:nvSpPr>
            <p:cNvPr id="31" name="TextBox 30">
              <a:extLst>
                <a:ext uri="{FF2B5EF4-FFF2-40B4-BE49-F238E27FC236}">
                  <a16:creationId xmlns:a16="http://schemas.microsoft.com/office/drawing/2014/main" id="{15AAA1BD-A398-46AC-8D03-0283A4DA7BDA}"/>
                </a:ext>
              </a:extLst>
            </p:cNvPr>
            <p:cNvSpPr txBox="1"/>
            <p:nvPr/>
          </p:nvSpPr>
          <p:spPr>
            <a:xfrm>
              <a:off x="7643569" y="6193643"/>
              <a:ext cx="301686" cy="369332"/>
            </a:xfrm>
            <a:prstGeom prst="rect">
              <a:avLst/>
            </a:prstGeom>
            <a:noFill/>
          </p:spPr>
          <p:txBody>
            <a:bodyPr wrap="none" rtlCol="0">
              <a:spAutoFit/>
            </a:bodyPr>
            <a:lstStyle/>
            <a:p>
              <a:r>
                <a:rPr lang="en-AU" b="1" dirty="0">
                  <a:solidFill>
                    <a:schemeClr val="accent6"/>
                  </a:solidFill>
                </a:rPr>
                <a:t>3</a:t>
              </a:r>
            </a:p>
          </p:txBody>
        </p:sp>
        <p:sp>
          <p:nvSpPr>
            <p:cNvPr id="32" name="TextBox 31">
              <a:extLst>
                <a:ext uri="{FF2B5EF4-FFF2-40B4-BE49-F238E27FC236}">
                  <a16:creationId xmlns:a16="http://schemas.microsoft.com/office/drawing/2014/main" id="{4086564E-FE91-4EDE-9836-989F16F689AA}"/>
                </a:ext>
              </a:extLst>
            </p:cNvPr>
            <p:cNvSpPr txBox="1"/>
            <p:nvPr/>
          </p:nvSpPr>
          <p:spPr>
            <a:xfrm>
              <a:off x="8433383" y="5677507"/>
              <a:ext cx="386644" cy="369332"/>
            </a:xfrm>
            <a:prstGeom prst="rect">
              <a:avLst/>
            </a:prstGeom>
            <a:noFill/>
          </p:spPr>
          <p:txBody>
            <a:bodyPr wrap="none" rtlCol="0">
              <a:spAutoFit/>
            </a:bodyPr>
            <a:lstStyle/>
            <a:p>
              <a:r>
                <a:rPr lang="en-AU" dirty="0"/>
                <a:t>ꚙ</a:t>
              </a:r>
            </a:p>
          </p:txBody>
        </p:sp>
        <p:sp>
          <p:nvSpPr>
            <p:cNvPr id="33" name="TextBox 32">
              <a:extLst>
                <a:ext uri="{FF2B5EF4-FFF2-40B4-BE49-F238E27FC236}">
                  <a16:creationId xmlns:a16="http://schemas.microsoft.com/office/drawing/2014/main" id="{7DEE482D-37F7-4383-ABF5-EC37B01D9FE2}"/>
                </a:ext>
              </a:extLst>
            </p:cNvPr>
            <p:cNvSpPr txBox="1"/>
            <p:nvPr/>
          </p:nvSpPr>
          <p:spPr>
            <a:xfrm>
              <a:off x="3530156" y="5677507"/>
              <a:ext cx="609462" cy="369332"/>
            </a:xfrm>
            <a:prstGeom prst="rect">
              <a:avLst/>
            </a:prstGeom>
            <a:noFill/>
          </p:spPr>
          <p:txBody>
            <a:bodyPr wrap="none" rtlCol="0">
              <a:spAutoFit/>
            </a:bodyPr>
            <a:lstStyle/>
            <a:p>
              <a:r>
                <a:rPr lang="en-AU" dirty="0"/>
                <a:t>– ꚙ </a:t>
              </a:r>
            </a:p>
          </p:txBody>
        </p:sp>
        <p:cxnSp>
          <p:nvCxnSpPr>
            <p:cNvPr id="34" name="Straight Connector 33">
              <a:extLst>
                <a:ext uri="{FF2B5EF4-FFF2-40B4-BE49-F238E27FC236}">
                  <a16:creationId xmlns:a16="http://schemas.microsoft.com/office/drawing/2014/main" id="{423CA441-98F6-4140-9A3B-FBE8644E4550}"/>
                </a:ext>
              </a:extLst>
            </p:cNvPr>
            <p:cNvCxnSpPr/>
            <p:nvPr/>
          </p:nvCxnSpPr>
          <p:spPr>
            <a:xfrm>
              <a:off x="442549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25999AB-1FDC-4EA5-9BA1-6282F2404769}"/>
                </a:ext>
              </a:extLst>
            </p:cNvPr>
            <p:cNvCxnSpPr/>
            <p:nvPr/>
          </p:nvCxnSpPr>
          <p:spPr>
            <a:xfrm>
              <a:off x="497413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0A96419-0911-4303-9583-868E7690D37B}"/>
                </a:ext>
              </a:extLst>
            </p:cNvPr>
            <p:cNvCxnSpPr/>
            <p:nvPr/>
          </p:nvCxnSpPr>
          <p:spPr>
            <a:xfrm>
              <a:off x="551687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4D4F6DE-7589-464A-9AFD-37BA2B5727C3}"/>
                </a:ext>
              </a:extLst>
            </p:cNvPr>
            <p:cNvSpPr txBox="1"/>
            <p:nvPr/>
          </p:nvSpPr>
          <p:spPr>
            <a:xfrm>
              <a:off x="4239390" y="6188727"/>
              <a:ext cx="372218" cy="369332"/>
            </a:xfrm>
            <a:prstGeom prst="rect">
              <a:avLst/>
            </a:prstGeom>
            <a:noFill/>
          </p:spPr>
          <p:txBody>
            <a:bodyPr wrap="none" rtlCol="0">
              <a:spAutoFit/>
            </a:bodyPr>
            <a:lstStyle/>
            <a:p>
              <a:r>
                <a:rPr lang="en-AU" b="1" dirty="0">
                  <a:solidFill>
                    <a:srgbClr val="C00000"/>
                  </a:solidFill>
                </a:rPr>
                <a:t>-3</a:t>
              </a:r>
            </a:p>
          </p:txBody>
        </p:sp>
        <p:sp>
          <p:nvSpPr>
            <p:cNvPr id="38" name="TextBox 37">
              <a:extLst>
                <a:ext uri="{FF2B5EF4-FFF2-40B4-BE49-F238E27FC236}">
                  <a16:creationId xmlns:a16="http://schemas.microsoft.com/office/drawing/2014/main" id="{99B0E87A-DCEF-46C2-9FB4-D0DA2C52B9B0}"/>
                </a:ext>
              </a:extLst>
            </p:cNvPr>
            <p:cNvSpPr txBox="1"/>
            <p:nvPr/>
          </p:nvSpPr>
          <p:spPr>
            <a:xfrm>
              <a:off x="4782429" y="6199542"/>
              <a:ext cx="372218" cy="369332"/>
            </a:xfrm>
            <a:prstGeom prst="rect">
              <a:avLst/>
            </a:prstGeom>
            <a:noFill/>
          </p:spPr>
          <p:txBody>
            <a:bodyPr wrap="none" rtlCol="0">
              <a:spAutoFit/>
            </a:bodyPr>
            <a:lstStyle/>
            <a:p>
              <a:r>
                <a:rPr lang="en-AU" b="1" dirty="0">
                  <a:solidFill>
                    <a:srgbClr val="C00000"/>
                  </a:solidFill>
                </a:rPr>
                <a:t>-2</a:t>
              </a:r>
            </a:p>
          </p:txBody>
        </p:sp>
        <p:sp>
          <p:nvSpPr>
            <p:cNvPr id="39" name="TextBox 38">
              <a:extLst>
                <a:ext uri="{FF2B5EF4-FFF2-40B4-BE49-F238E27FC236}">
                  <a16:creationId xmlns:a16="http://schemas.microsoft.com/office/drawing/2014/main" id="{5F20A6D4-5E46-488C-B0F0-6410566AF54C}"/>
                </a:ext>
              </a:extLst>
            </p:cNvPr>
            <p:cNvSpPr txBox="1"/>
            <p:nvPr/>
          </p:nvSpPr>
          <p:spPr>
            <a:xfrm>
              <a:off x="5325168" y="6199542"/>
              <a:ext cx="372218" cy="369332"/>
            </a:xfrm>
            <a:prstGeom prst="rect">
              <a:avLst/>
            </a:prstGeom>
            <a:noFill/>
          </p:spPr>
          <p:txBody>
            <a:bodyPr wrap="none" rtlCol="0">
              <a:spAutoFit/>
            </a:bodyPr>
            <a:lstStyle/>
            <a:p>
              <a:r>
                <a:rPr lang="en-AU" b="1" dirty="0">
                  <a:solidFill>
                    <a:srgbClr val="C00000"/>
                  </a:solidFill>
                </a:rPr>
                <a:t>-1</a:t>
              </a:r>
            </a:p>
          </p:txBody>
        </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4E41026-659B-472E-AEBB-7EF72D6A2EE6}"/>
                  </a:ext>
                </a:extLst>
              </p:cNvPr>
              <p:cNvSpPr txBox="1"/>
              <p:nvPr/>
            </p:nvSpPr>
            <p:spPr>
              <a:xfrm>
                <a:off x="9032979" y="3114754"/>
                <a:ext cx="135710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𝐴</m:t>
                      </m:r>
                      <m:r>
                        <a:rPr lang="en-AU" b="0" i="1" smtClean="0">
                          <a:latin typeface="Cambria Math" panose="02040503050406030204" pitchFamily="18" charset="0"/>
                        </a:rPr>
                        <m:t>=(−1,2)</m:t>
                      </m:r>
                    </m:oMath>
                  </m:oMathPara>
                </a14:m>
                <a:endParaRPr lang="en-GB" dirty="0"/>
              </a:p>
            </p:txBody>
          </p:sp>
        </mc:Choice>
        <mc:Fallback xmlns="">
          <p:sp>
            <p:nvSpPr>
              <p:cNvPr id="40" name="TextBox 39">
                <a:extLst>
                  <a:ext uri="{FF2B5EF4-FFF2-40B4-BE49-F238E27FC236}">
                    <a16:creationId xmlns:a16="http://schemas.microsoft.com/office/drawing/2014/main" id="{D4E41026-659B-472E-AEBB-7EF72D6A2EE6}"/>
                  </a:ext>
                </a:extLst>
              </p:cNvPr>
              <p:cNvSpPr txBox="1">
                <a:spLocks noRot="1" noChangeAspect="1" noMove="1" noResize="1" noEditPoints="1" noAdjustHandles="1" noChangeArrowheads="1" noChangeShapeType="1" noTextEdit="1"/>
              </p:cNvSpPr>
              <p:nvPr/>
            </p:nvSpPr>
            <p:spPr>
              <a:xfrm>
                <a:off x="9032979" y="3114754"/>
                <a:ext cx="1357103" cy="369332"/>
              </a:xfrm>
              <a:prstGeom prst="rect">
                <a:avLst/>
              </a:prstGeom>
              <a:blipFill>
                <a:blip r:embed="rId3"/>
                <a:stretch>
                  <a:fillRect b="-11475"/>
                </a:stretch>
              </a:blipFill>
            </p:spPr>
            <p:txBody>
              <a:bodyPr/>
              <a:lstStyle/>
              <a:p>
                <a:r>
                  <a:rPr lang="en-GB">
                    <a:noFill/>
                  </a:rPr>
                  <a:t> </a:t>
                </a:r>
              </a:p>
            </p:txBody>
          </p:sp>
        </mc:Fallback>
      </mc:AlternateContent>
      <p:sp>
        <p:nvSpPr>
          <p:cNvPr id="41" name="Oval 40">
            <a:extLst>
              <a:ext uri="{FF2B5EF4-FFF2-40B4-BE49-F238E27FC236}">
                <a16:creationId xmlns:a16="http://schemas.microsoft.com/office/drawing/2014/main" id="{AF6CE38C-D358-40BF-B57F-948A4B90BBC0}"/>
              </a:ext>
            </a:extLst>
          </p:cNvPr>
          <p:cNvSpPr/>
          <p:nvPr/>
        </p:nvSpPr>
        <p:spPr>
          <a:xfrm>
            <a:off x="3797097" y="3221235"/>
            <a:ext cx="108000" cy="108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B899F9F7-2A95-4795-8D53-D150B2A4A108}"/>
              </a:ext>
            </a:extLst>
          </p:cNvPr>
          <p:cNvSpPr/>
          <p:nvPr/>
        </p:nvSpPr>
        <p:spPr>
          <a:xfrm>
            <a:off x="5524908" y="3230414"/>
            <a:ext cx="108000" cy="108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3" name="Straight Connector 42">
            <a:extLst>
              <a:ext uri="{FF2B5EF4-FFF2-40B4-BE49-F238E27FC236}">
                <a16:creationId xmlns:a16="http://schemas.microsoft.com/office/drawing/2014/main" id="{48DD78C6-A0E1-4DFE-8F51-527C4F83A928}"/>
              </a:ext>
            </a:extLst>
          </p:cNvPr>
          <p:cNvCxnSpPr>
            <a:stCxn id="41" idx="6"/>
            <a:endCxn id="42" idx="2"/>
          </p:cNvCxnSpPr>
          <p:nvPr/>
        </p:nvCxnSpPr>
        <p:spPr>
          <a:xfrm>
            <a:off x="3905097" y="3275235"/>
            <a:ext cx="1619811" cy="917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384F5E9-3D1D-4B75-AC0C-134BE722BFC8}"/>
                  </a:ext>
                </a:extLst>
              </p:cNvPr>
              <p:cNvSpPr txBox="1"/>
              <p:nvPr/>
            </p:nvSpPr>
            <p:spPr>
              <a:xfrm>
                <a:off x="220337" y="4027188"/>
                <a:ext cx="11710929" cy="830997"/>
              </a:xfrm>
              <a:prstGeom prst="rect">
                <a:avLst/>
              </a:prstGeom>
              <a:noFill/>
            </p:spPr>
            <p:txBody>
              <a:bodyPr wrap="square">
                <a:spAutoFit/>
              </a:bodyPr>
              <a:lstStyle/>
              <a:p>
                <a:r>
                  <a:rPr lang="en-AU" sz="2400" i="1" dirty="0">
                    <a:latin typeface="+mj-lt"/>
                  </a:rPr>
                  <a:t>Definition</a:t>
                </a:r>
                <a:r>
                  <a:rPr lang="en-AU" sz="2400" dirty="0">
                    <a:latin typeface="+mj-lt"/>
                  </a:rPr>
                  <a:t>. In </a:t>
                </a:r>
                <a14:m>
                  <m:oMath xmlns:m="http://schemas.openxmlformats.org/officeDocument/2006/math">
                    <m:r>
                      <a:rPr lang="en-AU" sz="2400" i="1" smtClean="0">
                        <a:latin typeface="Cambria Math" panose="02040503050406030204" pitchFamily="18" charset="0"/>
                        <a:ea typeface="Cambria Math" panose="02040503050406030204" pitchFamily="18" charset="0"/>
                      </a:rPr>
                      <m:t>ℝ</m:t>
                    </m:r>
                  </m:oMath>
                </a14:m>
                <a:r>
                  <a:rPr lang="en-AU" sz="2400" dirty="0">
                    <a:latin typeface="+mj-lt"/>
                  </a:rPr>
                  <a:t>, the set of numbers between two elements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oMath>
                </a14:m>
                <a:r>
                  <a:rPr lang="en-AU" sz="2400" dirty="0">
                    <a:latin typeface="+mj-lt"/>
                  </a:rPr>
                  <a:t>, including </a:t>
                </a:r>
                <a:r>
                  <a:rPr lang="en-AU" sz="2400" i="1" dirty="0">
                    <a:latin typeface="+mj-lt"/>
                  </a:rPr>
                  <a:t>a</a:t>
                </a:r>
                <a:r>
                  <a:rPr lang="en-AU" sz="2400" dirty="0">
                    <a:latin typeface="+mj-lt"/>
                  </a:rPr>
                  <a:t> and </a:t>
                </a:r>
                <a:r>
                  <a:rPr lang="en-AU" sz="2400" i="1" dirty="0">
                    <a:latin typeface="+mj-lt"/>
                  </a:rPr>
                  <a:t>b</a:t>
                </a:r>
                <a:r>
                  <a:rPr lang="en-AU" sz="2400" dirty="0">
                    <a:latin typeface="+mj-lt"/>
                  </a:rPr>
                  <a:t> themselves, is called a closed interval, and denoted </a:t>
                </a:r>
                <a14:m>
                  <m:oMath xmlns:m="http://schemas.openxmlformats.org/officeDocument/2006/math">
                    <m:r>
                      <a:rPr lang="en-AU" sz="2400" i="1">
                        <a:latin typeface="Cambria Math" panose="02040503050406030204" pitchFamily="18" charset="0"/>
                      </a:rPr>
                      <m:t>[</m:t>
                    </m:r>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oMath>
                </a14:m>
                <a:r>
                  <a:rPr lang="en-AU" sz="2400" dirty="0">
                    <a:latin typeface="+mj-lt"/>
                  </a:rPr>
                  <a:t>, i.e. </a:t>
                </a:r>
                <a14:m>
                  <m:oMath xmlns:m="http://schemas.openxmlformats.org/officeDocument/2006/math">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e>
                      <m:e>
                        <m:r>
                          <a:rPr lang="en-AU" sz="2400" b="0" i="1" smtClean="0">
                            <a:latin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𝑏</m:t>
                        </m:r>
                      </m:e>
                    </m:d>
                  </m:oMath>
                </a14:m>
                <a:r>
                  <a:rPr lang="en-AU" sz="2400" dirty="0">
                    <a:latin typeface="+mj-lt"/>
                  </a:rPr>
                  <a:t> </a:t>
                </a:r>
                <a:endParaRPr lang="en-GB" sz="2400" dirty="0">
                  <a:latin typeface="+mj-lt"/>
                </a:endParaRPr>
              </a:p>
            </p:txBody>
          </p:sp>
        </mc:Choice>
        <mc:Fallback xmlns="">
          <p:sp>
            <p:nvSpPr>
              <p:cNvPr id="44" name="TextBox 43">
                <a:extLst>
                  <a:ext uri="{FF2B5EF4-FFF2-40B4-BE49-F238E27FC236}">
                    <a16:creationId xmlns:a16="http://schemas.microsoft.com/office/drawing/2014/main" id="{A384F5E9-3D1D-4B75-AC0C-134BE722BFC8}"/>
                  </a:ext>
                </a:extLst>
              </p:cNvPr>
              <p:cNvSpPr txBox="1">
                <a:spLocks noRot="1" noChangeAspect="1" noMove="1" noResize="1" noEditPoints="1" noAdjustHandles="1" noChangeArrowheads="1" noChangeShapeType="1" noTextEdit="1"/>
              </p:cNvSpPr>
              <p:nvPr/>
            </p:nvSpPr>
            <p:spPr>
              <a:xfrm>
                <a:off x="220337" y="4027188"/>
                <a:ext cx="11710929" cy="830997"/>
              </a:xfrm>
              <a:prstGeom prst="rect">
                <a:avLst/>
              </a:prstGeom>
              <a:blipFill>
                <a:blip r:embed="rId4"/>
                <a:stretch>
                  <a:fillRect l="-781" t="-5882" b="-16176"/>
                </a:stretch>
              </a:blipFill>
            </p:spPr>
            <p:txBody>
              <a:bodyPr/>
              <a:lstStyle/>
              <a:p>
                <a:r>
                  <a:rPr lang="en-GB">
                    <a:noFill/>
                  </a:rPr>
                  <a:t> </a:t>
                </a:r>
              </a:p>
            </p:txBody>
          </p:sp>
        </mc:Fallback>
      </mc:AlternateContent>
      <p:grpSp>
        <p:nvGrpSpPr>
          <p:cNvPr id="45" name="Group 44">
            <a:extLst>
              <a:ext uri="{FF2B5EF4-FFF2-40B4-BE49-F238E27FC236}">
                <a16:creationId xmlns:a16="http://schemas.microsoft.com/office/drawing/2014/main" id="{77C50647-52D8-4748-88CC-8747890D8ACD}"/>
              </a:ext>
            </a:extLst>
          </p:cNvPr>
          <p:cNvGrpSpPr/>
          <p:nvPr/>
        </p:nvGrpSpPr>
        <p:grpSpPr>
          <a:xfrm>
            <a:off x="1928450" y="5219749"/>
            <a:ext cx="5289871" cy="891367"/>
            <a:chOff x="3530156" y="5677507"/>
            <a:chExt cx="5289871" cy="891367"/>
          </a:xfrm>
        </p:grpSpPr>
        <p:cxnSp>
          <p:nvCxnSpPr>
            <p:cNvPr id="46" name="Straight Arrow Connector 45">
              <a:extLst>
                <a:ext uri="{FF2B5EF4-FFF2-40B4-BE49-F238E27FC236}">
                  <a16:creationId xmlns:a16="http://schemas.microsoft.com/office/drawing/2014/main" id="{EFF25E4E-F101-412D-B16B-58A465B4EF75}"/>
                </a:ext>
              </a:extLst>
            </p:cNvPr>
            <p:cNvCxnSpPr/>
            <p:nvPr/>
          </p:nvCxnSpPr>
          <p:spPr>
            <a:xfrm>
              <a:off x="3858178" y="5987845"/>
              <a:ext cx="467228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D5C59B1-AD47-4272-822F-CE138E33FB17}"/>
                </a:ext>
              </a:extLst>
            </p:cNvPr>
            <p:cNvCxnSpPr/>
            <p:nvPr/>
          </p:nvCxnSpPr>
          <p:spPr>
            <a:xfrm>
              <a:off x="6096000"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D3C7BCD-C2E6-4785-ADD5-20A388E3073C}"/>
                </a:ext>
              </a:extLst>
            </p:cNvPr>
            <p:cNvCxnSpPr/>
            <p:nvPr/>
          </p:nvCxnSpPr>
          <p:spPr>
            <a:xfrm>
              <a:off x="669773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9C834CB-B2C4-470B-B764-FE0DD734EC56}"/>
                </a:ext>
              </a:extLst>
            </p:cNvPr>
            <p:cNvCxnSpPr/>
            <p:nvPr/>
          </p:nvCxnSpPr>
          <p:spPr>
            <a:xfrm>
              <a:off x="724637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322CC40-3F54-49B4-BC30-ECAB00064A01}"/>
                </a:ext>
              </a:extLst>
            </p:cNvPr>
            <p:cNvCxnSpPr/>
            <p:nvPr/>
          </p:nvCxnSpPr>
          <p:spPr>
            <a:xfrm>
              <a:off x="7789114"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0E2B7D2-31DE-4867-966A-A1A6830A184F}"/>
                </a:ext>
              </a:extLst>
            </p:cNvPr>
            <p:cNvCxnSpPr/>
            <p:nvPr/>
          </p:nvCxnSpPr>
          <p:spPr>
            <a:xfrm>
              <a:off x="442549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DF3F9BF-602A-4FBF-8168-FD47ED8B2D5F}"/>
                </a:ext>
              </a:extLst>
            </p:cNvPr>
            <p:cNvCxnSpPr/>
            <p:nvPr/>
          </p:nvCxnSpPr>
          <p:spPr>
            <a:xfrm>
              <a:off x="497413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145637E-5A64-46CE-B864-98C4FEB6E74C}"/>
                </a:ext>
              </a:extLst>
            </p:cNvPr>
            <p:cNvCxnSpPr/>
            <p:nvPr/>
          </p:nvCxnSpPr>
          <p:spPr>
            <a:xfrm>
              <a:off x="5516879" y="5980962"/>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4B695FE9-FE37-4881-B295-3703A716FFCF}"/>
                </a:ext>
              </a:extLst>
            </p:cNvPr>
            <p:cNvSpPr txBox="1"/>
            <p:nvPr/>
          </p:nvSpPr>
          <p:spPr>
            <a:xfrm>
              <a:off x="5944339" y="6193643"/>
              <a:ext cx="301686" cy="369332"/>
            </a:xfrm>
            <a:prstGeom prst="rect">
              <a:avLst/>
            </a:prstGeom>
            <a:noFill/>
          </p:spPr>
          <p:txBody>
            <a:bodyPr wrap="none" rtlCol="0">
              <a:spAutoFit/>
            </a:bodyPr>
            <a:lstStyle/>
            <a:p>
              <a:r>
                <a:rPr lang="en-AU" b="1" dirty="0">
                  <a:solidFill>
                    <a:schemeClr val="accent4">
                      <a:lumMod val="75000"/>
                    </a:schemeClr>
                  </a:solidFill>
                </a:rPr>
                <a:t>0</a:t>
              </a:r>
            </a:p>
          </p:txBody>
        </p:sp>
        <p:sp>
          <p:nvSpPr>
            <p:cNvPr id="65" name="TextBox 64">
              <a:extLst>
                <a:ext uri="{FF2B5EF4-FFF2-40B4-BE49-F238E27FC236}">
                  <a16:creationId xmlns:a16="http://schemas.microsoft.com/office/drawing/2014/main" id="{246AFAAF-8724-40FC-A571-659E8E105F2D}"/>
                </a:ext>
              </a:extLst>
            </p:cNvPr>
            <p:cNvSpPr txBox="1"/>
            <p:nvPr/>
          </p:nvSpPr>
          <p:spPr>
            <a:xfrm>
              <a:off x="6546891" y="6188727"/>
              <a:ext cx="301686" cy="369332"/>
            </a:xfrm>
            <a:prstGeom prst="rect">
              <a:avLst/>
            </a:prstGeom>
            <a:noFill/>
          </p:spPr>
          <p:txBody>
            <a:bodyPr wrap="none" rtlCol="0">
              <a:spAutoFit/>
            </a:bodyPr>
            <a:lstStyle/>
            <a:p>
              <a:r>
                <a:rPr lang="en-AU" b="1" dirty="0">
                  <a:solidFill>
                    <a:schemeClr val="accent6"/>
                  </a:solidFill>
                </a:rPr>
                <a:t>1</a:t>
              </a:r>
            </a:p>
          </p:txBody>
        </p:sp>
        <p:sp>
          <p:nvSpPr>
            <p:cNvPr id="66" name="TextBox 65">
              <a:extLst>
                <a:ext uri="{FF2B5EF4-FFF2-40B4-BE49-F238E27FC236}">
                  <a16:creationId xmlns:a16="http://schemas.microsoft.com/office/drawing/2014/main" id="{56DD0E6A-31D9-4DB8-87C1-3B06176E1CA5}"/>
                </a:ext>
              </a:extLst>
            </p:cNvPr>
            <p:cNvSpPr txBox="1"/>
            <p:nvPr/>
          </p:nvSpPr>
          <p:spPr>
            <a:xfrm>
              <a:off x="7094930" y="6199542"/>
              <a:ext cx="301686" cy="369332"/>
            </a:xfrm>
            <a:prstGeom prst="rect">
              <a:avLst/>
            </a:prstGeom>
            <a:noFill/>
          </p:spPr>
          <p:txBody>
            <a:bodyPr wrap="none" rtlCol="0">
              <a:spAutoFit/>
            </a:bodyPr>
            <a:lstStyle/>
            <a:p>
              <a:r>
                <a:rPr lang="en-AU" b="1" dirty="0">
                  <a:solidFill>
                    <a:schemeClr val="accent6"/>
                  </a:solidFill>
                </a:rPr>
                <a:t>2</a:t>
              </a:r>
            </a:p>
          </p:txBody>
        </p:sp>
        <p:sp>
          <p:nvSpPr>
            <p:cNvPr id="67" name="TextBox 66">
              <a:extLst>
                <a:ext uri="{FF2B5EF4-FFF2-40B4-BE49-F238E27FC236}">
                  <a16:creationId xmlns:a16="http://schemas.microsoft.com/office/drawing/2014/main" id="{6F4CD275-EE16-470A-AB44-FC9396E5C52D}"/>
                </a:ext>
              </a:extLst>
            </p:cNvPr>
            <p:cNvSpPr txBox="1"/>
            <p:nvPr/>
          </p:nvSpPr>
          <p:spPr>
            <a:xfrm>
              <a:off x="7643569" y="6193643"/>
              <a:ext cx="301686" cy="369332"/>
            </a:xfrm>
            <a:prstGeom prst="rect">
              <a:avLst/>
            </a:prstGeom>
            <a:noFill/>
          </p:spPr>
          <p:txBody>
            <a:bodyPr wrap="none" rtlCol="0">
              <a:spAutoFit/>
            </a:bodyPr>
            <a:lstStyle/>
            <a:p>
              <a:r>
                <a:rPr lang="en-AU" b="1" dirty="0">
                  <a:solidFill>
                    <a:schemeClr val="accent6"/>
                  </a:solidFill>
                </a:rPr>
                <a:t>3</a:t>
              </a:r>
            </a:p>
          </p:txBody>
        </p:sp>
        <p:sp>
          <p:nvSpPr>
            <p:cNvPr id="68" name="TextBox 67">
              <a:extLst>
                <a:ext uri="{FF2B5EF4-FFF2-40B4-BE49-F238E27FC236}">
                  <a16:creationId xmlns:a16="http://schemas.microsoft.com/office/drawing/2014/main" id="{50AED70F-0DBF-4C69-8730-2DEEAC402D40}"/>
                </a:ext>
              </a:extLst>
            </p:cNvPr>
            <p:cNvSpPr txBox="1"/>
            <p:nvPr/>
          </p:nvSpPr>
          <p:spPr>
            <a:xfrm>
              <a:off x="8433383" y="5677507"/>
              <a:ext cx="386644" cy="369332"/>
            </a:xfrm>
            <a:prstGeom prst="rect">
              <a:avLst/>
            </a:prstGeom>
            <a:noFill/>
          </p:spPr>
          <p:txBody>
            <a:bodyPr wrap="none" rtlCol="0">
              <a:spAutoFit/>
            </a:bodyPr>
            <a:lstStyle/>
            <a:p>
              <a:r>
                <a:rPr lang="en-AU" dirty="0"/>
                <a:t>ꚙ</a:t>
              </a:r>
            </a:p>
          </p:txBody>
        </p:sp>
        <p:sp>
          <p:nvSpPr>
            <p:cNvPr id="69" name="TextBox 68">
              <a:extLst>
                <a:ext uri="{FF2B5EF4-FFF2-40B4-BE49-F238E27FC236}">
                  <a16:creationId xmlns:a16="http://schemas.microsoft.com/office/drawing/2014/main" id="{D3476825-EF91-4E14-B03D-62ABA09154A8}"/>
                </a:ext>
              </a:extLst>
            </p:cNvPr>
            <p:cNvSpPr txBox="1"/>
            <p:nvPr/>
          </p:nvSpPr>
          <p:spPr>
            <a:xfrm>
              <a:off x="3530156" y="5677507"/>
              <a:ext cx="609462" cy="369332"/>
            </a:xfrm>
            <a:prstGeom prst="rect">
              <a:avLst/>
            </a:prstGeom>
            <a:noFill/>
          </p:spPr>
          <p:txBody>
            <a:bodyPr wrap="none" rtlCol="0">
              <a:spAutoFit/>
            </a:bodyPr>
            <a:lstStyle/>
            <a:p>
              <a:r>
                <a:rPr lang="en-AU" dirty="0"/>
                <a:t>– ꚙ </a:t>
              </a:r>
            </a:p>
          </p:txBody>
        </p:sp>
        <p:cxnSp>
          <p:nvCxnSpPr>
            <p:cNvPr id="70" name="Straight Connector 69">
              <a:extLst>
                <a:ext uri="{FF2B5EF4-FFF2-40B4-BE49-F238E27FC236}">
                  <a16:creationId xmlns:a16="http://schemas.microsoft.com/office/drawing/2014/main" id="{7161514C-6321-42FF-B51F-1EB2DFD3B6CD}"/>
                </a:ext>
              </a:extLst>
            </p:cNvPr>
            <p:cNvCxnSpPr/>
            <p:nvPr/>
          </p:nvCxnSpPr>
          <p:spPr>
            <a:xfrm>
              <a:off x="442549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015915F-4FD5-45D9-A9D7-2906C7E429F2}"/>
                </a:ext>
              </a:extLst>
            </p:cNvPr>
            <p:cNvCxnSpPr/>
            <p:nvPr/>
          </p:nvCxnSpPr>
          <p:spPr>
            <a:xfrm>
              <a:off x="497413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3D31223-FB7A-43E7-A6FE-37BCF74D9430}"/>
                </a:ext>
              </a:extLst>
            </p:cNvPr>
            <p:cNvCxnSpPr/>
            <p:nvPr/>
          </p:nvCxnSpPr>
          <p:spPr>
            <a:xfrm>
              <a:off x="5516879" y="5987845"/>
              <a:ext cx="0" cy="2359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5E74291D-F49A-479E-8F2E-89C77F24D8B3}"/>
                </a:ext>
              </a:extLst>
            </p:cNvPr>
            <p:cNvSpPr txBox="1"/>
            <p:nvPr/>
          </p:nvSpPr>
          <p:spPr>
            <a:xfrm>
              <a:off x="4239390" y="6188727"/>
              <a:ext cx="372218" cy="369332"/>
            </a:xfrm>
            <a:prstGeom prst="rect">
              <a:avLst/>
            </a:prstGeom>
            <a:noFill/>
          </p:spPr>
          <p:txBody>
            <a:bodyPr wrap="none" rtlCol="0">
              <a:spAutoFit/>
            </a:bodyPr>
            <a:lstStyle/>
            <a:p>
              <a:r>
                <a:rPr lang="en-AU" b="1" dirty="0">
                  <a:solidFill>
                    <a:srgbClr val="C00000"/>
                  </a:solidFill>
                </a:rPr>
                <a:t>-3</a:t>
              </a:r>
            </a:p>
          </p:txBody>
        </p:sp>
        <p:sp>
          <p:nvSpPr>
            <p:cNvPr id="74" name="TextBox 73">
              <a:extLst>
                <a:ext uri="{FF2B5EF4-FFF2-40B4-BE49-F238E27FC236}">
                  <a16:creationId xmlns:a16="http://schemas.microsoft.com/office/drawing/2014/main" id="{BEF03E48-8816-4CB4-8014-12AF4AB519C4}"/>
                </a:ext>
              </a:extLst>
            </p:cNvPr>
            <p:cNvSpPr txBox="1"/>
            <p:nvPr/>
          </p:nvSpPr>
          <p:spPr>
            <a:xfrm>
              <a:off x="4782429" y="6199542"/>
              <a:ext cx="372218" cy="369332"/>
            </a:xfrm>
            <a:prstGeom prst="rect">
              <a:avLst/>
            </a:prstGeom>
            <a:noFill/>
          </p:spPr>
          <p:txBody>
            <a:bodyPr wrap="none" rtlCol="0">
              <a:spAutoFit/>
            </a:bodyPr>
            <a:lstStyle/>
            <a:p>
              <a:r>
                <a:rPr lang="en-AU" b="1" dirty="0">
                  <a:solidFill>
                    <a:srgbClr val="C00000"/>
                  </a:solidFill>
                </a:rPr>
                <a:t>-2</a:t>
              </a:r>
            </a:p>
          </p:txBody>
        </p:sp>
        <p:sp>
          <p:nvSpPr>
            <p:cNvPr id="75" name="TextBox 74">
              <a:extLst>
                <a:ext uri="{FF2B5EF4-FFF2-40B4-BE49-F238E27FC236}">
                  <a16:creationId xmlns:a16="http://schemas.microsoft.com/office/drawing/2014/main" id="{47626015-DE9E-4A94-A001-D7CE11D3CE8E}"/>
                </a:ext>
              </a:extLst>
            </p:cNvPr>
            <p:cNvSpPr txBox="1"/>
            <p:nvPr/>
          </p:nvSpPr>
          <p:spPr>
            <a:xfrm>
              <a:off x="5325168" y="6199542"/>
              <a:ext cx="372218" cy="369332"/>
            </a:xfrm>
            <a:prstGeom prst="rect">
              <a:avLst/>
            </a:prstGeom>
            <a:noFill/>
          </p:spPr>
          <p:txBody>
            <a:bodyPr wrap="none" rtlCol="0">
              <a:spAutoFit/>
            </a:bodyPr>
            <a:lstStyle/>
            <a:p>
              <a:r>
                <a:rPr lang="en-AU" b="1" dirty="0">
                  <a:solidFill>
                    <a:srgbClr val="C00000"/>
                  </a:solidFill>
                </a:rPr>
                <a:t>-1</a:t>
              </a:r>
            </a:p>
          </p:txBody>
        </p:sp>
      </p:gr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F50712B-EAB7-42C3-A178-9F69B5688C00}"/>
                  </a:ext>
                </a:extLst>
              </p:cNvPr>
              <p:cNvSpPr txBox="1"/>
              <p:nvPr/>
            </p:nvSpPr>
            <p:spPr>
              <a:xfrm>
                <a:off x="9103912" y="5373840"/>
                <a:ext cx="13354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𝐵</m:t>
                      </m:r>
                      <m:r>
                        <a:rPr lang="en-AU" b="0" i="1" smtClean="0">
                          <a:latin typeface="Cambria Math" panose="02040503050406030204" pitchFamily="18" charset="0"/>
                        </a:rPr>
                        <m:t>=[−1,2]</m:t>
                      </m:r>
                    </m:oMath>
                  </m:oMathPara>
                </a14:m>
                <a:endParaRPr lang="en-GB" dirty="0"/>
              </a:p>
            </p:txBody>
          </p:sp>
        </mc:Choice>
        <mc:Fallback xmlns="">
          <p:sp>
            <p:nvSpPr>
              <p:cNvPr id="76" name="TextBox 75">
                <a:extLst>
                  <a:ext uri="{FF2B5EF4-FFF2-40B4-BE49-F238E27FC236}">
                    <a16:creationId xmlns:a16="http://schemas.microsoft.com/office/drawing/2014/main" id="{5F50712B-EAB7-42C3-A178-9F69B5688C00}"/>
                  </a:ext>
                </a:extLst>
              </p:cNvPr>
              <p:cNvSpPr txBox="1">
                <a:spLocks noRot="1" noChangeAspect="1" noMove="1" noResize="1" noEditPoints="1" noAdjustHandles="1" noChangeArrowheads="1" noChangeShapeType="1" noTextEdit="1"/>
              </p:cNvSpPr>
              <p:nvPr/>
            </p:nvSpPr>
            <p:spPr>
              <a:xfrm>
                <a:off x="9103912" y="5373840"/>
                <a:ext cx="1335430" cy="369332"/>
              </a:xfrm>
              <a:prstGeom prst="rect">
                <a:avLst/>
              </a:prstGeom>
              <a:blipFill>
                <a:blip r:embed="rId5"/>
                <a:stretch>
                  <a:fillRect b="-16667"/>
                </a:stretch>
              </a:blipFill>
            </p:spPr>
            <p:txBody>
              <a:bodyPr/>
              <a:lstStyle/>
              <a:p>
                <a:r>
                  <a:rPr lang="en-GB">
                    <a:noFill/>
                  </a:rPr>
                  <a:t> </a:t>
                </a:r>
              </a:p>
            </p:txBody>
          </p:sp>
        </mc:Fallback>
      </mc:AlternateContent>
      <p:sp>
        <p:nvSpPr>
          <p:cNvPr id="77" name="Oval 76">
            <a:extLst>
              <a:ext uri="{FF2B5EF4-FFF2-40B4-BE49-F238E27FC236}">
                <a16:creationId xmlns:a16="http://schemas.microsoft.com/office/drawing/2014/main" id="{AA0C7676-F7EC-40A7-B328-9FADD0991221}"/>
              </a:ext>
            </a:extLst>
          </p:cNvPr>
          <p:cNvSpPr/>
          <p:nvPr/>
        </p:nvSpPr>
        <p:spPr>
          <a:xfrm>
            <a:off x="3868030" y="5480321"/>
            <a:ext cx="108000" cy="108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Oval 77">
            <a:extLst>
              <a:ext uri="{FF2B5EF4-FFF2-40B4-BE49-F238E27FC236}">
                <a16:creationId xmlns:a16="http://schemas.microsoft.com/office/drawing/2014/main" id="{F892788F-47FF-4987-9DAA-7C82F7D5DF45}"/>
              </a:ext>
            </a:extLst>
          </p:cNvPr>
          <p:cNvSpPr/>
          <p:nvPr/>
        </p:nvSpPr>
        <p:spPr>
          <a:xfrm>
            <a:off x="5595841" y="5489500"/>
            <a:ext cx="108000" cy="108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9" name="Straight Connector 78">
            <a:extLst>
              <a:ext uri="{FF2B5EF4-FFF2-40B4-BE49-F238E27FC236}">
                <a16:creationId xmlns:a16="http://schemas.microsoft.com/office/drawing/2014/main" id="{2C5F5B85-C24B-4156-B698-78902B621AA9}"/>
              </a:ext>
            </a:extLst>
          </p:cNvPr>
          <p:cNvCxnSpPr>
            <a:stCxn id="77" idx="6"/>
            <a:endCxn id="78" idx="2"/>
          </p:cNvCxnSpPr>
          <p:nvPr/>
        </p:nvCxnSpPr>
        <p:spPr>
          <a:xfrm>
            <a:off x="3976030" y="5534321"/>
            <a:ext cx="1619811" cy="917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72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77" grpId="0" animBg="1"/>
      <p:bldP spid="7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3FAED2-F262-4CF1-AD17-8911443E081C}"/>
              </a:ext>
            </a:extLst>
          </p:cNvPr>
          <p:cNvGrpSpPr/>
          <p:nvPr/>
        </p:nvGrpSpPr>
        <p:grpSpPr>
          <a:xfrm>
            <a:off x="0" y="361"/>
            <a:ext cx="12192000" cy="825314"/>
            <a:chOff x="0" y="213019"/>
            <a:chExt cx="12192000" cy="825314"/>
          </a:xfrm>
          <a:solidFill>
            <a:schemeClr val="accent2">
              <a:lumMod val="50000"/>
            </a:schemeClr>
          </a:solidFill>
        </p:grpSpPr>
        <p:sp>
          <p:nvSpPr>
            <p:cNvPr id="3" name="Rectangle 2">
              <a:extLst>
                <a:ext uri="{FF2B5EF4-FFF2-40B4-BE49-F238E27FC236}">
                  <a16:creationId xmlns:a16="http://schemas.microsoft.com/office/drawing/2014/main" id="{79C875BA-0B68-4D6D-A26F-43285491A1E2}"/>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E152DFF6-64A9-4814-B26E-629B9E9FA12A}"/>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EBA6B022-2A85-4146-9AB8-73DC3F2135A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TextBox 5">
            <a:extLst>
              <a:ext uri="{FF2B5EF4-FFF2-40B4-BE49-F238E27FC236}">
                <a16:creationId xmlns:a16="http://schemas.microsoft.com/office/drawing/2014/main" id="{C34E904C-9586-4790-A76F-BE5F903BDF93}"/>
              </a:ext>
            </a:extLst>
          </p:cNvPr>
          <p:cNvSpPr txBox="1"/>
          <p:nvPr/>
        </p:nvSpPr>
        <p:spPr>
          <a:xfrm>
            <a:off x="66245" y="124632"/>
            <a:ext cx="4136261" cy="523220"/>
          </a:xfrm>
          <a:prstGeom prst="rect">
            <a:avLst/>
          </a:prstGeom>
          <a:noFill/>
        </p:spPr>
        <p:txBody>
          <a:bodyPr wrap="none" rtlCol="0">
            <a:spAutoFit/>
          </a:bodyPr>
          <a:lstStyle/>
          <a:p>
            <a:r>
              <a:rPr lang="en-AU" sz="2800" b="1" cap="small" dirty="0">
                <a:solidFill>
                  <a:schemeClr val="bg1"/>
                </a:solidFill>
                <a:latin typeface="+mj-lt"/>
              </a:rPr>
              <a:t>1.2 Sets and their operations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B103492-DCEB-4F73-904D-4E3A9E981735}"/>
                  </a:ext>
                </a:extLst>
              </p:cNvPr>
              <p:cNvSpPr txBox="1"/>
              <p:nvPr/>
            </p:nvSpPr>
            <p:spPr>
              <a:xfrm>
                <a:off x="240535" y="847274"/>
                <a:ext cx="11710929" cy="5401479"/>
              </a:xfrm>
              <a:prstGeom prst="rect">
                <a:avLst/>
              </a:prstGeom>
              <a:noFill/>
            </p:spPr>
            <p:txBody>
              <a:bodyPr wrap="square" rtlCol="0">
                <a:spAutoFit/>
              </a:bodyPr>
              <a:lstStyle/>
              <a:p>
                <a:pPr>
                  <a:spcAft>
                    <a:spcPts val="1800"/>
                  </a:spcAft>
                </a:pPr>
                <a:r>
                  <a:rPr lang="en-AU" sz="2400" i="1" dirty="0">
                    <a:latin typeface="+mj-lt"/>
                  </a:rPr>
                  <a:t>Definition</a:t>
                </a:r>
                <a:r>
                  <a:rPr lang="en-AU" sz="2400" dirty="0">
                    <a:latin typeface="+mj-lt"/>
                  </a:rPr>
                  <a:t>. Given two sets </a:t>
                </a:r>
                <a:r>
                  <a:rPr lang="en-AU" sz="2400" i="1" dirty="0">
                    <a:latin typeface="+mj-lt"/>
                  </a:rPr>
                  <a:t>A</a:t>
                </a:r>
                <a:r>
                  <a:rPr lang="en-AU" sz="2400" dirty="0">
                    <a:latin typeface="+mj-lt"/>
                  </a:rPr>
                  <a:t> and </a:t>
                </a:r>
                <a:r>
                  <a:rPr lang="en-AU" sz="2400" i="1" dirty="0">
                    <a:latin typeface="+mj-lt"/>
                  </a:rPr>
                  <a:t>B</a:t>
                </a:r>
                <a:r>
                  <a:rPr lang="en-AU" sz="2400" dirty="0">
                    <a:latin typeface="+mj-lt"/>
                  </a:rPr>
                  <a:t>, </a:t>
                </a:r>
                <a:r>
                  <a:rPr lang="en-AU" sz="2400" i="1" dirty="0">
                    <a:latin typeface="+mj-lt"/>
                  </a:rPr>
                  <a:t>A</a:t>
                </a:r>
                <a:r>
                  <a:rPr lang="en-AU" sz="2400" dirty="0">
                    <a:latin typeface="+mj-lt"/>
                  </a:rPr>
                  <a:t> is said to be a </a:t>
                </a:r>
                <a:r>
                  <a:rPr lang="en-AU" sz="2400" i="1" u="sng" dirty="0">
                    <a:latin typeface="+mj-lt"/>
                  </a:rPr>
                  <a:t>subset</a:t>
                </a:r>
                <a:r>
                  <a:rPr lang="en-AU" sz="2400" dirty="0">
                    <a:latin typeface="+mj-lt"/>
                  </a:rPr>
                  <a:t> of </a:t>
                </a:r>
                <a:r>
                  <a:rPr lang="en-AU" sz="2400" i="1" dirty="0">
                    <a:latin typeface="+mj-lt"/>
                  </a:rPr>
                  <a:t>B</a:t>
                </a:r>
                <a:r>
                  <a:rPr lang="en-AU" sz="2400" dirty="0">
                    <a:latin typeface="+mj-lt"/>
                  </a:rPr>
                  <a:t> if and only if all elements of </a:t>
                </a:r>
                <a:r>
                  <a:rPr lang="en-AU" sz="2400" i="1" dirty="0">
                    <a:latin typeface="+mj-lt"/>
                  </a:rPr>
                  <a:t>A</a:t>
                </a:r>
                <a:r>
                  <a:rPr lang="en-AU" sz="2400" dirty="0">
                    <a:latin typeface="+mj-lt"/>
                  </a:rPr>
                  <a:t> belong to </a:t>
                </a:r>
                <a:r>
                  <a:rPr lang="en-AU" sz="2400" i="1" dirty="0">
                    <a:latin typeface="+mj-lt"/>
                  </a:rPr>
                  <a:t>B</a:t>
                </a:r>
                <a:r>
                  <a:rPr lang="en-AU" sz="2400" dirty="0">
                    <a:latin typeface="+mj-lt"/>
                  </a:rPr>
                  <a:t>. This is indicated as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oMath>
                </a14:m>
                <a:r>
                  <a:rPr lang="en-GB" sz="2400" dirty="0">
                    <a:latin typeface="+mj-lt"/>
                  </a:rPr>
                  <a:t>. </a:t>
                </a:r>
                <a:r>
                  <a:rPr lang="en-GB" sz="2400" i="1" dirty="0">
                    <a:latin typeface="+mj-lt"/>
                  </a:rPr>
                  <a:t>A</a:t>
                </a:r>
                <a:r>
                  <a:rPr lang="en-GB" sz="2400" dirty="0">
                    <a:latin typeface="+mj-lt"/>
                  </a:rPr>
                  <a:t> is said to be a </a:t>
                </a:r>
                <a:r>
                  <a:rPr lang="en-GB" sz="2400" i="1" u="sng" dirty="0">
                    <a:latin typeface="+mj-lt"/>
                  </a:rPr>
                  <a:t>proper subset </a:t>
                </a:r>
                <a:r>
                  <a:rPr lang="en-GB" sz="2400" dirty="0">
                    <a:latin typeface="+mj-lt"/>
                  </a:rPr>
                  <a:t>of </a:t>
                </a:r>
                <a:r>
                  <a:rPr lang="en-GB" sz="2400" i="1" dirty="0">
                    <a:latin typeface="+mj-lt"/>
                  </a:rPr>
                  <a:t>B </a:t>
                </a:r>
                <a:r>
                  <a:rPr lang="en-GB" sz="2400" dirty="0">
                    <a:latin typeface="+mj-lt"/>
                  </a:rPr>
                  <a:t>if at least one element of </a:t>
                </a:r>
                <a:r>
                  <a:rPr lang="en-GB" sz="2400" i="1" dirty="0">
                    <a:latin typeface="+mj-lt"/>
                  </a:rPr>
                  <a:t>B</a:t>
                </a:r>
                <a:r>
                  <a:rPr lang="en-GB" sz="2400" dirty="0">
                    <a:latin typeface="+mj-lt"/>
                  </a:rPr>
                  <a:t> does not belong to </a:t>
                </a:r>
                <a:r>
                  <a:rPr lang="en-GB" sz="2400" i="1" dirty="0">
                    <a:latin typeface="+mj-lt"/>
                  </a:rPr>
                  <a:t>A</a:t>
                </a:r>
                <a:r>
                  <a:rPr lang="en-GB" sz="2400" dirty="0">
                    <a:latin typeface="+mj-lt"/>
                  </a:rPr>
                  <a:t>, and we write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oMath>
                </a14:m>
                <a:r>
                  <a:rPr lang="en-GB" sz="2400" dirty="0">
                    <a:latin typeface="+mj-lt"/>
                  </a:rPr>
                  <a:t>.</a:t>
                </a:r>
              </a:p>
              <a:p>
                <a:pPr>
                  <a:spcAft>
                    <a:spcPts val="1800"/>
                  </a:spcAft>
                </a:pPr>
                <a:r>
                  <a:rPr lang="en-GB" sz="2400" dirty="0">
                    <a:latin typeface="+mj-lt"/>
                  </a:rPr>
                  <a:t>Definition. The </a:t>
                </a:r>
                <a:r>
                  <a:rPr lang="en-GB" sz="2400" i="1" u="sng" dirty="0">
                    <a:latin typeface="+mj-lt"/>
                  </a:rPr>
                  <a:t>union</a:t>
                </a:r>
                <a:r>
                  <a:rPr lang="en-GB" sz="2400" dirty="0">
                    <a:latin typeface="+mj-lt"/>
                  </a:rPr>
                  <a:t> of sets </a:t>
                </a:r>
                <a:r>
                  <a:rPr lang="en-GB" sz="2400" i="1" dirty="0">
                    <a:latin typeface="+mj-lt"/>
                  </a:rPr>
                  <a:t>A</a:t>
                </a:r>
                <a:r>
                  <a:rPr lang="en-GB" sz="2400" dirty="0">
                    <a:latin typeface="+mj-lt"/>
                  </a:rPr>
                  <a:t> and </a:t>
                </a:r>
                <a:r>
                  <a:rPr lang="en-GB" sz="2400" i="1" dirty="0">
                    <a:latin typeface="+mj-lt"/>
                  </a:rPr>
                  <a:t>B</a:t>
                </a:r>
                <a:r>
                  <a:rPr lang="en-GB" sz="2400" dirty="0">
                    <a:latin typeface="+mj-lt"/>
                  </a:rPr>
                  <a:t> is the set defined as </a:t>
                </a:r>
              </a:p>
              <a:p>
                <a:pPr>
                  <a:spcAft>
                    <a:spcPts val="1800"/>
                  </a:spcAft>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d>
                        <m:dPr>
                          <m:begChr m:val="{"/>
                          <m:endChr m:val="}"/>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e>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 </m:t>
                          </m:r>
                          <m:r>
                            <m:rPr>
                              <m:sty m:val="p"/>
                            </m:rPr>
                            <a:rPr lang="en-AU" sz="2400" b="0" i="0" smtClean="0">
                              <a:latin typeface="Cambria Math" panose="02040503050406030204" pitchFamily="18" charset="0"/>
                              <a:ea typeface="Cambria Math" panose="02040503050406030204" pitchFamily="18" charset="0"/>
                            </a:rPr>
                            <m:t>or</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e>
                      </m:d>
                    </m:oMath>
                  </m:oMathPara>
                </a14:m>
                <a:endParaRPr lang="en-GB" sz="2400" dirty="0">
                  <a:latin typeface="+mj-lt"/>
                </a:endParaRPr>
              </a:p>
              <a:p>
                <a:pPr>
                  <a:spcAft>
                    <a:spcPts val="1800"/>
                  </a:spcAft>
                </a:pPr>
                <a:r>
                  <a:rPr lang="en-GB" sz="2400" dirty="0">
                    <a:latin typeface="+mj-lt"/>
                  </a:rPr>
                  <a:t>Definition. The </a:t>
                </a:r>
                <a:r>
                  <a:rPr lang="en-GB" sz="2400" i="1" u="sng" dirty="0">
                    <a:latin typeface="+mj-lt"/>
                  </a:rPr>
                  <a:t>intersection</a:t>
                </a:r>
                <a:r>
                  <a:rPr lang="en-GB" sz="2400" dirty="0">
                    <a:latin typeface="+mj-lt"/>
                  </a:rPr>
                  <a:t> of sets </a:t>
                </a:r>
                <a:r>
                  <a:rPr lang="en-GB" sz="2400" i="1" dirty="0">
                    <a:latin typeface="+mj-lt"/>
                  </a:rPr>
                  <a:t>A</a:t>
                </a:r>
                <a:r>
                  <a:rPr lang="en-GB" sz="2400" dirty="0">
                    <a:latin typeface="+mj-lt"/>
                  </a:rPr>
                  <a:t> and </a:t>
                </a:r>
                <a:r>
                  <a:rPr lang="en-GB" sz="2400" i="1" dirty="0">
                    <a:latin typeface="+mj-lt"/>
                  </a:rPr>
                  <a:t>B</a:t>
                </a:r>
                <a:r>
                  <a:rPr lang="en-GB" sz="2400" dirty="0">
                    <a:latin typeface="+mj-lt"/>
                  </a:rPr>
                  <a:t> is the set defined as </a:t>
                </a:r>
              </a:p>
              <a:p>
                <a:pPr>
                  <a:spcAft>
                    <a:spcPts val="1800"/>
                  </a:spcAft>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d>
                        <m:dPr>
                          <m:begChr m:val="{"/>
                          <m:endChr m:val="}"/>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e>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 </m:t>
                          </m:r>
                          <m:r>
                            <m:rPr>
                              <m:sty m:val="p"/>
                            </m:rPr>
                            <a:rPr lang="en-AU" sz="2400" b="0" i="0" smtClean="0">
                              <a:latin typeface="Cambria Math" panose="02040503050406030204" pitchFamily="18" charset="0"/>
                              <a:ea typeface="Cambria Math" panose="02040503050406030204" pitchFamily="18" charset="0"/>
                            </a:rPr>
                            <m:t>and</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e>
                      </m:d>
                    </m:oMath>
                  </m:oMathPara>
                </a14:m>
                <a:endParaRPr lang="en-GB" sz="2400" dirty="0">
                  <a:latin typeface="+mj-lt"/>
                </a:endParaRPr>
              </a:p>
              <a:p>
                <a:pPr>
                  <a:spcAft>
                    <a:spcPts val="1800"/>
                  </a:spcAft>
                </a:pPr>
                <a:r>
                  <a:rPr lang="en-GB" sz="2400" dirty="0">
                    <a:latin typeface="+mj-lt"/>
                  </a:rPr>
                  <a:t>Definition. The </a:t>
                </a:r>
                <a:r>
                  <a:rPr lang="en-GB" sz="2400" i="1" u="sng" dirty="0">
                    <a:latin typeface="+mj-lt"/>
                  </a:rPr>
                  <a:t>complement</a:t>
                </a:r>
                <a:r>
                  <a:rPr lang="en-GB" sz="2400" dirty="0">
                    <a:latin typeface="+mj-lt"/>
                  </a:rPr>
                  <a:t> of a given set </a:t>
                </a:r>
                <a:r>
                  <a:rPr lang="en-GB" sz="2400" i="1" dirty="0">
                    <a:latin typeface="+mj-lt"/>
                  </a:rPr>
                  <a:t>A</a:t>
                </a:r>
                <a:r>
                  <a:rPr lang="en-GB" sz="2400" dirty="0">
                    <a:latin typeface="+mj-lt"/>
                  </a:rPr>
                  <a:t> with respect to a given set </a:t>
                </a:r>
                <a:r>
                  <a:rPr lang="en-GB" sz="2400" i="1" dirty="0">
                    <a:latin typeface="+mj-lt"/>
                  </a:rPr>
                  <a:t>B</a:t>
                </a:r>
                <a:r>
                  <a:rPr lang="en-GB" sz="2400" dirty="0">
                    <a:latin typeface="+mj-lt"/>
                  </a:rPr>
                  <a:t> is defined as </a:t>
                </a:r>
              </a:p>
              <a:p>
                <a:pPr>
                  <a:spcAft>
                    <a:spcPts val="1800"/>
                  </a:spcAft>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m:rPr>
                          <m:sty m:val="p"/>
                        </m:rPr>
                        <a:rPr lang="en-AU" sz="2400" b="0" i="1" smtClean="0">
                          <a:latin typeface="Cambria Math" panose="02040503050406030204" pitchFamily="18" charset="0"/>
                          <a:ea typeface="Cambria Math" panose="02040503050406030204" pitchFamily="18" charset="0"/>
                        </a:rPr>
                        <m:t>B</m:t>
                      </m:r>
                      <m:r>
                        <a:rPr lang="en-AU" sz="2400" b="0" i="1" smtClean="0">
                          <a:latin typeface="Cambria Math" panose="02040503050406030204" pitchFamily="18" charset="0"/>
                          <a:ea typeface="Cambria Math" panose="02040503050406030204" pitchFamily="18" charset="0"/>
                        </a:rPr>
                        <m:t>=</m:t>
                      </m:r>
                      <m:d>
                        <m:dPr>
                          <m:begChr m:val="{"/>
                          <m:endChr m:val="}"/>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e>
                        <m:e>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 </m:t>
                          </m:r>
                          <m:r>
                            <m:rPr>
                              <m:sty m:val="p"/>
                            </m:rPr>
                            <a:rPr lang="en-AU" sz="2400" b="0" i="0" smtClean="0">
                              <a:latin typeface="Cambria Math" panose="02040503050406030204" pitchFamily="18" charset="0"/>
                              <a:ea typeface="Cambria Math" panose="02040503050406030204" pitchFamily="18" charset="0"/>
                            </a:rPr>
                            <m:t>and</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e>
                      </m:d>
                    </m:oMath>
                  </m:oMathPara>
                </a14:m>
                <a:endParaRPr lang="en-GB" sz="2400" dirty="0">
                  <a:latin typeface="+mj-lt"/>
                </a:endParaRPr>
              </a:p>
              <a:p>
                <a:pPr>
                  <a:spcAft>
                    <a:spcPts val="1800"/>
                  </a:spcAft>
                </a:pPr>
                <a:r>
                  <a:rPr lang="en-GB" sz="2400" dirty="0">
                    <a:latin typeface="+mj-lt"/>
                  </a:rPr>
                  <a:t>Definition. The </a:t>
                </a:r>
                <a:r>
                  <a:rPr lang="en-GB" sz="2400" i="1" u="sng" dirty="0">
                    <a:latin typeface="+mj-lt"/>
                  </a:rPr>
                  <a:t>empty set</a:t>
                </a:r>
                <a:r>
                  <a:rPr lang="en-GB" sz="2400" dirty="0">
                    <a:latin typeface="+mj-lt"/>
                  </a:rPr>
                  <a:t> is a set that does not contain any elements and is denoted by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m:rPr>
                        <m:nor/>
                      </m:rPr>
                      <a:rPr lang="en-GB" sz="2400" dirty="0"/>
                      <m:t>Ø</m:t>
                    </m:r>
                  </m:oMath>
                </a14:m>
                <a:endParaRPr lang="en-GB" sz="2400" dirty="0">
                  <a:latin typeface="+mj-lt"/>
                </a:endParaRPr>
              </a:p>
            </p:txBody>
          </p:sp>
        </mc:Choice>
        <mc:Fallback xmlns="">
          <p:sp>
            <p:nvSpPr>
              <p:cNvPr id="7" name="TextBox 6">
                <a:extLst>
                  <a:ext uri="{FF2B5EF4-FFF2-40B4-BE49-F238E27FC236}">
                    <a16:creationId xmlns:a16="http://schemas.microsoft.com/office/drawing/2014/main" id="{2B103492-DCEB-4F73-904D-4E3A9E981735}"/>
                  </a:ext>
                </a:extLst>
              </p:cNvPr>
              <p:cNvSpPr txBox="1">
                <a:spLocks noRot="1" noChangeAspect="1" noMove="1" noResize="1" noEditPoints="1" noAdjustHandles="1" noChangeArrowheads="1" noChangeShapeType="1" noTextEdit="1"/>
              </p:cNvSpPr>
              <p:nvPr/>
            </p:nvSpPr>
            <p:spPr>
              <a:xfrm>
                <a:off x="240535" y="847274"/>
                <a:ext cx="11710929" cy="5401479"/>
              </a:xfrm>
              <a:prstGeom prst="rect">
                <a:avLst/>
              </a:prstGeom>
              <a:blipFill>
                <a:blip r:embed="rId2"/>
                <a:stretch>
                  <a:fillRect l="-780" t="-903" r="-260" b="-1580"/>
                </a:stretch>
              </a:blipFill>
            </p:spPr>
            <p:txBody>
              <a:bodyPr/>
              <a:lstStyle/>
              <a:p>
                <a:r>
                  <a:rPr lang="en-GB">
                    <a:noFill/>
                  </a:rPr>
                  <a:t> </a:t>
                </a:r>
              </a:p>
            </p:txBody>
          </p:sp>
        </mc:Fallback>
      </mc:AlternateContent>
    </p:spTree>
    <p:extLst>
      <p:ext uri="{BB962C8B-B14F-4D97-AF65-F5344CB8AC3E}">
        <p14:creationId xmlns:p14="http://schemas.microsoft.com/office/powerpoint/2010/main" val="2109655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0495CDF-B63F-4470-AA7A-B0AA6E34AA41}"/>
              </a:ext>
            </a:extLst>
          </p:cNvPr>
          <p:cNvGrpSpPr/>
          <p:nvPr/>
        </p:nvGrpSpPr>
        <p:grpSpPr>
          <a:xfrm>
            <a:off x="0" y="361"/>
            <a:ext cx="12192000" cy="825314"/>
            <a:chOff x="0" y="213019"/>
            <a:chExt cx="12192000" cy="825314"/>
          </a:xfrm>
          <a:solidFill>
            <a:schemeClr val="accent2">
              <a:lumMod val="50000"/>
            </a:schemeClr>
          </a:solidFill>
        </p:grpSpPr>
        <p:sp>
          <p:nvSpPr>
            <p:cNvPr id="3" name="Rectangle 2">
              <a:extLst>
                <a:ext uri="{FF2B5EF4-FFF2-40B4-BE49-F238E27FC236}">
                  <a16:creationId xmlns:a16="http://schemas.microsoft.com/office/drawing/2014/main" id="{AA9C0D28-8955-468E-B520-E7D09BF0947C}"/>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179E886C-B6EA-4C87-8579-29A1B3D5DCD9}"/>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A74E7B2-76B3-4A12-A2CB-324E9B86C4D9}"/>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TextBox 5">
            <a:extLst>
              <a:ext uri="{FF2B5EF4-FFF2-40B4-BE49-F238E27FC236}">
                <a16:creationId xmlns:a16="http://schemas.microsoft.com/office/drawing/2014/main" id="{088A0AAD-BB44-45A8-B363-87BC0A394975}"/>
              </a:ext>
            </a:extLst>
          </p:cNvPr>
          <p:cNvSpPr txBox="1"/>
          <p:nvPr/>
        </p:nvSpPr>
        <p:spPr>
          <a:xfrm>
            <a:off x="66245" y="124632"/>
            <a:ext cx="3046603" cy="523220"/>
          </a:xfrm>
          <a:prstGeom prst="rect">
            <a:avLst/>
          </a:prstGeom>
          <a:noFill/>
        </p:spPr>
        <p:txBody>
          <a:bodyPr wrap="none" rtlCol="0">
            <a:spAutoFit/>
          </a:bodyPr>
          <a:lstStyle/>
          <a:p>
            <a:r>
              <a:rPr lang="en-AU" sz="2800" b="1" cap="small" dirty="0">
                <a:solidFill>
                  <a:schemeClr val="bg1"/>
                </a:solidFill>
                <a:latin typeface="+mj-lt"/>
              </a:rPr>
              <a:t>Test your knowledge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483862A-82EC-4C3A-B46D-E059FD090CD2}"/>
                  </a:ext>
                </a:extLst>
              </p:cNvPr>
              <p:cNvSpPr txBox="1"/>
              <p:nvPr/>
            </p:nvSpPr>
            <p:spPr>
              <a:xfrm>
                <a:off x="240535" y="1013099"/>
                <a:ext cx="11710929" cy="4813497"/>
              </a:xfrm>
              <a:prstGeom prst="rect">
                <a:avLst/>
              </a:prstGeom>
              <a:noFill/>
            </p:spPr>
            <p:txBody>
              <a:bodyPr wrap="square" rtlCol="0">
                <a:spAutoFit/>
              </a:bodyPr>
              <a:lstStyle/>
              <a:p>
                <a:r>
                  <a:rPr lang="en-AU" sz="2400" dirty="0">
                    <a:latin typeface="+mj-lt"/>
                  </a:rPr>
                  <a:t>1. Which of these is equivalent to the empty set?</a:t>
                </a:r>
              </a:p>
              <a:p>
                <a:pPr>
                  <a:tabLst>
                    <a:tab pos="265113" algn="l"/>
                  </a:tabLst>
                </a:pPr>
                <a:endParaRPr lang="en-AU" sz="2400" dirty="0">
                  <a:latin typeface="+mj-lt"/>
                </a:endParaRPr>
              </a:p>
              <a:p>
                <a:pPr>
                  <a:tabLst>
                    <a:tab pos="265113" algn="l"/>
                  </a:tabLst>
                </a:pPr>
                <a:r>
                  <a:rPr lang="en-GB" sz="2400" dirty="0">
                    <a:latin typeface="+mj-lt"/>
                  </a:rPr>
                  <a:t>	a. </a:t>
                </a:r>
                <a14:m>
                  <m:oMath xmlns:m="http://schemas.openxmlformats.org/officeDocument/2006/math">
                    <m:d>
                      <m:dPr>
                        <m:begChr m:val="{"/>
                        <m:endChr m:val="}"/>
                        <m:ctrlPr>
                          <a:rPr lang="en-GB" sz="2400" i="1" smtClean="0">
                            <a:latin typeface="Cambria Math" panose="02040503050406030204" pitchFamily="18" charset="0"/>
                          </a:rPr>
                        </m:ctrlPr>
                      </m:dPr>
                      <m:e>
                        <m:r>
                          <a:rPr lang="en-AU" sz="2400" b="0" i="1" smtClean="0">
                            <a:latin typeface="Cambria Math" panose="02040503050406030204" pitchFamily="18" charset="0"/>
                          </a:rPr>
                          <m:t>0</m:t>
                        </m:r>
                      </m:e>
                    </m:d>
                  </m:oMath>
                </a14:m>
                <a:r>
                  <a:rPr lang="en-GB" sz="2400" dirty="0">
                    <a:latin typeface="+mj-lt"/>
                  </a:rPr>
                  <a:t>	b.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3,6</m:t>
                        </m:r>
                      </m:e>
                    </m:d>
                    <m:r>
                      <a:rPr lang="en-AU" sz="2400" b="0" i="1" smtClean="0">
                        <a:latin typeface="Cambria Math" panose="02040503050406030204" pitchFamily="18" charset="0"/>
                      </a:rPr>
                      <m:t>\</m:t>
                    </m:r>
                    <m:r>
                      <m:rPr>
                        <m:lit/>
                      </m:rPr>
                      <a:rPr lang="en-AU" sz="2400" b="0" i="1" smtClean="0">
                        <a:latin typeface="Cambria Math" panose="02040503050406030204" pitchFamily="18" charset="0"/>
                      </a:rPr>
                      <m:t>[</m:t>
                    </m:r>
                    <m:r>
                      <a:rPr lang="en-AU" sz="2400" b="0" i="1" smtClean="0">
                        <a:latin typeface="Cambria Math" panose="02040503050406030204" pitchFamily="18" charset="0"/>
                      </a:rPr>
                      <m:t>3,6]</m:t>
                    </m:r>
                  </m:oMath>
                </a14:m>
                <a:r>
                  <a:rPr lang="en-GB" sz="2400" dirty="0">
                    <a:latin typeface="+mj-lt"/>
                  </a:rPr>
                  <a:t>		c. </a:t>
                </a:r>
                <a14:m>
                  <m:oMath xmlns:m="http://schemas.openxmlformats.org/officeDocument/2006/math">
                    <m:r>
                      <a:rPr lang="en-AU" sz="2400" b="0" i="1" smtClean="0">
                        <a:latin typeface="Cambria Math" panose="02040503050406030204" pitchFamily="18" charset="0"/>
                      </a:rPr>
                      <m:t>(2,5]</m:t>
                    </m:r>
                    <m:r>
                      <a:rPr lang="en-AU" sz="2400" b="0" i="1" smtClean="0">
                        <a:latin typeface="Cambria Math" panose="02040503050406030204" pitchFamily="18" charset="0"/>
                        <a:ea typeface="Cambria Math" panose="02040503050406030204" pitchFamily="18" charset="0"/>
                      </a:rPr>
                      <m:t>⋂(5,8)</m:t>
                    </m:r>
                  </m:oMath>
                </a14:m>
                <a:r>
                  <a:rPr lang="en-GB" sz="2400" dirty="0">
                    <a:latin typeface="+mj-lt"/>
                  </a:rPr>
                  <a:t>		d.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e.</a:t>
                </a:r>
                <a14:m>
                  <m:oMath xmlns:m="http://schemas.openxmlformats.org/officeDocument/2006/math">
                    <m:r>
                      <a:rPr lang="en-AU" sz="2400" b="0" i="1" smtClean="0">
                        <a:latin typeface="Cambria Math" panose="02040503050406030204" pitchFamily="18" charset="0"/>
                      </a:rPr>
                      <m:t>[2,5]</m:t>
                    </m:r>
                    <m:r>
                      <a:rPr lang="en-AU" sz="2400" b="0" i="1" smtClean="0">
                        <a:latin typeface="Cambria Math" panose="02040503050406030204" pitchFamily="18" charset="0"/>
                        <a:ea typeface="Cambria Math" panose="02040503050406030204" pitchFamily="18" charset="0"/>
                      </a:rPr>
                      <m:t>∪</m:t>
                    </m:r>
                    <m:r>
                      <m:rPr>
                        <m:nor/>
                      </m:rPr>
                      <a:rPr lang="en-GB" sz="2400" dirty="0"/>
                      <m:t>Ø</m:t>
                    </m:r>
                  </m:oMath>
                </a14:m>
                <a:endParaRPr lang="en-GB" sz="2400" dirty="0">
                  <a:latin typeface="+mj-lt"/>
                </a:endParaRPr>
              </a:p>
              <a:p>
                <a:pPr>
                  <a:tabLst>
                    <a:tab pos="265113" algn="l"/>
                  </a:tabLst>
                </a:pPr>
                <a:endParaRPr lang="en-GB" sz="2400" dirty="0">
                  <a:latin typeface="+mj-lt"/>
                </a:endParaRPr>
              </a:p>
              <a:p>
                <a:pPr>
                  <a:tabLst>
                    <a:tab pos="265113" algn="l"/>
                  </a:tabLst>
                </a:pPr>
                <a:r>
                  <a:rPr lang="en-GB" sz="2400" dirty="0">
                    <a:latin typeface="+mj-lt"/>
                  </a:rPr>
                  <a:t>2. Rewrite the following set using the complement operation.</a:t>
                </a:r>
              </a:p>
              <a:p>
                <a:pPr>
                  <a:tabLst>
                    <a:tab pos="265113" algn="l"/>
                  </a:tabLst>
                </a:pPr>
                <a:endParaRPr lang="en-AU" sz="2400" b="0" i="1" dirty="0">
                  <a:latin typeface="Cambria Math" panose="02040503050406030204" pitchFamily="18" charset="0"/>
                </a:endParaRPr>
              </a:p>
              <a:p>
                <a:pPr>
                  <a:tabLst>
                    <a:tab pos="265113" algn="l"/>
                  </a:tabLst>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=(−∞,4)∪[5,∞)</m:t>
                      </m:r>
                    </m:oMath>
                  </m:oMathPara>
                </a14:m>
                <a:endParaRPr lang="en-GB" sz="2400" dirty="0">
                  <a:latin typeface="+mj-lt"/>
                </a:endParaRPr>
              </a:p>
              <a:p>
                <a:pPr>
                  <a:tabLst>
                    <a:tab pos="265113" algn="l"/>
                  </a:tabLst>
                </a:pPr>
                <a:endParaRPr lang="en-GB" sz="2400" dirty="0">
                  <a:latin typeface="+mj-lt"/>
                </a:endParaRPr>
              </a:p>
              <a:p>
                <a:pPr>
                  <a:tabLst>
                    <a:tab pos="265113" algn="l"/>
                  </a:tabLst>
                </a:pPr>
                <a:endParaRPr lang="en-GB" sz="2400" dirty="0">
                  <a:latin typeface="+mj-lt"/>
                </a:endParaRPr>
              </a:p>
              <a:p>
                <a:pPr>
                  <a:tabLst>
                    <a:tab pos="265113" algn="l"/>
                  </a:tabLst>
                </a:pPr>
                <a:r>
                  <a:rPr lang="en-GB" sz="2400" dirty="0">
                    <a:latin typeface="+mj-lt"/>
                  </a:rPr>
                  <a:t>3. Which of these is a subset of </a:t>
                </a:r>
                <a14:m>
                  <m:oMath xmlns:m="http://schemas.openxmlformats.org/officeDocument/2006/math">
                    <m:r>
                      <a:rPr lang="en-GB" sz="2400" i="1" smtClean="0">
                        <a:latin typeface="Cambria Math" panose="02040503050406030204" pitchFamily="18" charset="0"/>
                        <a:ea typeface="Cambria Math" panose="02040503050406030204" pitchFamily="18" charset="0"/>
                      </a:rPr>
                      <m:t>ℚ</m:t>
                    </m:r>
                  </m:oMath>
                </a14:m>
                <a:r>
                  <a:rPr lang="en-GB" sz="2400" dirty="0">
                    <a:latin typeface="+mj-lt"/>
                  </a:rPr>
                  <a:t>?</a:t>
                </a:r>
              </a:p>
              <a:p>
                <a:pPr>
                  <a:tabLst>
                    <a:tab pos="265113" algn="l"/>
                  </a:tabLst>
                </a:pPr>
                <a:endParaRPr lang="en-GB" sz="2400" dirty="0">
                  <a:latin typeface="+mj-lt"/>
                </a:endParaRPr>
              </a:p>
              <a:p>
                <a:pPr>
                  <a:tabLst>
                    <a:tab pos="265113" algn="l"/>
                  </a:tabLst>
                </a:pPr>
                <a:r>
                  <a:rPr lang="en-GB" sz="2400" dirty="0">
                    <a:latin typeface="+mj-lt"/>
                  </a:rPr>
                  <a:t>	a. </a:t>
                </a:r>
                <a14:m>
                  <m:oMath xmlns:m="http://schemas.openxmlformats.org/officeDocument/2006/math">
                    <m:d>
                      <m:dPr>
                        <m:begChr m:val="{"/>
                        <m:endChr m:val="}"/>
                        <m:ctrlPr>
                          <a:rPr lang="en-GB" sz="2400" i="1" smtClean="0">
                            <a:latin typeface="Cambria Math" panose="02040503050406030204" pitchFamily="18" charset="0"/>
                          </a:rPr>
                        </m:ctrlPr>
                      </m:dPr>
                      <m:e>
                        <m:f>
                          <m:fPr>
                            <m:ctrlPr>
                              <a:rPr lang="en-GB" sz="2400" i="1">
                                <a:latin typeface="Cambria Math" panose="02040503050406030204" pitchFamily="18" charset="0"/>
                              </a:rPr>
                            </m:ctrlPr>
                          </m:fPr>
                          <m:num>
                            <m:r>
                              <a:rPr lang="en-AU" sz="2400" i="1">
                                <a:latin typeface="Cambria Math" panose="02040503050406030204" pitchFamily="18" charset="0"/>
                              </a:rPr>
                              <m:t>1</m:t>
                            </m:r>
                          </m:num>
                          <m:den>
                            <m:r>
                              <a:rPr lang="en-AU" sz="2400" i="1">
                                <a:latin typeface="Cambria Math" panose="02040503050406030204" pitchFamily="18" charset="0"/>
                              </a:rPr>
                              <m:t>𝑛</m:t>
                            </m:r>
                          </m:den>
                        </m:f>
                      </m:e>
                      <m:e>
                        <m:r>
                          <a:rPr lang="en-AU" sz="2400" i="1">
                            <a:latin typeface="Cambria Math" panose="02040503050406030204" pitchFamily="18" charset="0"/>
                          </a:rPr>
                          <m:t>𝑛</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ℕ</m:t>
                        </m:r>
                      </m:e>
                    </m:d>
                  </m:oMath>
                </a14:m>
                <a:r>
                  <a:rPr lang="en-GB" sz="2400" dirty="0">
                    <a:latin typeface="+mj-lt"/>
                  </a:rPr>
                  <a:t>		b. </a:t>
                </a:r>
                <a14:m>
                  <m:oMath xmlns:m="http://schemas.openxmlformats.org/officeDocument/2006/math">
                    <m:d>
                      <m:dPr>
                        <m:begChr m:val="{"/>
                        <m:endChr m:val="}"/>
                        <m:ctrlPr>
                          <a:rPr lang="en-GB" sz="2400" i="1">
                            <a:latin typeface="Cambria Math" panose="02040503050406030204" pitchFamily="18" charset="0"/>
                          </a:rPr>
                        </m:ctrlPr>
                      </m:dPr>
                      <m:e>
                        <m:f>
                          <m:fPr>
                            <m:ctrlPr>
                              <a:rPr lang="en-GB" sz="2400" i="1">
                                <a:latin typeface="Cambria Math" panose="02040503050406030204" pitchFamily="18" charset="0"/>
                              </a:rPr>
                            </m:ctrlPr>
                          </m:fPr>
                          <m:num>
                            <m:r>
                              <a:rPr lang="en-AU" sz="2400" i="1">
                                <a:latin typeface="Cambria Math" panose="02040503050406030204" pitchFamily="18" charset="0"/>
                              </a:rPr>
                              <m:t>1</m:t>
                            </m:r>
                          </m:num>
                          <m:den>
                            <m:rad>
                              <m:radPr>
                                <m:degHide m:val="on"/>
                                <m:ctrlPr>
                                  <a:rPr lang="en-AU" sz="2400" i="1" smtClean="0">
                                    <a:latin typeface="Cambria Math" panose="02040503050406030204" pitchFamily="18" charset="0"/>
                                  </a:rPr>
                                </m:ctrlPr>
                              </m:radPr>
                              <m:deg/>
                              <m:e>
                                <m:r>
                                  <a:rPr lang="en-AU" sz="2400" i="1">
                                    <a:latin typeface="Cambria Math" panose="02040503050406030204" pitchFamily="18" charset="0"/>
                                  </a:rPr>
                                  <m:t>𝑛</m:t>
                                </m:r>
                              </m:e>
                            </m:rad>
                          </m:den>
                        </m:f>
                      </m:e>
                      <m:e>
                        <m:r>
                          <a:rPr lang="en-AU" sz="2400" i="1">
                            <a:latin typeface="Cambria Math" panose="02040503050406030204" pitchFamily="18" charset="0"/>
                          </a:rPr>
                          <m:t>𝑛</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ℕ</m:t>
                        </m:r>
                      </m:e>
                    </m:d>
                  </m:oMath>
                </a14:m>
                <a:r>
                  <a:rPr lang="en-GB" sz="2400" dirty="0">
                    <a:latin typeface="+mj-lt"/>
                  </a:rPr>
                  <a:t>		c. </a:t>
                </a:r>
                <a14:m>
                  <m:oMath xmlns:m="http://schemas.openxmlformats.org/officeDocument/2006/math">
                    <m:r>
                      <a:rPr lang="en-GB" sz="2400" i="1" smtClean="0">
                        <a:latin typeface="Cambria Math" panose="02040503050406030204" pitchFamily="18" charset="0"/>
                        <a:ea typeface="Cambria Math" panose="02040503050406030204" pitchFamily="18" charset="0"/>
                      </a:rPr>
                      <m:t>ℕ</m:t>
                    </m:r>
                  </m:oMath>
                </a14:m>
                <a:r>
                  <a:rPr lang="en-GB" sz="2400" dirty="0">
                    <a:latin typeface="+mj-lt"/>
                  </a:rPr>
                  <a:t>		d. </a:t>
                </a:r>
                <a14:m>
                  <m:oMath xmlns:m="http://schemas.openxmlformats.org/officeDocument/2006/math">
                    <m:d>
                      <m:dPr>
                        <m:begChr m:val="{"/>
                        <m:endChr m:val="}"/>
                        <m:ctrlPr>
                          <a:rPr lang="en-GB" sz="2400" i="1" smtClean="0">
                            <a:latin typeface="Cambria Math" panose="02040503050406030204" pitchFamily="18" charset="0"/>
                          </a:rPr>
                        </m:ctrlPr>
                      </m:dPr>
                      <m:e>
                        <m:sSup>
                          <m:sSupPr>
                            <m:ctrlPr>
                              <a:rPr lang="pt-BR" sz="2400" i="1">
                                <a:latin typeface="Cambria Math" panose="02040503050406030204" pitchFamily="18" charset="0"/>
                              </a:rPr>
                            </m:ctrlPr>
                          </m:sSupPr>
                          <m:e>
                            <m:d>
                              <m:dPr>
                                <m:ctrlPr>
                                  <a:rPr lang="pt-BR" sz="2400" i="1">
                                    <a:latin typeface="Cambria Math" panose="02040503050406030204" pitchFamily="18" charset="0"/>
                                  </a:rPr>
                                </m:ctrlPr>
                              </m:dPr>
                              <m:e>
                                <m:r>
                                  <a:rPr lang="pt-BR" sz="2400" i="1">
                                    <a:latin typeface="Cambria Math" panose="02040503050406030204" pitchFamily="18" charset="0"/>
                                  </a:rPr>
                                  <m:t>1+</m:t>
                                </m:r>
                                <m:f>
                                  <m:fPr>
                                    <m:ctrlPr>
                                      <a:rPr lang="pt-BR" sz="2400" i="1">
                                        <a:latin typeface="Cambria Math" panose="02040503050406030204" pitchFamily="18" charset="0"/>
                                      </a:rPr>
                                    </m:ctrlPr>
                                  </m:fPr>
                                  <m:num>
                                    <m:r>
                                      <a:rPr lang="pt-BR" sz="2400" i="1">
                                        <a:latin typeface="Cambria Math" panose="02040503050406030204" pitchFamily="18" charset="0"/>
                                      </a:rPr>
                                      <m:t>1</m:t>
                                    </m:r>
                                  </m:num>
                                  <m:den>
                                    <m:r>
                                      <a:rPr lang="pt-BR" sz="2400" i="1">
                                        <a:latin typeface="Cambria Math" panose="02040503050406030204" pitchFamily="18" charset="0"/>
                                      </a:rPr>
                                      <m:t>𝑛</m:t>
                                    </m:r>
                                  </m:den>
                                </m:f>
                              </m:e>
                            </m:d>
                          </m:e>
                          <m:sup>
                            <m:r>
                              <a:rPr lang="pt-BR" sz="2400" i="1">
                                <a:latin typeface="Cambria Math" panose="02040503050406030204" pitchFamily="18" charset="0"/>
                              </a:rPr>
                              <m:t>𝑛</m:t>
                            </m:r>
                          </m:sup>
                        </m:sSup>
                      </m:e>
                      <m:e>
                        <m:r>
                          <a:rPr lang="en-AU" sz="2400" i="1">
                            <a:latin typeface="Cambria Math" panose="02040503050406030204" pitchFamily="18" charset="0"/>
                          </a:rPr>
                          <m:t>𝑛</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ℕ</m:t>
                        </m:r>
                      </m:e>
                    </m:d>
                  </m:oMath>
                </a14:m>
                <a:endParaRPr lang="en-GB" sz="2400" dirty="0">
                  <a:latin typeface="+mj-lt"/>
                </a:endParaRPr>
              </a:p>
            </p:txBody>
          </p:sp>
        </mc:Choice>
        <mc:Fallback xmlns="">
          <p:sp>
            <p:nvSpPr>
              <p:cNvPr id="7" name="TextBox 6">
                <a:extLst>
                  <a:ext uri="{FF2B5EF4-FFF2-40B4-BE49-F238E27FC236}">
                    <a16:creationId xmlns:a16="http://schemas.microsoft.com/office/drawing/2014/main" id="{F483862A-82EC-4C3A-B46D-E059FD090CD2}"/>
                  </a:ext>
                </a:extLst>
              </p:cNvPr>
              <p:cNvSpPr txBox="1">
                <a:spLocks noRot="1" noChangeAspect="1" noMove="1" noResize="1" noEditPoints="1" noAdjustHandles="1" noChangeArrowheads="1" noChangeShapeType="1" noTextEdit="1"/>
              </p:cNvSpPr>
              <p:nvPr/>
            </p:nvSpPr>
            <p:spPr>
              <a:xfrm>
                <a:off x="240535" y="1013099"/>
                <a:ext cx="11710929" cy="4813497"/>
              </a:xfrm>
              <a:prstGeom prst="rect">
                <a:avLst/>
              </a:prstGeom>
              <a:blipFill>
                <a:blip r:embed="rId2"/>
                <a:stretch>
                  <a:fillRect l="-780" t="-1013"/>
                </a:stretch>
              </a:blipFill>
            </p:spPr>
            <p:txBody>
              <a:bodyPr/>
              <a:lstStyle/>
              <a:p>
                <a:r>
                  <a:rPr lang="en-GB">
                    <a:noFill/>
                  </a:rPr>
                  <a:t> </a:t>
                </a:r>
              </a:p>
            </p:txBody>
          </p:sp>
        </mc:Fallback>
      </mc:AlternateContent>
      <p:sp>
        <p:nvSpPr>
          <p:cNvPr id="8" name="Rectangle 7">
            <a:extLst>
              <a:ext uri="{FF2B5EF4-FFF2-40B4-BE49-F238E27FC236}">
                <a16:creationId xmlns:a16="http://schemas.microsoft.com/office/drawing/2014/main" id="{47E8B328-FE4C-4D9D-934E-369D9C48C6D1}"/>
              </a:ext>
            </a:extLst>
          </p:cNvPr>
          <p:cNvSpPr/>
          <p:nvPr/>
        </p:nvSpPr>
        <p:spPr>
          <a:xfrm>
            <a:off x="2038120" y="1597446"/>
            <a:ext cx="1983037" cy="694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8CDC441-21E4-47BE-BB41-D724491B053E}"/>
              </a:ext>
            </a:extLst>
          </p:cNvPr>
          <p:cNvSpPr/>
          <p:nvPr/>
        </p:nvSpPr>
        <p:spPr>
          <a:xfrm>
            <a:off x="4827223" y="1597446"/>
            <a:ext cx="1983037" cy="694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8E7AF0C-6459-4213-872C-3D87789491CD}"/>
                  </a:ext>
                </a:extLst>
              </p:cNvPr>
              <p:cNvSpPr txBox="1"/>
              <p:nvPr/>
            </p:nvSpPr>
            <p:spPr>
              <a:xfrm>
                <a:off x="4949336" y="3789518"/>
                <a:ext cx="1738809" cy="461665"/>
              </a:xfrm>
              <a:prstGeom prst="rect">
                <a:avLst/>
              </a:prstGeom>
              <a:noFill/>
            </p:spPr>
            <p:txBody>
              <a:bodyPr wrap="none" rtlCol="0">
                <a:spAutoFit/>
              </a:bodyPr>
              <a:lstStyle/>
              <a:p>
                <a14:m>
                  <m:oMath xmlns:m="http://schemas.openxmlformats.org/officeDocument/2006/math">
                    <m:r>
                      <a:rPr lang="en-AU" sz="2400" b="0" i="1" smtClean="0">
                        <a:solidFill>
                          <a:srgbClr val="FF0000"/>
                        </a:solidFill>
                        <a:latin typeface="Cambria Math" panose="02040503050406030204" pitchFamily="18" charset="0"/>
                      </a:rPr>
                      <m:t>𝐴</m:t>
                    </m:r>
                    <m:r>
                      <a:rPr lang="en-AU" sz="2400" b="0" i="1" smtClean="0">
                        <a:solidFill>
                          <a:srgbClr val="FF0000"/>
                        </a:solidFill>
                        <a:latin typeface="Cambria Math" panose="02040503050406030204" pitchFamily="18" charset="0"/>
                      </a:rPr>
                      <m:t>=</m:t>
                    </m:r>
                    <m:r>
                      <a:rPr lang="en-AU" sz="2400" b="0" i="1" smtClean="0">
                        <a:solidFill>
                          <a:srgbClr val="FF0000"/>
                        </a:solidFill>
                        <a:latin typeface="Cambria Math" panose="02040503050406030204" pitchFamily="18" charset="0"/>
                        <a:ea typeface="Cambria Math" panose="02040503050406030204" pitchFamily="18" charset="0"/>
                      </a:rPr>
                      <m:t>ℝ</m:t>
                    </m:r>
                    <m:r>
                      <a:rPr lang="en-AU" sz="2400" b="0" i="1" smtClean="0">
                        <a:solidFill>
                          <a:srgbClr val="FF0000"/>
                        </a:solidFill>
                        <a:latin typeface="Cambria Math" panose="02040503050406030204" pitchFamily="18" charset="0"/>
                        <a:ea typeface="Cambria Math" panose="02040503050406030204" pitchFamily="18" charset="0"/>
                      </a:rPr>
                      <m:t>\</m:t>
                    </m:r>
                  </m:oMath>
                </a14:m>
                <a:r>
                  <a:rPr lang="en-GB" sz="2400" dirty="0">
                    <a:solidFill>
                      <a:srgbClr val="FF0000"/>
                    </a:solidFill>
                  </a:rPr>
                  <a:t>[4,5)</a:t>
                </a:r>
              </a:p>
            </p:txBody>
          </p:sp>
        </mc:Choice>
        <mc:Fallback xmlns="">
          <p:sp>
            <p:nvSpPr>
              <p:cNvPr id="10" name="TextBox 9">
                <a:extLst>
                  <a:ext uri="{FF2B5EF4-FFF2-40B4-BE49-F238E27FC236}">
                    <a16:creationId xmlns:a16="http://schemas.microsoft.com/office/drawing/2014/main" id="{18E7AF0C-6459-4213-872C-3D87789491CD}"/>
                  </a:ext>
                </a:extLst>
              </p:cNvPr>
              <p:cNvSpPr txBox="1">
                <a:spLocks noRot="1" noChangeAspect="1" noMove="1" noResize="1" noEditPoints="1" noAdjustHandles="1" noChangeArrowheads="1" noChangeShapeType="1" noTextEdit="1"/>
              </p:cNvSpPr>
              <p:nvPr/>
            </p:nvSpPr>
            <p:spPr>
              <a:xfrm>
                <a:off x="4949336" y="3789518"/>
                <a:ext cx="1738809" cy="461665"/>
              </a:xfrm>
              <a:prstGeom prst="rect">
                <a:avLst/>
              </a:prstGeom>
              <a:blipFill>
                <a:blip r:embed="rId3"/>
                <a:stretch>
                  <a:fillRect l="-1053" t="-10667" r="-3860" b="-30667"/>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0F7B49F8-B6F5-44A5-83ED-D56EFA2217C7}"/>
              </a:ext>
            </a:extLst>
          </p:cNvPr>
          <p:cNvSpPr/>
          <p:nvPr/>
        </p:nvSpPr>
        <p:spPr>
          <a:xfrm>
            <a:off x="453527" y="5083430"/>
            <a:ext cx="1983037" cy="694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C03E9619-D9A6-48E7-963D-1CBF29C145ED}"/>
              </a:ext>
            </a:extLst>
          </p:cNvPr>
          <p:cNvSpPr/>
          <p:nvPr/>
        </p:nvSpPr>
        <p:spPr>
          <a:xfrm>
            <a:off x="6325518" y="5050380"/>
            <a:ext cx="1342222" cy="6940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4B97906C-B4FC-40EA-BD3C-AC3CC252C5A4}"/>
              </a:ext>
            </a:extLst>
          </p:cNvPr>
          <p:cNvSpPr/>
          <p:nvPr/>
        </p:nvSpPr>
        <p:spPr>
          <a:xfrm>
            <a:off x="8467380" y="5050380"/>
            <a:ext cx="2743200" cy="7762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8673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57BEF9-CAA0-48D8-8D37-3027AF2B6D15}"/>
              </a:ext>
            </a:extLst>
          </p:cNvPr>
          <p:cNvSpPr>
            <a:spLocks noGrp="1"/>
          </p:cNvSpPr>
          <p:nvPr>
            <p:ph type="sldNum" sz="quarter" idx="12"/>
          </p:nvPr>
        </p:nvSpPr>
        <p:spPr>
          <a:xfrm>
            <a:off x="9094694" y="6347385"/>
            <a:ext cx="2743200" cy="365125"/>
          </a:xfrm>
        </p:spPr>
        <p:txBody>
          <a:bodyPr/>
          <a:lstStyle/>
          <a:p>
            <a:fld id="{529F08E9-1735-422C-B5C5-130668B15985}" type="slidenum">
              <a:rPr lang="en-AU" sz="1600" b="1" smtClean="0">
                <a:solidFill>
                  <a:schemeClr val="tx1"/>
                </a:solidFill>
              </a:rPr>
              <a:t>13</a:t>
            </a:fld>
            <a:endParaRPr lang="en-AU" sz="1600" b="1" dirty="0">
              <a:solidFill>
                <a:schemeClr val="tx1"/>
              </a:solidFill>
            </a:endParaRPr>
          </a:p>
        </p:txBody>
      </p:sp>
      <p:grpSp>
        <p:nvGrpSpPr>
          <p:cNvPr id="5" name="Group 4">
            <a:extLst>
              <a:ext uri="{FF2B5EF4-FFF2-40B4-BE49-F238E27FC236}">
                <a16:creationId xmlns:a16="http://schemas.microsoft.com/office/drawing/2014/main" id="{F98D0EC2-AF5A-45CC-B50E-7E7634126BFC}"/>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C2B7C094-BB71-4B68-AF57-29F658829507}"/>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0EF7F31-A434-4727-BA43-58FBD9CE539F}"/>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9395CB20-8B86-4E50-BBB7-6B31B3168C0F}"/>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416405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831305" cy="523220"/>
          </a:xfrm>
          <a:prstGeom prst="rect">
            <a:avLst/>
          </a:prstGeom>
          <a:noFill/>
        </p:spPr>
        <p:txBody>
          <a:bodyPr wrap="none" rtlCol="0">
            <a:spAutoFit/>
          </a:bodyPr>
          <a:lstStyle/>
          <a:p>
            <a:r>
              <a:rPr lang="en-AU" sz="2800" b="1" cap="small" dirty="0">
                <a:solidFill>
                  <a:schemeClr val="bg1"/>
                </a:solidFill>
                <a:latin typeface="+mj-lt"/>
              </a:rPr>
              <a:t>1.3 The induction principle</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2502608" cy="461665"/>
          </a:xfrm>
          <a:prstGeom prst="rect">
            <a:avLst/>
          </a:prstGeom>
          <a:noFill/>
          <a:ln>
            <a:solidFill>
              <a:schemeClr val="accent2">
                <a:lumMod val="50000"/>
              </a:schemeClr>
            </a:solidFill>
          </a:ln>
        </p:spPr>
        <p:txBody>
          <a:bodyPr wrap="none" rtlCol="0">
            <a:spAutoFit/>
          </a:bodyPr>
          <a:lstStyle/>
          <a:p>
            <a:r>
              <a:rPr lang="en-AU" sz="2400" dirty="0">
                <a:latin typeface="+mj-lt"/>
              </a:rPr>
              <a:t>Induction principle</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2687664"/>
                <a:ext cx="11710929" cy="2308324"/>
              </a:xfrm>
              <a:prstGeom prst="rect">
                <a:avLst/>
              </a:prstGeom>
              <a:noFill/>
            </p:spPr>
            <p:txBody>
              <a:bodyPr wrap="square" rtlCol="0">
                <a:spAutoFit/>
              </a:bodyPr>
              <a:lstStyle/>
              <a:p>
                <a:r>
                  <a:rPr lang="en-AU" sz="2400" i="1" dirty="0">
                    <a:latin typeface="+mj-lt"/>
                  </a:rPr>
                  <a:t>Definition</a:t>
                </a:r>
                <a:r>
                  <a:rPr lang="en-AU" sz="2400" dirty="0">
                    <a:latin typeface="+mj-lt"/>
                  </a:rPr>
                  <a:t>. A property </a:t>
                </a:r>
                <a14:m>
                  <m:oMath xmlns:m="http://schemas.openxmlformats.org/officeDocument/2006/math">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is a statement involving elements </a:t>
                </a:r>
                <a14:m>
                  <m:oMath xmlns:m="http://schemas.openxmlformats.org/officeDocument/2006/math">
                    <m:r>
                      <a:rPr lang="en-AU" sz="2400" i="1">
                        <a:latin typeface="Cambria Math" panose="02040503050406030204" pitchFamily="18" charset="0"/>
                        <a:ea typeface="Cambria Math" panose="02040503050406030204" pitchFamily="18" charset="0"/>
                      </a:rPr>
                      <m:t>𝑛</m:t>
                    </m:r>
                  </m:oMath>
                </a14:m>
                <a:r>
                  <a:rPr lang="en-GB" sz="2400" dirty="0">
                    <a:latin typeface="+mj-lt"/>
                  </a:rPr>
                  <a:t> either belonging to </a:t>
                </a:r>
                <a14:m>
                  <m:oMath xmlns:m="http://schemas.openxmlformats.org/officeDocument/2006/math">
                    <m:r>
                      <a:rPr lang="en-GB" sz="2400" i="1" smtClean="0">
                        <a:latin typeface="Cambria Math" panose="02040503050406030204" pitchFamily="18" charset="0"/>
                        <a:ea typeface="Cambria Math" panose="02040503050406030204" pitchFamily="18" charset="0"/>
                      </a:rPr>
                      <m:t>ℕ</m:t>
                    </m:r>
                  </m:oMath>
                </a14:m>
                <a:r>
                  <a:rPr lang="en-GB" sz="2400" dirty="0">
                    <a:latin typeface="+mj-lt"/>
                  </a:rPr>
                  <a:t> or one of its subsets. </a:t>
                </a:r>
                <a14:m>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𝑛</m:t>
                    </m:r>
                    <m:r>
                      <a:rPr lang="en-AU" sz="2400" i="1">
                        <a:latin typeface="Cambria Math" panose="02040503050406030204" pitchFamily="18" charset="0"/>
                        <a:ea typeface="Cambria Math" panose="02040503050406030204" pitchFamily="18" charset="0"/>
                      </a:rPr>
                      <m:t>)</m:t>
                    </m:r>
                  </m:oMath>
                </a14:m>
                <a:r>
                  <a:rPr lang="en-GB" sz="2400" dirty="0">
                    <a:latin typeface="+mj-lt"/>
                  </a:rPr>
                  <a:t> is said to be true if it is valid for every value of </a:t>
                </a:r>
                <a14:m>
                  <m:oMath xmlns:m="http://schemas.openxmlformats.org/officeDocument/2006/math">
                    <m:r>
                      <a:rPr lang="en-AU" sz="2400" i="1">
                        <a:latin typeface="Cambria Math" panose="02040503050406030204" pitchFamily="18" charset="0"/>
                        <a:ea typeface="Cambria Math" panose="02040503050406030204" pitchFamily="18" charset="0"/>
                      </a:rPr>
                      <m:t>𝑛</m:t>
                    </m:r>
                  </m:oMath>
                </a14:m>
                <a:r>
                  <a:rPr lang="en-GB" sz="2400" dirty="0">
                    <a:latin typeface="+mj-lt"/>
                  </a:rPr>
                  <a:t>, otherwise it is false.</a:t>
                </a:r>
              </a:p>
              <a:p>
                <a:endParaRPr lang="en-GB" sz="2400" dirty="0">
                  <a:latin typeface="+mj-lt"/>
                </a:endParaRPr>
              </a:p>
              <a:p>
                <a:r>
                  <a:rPr lang="en-GB" sz="2400" i="1" dirty="0">
                    <a:latin typeface="+mj-lt"/>
                  </a:rPr>
                  <a:t>Theorem</a:t>
                </a:r>
                <a:r>
                  <a:rPr lang="en-GB" sz="2400" dirty="0">
                    <a:latin typeface="+mj-lt"/>
                  </a:rPr>
                  <a:t> (</a:t>
                </a:r>
                <a:r>
                  <a:rPr lang="en-GB" sz="2400" i="1" u="sng" dirty="0">
                    <a:latin typeface="+mj-lt"/>
                  </a:rPr>
                  <a:t>Induction</a:t>
                </a:r>
                <a:r>
                  <a:rPr lang="en-GB" sz="2400" dirty="0">
                    <a:latin typeface="+mj-lt"/>
                  </a:rPr>
                  <a:t>). Suppose that a property </a:t>
                </a:r>
                <a14:m>
                  <m:oMath xmlns:m="http://schemas.openxmlformats.org/officeDocument/2006/math">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is true for </a:t>
                </a:r>
                <a14:m>
                  <m:oMath xmlns:m="http://schemas.openxmlformats.org/officeDocument/2006/math">
                    <m:r>
                      <a:rPr lang="en-AU" sz="2400" i="1">
                        <a:latin typeface="Cambria Math" panose="02040503050406030204" pitchFamily="18" charset="0"/>
                        <a:ea typeface="Cambria Math" panose="02040503050406030204" pitchFamily="18" charset="0"/>
                      </a:rPr>
                      <m:t>𝑛</m:t>
                    </m:r>
                    <m:r>
                      <a:rPr lang="en-AU" sz="2400" b="0" i="0" smtClean="0">
                        <a:latin typeface="Cambria Math" panose="02040503050406030204" pitchFamily="18" charset="0"/>
                        <a:ea typeface="Cambria Math" panose="02040503050406030204" pitchFamily="18" charset="0"/>
                      </a:rPr>
                      <m:t>=1</m:t>
                    </m:r>
                  </m:oMath>
                </a14:m>
                <a:r>
                  <a:rPr lang="en-GB" sz="2400" dirty="0">
                    <a:latin typeface="+mj-lt"/>
                  </a:rPr>
                  <a:t>. Now suppose also that if the property is assumed to be valid for a generic </a:t>
                </a:r>
                <a14:m>
                  <m:oMath xmlns:m="http://schemas.openxmlformats.org/officeDocument/2006/math">
                    <m:r>
                      <a:rPr lang="en-AU" sz="2400" i="1">
                        <a:latin typeface="Cambria Math" panose="02040503050406030204" pitchFamily="18" charset="0"/>
                        <a:ea typeface="Cambria Math" panose="02040503050406030204" pitchFamily="18" charset="0"/>
                      </a:rPr>
                      <m:t>𝑛</m:t>
                    </m:r>
                  </m:oMath>
                </a14:m>
                <a:r>
                  <a:rPr lang="en-GB" sz="2400" dirty="0">
                    <a:latin typeface="+mj-lt"/>
                  </a:rPr>
                  <a:t>, then this results in it also being valid for </a:t>
                </a:r>
                <a14:m>
                  <m:oMath xmlns:m="http://schemas.openxmlformats.org/officeDocument/2006/math">
                    <m:r>
                      <a:rPr lang="en-AU" sz="2400" i="1">
                        <a:latin typeface="Cambria Math" panose="02040503050406030204" pitchFamily="18" charset="0"/>
                        <a:ea typeface="Cambria Math" panose="02040503050406030204" pitchFamily="18" charset="0"/>
                      </a:rPr>
                      <m:t>𝑛</m:t>
                    </m:r>
                  </m:oMath>
                </a14:m>
                <a:r>
                  <a:rPr lang="en-GB" sz="2400" dirty="0">
                    <a:latin typeface="+mj-lt"/>
                  </a:rPr>
                  <a:t>+1. Then </a:t>
                </a:r>
                <a14:m>
                  <m:oMath xmlns:m="http://schemas.openxmlformats.org/officeDocument/2006/math">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oMath>
                </a14:m>
                <a:r>
                  <a:rPr lang="en-GB" sz="2400" dirty="0"/>
                  <a:t> </a:t>
                </a:r>
                <a:r>
                  <a:rPr lang="en-GB" sz="2400" dirty="0">
                    <a:latin typeface="+mj-lt"/>
                  </a:rPr>
                  <a:t>is valid for all numbers </a:t>
                </a:r>
                <a14:m>
                  <m:oMath xmlns:m="http://schemas.openxmlformats.org/officeDocument/2006/math">
                    <m:r>
                      <a:rPr lang="en-AU" sz="2400" i="1">
                        <a:latin typeface="Cambria Math" panose="02040503050406030204" pitchFamily="18" charset="0"/>
                        <a:ea typeface="Cambria Math" panose="02040503050406030204" pitchFamily="18" charset="0"/>
                      </a:rPr>
                      <m:t>𝑛</m:t>
                    </m:r>
                    <m:r>
                      <a:rPr lang="en-AU" sz="2400" i="1" smtClean="0">
                        <a:latin typeface="Cambria Math" panose="02040503050406030204" pitchFamily="18" charset="0"/>
                        <a:ea typeface="Cambria Math" panose="02040503050406030204" pitchFamily="18" charset="0"/>
                      </a:rPr>
                      <m:t>𝜖</m:t>
                    </m:r>
                    <m:r>
                      <a:rPr lang="en-AU" sz="2400" i="1" smtClean="0">
                        <a:latin typeface="Cambria Math" panose="02040503050406030204" pitchFamily="18" charset="0"/>
                        <a:ea typeface="Cambria Math" panose="02040503050406030204" pitchFamily="18" charset="0"/>
                      </a:rPr>
                      <m:t>ℕ</m:t>
                    </m:r>
                  </m:oMath>
                </a14:m>
                <a:r>
                  <a:rPr lang="en-GB" sz="2400" dirty="0">
                    <a:latin typeface="+mj-lt"/>
                  </a:rPr>
                  <a:t>.</a:t>
                </a: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2687664"/>
                <a:ext cx="11710929" cy="2308324"/>
              </a:xfrm>
              <a:prstGeom prst="rect">
                <a:avLst/>
              </a:prstGeom>
              <a:blipFill>
                <a:blip r:embed="rId2"/>
                <a:stretch>
                  <a:fillRect l="-781" t="-2111" r="-1301" b="-5013"/>
                </a:stretch>
              </a:blipFill>
            </p:spPr>
            <p:txBody>
              <a:bodyPr/>
              <a:lstStyle/>
              <a:p>
                <a:r>
                  <a:rPr lang="en-GB">
                    <a:noFill/>
                  </a:rPr>
                  <a:t> </a:t>
                </a:r>
              </a:p>
            </p:txBody>
          </p:sp>
        </mc:Fallback>
      </mc:AlternateContent>
    </p:spTree>
    <p:extLst>
      <p:ext uri="{BB962C8B-B14F-4D97-AF65-F5344CB8AC3E}">
        <p14:creationId xmlns:p14="http://schemas.microsoft.com/office/powerpoint/2010/main" val="3068087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831305" cy="523220"/>
          </a:xfrm>
          <a:prstGeom prst="rect">
            <a:avLst/>
          </a:prstGeom>
          <a:noFill/>
        </p:spPr>
        <p:txBody>
          <a:bodyPr wrap="none" rtlCol="0">
            <a:spAutoFit/>
          </a:bodyPr>
          <a:lstStyle/>
          <a:p>
            <a:r>
              <a:rPr lang="en-AU" sz="2800" b="1" cap="small" dirty="0">
                <a:solidFill>
                  <a:schemeClr val="bg1"/>
                </a:solidFill>
                <a:latin typeface="+mj-lt"/>
              </a:rPr>
              <a:t>1.3 The induction principle</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2502608" cy="461665"/>
          </a:xfrm>
          <a:prstGeom prst="rect">
            <a:avLst/>
          </a:prstGeom>
          <a:noFill/>
          <a:ln>
            <a:solidFill>
              <a:schemeClr val="accent2">
                <a:lumMod val="50000"/>
              </a:schemeClr>
            </a:solidFill>
          </a:ln>
        </p:spPr>
        <p:txBody>
          <a:bodyPr wrap="none" rtlCol="0">
            <a:spAutoFit/>
          </a:bodyPr>
          <a:lstStyle/>
          <a:p>
            <a:r>
              <a:rPr lang="en-AU" sz="2400" dirty="0">
                <a:latin typeface="+mj-lt"/>
              </a:rPr>
              <a:t>Induction principle</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751230"/>
                <a:ext cx="11710929" cy="1369734"/>
              </a:xfrm>
              <a:prstGeom prst="rect">
                <a:avLst/>
              </a:prstGeom>
              <a:noFill/>
            </p:spPr>
            <p:txBody>
              <a:bodyPr wrap="square" rtlCol="0">
                <a:spAutoFit/>
              </a:bodyPr>
              <a:lstStyle/>
              <a:p>
                <a:r>
                  <a:rPr lang="en-AU" sz="2400" dirty="0">
                    <a:latin typeface="+mj-lt"/>
                  </a:rPr>
                  <a:t>Using induction, prove that the following statements are true for all natural numbers.</a:t>
                </a:r>
                <a:endParaRPr lang="en-GB" sz="2400" dirty="0">
                  <a:latin typeface="+mj-lt"/>
                </a:endParaRPr>
              </a:p>
              <a:p>
                <a:endParaRPr lang="en-GB" sz="2400" dirty="0">
                  <a:latin typeface="+mj-lt"/>
                </a:endParaRPr>
              </a:p>
              <a:p>
                <a:r>
                  <a:rPr lang="en-GB" sz="2400" dirty="0">
                    <a:latin typeface="+mj-lt"/>
                  </a:rPr>
                  <a:t>a. </a:t>
                </a:r>
                <a14:m>
                  <m:oMath xmlns:m="http://schemas.openxmlformats.org/officeDocument/2006/math">
                    <m:r>
                      <a:rPr lang="en-AU" sz="2400" b="0" i="1" smtClean="0">
                        <a:latin typeface="Cambria Math" panose="02040503050406030204" pitchFamily="18" charset="0"/>
                      </a:rPr>
                      <m:t>1+2+3+…+</m:t>
                    </m:r>
                    <m:r>
                      <a:rPr lang="en-AU" sz="2400" b="0" i="1" smtClean="0">
                        <a:latin typeface="Cambria Math" panose="02040503050406030204" pitchFamily="18" charset="0"/>
                      </a:rPr>
                      <m:t>𝑛</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𝑛</m:t>
                        </m:r>
                        <m:r>
                          <a:rPr lang="en-AU" sz="2400" b="0" i="1" smtClean="0">
                            <a:latin typeface="Cambria Math" panose="02040503050406030204" pitchFamily="18" charset="0"/>
                          </a:rPr>
                          <m:t>(</m:t>
                        </m:r>
                        <m:r>
                          <a:rPr lang="en-AU" sz="2400" b="0" i="1" smtClean="0">
                            <a:latin typeface="Cambria Math" panose="02040503050406030204" pitchFamily="18" charset="0"/>
                          </a:rPr>
                          <m:t>𝑛</m:t>
                        </m:r>
                        <m:r>
                          <a:rPr lang="en-AU" sz="2400" b="0" i="1" smtClean="0">
                            <a:latin typeface="Cambria Math" panose="02040503050406030204" pitchFamily="18" charset="0"/>
                          </a:rPr>
                          <m:t>+1)</m:t>
                        </m:r>
                      </m:num>
                      <m:den>
                        <m:r>
                          <a:rPr lang="en-AU" sz="2400" b="0" i="1" smtClean="0">
                            <a:latin typeface="Cambria Math" panose="02040503050406030204" pitchFamily="18" charset="0"/>
                          </a:rPr>
                          <m:t>2</m:t>
                        </m:r>
                      </m:den>
                    </m:f>
                  </m:oMath>
                </a14:m>
                <a:endParaRPr lang="en-GB" sz="2400" dirty="0">
                  <a:latin typeface="+mj-lt"/>
                </a:endParaRP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751230"/>
                <a:ext cx="11710929" cy="1369734"/>
              </a:xfrm>
              <a:prstGeom prst="rect">
                <a:avLst/>
              </a:prstGeom>
              <a:blipFill>
                <a:blip r:embed="rId2"/>
                <a:stretch>
                  <a:fillRect l="-781" t="-3556" b="-3556"/>
                </a:stretch>
              </a:blipFill>
            </p:spPr>
            <p:txBody>
              <a:bodyPr/>
              <a:lstStyle/>
              <a:p>
                <a:r>
                  <a:rPr lang="en-GB">
                    <a:noFill/>
                  </a:rPr>
                  <a:t> </a:t>
                </a:r>
              </a:p>
            </p:txBody>
          </p:sp>
        </mc:Fallback>
      </mc:AlternateContent>
    </p:spTree>
    <p:extLst>
      <p:ext uri="{BB962C8B-B14F-4D97-AF65-F5344CB8AC3E}">
        <p14:creationId xmlns:p14="http://schemas.microsoft.com/office/powerpoint/2010/main" val="4064552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831305" cy="523220"/>
          </a:xfrm>
          <a:prstGeom prst="rect">
            <a:avLst/>
          </a:prstGeom>
          <a:noFill/>
        </p:spPr>
        <p:txBody>
          <a:bodyPr wrap="none" rtlCol="0">
            <a:spAutoFit/>
          </a:bodyPr>
          <a:lstStyle/>
          <a:p>
            <a:r>
              <a:rPr lang="en-AU" sz="2800" b="1" cap="small" dirty="0">
                <a:solidFill>
                  <a:schemeClr val="bg1"/>
                </a:solidFill>
                <a:latin typeface="+mj-lt"/>
              </a:rPr>
              <a:t>1.3 The induction principle</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2502608" cy="461665"/>
          </a:xfrm>
          <a:prstGeom prst="rect">
            <a:avLst/>
          </a:prstGeom>
          <a:noFill/>
          <a:ln>
            <a:solidFill>
              <a:schemeClr val="accent2">
                <a:lumMod val="50000"/>
              </a:schemeClr>
            </a:solidFill>
          </a:ln>
        </p:spPr>
        <p:txBody>
          <a:bodyPr wrap="none" rtlCol="0">
            <a:spAutoFit/>
          </a:bodyPr>
          <a:lstStyle/>
          <a:p>
            <a:r>
              <a:rPr lang="en-AU" sz="2400" dirty="0">
                <a:latin typeface="+mj-lt"/>
              </a:rPr>
              <a:t>Induction principle</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751230"/>
                <a:ext cx="11710929" cy="1231940"/>
              </a:xfrm>
              <a:prstGeom prst="rect">
                <a:avLst/>
              </a:prstGeom>
              <a:noFill/>
            </p:spPr>
            <p:txBody>
              <a:bodyPr wrap="square" rtlCol="0">
                <a:spAutoFit/>
              </a:bodyPr>
              <a:lstStyle/>
              <a:p>
                <a:r>
                  <a:rPr lang="en-AU" sz="2400" dirty="0">
                    <a:latin typeface="+mj-lt"/>
                  </a:rPr>
                  <a:t>Using induction, prove that the following statements are true for all natural numbers.</a:t>
                </a:r>
                <a:endParaRPr lang="en-GB" sz="2400" dirty="0">
                  <a:latin typeface="+mj-lt"/>
                </a:endParaRPr>
              </a:p>
              <a:p>
                <a:endParaRPr lang="en-GB" sz="2400" dirty="0">
                  <a:latin typeface="+mj-lt"/>
                </a:endParaRPr>
              </a:p>
              <a:p>
                <a:r>
                  <a:rPr lang="en-GB" sz="2400" dirty="0">
                    <a:latin typeface="+mj-lt"/>
                  </a:rPr>
                  <a:t>b. </a:t>
                </a:r>
                <a14:m>
                  <m:oMath xmlns:m="http://schemas.openxmlformats.org/officeDocument/2006/math">
                    <m:r>
                      <a:rPr lang="en-AU" sz="2400" b="0" i="1" smtClean="0">
                        <a:latin typeface="Cambria Math" panose="02040503050406030204" pitchFamily="18" charset="0"/>
                      </a:rPr>
                      <m:t>1+3+5+…+(2</m:t>
                    </m:r>
                    <m:r>
                      <a:rPr lang="en-AU" sz="2400" b="0" i="1" smtClean="0">
                        <a:latin typeface="Cambria Math" panose="02040503050406030204" pitchFamily="18" charset="0"/>
                      </a:rPr>
                      <m:t>𝑛</m:t>
                    </m:r>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𝑛</m:t>
                        </m:r>
                      </m:e>
                      <m:sup>
                        <m:r>
                          <a:rPr lang="en-AU" sz="2400" b="0" i="1" smtClean="0">
                            <a:latin typeface="Cambria Math" panose="02040503050406030204" pitchFamily="18" charset="0"/>
                          </a:rPr>
                          <m:t>2</m:t>
                        </m:r>
                      </m:sup>
                    </m:sSup>
                  </m:oMath>
                </a14:m>
                <a:endParaRPr lang="en-GB" sz="2400" dirty="0">
                  <a:latin typeface="+mj-lt"/>
                </a:endParaRP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751230"/>
                <a:ext cx="11710929" cy="1231940"/>
              </a:xfrm>
              <a:prstGeom prst="rect">
                <a:avLst/>
              </a:prstGeom>
              <a:blipFill>
                <a:blip r:embed="rId2"/>
                <a:stretch>
                  <a:fillRect l="-781" t="-3960" b="-7921"/>
                </a:stretch>
              </a:blipFill>
            </p:spPr>
            <p:txBody>
              <a:bodyPr/>
              <a:lstStyle/>
              <a:p>
                <a:r>
                  <a:rPr lang="en-GB">
                    <a:noFill/>
                  </a:rPr>
                  <a:t> </a:t>
                </a:r>
              </a:p>
            </p:txBody>
          </p:sp>
        </mc:Fallback>
      </mc:AlternateContent>
    </p:spTree>
    <p:extLst>
      <p:ext uri="{BB962C8B-B14F-4D97-AF65-F5344CB8AC3E}">
        <p14:creationId xmlns:p14="http://schemas.microsoft.com/office/powerpoint/2010/main" val="3500776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3831305" cy="523220"/>
          </a:xfrm>
          <a:prstGeom prst="rect">
            <a:avLst/>
          </a:prstGeom>
          <a:noFill/>
        </p:spPr>
        <p:txBody>
          <a:bodyPr wrap="none" rtlCol="0">
            <a:spAutoFit/>
          </a:bodyPr>
          <a:lstStyle/>
          <a:p>
            <a:r>
              <a:rPr lang="en-AU" sz="2800" b="1" cap="small" dirty="0">
                <a:solidFill>
                  <a:schemeClr val="bg1"/>
                </a:solidFill>
                <a:latin typeface="+mj-lt"/>
              </a:rPr>
              <a:t>1.3 The induction principle</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2502608" cy="461665"/>
          </a:xfrm>
          <a:prstGeom prst="rect">
            <a:avLst/>
          </a:prstGeom>
          <a:noFill/>
          <a:ln>
            <a:solidFill>
              <a:schemeClr val="accent2">
                <a:lumMod val="50000"/>
              </a:schemeClr>
            </a:solidFill>
          </a:ln>
        </p:spPr>
        <p:txBody>
          <a:bodyPr wrap="none" rtlCol="0">
            <a:spAutoFit/>
          </a:bodyPr>
          <a:lstStyle/>
          <a:p>
            <a:r>
              <a:rPr lang="en-AU" sz="2400" dirty="0">
                <a:latin typeface="+mj-lt"/>
              </a:rPr>
              <a:t>Induction principle</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751230"/>
                <a:ext cx="11710929" cy="1435649"/>
              </a:xfrm>
              <a:prstGeom prst="rect">
                <a:avLst/>
              </a:prstGeom>
              <a:noFill/>
            </p:spPr>
            <p:txBody>
              <a:bodyPr wrap="square" rtlCol="0">
                <a:spAutoFit/>
              </a:bodyPr>
              <a:lstStyle/>
              <a:p>
                <a:r>
                  <a:rPr lang="en-AU" sz="2400" dirty="0">
                    <a:latin typeface="+mj-lt"/>
                  </a:rPr>
                  <a:t>Using induction, prove that the following statements are true for all natural numbers.</a:t>
                </a:r>
                <a:endParaRPr lang="en-GB" sz="2400" dirty="0">
                  <a:latin typeface="+mj-lt"/>
                </a:endParaRPr>
              </a:p>
              <a:p>
                <a:endParaRPr lang="en-GB" sz="2400" dirty="0">
                  <a:latin typeface="+mj-lt"/>
                </a:endParaRPr>
              </a:p>
              <a:p>
                <a:r>
                  <a:rPr lang="en-GB" sz="2400" dirty="0">
                    <a:latin typeface="+mj-lt"/>
                  </a:rPr>
                  <a:t>c. </a:t>
                </a:r>
                <a14:m>
                  <m:oMath xmlns:m="http://schemas.openxmlformats.org/officeDocument/2006/math">
                    <m:f>
                      <m:fPr>
                        <m:ctrlPr>
                          <a:rPr lang="en-GB" sz="240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1</m:t>
                        </m:r>
                        <m:r>
                          <a:rPr lang="en-AU" sz="2400" b="0" i="1" smtClean="0">
                            <a:latin typeface="Cambria Math" panose="02040503050406030204" pitchFamily="18" charset="0"/>
                            <a:ea typeface="Cambria Math" panose="02040503050406030204" pitchFamily="18" charset="0"/>
                          </a:rPr>
                          <m:t>×2</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×3</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×4</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𝑛</m:t>
                        </m:r>
                        <m:r>
                          <a:rPr lang="en-AU" sz="2400" b="0" i="1" smtClean="0">
                            <a:latin typeface="Cambria Math" panose="02040503050406030204" pitchFamily="18" charset="0"/>
                          </a:rPr>
                          <m:t>(</m:t>
                        </m:r>
                        <m:r>
                          <a:rPr lang="en-AU" sz="2400" b="0" i="1" smtClean="0">
                            <a:latin typeface="Cambria Math" panose="02040503050406030204" pitchFamily="18" charset="0"/>
                          </a:rPr>
                          <m:t>𝑛</m:t>
                        </m:r>
                        <m:r>
                          <a:rPr lang="en-AU" sz="2400" b="0" i="1" smtClean="0">
                            <a:latin typeface="Cambria Math" panose="02040503050406030204" pitchFamily="18" charset="0"/>
                          </a:rPr>
                          <m:t>+1)</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𝑛</m:t>
                        </m:r>
                      </m:num>
                      <m:den>
                        <m:r>
                          <a:rPr lang="en-AU" sz="2400" b="0" i="1" smtClean="0">
                            <a:latin typeface="Cambria Math" panose="02040503050406030204" pitchFamily="18" charset="0"/>
                          </a:rPr>
                          <m:t>𝑛</m:t>
                        </m:r>
                        <m:r>
                          <a:rPr lang="en-AU" sz="2400" b="0" i="1" smtClean="0">
                            <a:latin typeface="Cambria Math" panose="02040503050406030204" pitchFamily="18" charset="0"/>
                          </a:rPr>
                          <m:t>+1</m:t>
                        </m:r>
                      </m:den>
                    </m:f>
                  </m:oMath>
                </a14:m>
                <a:endParaRPr lang="en-GB" sz="2400" dirty="0">
                  <a:latin typeface="+mj-lt"/>
                </a:endParaRP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751230"/>
                <a:ext cx="11710929" cy="1435649"/>
              </a:xfrm>
              <a:prstGeom prst="rect">
                <a:avLst/>
              </a:prstGeom>
              <a:blipFill>
                <a:blip r:embed="rId2"/>
                <a:stretch>
                  <a:fillRect l="-781" t="-3390"/>
                </a:stretch>
              </a:blipFill>
            </p:spPr>
            <p:txBody>
              <a:bodyPr/>
              <a:lstStyle/>
              <a:p>
                <a:r>
                  <a:rPr lang="en-GB">
                    <a:noFill/>
                  </a:rPr>
                  <a:t> </a:t>
                </a:r>
              </a:p>
            </p:txBody>
          </p:sp>
        </mc:Fallback>
      </mc:AlternateContent>
    </p:spTree>
    <p:extLst>
      <p:ext uri="{BB962C8B-B14F-4D97-AF65-F5344CB8AC3E}">
        <p14:creationId xmlns:p14="http://schemas.microsoft.com/office/powerpoint/2010/main" val="3312072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183548-E6DD-495E-B039-714BF129C21C}"/>
              </a:ext>
            </a:extLst>
          </p:cNvPr>
          <p:cNvSpPr>
            <a:spLocks noGrp="1"/>
          </p:cNvSpPr>
          <p:nvPr>
            <p:ph type="sldNum" sz="quarter" idx="12"/>
          </p:nvPr>
        </p:nvSpPr>
        <p:spPr>
          <a:xfrm>
            <a:off x="9220200" y="6356350"/>
            <a:ext cx="2743200" cy="365125"/>
          </a:xfrm>
        </p:spPr>
        <p:txBody>
          <a:bodyPr/>
          <a:lstStyle/>
          <a:p>
            <a:fld id="{529F08E9-1735-422C-B5C5-130668B15985}" type="slidenum">
              <a:rPr lang="en-AU" sz="1600" b="1" smtClean="0">
                <a:solidFill>
                  <a:schemeClr val="tx1"/>
                </a:solidFill>
              </a:rPr>
              <a:t>18</a:t>
            </a:fld>
            <a:endParaRPr lang="en-AU" sz="1600" b="1" dirty="0">
              <a:solidFill>
                <a:schemeClr val="tx1"/>
              </a:solidFill>
            </a:endParaRPr>
          </a:p>
        </p:txBody>
      </p:sp>
      <p:grpSp>
        <p:nvGrpSpPr>
          <p:cNvPr id="5" name="Group 4">
            <a:extLst>
              <a:ext uri="{FF2B5EF4-FFF2-40B4-BE49-F238E27FC236}">
                <a16:creationId xmlns:a16="http://schemas.microsoft.com/office/drawing/2014/main" id="{9604A57A-8C10-4E21-9261-04ED14CDAFA0}"/>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1D21BB63-E27A-4A9E-9E77-7424565E85BE}"/>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0052546-E046-4CC8-92CA-5E34998E4FA9}"/>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46F677AE-379A-4F38-B476-3DB696E5100C}"/>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44495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6053580" cy="461665"/>
          </a:xfrm>
          <a:prstGeom prst="rect">
            <a:avLst/>
          </a:prstGeom>
          <a:noFill/>
          <a:ln>
            <a:solidFill>
              <a:schemeClr val="accent2">
                <a:lumMod val="50000"/>
              </a:schemeClr>
            </a:solidFill>
          </a:ln>
        </p:spPr>
        <p:txBody>
          <a:bodyPr wrap="none" rtlCol="0">
            <a:spAutoFit/>
          </a:bodyPr>
          <a:lstStyle/>
          <a:p>
            <a:r>
              <a:rPr lang="en-AU" sz="2400" dirty="0">
                <a:latin typeface="+mj-lt"/>
              </a:rPr>
              <a:t>Definition of function, domain, range and graph</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751230"/>
                <a:ext cx="11710929" cy="4154984"/>
              </a:xfrm>
              <a:prstGeom prst="rect">
                <a:avLst/>
              </a:prstGeom>
              <a:noFill/>
            </p:spPr>
            <p:txBody>
              <a:bodyPr wrap="square" rtlCol="0">
                <a:spAutoFit/>
              </a:bodyPr>
              <a:lstStyle/>
              <a:p>
                <a:r>
                  <a:rPr lang="en-AU" sz="2400" i="1" dirty="0">
                    <a:latin typeface="+mj-lt"/>
                  </a:rPr>
                  <a:t>Definition</a:t>
                </a:r>
                <a:r>
                  <a:rPr lang="en-AU" sz="2400" dirty="0">
                    <a:latin typeface="+mj-lt"/>
                  </a:rPr>
                  <a:t>. Let </a:t>
                </a:r>
                <a14:m>
                  <m:oMath xmlns:m="http://schemas.openxmlformats.org/officeDocument/2006/math">
                    <m:r>
                      <a:rPr lang="en-AU" sz="2400" i="1">
                        <a:latin typeface="Cambria Math" panose="02040503050406030204" pitchFamily="18" charset="0"/>
                      </a:rPr>
                      <m:t>𝑋</m:t>
                    </m:r>
                  </m:oMath>
                </a14:m>
                <a:r>
                  <a:rPr lang="en-AU" sz="2400" dirty="0">
                    <a:latin typeface="+mj-lt"/>
                  </a:rPr>
                  <a:t> and </a:t>
                </a:r>
                <a14:m>
                  <m:oMath xmlns:m="http://schemas.openxmlformats.org/officeDocument/2006/math">
                    <m:r>
                      <a:rPr lang="en-AU" sz="2400" i="1">
                        <a:latin typeface="Cambria Math" panose="02040503050406030204" pitchFamily="18" charset="0"/>
                        <a:ea typeface="Cambria Math" panose="02040503050406030204" pitchFamily="18" charset="0"/>
                      </a:rPr>
                      <m:t>𝑌</m:t>
                    </m:r>
                  </m:oMath>
                </a14:m>
                <a:r>
                  <a:rPr lang="en-AU" sz="2400" dirty="0">
                    <a:latin typeface="+mj-lt"/>
                  </a:rPr>
                  <a:t> be two subsets of the real line </a:t>
                </a:r>
                <a14:m>
                  <m:oMath xmlns:m="http://schemas.openxmlformats.org/officeDocument/2006/math">
                    <m:r>
                      <a:rPr lang="en-AU" sz="2400" i="1">
                        <a:latin typeface="Cambria Math" panose="02040503050406030204" pitchFamily="18" charset="0"/>
                        <a:ea typeface="Cambria Math" panose="02040503050406030204" pitchFamily="18" charset="0"/>
                      </a:rPr>
                      <m:t>ℝ</m:t>
                    </m:r>
                  </m:oMath>
                </a14:m>
                <a:r>
                  <a:rPr lang="en-AU" sz="2400" dirty="0">
                    <a:latin typeface="+mj-lt"/>
                  </a:rPr>
                  <a:t>, i.e. </a:t>
                </a:r>
                <a14:m>
                  <m:oMath xmlns:m="http://schemas.openxmlformats.org/officeDocument/2006/math">
                    <m:r>
                      <a:rPr lang="en-AU" sz="2400" b="0" i="1" smtClean="0">
                        <a:latin typeface="Cambria Math" panose="02040503050406030204" pitchFamily="18" charset="0"/>
                      </a:rPr>
                      <m:t>𝑋</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𝑌</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GB" sz="2400" dirty="0">
                    <a:latin typeface="+mj-lt"/>
                  </a:rPr>
                  <a:t>. A real-valued function </a:t>
                </a:r>
                <a14:m>
                  <m:oMath xmlns:m="http://schemas.openxmlformats.org/officeDocument/2006/math">
                    <m:r>
                      <a:rPr lang="en-AU" sz="2400" i="1">
                        <a:latin typeface="Cambria Math" panose="02040503050406030204" pitchFamily="18" charset="0"/>
                      </a:rPr>
                      <m:t>𝑓</m:t>
                    </m:r>
                  </m:oMath>
                </a14:m>
                <a:r>
                  <a:rPr lang="en-GB" sz="2400" dirty="0">
                    <a:latin typeface="+mj-lt"/>
                  </a:rPr>
                  <a:t> of a single real variable is a certain “relation” (a “law” or a “mapping”) between the sets of inputs </a:t>
                </a:r>
                <a14:m>
                  <m:oMath xmlns:m="http://schemas.openxmlformats.org/officeDocument/2006/math">
                    <m:r>
                      <a:rPr lang="en-AU" sz="2400" i="1">
                        <a:latin typeface="Cambria Math" panose="02040503050406030204" pitchFamily="18" charset="0"/>
                      </a:rPr>
                      <m:t>𝑋</m:t>
                    </m:r>
                  </m:oMath>
                </a14:m>
                <a:r>
                  <a:rPr lang="en-GB" sz="2400" dirty="0">
                    <a:latin typeface="+mj-lt"/>
                  </a:rPr>
                  <a:t> and the set of outputs </a:t>
                </a:r>
                <a14:m>
                  <m:oMath xmlns:m="http://schemas.openxmlformats.org/officeDocument/2006/math">
                    <m:r>
                      <a:rPr lang="en-AU" sz="2400" i="1">
                        <a:latin typeface="Cambria Math" panose="02040503050406030204" pitchFamily="18" charset="0"/>
                        <a:ea typeface="Cambria Math" panose="02040503050406030204" pitchFamily="18" charset="0"/>
                      </a:rPr>
                      <m:t>𝑌</m:t>
                    </m:r>
                  </m:oMath>
                </a14:m>
                <a:r>
                  <a:rPr lang="en-GB" sz="2400" dirty="0">
                    <a:latin typeface="+mj-lt"/>
                  </a:rPr>
                  <a:t>. This relation is such that to any element from the input set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𝑋</m:t>
                    </m:r>
                  </m:oMath>
                </a14:m>
                <a:r>
                  <a:rPr lang="en-GB" sz="2400" dirty="0">
                    <a:latin typeface="+mj-lt"/>
                  </a:rPr>
                  <a:t> there corresponds exactly one element from the output set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oMath>
                </a14:m>
                <a:r>
                  <a:rPr lang="en-GB" sz="2400" dirty="0">
                    <a:latin typeface="+mj-lt"/>
                  </a:rPr>
                  <a:t>. Formally, this mapping can be written as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endParaRPr lang="en-GB" sz="2400" dirty="0">
                  <a:latin typeface="+mj-lt"/>
                </a:endParaRPr>
              </a:p>
              <a:p>
                <a:endParaRPr lang="en-GB" sz="2400" dirty="0">
                  <a:latin typeface="+mj-lt"/>
                </a:endParaRPr>
              </a:p>
              <a:p>
                <a:r>
                  <a:rPr lang="en-GB" sz="2400" i="1" dirty="0">
                    <a:latin typeface="+mj-lt"/>
                  </a:rPr>
                  <a:t>Definition</a:t>
                </a:r>
                <a:r>
                  <a:rPr lang="en-GB" sz="2400" dirty="0">
                    <a:latin typeface="+mj-lt"/>
                  </a:rPr>
                  <a:t>.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the input set </a:t>
                </a:r>
                <a14:m>
                  <m:oMath xmlns:m="http://schemas.openxmlformats.org/officeDocument/2006/math">
                    <m:r>
                      <a:rPr lang="en-AU" sz="2400" i="1">
                        <a:latin typeface="Cambria Math" panose="02040503050406030204" pitchFamily="18" charset="0"/>
                      </a:rPr>
                      <m:t>𝑋</m:t>
                    </m:r>
                  </m:oMath>
                </a14:m>
                <a:r>
                  <a:rPr lang="en-GB" sz="2400" dirty="0">
                    <a:latin typeface="+mj-lt"/>
                  </a:rPr>
                  <a:t> is called the </a:t>
                </a:r>
                <a:r>
                  <a:rPr lang="en-GB" sz="2400" i="1" u="sng" dirty="0">
                    <a:latin typeface="+mj-lt"/>
                  </a:rPr>
                  <a:t>Domain</a:t>
                </a:r>
                <a:r>
                  <a:rPr lang="en-GB" sz="2400" dirty="0">
                    <a:latin typeface="+mj-lt"/>
                  </a:rPr>
                  <a:t> of the function and indicated as </a:t>
                </a:r>
                <a14:m>
                  <m:oMath xmlns:m="http://schemas.openxmlformats.org/officeDocument/2006/math">
                    <m:r>
                      <a:rPr lang="en-AU" sz="2400" i="1">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𝑑𝑜𝑚</m:t>
                    </m:r>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oMath>
                </a14:m>
                <a:endParaRPr lang="en-GB" sz="2400" dirty="0">
                  <a:latin typeface="+mj-lt"/>
                </a:endParaRPr>
              </a:p>
              <a:p>
                <a:endParaRPr lang="en-GB" sz="2400" dirty="0">
                  <a:latin typeface="+mj-lt"/>
                </a:endParaRPr>
              </a:p>
              <a:p>
                <a:r>
                  <a:rPr lang="en-GB" sz="2400" i="1" dirty="0">
                    <a:latin typeface="+mj-lt"/>
                  </a:rPr>
                  <a:t>Definition</a:t>
                </a:r>
                <a:r>
                  <a:rPr lang="en-GB" sz="2400" dirty="0">
                    <a:latin typeface="+mj-lt"/>
                  </a:rPr>
                  <a:t>.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the output set </a:t>
                </a:r>
                <a14:m>
                  <m:oMath xmlns:m="http://schemas.openxmlformats.org/officeDocument/2006/math">
                    <m:r>
                      <a:rPr lang="en-AU" sz="2400" b="0" i="1" smtClean="0">
                        <a:latin typeface="Cambria Math" panose="02040503050406030204" pitchFamily="18" charset="0"/>
                      </a:rPr>
                      <m:t>𝑌</m:t>
                    </m:r>
                  </m:oMath>
                </a14:m>
                <a:r>
                  <a:rPr lang="en-GB" sz="2400" dirty="0">
                    <a:latin typeface="+mj-lt"/>
                  </a:rPr>
                  <a:t> is called the </a:t>
                </a:r>
                <a:r>
                  <a:rPr lang="en-GB" sz="2400" i="1" u="sng" dirty="0">
                    <a:latin typeface="+mj-lt"/>
                  </a:rPr>
                  <a:t>Range</a:t>
                </a:r>
                <a:r>
                  <a:rPr lang="en-GB" sz="2400" dirty="0">
                    <a:latin typeface="+mj-lt"/>
                  </a:rPr>
                  <a:t> of the function and indicated as </a:t>
                </a:r>
                <a14:m>
                  <m:oMath xmlns:m="http://schemas.openxmlformats.org/officeDocument/2006/math">
                    <m:r>
                      <a:rPr lang="en-AU" sz="2400" b="0" i="1" smtClean="0">
                        <a:latin typeface="Cambria Math" panose="02040503050406030204" pitchFamily="18" charset="0"/>
                      </a:rPr>
                      <m:t>𝑌</m:t>
                    </m:r>
                    <m:r>
                      <a:rPr lang="en-AU" sz="2400" b="0" i="1" smtClean="0">
                        <a:latin typeface="Cambria Math" panose="02040503050406030204" pitchFamily="18" charset="0"/>
                      </a:rPr>
                      <m:t>=</m:t>
                    </m:r>
                    <m:r>
                      <a:rPr lang="en-AU" sz="2400" b="0" i="1" smtClean="0">
                        <a:latin typeface="Cambria Math" panose="02040503050406030204" pitchFamily="18" charset="0"/>
                      </a:rPr>
                      <m:t>𝑟𝑎𝑛</m:t>
                    </m:r>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oMath>
                </a14:m>
                <a:endParaRPr lang="en-GB" sz="2400" dirty="0">
                  <a:latin typeface="+mj-lt"/>
                </a:endParaRP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751230"/>
                <a:ext cx="11710929" cy="4154984"/>
              </a:xfrm>
              <a:prstGeom prst="rect">
                <a:avLst/>
              </a:prstGeom>
              <a:blipFill>
                <a:blip r:embed="rId2"/>
                <a:stretch>
                  <a:fillRect l="-781" t="-1173" r="-1301" b="-2346"/>
                </a:stretch>
              </a:blipFill>
            </p:spPr>
            <p:txBody>
              <a:bodyPr/>
              <a:lstStyle/>
              <a:p>
                <a:r>
                  <a:rPr lang="en-GB">
                    <a:noFill/>
                  </a:rPr>
                  <a:t> </a:t>
                </a:r>
              </a:p>
            </p:txBody>
          </p:sp>
        </mc:Fallback>
      </mc:AlternateContent>
    </p:spTree>
    <p:extLst>
      <p:ext uri="{BB962C8B-B14F-4D97-AF65-F5344CB8AC3E}">
        <p14:creationId xmlns:p14="http://schemas.microsoft.com/office/powerpoint/2010/main" val="3373112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p:sp>
        <p:nvSpPr>
          <p:cNvPr id="10" name="Oval 9">
            <a:extLst>
              <a:ext uri="{FF2B5EF4-FFF2-40B4-BE49-F238E27FC236}">
                <a16:creationId xmlns:a16="http://schemas.microsoft.com/office/drawing/2014/main" id="{481D42E9-FA8C-4184-9DC4-09CB21FD9414}"/>
              </a:ext>
            </a:extLst>
          </p:cNvPr>
          <p:cNvSpPr/>
          <p:nvPr/>
        </p:nvSpPr>
        <p:spPr>
          <a:xfrm>
            <a:off x="1366025" y="1667108"/>
            <a:ext cx="3211551" cy="417613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CD8F4C12-3CB4-47BC-BCDA-6164675B7D86}"/>
              </a:ext>
            </a:extLst>
          </p:cNvPr>
          <p:cNvSpPr/>
          <p:nvPr/>
        </p:nvSpPr>
        <p:spPr>
          <a:xfrm>
            <a:off x="6768791" y="1667108"/>
            <a:ext cx="3211551" cy="417613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Isosceles Triangle 11">
            <a:extLst>
              <a:ext uri="{FF2B5EF4-FFF2-40B4-BE49-F238E27FC236}">
                <a16:creationId xmlns:a16="http://schemas.microsoft.com/office/drawing/2014/main" id="{0420A27F-6DAE-4D81-AE88-4DB4A75834BF}"/>
              </a:ext>
            </a:extLst>
          </p:cNvPr>
          <p:cNvSpPr/>
          <p:nvPr/>
        </p:nvSpPr>
        <p:spPr>
          <a:xfrm>
            <a:off x="2632245" y="1984917"/>
            <a:ext cx="679109" cy="58543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A17AFD55-C34C-43B7-AD65-5465AEEB4628}"/>
              </a:ext>
            </a:extLst>
          </p:cNvPr>
          <p:cNvSpPr/>
          <p:nvPr/>
        </p:nvSpPr>
        <p:spPr>
          <a:xfrm>
            <a:off x="2692459" y="2865005"/>
            <a:ext cx="585439" cy="58543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ight Triangle 14">
            <a:extLst>
              <a:ext uri="{FF2B5EF4-FFF2-40B4-BE49-F238E27FC236}">
                <a16:creationId xmlns:a16="http://schemas.microsoft.com/office/drawing/2014/main" id="{FB748B57-9FD0-431A-B67C-DBD974264AE6}"/>
              </a:ext>
            </a:extLst>
          </p:cNvPr>
          <p:cNvSpPr/>
          <p:nvPr/>
        </p:nvSpPr>
        <p:spPr>
          <a:xfrm>
            <a:off x="2709744" y="3667035"/>
            <a:ext cx="680224" cy="680224"/>
          </a:xfrm>
          <a:prstGeom prst="r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ACFBAE6F-0AA9-4922-B3DD-878EEB31168C}"/>
              </a:ext>
            </a:extLst>
          </p:cNvPr>
          <p:cNvSpPr/>
          <p:nvPr/>
        </p:nvSpPr>
        <p:spPr>
          <a:xfrm>
            <a:off x="2709744" y="4718037"/>
            <a:ext cx="524108" cy="52410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4D113007-1283-4665-9FB8-20A936342017}"/>
              </a:ext>
            </a:extLst>
          </p:cNvPr>
          <p:cNvSpPr txBox="1"/>
          <p:nvPr/>
        </p:nvSpPr>
        <p:spPr>
          <a:xfrm>
            <a:off x="7775331" y="2047013"/>
            <a:ext cx="1198470" cy="3416320"/>
          </a:xfrm>
          <a:prstGeom prst="rect">
            <a:avLst/>
          </a:prstGeom>
          <a:noFill/>
        </p:spPr>
        <p:txBody>
          <a:bodyPr wrap="none" rtlCol="0">
            <a:spAutoFit/>
          </a:bodyPr>
          <a:lstStyle/>
          <a:p>
            <a:pPr algn="ctr"/>
            <a:r>
              <a:rPr lang="en-AU" sz="2400" dirty="0">
                <a:solidFill>
                  <a:srgbClr val="FF0000"/>
                </a:solidFill>
                <a:latin typeface="+mj-lt"/>
              </a:rPr>
              <a:t>RED</a:t>
            </a:r>
          </a:p>
          <a:p>
            <a:pPr algn="ctr"/>
            <a:endParaRPr lang="en-AU" sz="2400" dirty="0">
              <a:latin typeface="+mj-lt"/>
            </a:endParaRPr>
          </a:p>
          <a:p>
            <a:pPr algn="ctr"/>
            <a:r>
              <a:rPr lang="en-AU" sz="2400" dirty="0">
                <a:solidFill>
                  <a:schemeClr val="accent6"/>
                </a:solidFill>
                <a:latin typeface="+mj-lt"/>
              </a:rPr>
              <a:t>GREEN</a:t>
            </a:r>
          </a:p>
          <a:p>
            <a:pPr algn="ctr"/>
            <a:endParaRPr lang="en-AU" sz="2400" dirty="0">
              <a:latin typeface="+mj-lt"/>
            </a:endParaRPr>
          </a:p>
          <a:p>
            <a:pPr algn="ctr"/>
            <a:r>
              <a:rPr lang="en-AU" sz="2400" dirty="0">
                <a:solidFill>
                  <a:schemeClr val="accent5"/>
                </a:solidFill>
                <a:latin typeface="+mj-lt"/>
              </a:rPr>
              <a:t>BLUE</a:t>
            </a:r>
          </a:p>
          <a:p>
            <a:pPr algn="ctr"/>
            <a:endParaRPr lang="en-AU" sz="2400" dirty="0">
              <a:latin typeface="+mj-lt"/>
            </a:endParaRPr>
          </a:p>
          <a:p>
            <a:pPr algn="ctr"/>
            <a:r>
              <a:rPr lang="en-AU" sz="2400" dirty="0">
                <a:solidFill>
                  <a:schemeClr val="accent4"/>
                </a:solidFill>
                <a:latin typeface="+mj-lt"/>
              </a:rPr>
              <a:t>YELLOW</a:t>
            </a:r>
          </a:p>
          <a:p>
            <a:pPr algn="ctr"/>
            <a:endParaRPr lang="en-AU" sz="2400" dirty="0">
              <a:latin typeface="+mj-lt"/>
            </a:endParaRPr>
          </a:p>
          <a:p>
            <a:pPr algn="ctr"/>
            <a:r>
              <a:rPr lang="en-AU" sz="2400" dirty="0">
                <a:solidFill>
                  <a:srgbClr val="7030A0"/>
                </a:solidFill>
                <a:latin typeface="+mj-lt"/>
              </a:rPr>
              <a:t>PURPLE</a:t>
            </a:r>
          </a:p>
        </p:txBody>
      </p:sp>
      <p:cxnSp>
        <p:nvCxnSpPr>
          <p:cNvPr id="18" name="Straight Arrow Connector 17">
            <a:extLst>
              <a:ext uri="{FF2B5EF4-FFF2-40B4-BE49-F238E27FC236}">
                <a16:creationId xmlns:a16="http://schemas.microsoft.com/office/drawing/2014/main" id="{6ABCC066-F9FD-4190-B67C-F521D963568E}"/>
              </a:ext>
            </a:extLst>
          </p:cNvPr>
          <p:cNvCxnSpPr/>
          <p:nvPr/>
        </p:nvCxnSpPr>
        <p:spPr>
          <a:xfrm>
            <a:off x="3277898" y="2277636"/>
            <a:ext cx="478443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1A113D5-05F3-471C-89A5-EBF00BC5330A}"/>
              </a:ext>
            </a:extLst>
          </p:cNvPr>
          <p:cNvCxnSpPr/>
          <p:nvPr/>
        </p:nvCxnSpPr>
        <p:spPr>
          <a:xfrm flipV="1">
            <a:off x="3422864" y="2999678"/>
            <a:ext cx="4422019" cy="1385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5EC0960-2B88-43ED-B187-158FE08B1B1F}"/>
              </a:ext>
            </a:extLst>
          </p:cNvPr>
          <p:cNvCxnSpPr/>
          <p:nvPr/>
        </p:nvCxnSpPr>
        <p:spPr>
          <a:xfrm>
            <a:off x="3233852" y="3922871"/>
            <a:ext cx="4541479" cy="5405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3C9B936-46BC-469E-A331-CCCB6EB97C04}"/>
              </a:ext>
            </a:extLst>
          </p:cNvPr>
          <p:cNvCxnSpPr/>
          <p:nvPr/>
        </p:nvCxnSpPr>
        <p:spPr>
          <a:xfrm flipV="1">
            <a:off x="3389968" y="2368402"/>
            <a:ext cx="4672364" cy="26266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2970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p:sp>
        <p:nvSpPr>
          <p:cNvPr id="10" name="Oval 9">
            <a:extLst>
              <a:ext uri="{FF2B5EF4-FFF2-40B4-BE49-F238E27FC236}">
                <a16:creationId xmlns:a16="http://schemas.microsoft.com/office/drawing/2014/main" id="{27FCBCB3-2CA0-46BA-A428-45C6337EA633}"/>
              </a:ext>
            </a:extLst>
          </p:cNvPr>
          <p:cNvSpPr/>
          <p:nvPr/>
        </p:nvSpPr>
        <p:spPr>
          <a:xfrm>
            <a:off x="1366025" y="1667108"/>
            <a:ext cx="3211551" cy="417613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5BEB4CE0-DDE4-42D7-BBBF-39712EF99CD1}"/>
              </a:ext>
            </a:extLst>
          </p:cNvPr>
          <p:cNvSpPr/>
          <p:nvPr/>
        </p:nvSpPr>
        <p:spPr>
          <a:xfrm>
            <a:off x="6768791" y="1667108"/>
            <a:ext cx="3211551" cy="417613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Isosceles Triangle 11">
            <a:extLst>
              <a:ext uri="{FF2B5EF4-FFF2-40B4-BE49-F238E27FC236}">
                <a16:creationId xmlns:a16="http://schemas.microsoft.com/office/drawing/2014/main" id="{69550867-C00A-4AC8-AFDF-A7B5BD80C555}"/>
              </a:ext>
            </a:extLst>
          </p:cNvPr>
          <p:cNvSpPr/>
          <p:nvPr/>
        </p:nvSpPr>
        <p:spPr>
          <a:xfrm>
            <a:off x="2632245" y="1984917"/>
            <a:ext cx="679109" cy="585439"/>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F370B918-3518-41E1-BC1F-460AC3D8EE4C}"/>
              </a:ext>
            </a:extLst>
          </p:cNvPr>
          <p:cNvSpPr/>
          <p:nvPr/>
        </p:nvSpPr>
        <p:spPr>
          <a:xfrm>
            <a:off x="2692459" y="2865005"/>
            <a:ext cx="585439" cy="585439"/>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ight Triangle 14">
            <a:extLst>
              <a:ext uri="{FF2B5EF4-FFF2-40B4-BE49-F238E27FC236}">
                <a16:creationId xmlns:a16="http://schemas.microsoft.com/office/drawing/2014/main" id="{8FDF4E6D-7486-4EE5-A86D-013EE7F2ECF2}"/>
              </a:ext>
            </a:extLst>
          </p:cNvPr>
          <p:cNvSpPr/>
          <p:nvPr/>
        </p:nvSpPr>
        <p:spPr>
          <a:xfrm>
            <a:off x="2709744" y="3667035"/>
            <a:ext cx="680224" cy="680224"/>
          </a:xfrm>
          <a:prstGeom prst="r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a:extLst>
              <a:ext uri="{FF2B5EF4-FFF2-40B4-BE49-F238E27FC236}">
                <a16:creationId xmlns:a16="http://schemas.microsoft.com/office/drawing/2014/main" id="{DF5F7424-0845-468E-8AE5-F8346C75A3EC}"/>
              </a:ext>
            </a:extLst>
          </p:cNvPr>
          <p:cNvSpPr/>
          <p:nvPr/>
        </p:nvSpPr>
        <p:spPr>
          <a:xfrm>
            <a:off x="2709744" y="4718037"/>
            <a:ext cx="524108" cy="52410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72D62F97-5787-45FD-BC24-33F96A7F8476}"/>
              </a:ext>
            </a:extLst>
          </p:cNvPr>
          <p:cNvSpPr txBox="1"/>
          <p:nvPr/>
        </p:nvSpPr>
        <p:spPr>
          <a:xfrm>
            <a:off x="7585664" y="2047013"/>
            <a:ext cx="1577804" cy="3416320"/>
          </a:xfrm>
          <a:prstGeom prst="rect">
            <a:avLst/>
          </a:prstGeom>
          <a:noFill/>
        </p:spPr>
        <p:txBody>
          <a:bodyPr wrap="none" rtlCol="0">
            <a:spAutoFit/>
          </a:bodyPr>
          <a:lstStyle/>
          <a:p>
            <a:pPr algn="ctr"/>
            <a:r>
              <a:rPr lang="en-AU" sz="2400" dirty="0">
                <a:latin typeface="+mj-lt"/>
              </a:rPr>
              <a:t>CIRCLE</a:t>
            </a:r>
          </a:p>
          <a:p>
            <a:pPr algn="ctr"/>
            <a:endParaRPr lang="en-AU" sz="2400" dirty="0">
              <a:latin typeface="+mj-lt"/>
            </a:endParaRPr>
          </a:p>
          <a:p>
            <a:pPr algn="ctr"/>
            <a:r>
              <a:rPr lang="en-AU" sz="2400" dirty="0">
                <a:latin typeface="+mj-lt"/>
              </a:rPr>
              <a:t>TRIANGLE</a:t>
            </a:r>
          </a:p>
          <a:p>
            <a:pPr algn="ctr"/>
            <a:endParaRPr lang="en-AU" sz="2400" dirty="0">
              <a:latin typeface="+mj-lt"/>
            </a:endParaRPr>
          </a:p>
          <a:p>
            <a:pPr algn="ctr"/>
            <a:r>
              <a:rPr lang="en-AU" sz="2400" dirty="0">
                <a:latin typeface="+mj-lt"/>
              </a:rPr>
              <a:t>PENTAGON</a:t>
            </a:r>
          </a:p>
          <a:p>
            <a:pPr algn="ctr"/>
            <a:endParaRPr lang="en-AU" sz="2400" dirty="0">
              <a:latin typeface="+mj-lt"/>
            </a:endParaRPr>
          </a:p>
          <a:p>
            <a:pPr algn="ctr"/>
            <a:r>
              <a:rPr lang="en-AU" sz="2400" dirty="0">
                <a:latin typeface="+mj-lt"/>
              </a:rPr>
              <a:t>SQUARE</a:t>
            </a:r>
          </a:p>
          <a:p>
            <a:pPr algn="ctr"/>
            <a:endParaRPr lang="en-AU" sz="2400" dirty="0">
              <a:latin typeface="+mj-lt"/>
            </a:endParaRPr>
          </a:p>
          <a:p>
            <a:pPr algn="ctr"/>
            <a:r>
              <a:rPr lang="en-AU" sz="2400" dirty="0">
                <a:latin typeface="+mj-lt"/>
              </a:rPr>
              <a:t>HEXAGON</a:t>
            </a:r>
          </a:p>
        </p:txBody>
      </p:sp>
      <p:cxnSp>
        <p:nvCxnSpPr>
          <p:cNvPr id="18" name="Straight Arrow Connector 17">
            <a:extLst>
              <a:ext uri="{FF2B5EF4-FFF2-40B4-BE49-F238E27FC236}">
                <a16:creationId xmlns:a16="http://schemas.microsoft.com/office/drawing/2014/main" id="{10523901-7AF3-4B96-9EBF-38722AFAB88A}"/>
              </a:ext>
            </a:extLst>
          </p:cNvPr>
          <p:cNvCxnSpPr/>
          <p:nvPr/>
        </p:nvCxnSpPr>
        <p:spPr>
          <a:xfrm>
            <a:off x="3277898" y="2277636"/>
            <a:ext cx="4307766" cy="76664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E1C8195-C65A-4B60-B43E-9A01FE4C5CAB}"/>
              </a:ext>
            </a:extLst>
          </p:cNvPr>
          <p:cNvCxnSpPr/>
          <p:nvPr/>
        </p:nvCxnSpPr>
        <p:spPr>
          <a:xfrm flipV="1">
            <a:off x="3389968" y="3109797"/>
            <a:ext cx="4195696" cy="8321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B4CB3FE-D7A5-4EE7-B7A1-99160CA283B9}"/>
              </a:ext>
            </a:extLst>
          </p:cNvPr>
          <p:cNvCxnSpPr/>
          <p:nvPr/>
        </p:nvCxnSpPr>
        <p:spPr>
          <a:xfrm flipV="1">
            <a:off x="3435149" y="4502840"/>
            <a:ext cx="4370705" cy="47725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00FFE3B-A925-43F5-9704-94D55CFA067C}"/>
              </a:ext>
            </a:extLst>
          </p:cNvPr>
          <p:cNvCxnSpPr/>
          <p:nvPr/>
        </p:nvCxnSpPr>
        <p:spPr>
          <a:xfrm flipV="1">
            <a:off x="3435149" y="2277636"/>
            <a:ext cx="4443188" cy="8321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432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p:sp>
        <p:nvSpPr>
          <p:cNvPr id="10" name="Oval 9">
            <a:extLst>
              <a:ext uri="{FF2B5EF4-FFF2-40B4-BE49-F238E27FC236}">
                <a16:creationId xmlns:a16="http://schemas.microsoft.com/office/drawing/2014/main" id="{E0536CD4-9F86-48C2-8E9D-7CFDA5CDD013}"/>
              </a:ext>
            </a:extLst>
          </p:cNvPr>
          <p:cNvSpPr/>
          <p:nvPr/>
        </p:nvSpPr>
        <p:spPr>
          <a:xfrm>
            <a:off x="1366025" y="1667108"/>
            <a:ext cx="3211551" cy="417613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383F9175-573A-4662-A53F-045981D2342D}"/>
              </a:ext>
            </a:extLst>
          </p:cNvPr>
          <p:cNvSpPr/>
          <p:nvPr/>
        </p:nvSpPr>
        <p:spPr>
          <a:xfrm>
            <a:off x="6768791" y="1667108"/>
            <a:ext cx="3211551" cy="417613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73F705AA-CB0C-4CF1-9B72-1F91A4D4CBEB}"/>
              </a:ext>
            </a:extLst>
          </p:cNvPr>
          <p:cNvSpPr txBox="1"/>
          <p:nvPr/>
        </p:nvSpPr>
        <p:spPr>
          <a:xfrm>
            <a:off x="7771677" y="2864891"/>
            <a:ext cx="1561197" cy="1938992"/>
          </a:xfrm>
          <a:prstGeom prst="rect">
            <a:avLst/>
          </a:prstGeom>
          <a:noFill/>
        </p:spPr>
        <p:txBody>
          <a:bodyPr wrap="none" rtlCol="0">
            <a:spAutoFit/>
          </a:bodyPr>
          <a:lstStyle/>
          <a:p>
            <a:pPr algn="ctr"/>
            <a:r>
              <a:rPr lang="en-AU" sz="2400" dirty="0">
                <a:latin typeface="+mj-lt"/>
              </a:rPr>
              <a:t>Professor 1</a:t>
            </a:r>
          </a:p>
          <a:p>
            <a:pPr algn="ctr"/>
            <a:endParaRPr lang="en-AU" sz="2400" dirty="0">
              <a:latin typeface="+mj-lt"/>
            </a:endParaRPr>
          </a:p>
          <a:p>
            <a:pPr algn="ctr"/>
            <a:r>
              <a:rPr lang="en-AU" sz="2400" dirty="0">
                <a:latin typeface="+mj-lt"/>
              </a:rPr>
              <a:t>Professor 2</a:t>
            </a:r>
          </a:p>
          <a:p>
            <a:pPr algn="ctr"/>
            <a:endParaRPr lang="en-AU" sz="2400" dirty="0">
              <a:latin typeface="+mj-lt"/>
            </a:endParaRPr>
          </a:p>
          <a:p>
            <a:pPr algn="ctr"/>
            <a:r>
              <a:rPr lang="en-AU" sz="2400" dirty="0">
                <a:latin typeface="+mj-lt"/>
              </a:rPr>
              <a:t>Professor 3</a:t>
            </a:r>
          </a:p>
        </p:txBody>
      </p:sp>
      <p:cxnSp>
        <p:nvCxnSpPr>
          <p:cNvPr id="18" name="Straight Arrow Connector 17">
            <a:extLst>
              <a:ext uri="{FF2B5EF4-FFF2-40B4-BE49-F238E27FC236}">
                <a16:creationId xmlns:a16="http://schemas.microsoft.com/office/drawing/2014/main" id="{F2B1EF47-D685-4241-BDCF-6A134FD1CCFF}"/>
              </a:ext>
            </a:extLst>
          </p:cNvPr>
          <p:cNvCxnSpPr>
            <a:cxnSpLocks/>
          </p:cNvCxnSpPr>
          <p:nvPr/>
        </p:nvCxnSpPr>
        <p:spPr>
          <a:xfrm>
            <a:off x="3674731" y="2308080"/>
            <a:ext cx="4084364" cy="8017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69B4DD4-3913-4CD2-B808-BFA2BCCC41BE}"/>
              </a:ext>
            </a:extLst>
          </p:cNvPr>
          <p:cNvCxnSpPr>
            <a:cxnSpLocks/>
          </p:cNvCxnSpPr>
          <p:nvPr/>
        </p:nvCxnSpPr>
        <p:spPr>
          <a:xfrm>
            <a:off x="3674731" y="3016867"/>
            <a:ext cx="4096946" cy="929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9B29DAA-5C77-47EF-9554-343091E49AE6}"/>
              </a:ext>
            </a:extLst>
          </p:cNvPr>
          <p:cNvCxnSpPr>
            <a:cxnSpLocks/>
            <a:endCxn id="17" idx="1"/>
          </p:cNvCxnSpPr>
          <p:nvPr/>
        </p:nvCxnSpPr>
        <p:spPr>
          <a:xfrm>
            <a:off x="3674731" y="2313542"/>
            <a:ext cx="4096946" cy="15208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B30369D-147A-4684-BEFF-E36B3AB7ABC2}"/>
              </a:ext>
            </a:extLst>
          </p:cNvPr>
          <p:cNvSpPr txBox="1"/>
          <p:nvPr/>
        </p:nvSpPr>
        <p:spPr>
          <a:xfrm>
            <a:off x="2281450" y="2047013"/>
            <a:ext cx="1380699" cy="3416320"/>
          </a:xfrm>
          <a:prstGeom prst="rect">
            <a:avLst/>
          </a:prstGeom>
          <a:noFill/>
        </p:spPr>
        <p:txBody>
          <a:bodyPr wrap="none" rtlCol="0">
            <a:spAutoFit/>
          </a:bodyPr>
          <a:lstStyle/>
          <a:p>
            <a:pPr algn="ctr"/>
            <a:r>
              <a:rPr lang="en-AU" sz="2400" dirty="0">
                <a:latin typeface="+mj-lt"/>
              </a:rPr>
              <a:t>Student 1</a:t>
            </a:r>
          </a:p>
          <a:p>
            <a:pPr algn="ctr"/>
            <a:endParaRPr lang="en-AU" sz="2400" dirty="0">
              <a:latin typeface="+mj-lt"/>
            </a:endParaRPr>
          </a:p>
          <a:p>
            <a:pPr algn="ctr"/>
            <a:r>
              <a:rPr lang="en-AU" sz="2400" dirty="0">
                <a:latin typeface="+mj-lt"/>
              </a:rPr>
              <a:t>Student 2</a:t>
            </a:r>
          </a:p>
          <a:p>
            <a:pPr algn="ctr"/>
            <a:endParaRPr lang="en-AU" sz="2400" dirty="0">
              <a:latin typeface="+mj-lt"/>
            </a:endParaRPr>
          </a:p>
          <a:p>
            <a:pPr algn="ctr"/>
            <a:r>
              <a:rPr lang="en-AU" sz="2400" dirty="0">
                <a:latin typeface="+mj-lt"/>
              </a:rPr>
              <a:t>Student 3</a:t>
            </a:r>
          </a:p>
          <a:p>
            <a:pPr algn="ctr"/>
            <a:endParaRPr lang="en-AU" sz="2400" dirty="0">
              <a:latin typeface="+mj-lt"/>
            </a:endParaRPr>
          </a:p>
          <a:p>
            <a:pPr algn="ctr"/>
            <a:r>
              <a:rPr lang="en-AU" sz="2400" dirty="0">
                <a:latin typeface="+mj-lt"/>
              </a:rPr>
              <a:t>Student 4</a:t>
            </a:r>
          </a:p>
          <a:p>
            <a:pPr algn="ctr"/>
            <a:endParaRPr lang="en-AU" sz="2400" dirty="0">
              <a:latin typeface="+mj-lt"/>
            </a:endParaRPr>
          </a:p>
          <a:p>
            <a:pPr algn="ctr"/>
            <a:r>
              <a:rPr lang="en-AU" sz="2400" dirty="0">
                <a:latin typeface="+mj-lt"/>
              </a:rPr>
              <a:t>Student 5</a:t>
            </a:r>
          </a:p>
        </p:txBody>
      </p:sp>
      <p:cxnSp>
        <p:nvCxnSpPr>
          <p:cNvPr id="30" name="Straight Arrow Connector 29">
            <a:extLst>
              <a:ext uri="{FF2B5EF4-FFF2-40B4-BE49-F238E27FC236}">
                <a16:creationId xmlns:a16="http://schemas.microsoft.com/office/drawing/2014/main" id="{3F42288B-F252-4023-9DE2-C7D232890E9D}"/>
              </a:ext>
            </a:extLst>
          </p:cNvPr>
          <p:cNvCxnSpPr>
            <a:cxnSpLocks/>
            <a:stCxn id="23" idx="3"/>
            <a:endCxn id="17" idx="1"/>
          </p:cNvCxnSpPr>
          <p:nvPr/>
        </p:nvCxnSpPr>
        <p:spPr>
          <a:xfrm>
            <a:off x="3662149" y="3755173"/>
            <a:ext cx="4109528" cy="792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7F0E3DB-48A3-4B1D-863F-89A9CEC31B5B}"/>
              </a:ext>
            </a:extLst>
          </p:cNvPr>
          <p:cNvCxnSpPr>
            <a:cxnSpLocks/>
            <a:stCxn id="23" idx="3"/>
          </p:cNvCxnSpPr>
          <p:nvPr/>
        </p:nvCxnSpPr>
        <p:spPr>
          <a:xfrm>
            <a:off x="3662149" y="3755173"/>
            <a:ext cx="4109528" cy="7913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902197C-5307-41C2-9A68-C399851CA7C6}"/>
              </a:ext>
            </a:extLst>
          </p:cNvPr>
          <p:cNvCxnSpPr>
            <a:cxnSpLocks/>
          </p:cNvCxnSpPr>
          <p:nvPr/>
        </p:nvCxnSpPr>
        <p:spPr>
          <a:xfrm flipV="1">
            <a:off x="3674731" y="3126923"/>
            <a:ext cx="4084364" cy="12974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815BB6B-D7D3-4AC5-8DEC-1F171421DDCA}"/>
              </a:ext>
            </a:extLst>
          </p:cNvPr>
          <p:cNvCxnSpPr>
            <a:cxnSpLocks/>
          </p:cNvCxnSpPr>
          <p:nvPr/>
        </p:nvCxnSpPr>
        <p:spPr>
          <a:xfrm>
            <a:off x="3674731" y="4436266"/>
            <a:ext cx="4096946" cy="1517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4108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0C94F362-DFED-4C11-A1CD-925763418DC8}"/>
              </a:ext>
            </a:extLst>
          </p:cNvPr>
          <p:cNvSpPr txBox="1"/>
          <p:nvPr/>
        </p:nvSpPr>
        <p:spPr>
          <a:xfrm>
            <a:off x="220338" y="1057620"/>
            <a:ext cx="6053580" cy="461665"/>
          </a:xfrm>
          <a:prstGeom prst="rect">
            <a:avLst/>
          </a:prstGeom>
          <a:noFill/>
          <a:ln>
            <a:solidFill>
              <a:schemeClr val="accent2">
                <a:lumMod val="50000"/>
              </a:schemeClr>
            </a:solidFill>
          </a:ln>
        </p:spPr>
        <p:txBody>
          <a:bodyPr wrap="none" rtlCol="0">
            <a:spAutoFit/>
          </a:bodyPr>
          <a:lstStyle/>
          <a:p>
            <a:r>
              <a:rPr lang="en-AU" sz="2400" dirty="0">
                <a:latin typeface="+mj-lt"/>
              </a:rPr>
              <a:t>Definition of function, domain, range and graph</a:t>
            </a:r>
            <a:endParaRPr lang="en-GB" sz="2400" dirty="0">
              <a:latin typeface="+mj-lt"/>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9818E6-5C7E-453D-9A85-59F4D902F0CB}"/>
                  </a:ext>
                </a:extLst>
              </p:cNvPr>
              <p:cNvSpPr txBox="1"/>
              <p:nvPr/>
            </p:nvSpPr>
            <p:spPr>
              <a:xfrm>
                <a:off x="220338" y="1751230"/>
                <a:ext cx="11710929" cy="3785652"/>
              </a:xfrm>
              <a:prstGeom prst="rect">
                <a:avLst/>
              </a:prstGeom>
              <a:noFill/>
            </p:spPr>
            <p:txBody>
              <a:bodyPr wrap="square" rtlCol="0">
                <a:spAutoFit/>
              </a:bodyPr>
              <a:lstStyle/>
              <a:p>
                <a:r>
                  <a:rPr lang="en-GB" sz="2400" i="1" dirty="0">
                    <a:latin typeface="+mj-lt"/>
                  </a:rPr>
                  <a:t>Definition</a:t>
                </a:r>
                <a:r>
                  <a:rPr lang="en-GB" sz="2400" dirty="0">
                    <a:latin typeface="+mj-lt"/>
                  </a:rPr>
                  <a:t>.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the graph of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 </m:t>
                    </m:r>
                  </m:oMath>
                </a14:m>
                <a:r>
                  <a:rPr lang="en-GB" sz="2400" dirty="0">
                    <a:latin typeface="+mj-lt"/>
                  </a:rPr>
                  <a:t> is the set of pairs </a:t>
                </a:r>
                <a14:m>
                  <m:oMath xmlns:m="http://schemas.openxmlformats.org/officeDocument/2006/math">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oMath>
                </a14:m>
                <a:r>
                  <a:rPr lang="en-GB" sz="2400" dirty="0">
                    <a:latin typeface="+mj-lt"/>
                  </a:rPr>
                  <a:t> as </a:t>
                </a:r>
                <a14:m>
                  <m:oMath xmlns:m="http://schemas.openxmlformats.org/officeDocument/2006/math">
                    <m:r>
                      <a:rPr lang="en-AU" sz="2400" i="1">
                        <a:latin typeface="Cambria Math" panose="02040503050406030204" pitchFamily="18" charset="0"/>
                      </a:rPr>
                      <m:t>𝑥</m:t>
                    </m:r>
                    <m:r>
                      <a:rPr lang="en-AU" sz="2400" i="1">
                        <a:latin typeface="Cambria Math" panose="02040503050406030204" pitchFamily="18" charset="0"/>
                      </a:rPr>
                      <m:t> </m:t>
                    </m:r>
                  </m:oMath>
                </a14:m>
                <a:r>
                  <a:rPr lang="en-GB" sz="2400" dirty="0">
                    <a:latin typeface="+mj-lt"/>
                  </a:rPr>
                  <a:t>varies within </a:t>
                </a:r>
                <a14:m>
                  <m:oMath xmlns:m="http://schemas.openxmlformats.org/officeDocument/2006/math">
                    <m:r>
                      <a:rPr lang="en-AU" sz="2400" b="0" i="1" smtClean="0">
                        <a:latin typeface="Cambria Math" panose="02040503050406030204" pitchFamily="18" charset="0"/>
                      </a:rPr>
                      <m:t>𝑑𝑜𝑚</m:t>
                    </m:r>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oMath>
                </a14:m>
                <a:r>
                  <a:rPr lang="en-GB" sz="2400" dirty="0">
                    <a:latin typeface="+mj-lt"/>
                  </a:rPr>
                  <a:t>. The graph is indicated as</a:t>
                </a:r>
              </a:p>
              <a:p>
                <a:endParaRPr lang="en-GB"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𝑔𝑟𝑎𝑝h</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𝑓</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ℝ</m:t>
                              </m:r>
                            </m:e>
                            <m:sup>
                              <m:r>
                                <a:rPr lang="en-AU" sz="2400" b="0" i="1" smtClean="0">
                                  <a:latin typeface="Cambria Math" panose="02040503050406030204" pitchFamily="18" charset="0"/>
                                  <a:ea typeface="Cambria Math" panose="02040503050406030204" pitchFamily="18" charset="0"/>
                                </a:rPr>
                                <m:t>2</m:t>
                              </m:r>
                            </m:sup>
                          </m:sSup>
                        </m:e>
                        <m:e>
                          <m:r>
                            <a:rPr lang="en-AU" sz="2400" b="0" i="1" smtClean="0">
                              <a:latin typeface="Cambria Math" panose="02040503050406030204" pitchFamily="18" charset="0"/>
                            </a:rPr>
                            <m:t>𝑥</m:t>
                          </m:r>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𝑑𝑜𝑚</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𝑓</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e>
                      </m:d>
                    </m:oMath>
                  </m:oMathPara>
                </a14:m>
                <a:endParaRPr lang="en-GB" sz="2400" dirty="0">
                  <a:latin typeface="+mj-lt"/>
                </a:endParaRPr>
              </a:p>
              <a:p>
                <a:endParaRPr lang="en-GB" sz="2400" dirty="0">
                  <a:latin typeface="+mj-lt"/>
                </a:endParaRPr>
              </a:p>
              <a:p>
                <a:r>
                  <a:rPr lang="en-AU" sz="2400" dirty="0">
                    <a:latin typeface="+mj-lt"/>
                  </a:rPr>
                  <a:t>The notation </a:t>
                </a:r>
                <a14:m>
                  <m:oMath xmlns:m="http://schemas.openxmlformats.org/officeDocument/2006/math">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ℝ</m:t>
                        </m:r>
                      </m:e>
                      <m:sup>
                        <m:r>
                          <a:rPr lang="en-AU" sz="2400" b="0" i="1" smtClean="0">
                            <a:latin typeface="Cambria Math" panose="02040503050406030204" pitchFamily="18" charset="0"/>
                            <a:ea typeface="Cambria Math" panose="02040503050406030204" pitchFamily="18" charset="0"/>
                          </a:rPr>
                          <m:t>2</m:t>
                        </m:r>
                      </m:sup>
                    </m:sSup>
                  </m:oMath>
                </a14:m>
                <a:r>
                  <a:rPr lang="en-GB" sz="2400" dirty="0">
                    <a:latin typeface="+mj-lt"/>
                  </a:rPr>
                  <a:t> indicates that both </a:t>
                </a:r>
                <a14:m>
                  <m:oMath xmlns:m="http://schemas.openxmlformats.org/officeDocument/2006/math">
                    <m:r>
                      <a:rPr lang="en-AU" sz="2400" i="1">
                        <a:latin typeface="Cambria Math" panose="02040503050406030204" pitchFamily="18" charset="0"/>
                      </a:rPr>
                      <m:t>𝑥</m:t>
                    </m:r>
                  </m:oMath>
                </a14:m>
                <a:r>
                  <a:rPr lang="en-GB" sz="2400" dirty="0">
                    <a:latin typeface="+mj-lt"/>
                  </a:rPr>
                  <a:t> and </a:t>
                </a:r>
                <a14:m>
                  <m:oMath xmlns:m="http://schemas.openxmlformats.org/officeDocument/2006/math">
                    <m:r>
                      <a:rPr lang="en-AU" sz="2400" i="1">
                        <a:latin typeface="Cambria Math" panose="02040503050406030204" pitchFamily="18" charset="0"/>
                        <a:ea typeface="Cambria Math" panose="02040503050406030204" pitchFamily="18" charset="0"/>
                      </a:rPr>
                      <m:t>𝑦</m:t>
                    </m:r>
                  </m:oMath>
                </a14:m>
                <a:r>
                  <a:rPr lang="en-GB" sz="2400" dirty="0">
                    <a:latin typeface="+mj-lt"/>
                  </a:rPr>
                  <a:t> belong to </a:t>
                </a:r>
                <a14:m>
                  <m:oMath xmlns:m="http://schemas.openxmlformats.org/officeDocument/2006/math">
                    <m:r>
                      <a:rPr lang="en-AU" sz="2400" i="1">
                        <a:latin typeface="Cambria Math" panose="02040503050406030204" pitchFamily="18" charset="0"/>
                        <a:ea typeface="Cambria Math" panose="02040503050406030204" pitchFamily="18" charset="0"/>
                      </a:rPr>
                      <m:t>ℝ</m:t>
                    </m:r>
                  </m:oMath>
                </a14:m>
                <a:r>
                  <a:rPr lang="en-GB" sz="2400" dirty="0">
                    <a:latin typeface="+mj-lt"/>
                  </a:rPr>
                  <a:t>. i.e. </a:t>
                </a:r>
                <a14:m>
                  <m:oMath xmlns:m="http://schemas.openxmlformats.org/officeDocument/2006/math">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ℝ</m:t>
                        </m:r>
                      </m:e>
                      <m:sup>
                        <m:r>
                          <a:rPr lang="en-AU" sz="2400" i="1">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The symbol </a:t>
                </a:r>
                <a14:m>
                  <m:oMath xmlns:m="http://schemas.openxmlformats.org/officeDocument/2006/math">
                    <m:r>
                      <a:rPr lang="en-AU" sz="2400" i="1">
                        <a:latin typeface="Cambria Math" panose="02040503050406030204" pitchFamily="18" charset="0"/>
                        <a:ea typeface="Cambria Math" panose="02040503050406030204" pitchFamily="18" charset="0"/>
                      </a:rPr>
                      <m:t>×</m:t>
                    </m:r>
                  </m:oMath>
                </a14:m>
                <a:r>
                  <a:rPr lang="en-GB" sz="2400" dirty="0">
                    <a:latin typeface="+mj-lt"/>
                  </a:rPr>
                  <a:t> denotes what is known as a “Cartesian Product”.</a:t>
                </a:r>
              </a:p>
              <a:p>
                <a:endParaRPr lang="en-GB" sz="2400" dirty="0">
                  <a:latin typeface="+mj-lt"/>
                </a:endParaRPr>
              </a:p>
              <a:p>
                <a:r>
                  <a:rPr lang="en-GB" sz="2400" i="1" dirty="0">
                    <a:latin typeface="+mj-lt"/>
                  </a:rPr>
                  <a:t>Vertical line test</a:t>
                </a:r>
                <a:r>
                  <a:rPr lang="en-GB" sz="2400" dirty="0">
                    <a:latin typeface="+mj-lt"/>
                  </a:rPr>
                  <a:t>. A set </a:t>
                </a:r>
                <a:r>
                  <a:rPr lang="en-GB" sz="2400" i="1" dirty="0">
                    <a:latin typeface="+mj-lt"/>
                  </a:rPr>
                  <a:t>G</a:t>
                </a:r>
                <a:r>
                  <a:rPr lang="en-GB" sz="2400" dirty="0">
                    <a:latin typeface="+mj-lt"/>
                  </a:rPr>
                  <a:t> of points in the Cartesian plane, is a graph of a function </a:t>
                </a:r>
                <a:r>
                  <a:rPr lang="en-GB" sz="2400" i="1" dirty="0">
                    <a:latin typeface="+mj-lt"/>
                  </a:rPr>
                  <a:t>f</a:t>
                </a:r>
                <a:r>
                  <a:rPr lang="en-GB" sz="2400" dirty="0">
                    <a:latin typeface="+mj-lt"/>
                  </a:rPr>
                  <a:t> if every vertical line intersects </a:t>
                </a:r>
                <a:r>
                  <a:rPr lang="en-GB" sz="2400" i="1" dirty="0">
                    <a:latin typeface="+mj-lt"/>
                  </a:rPr>
                  <a:t>G</a:t>
                </a:r>
                <a:r>
                  <a:rPr lang="en-GB" sz="2400" dirty="0">
                    <a:latin typeface="+mj-lt"/>
                  </a:rPr>
                  <a:t> at most once.</a:t>
                </a:r>
              </a:p>
            </p:txBody>
          </p:sp>
        </mc:Choice>
        <mc:Fallback xmlns="">
          <p:sp>
            <p:nvSpPr>
              <p:cNvPr id="4" name="TextBox 3">
                <a:extLst>
                  <a:ext uri="{FF2B5EF4-FFF2-40B4-BE49-F238E27FC236}">
                    <a16:creationId xmlns:a16="http://schemas.microsoft.com/office/drawing/2014/main" id="{7C9818E6-5C7E-453D-9A85-59F4D902F0CB}"/>
                  </a:ext>
                </a:extLst>
              </p:cNvPr>
              <p:cNvSpPr txBox="1">
                <a:spLocks noRot="1" noChangeAspect="1" noMove="1" noResize="1" noEditPoints="1" noAdjustHandles="1" noChangeArrowheads="1" noChangeShapeType="1" noTextEdit="1"/>
              </p:cNvSpPr>
              <p:nvPr/>
            </p:nvSpPr>
            <p:spPr>
              <a:xfrm>
                <a:off x="220338" y="1751230"/>
                <a:ext cx="11710929" cy="3785652"/>
              </a:xfrm>
              <a:prstGeom prst="rect">
                <a:avLst/>
              </a:prstGeom>
              <a:blipFill>
                <a:blip r:embed="rId2"/>
                <a:stretch>
                  <a:fillRect l="-781" t="-1288" b="-2738"/>
                </a:stretch>
              </a:blipFill>
            </p:spPr>
            <p:txBody>
              <a:bodyPr/>
              <a:lstStyle/>
              <a:p>
                <a:r>
                  <a:rPr lang="en-GB">
                    <a:noFill/>
                  </a:rPr>
                  <a:t> </a:t>
                </a:r>
              </a:p>
            </p:txBody>
          </p:sp>
        </mc:Fallback>
      </mc:AlternateContent>
    </p:spTree>
    <p:extLst>
      <p:ext uri="{BB962C8B-B14F-4D97-AF65-F5344CB8AC3E}">
        <p14:creationId xmlns:p14="http://schemas.microsoft.com/office/powerpoint/2010/main" val="1231316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p:grpSp>
        <p:nvGrpSpPr>
          <p:cNvPr id="10" name="Group 9">
            <a:extLst>
              <a:ext uri="{FF2B5EF4-FFF2-40B4-BE49-F238E27FC236}">
                <a16:creationId xmlns:a16="http://schemas.microsoft.com/office/drawing/2014/main" id="{E19885A6-5C4A-425D-BD27-3C28C6853A2E}"/>
              </a:ext>
            </a:extLst>
          </p:cNvPr>
          <p:cNvGrpSpPr/>
          <p:nvPr/>
        </p:nvGrpSpPr>
        <p:grpSpPr>
          <a:xfrm>
            <a:off x="6478121" y="1294234"/>
            <a:ext cx="4659292" cy="4628411"/>
            <a:chOff x="6918795" y="1426437"/>
            <a:chExt cx="4659292" cy="4628411"/>
          </a:xfrm>
        </p:grpSpPr>
        <p:cxnSp>
          <p:nvCxnSpPr>
            <p:cNvPr id="11" name="Straight Connector 10">
              <a:extLst>
                <a:ext uri="{FF2B5EF4-FFF2-40B4-BE49-F238E27FC236}">
                  <a16:creationId xmlns:a16="http://schemas.microsoft.com/office/drawing/2014/main" id="{ED2AEC27-2BAD-49DC-9BB9-8937C19AFC56}"/>
                </a:ext>
              </a:extLst>
            </p:cNvPr>
            <p:cNvCxnSpPr/>
            <p:nvPr/>
          </p:nvCxnSpPr>
          <p:spPr bwMode="auto">
            <a:xfrm>
              <a:off x="6918795" y="1459708"/>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FD974E7A-41E2-42DD-BA91-A11CDB4A74B3}"/>
                </a:ext>
              </a:extLst>
            </p:cNvPr>
            <p:cNvCxnSpPr/>
            <p:nvPr/>
          </p:nvCxnSpPr>
          <p:spPr bwMode="auto">
            <a:xfrm>
              <a:off x="6918795" y="1842636"/>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D6B54C7F-1953-4616-B038-C8DEEED5393E}"/>
                </a:ext>
              </a:extLst>
            </p:cNvPr>
            <p:cNvCxnSpPr/>
            <p:nvPr/>
          </p:nvCxnSpPr>
          <p:spPr bwMode="auto">
            <a:xfrm>
              <a:off x="6918795" y="2225565"/>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53BE6029-4B97-4C4B-A75E-A5EF8257DF95}"/>
                </a:ext>
              </a:extLst>
            </p:cNvPr>
            <p:cNvCxnSpPr/>
            <p:nvPr/>
          </p:nvCxnSpPr>
          <p:spPr bwMode="auto">
            <a:xfrm>
              <a:off x="6918795" y="2608493"/>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CC005B7C-58BA-4E92-911F-7C2341B7D402}"/>
                </a:ext>
              </a:extLst>
            </p:cNvPr>
            <p:cNvCxnSpPr/>
            <p:nvPr/>
          </p:nvCxnSpPr>
          <p:spPr bwMode="auto">
            <a:xfrm>
              <a:off x="6918795" y="2991421"/>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A6E639A4-FAF5-4B49-BC4C-8321D0974F10}"/>
                </a:ext>
              </a:extLst>
            </p:cNvPr>
            <p:cNvCxnSpPr/>
            <p:nvPr/>
          </p:nvCxnSpPr>
          <p:spPr bwMode="auto">
            <a:xfrm>
              <a:off x="6918795" y="3374349"/>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E2D08285-480A-4E80-A57C-92EA05E748E9}"/>
                </a:ext>
              </a:extLst>
            </p:cNvPr>
            <p:cNvCxnSpPr/>
            <p:nvPr/>
          </p:nvCxnSpPr>
          <p:spPr bwMode="auto">
            <a:xfrm>
              <a:off x="6918795" y="3757278"/>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29856964-0B28-4AD9-A8B0-BA54D1CA1068}"/>
                </a:ext>
              </a:extLst>
            </p:cNvPr>
            <p:cNvCxnSpPr/>
            <p:nvPr/>
          </p:nvCxnSpPr>
          <p:spPr bwMode="auto">
            <a:xfrm rot="5400000">
              <a:off x="5770010"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7093E8BD-64CE-4356-B08E-0F842AEC4741}"/>
                </a:ext>
              </a:extLst>
            </p:cNvPr>
            <p:cNvCxnSpPr/>
            <p:nvPr/>
          </p:nvCxnSpPr>
          <p:spPr bwMode="auto">
            <a:xfrm rot="5400000">
              <a:off x="6152938"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32D0A90E-0675-4FEF-ABAA-814F643B4A3B}"/>
                </a:ext>
              </a:extLst>
            </p:cNvPr>
            <p:cNvCxnSpPr/>
            <p:nvPr/>
          </p:nvCxnSpPr>
          <p:spPr bwMode="auto">
            <a:xfrm rot="5400000">
              <a:off x="6535867"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D13F19DC-27F0-4C23-A351-6A4D763FC518}"/>
                </a:ext>
              </a:extLst>
            </p:cNvPr>
            <p:cNvCxnSpPr/>
            <p:nvPr/>
          </p:nvCxnSpPr>
          <p:spPr bwMode="auto">
            <a:xfrm rot="5400000">
              <a:off x="6918795"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9D8A1593-7F09-4777-8420-1838FA515EDC}"/>
                </a:ext>
              </a:extLst>
            </p:cNvPr>
            <p:cNvCxnSpPr/>
            <p:nvPr/>
          </p:nvCxnSpPr>
          <p:spPr bwMode="auto">
            <a:xfrm rot="5400000">
              <a:off x="7301723"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7F105439-206F-43BF-A80E-2709DB6E7EAF}"/>
                </a:ext>
              </a:extLst>
            </p:cNvPr>
            <p:cNvCxnSpPr/>
            <p:nvPr/>
          </p:nvCxnSpPr>
          <p:spPr bwMode="auto">
            <a:xfrm rot="5400000">
              <a:off x="7684651"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A7B77E44-DC75-4148-86F8-AFAAB03D6B79}"/>
                </a:ext>
              </a:extLst>
            </p:cNvPr>
            <p:cNvCxnSpPr/>
            <p:nvPr/>
          </p:nvCxnSpPr>
          <p:spPr bwMode="auto">
            <a:xfrm rot="5400000">
              <a:off x="8067580"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B3F77717-AD4E-41BC-A382-74755523D83D}"/>
                </a:ext>
              </a:extLst>
            </p:cNvPr>
            <p:cNvCxnSpPr/>
            <p:nvPr/>
          </p:nvCxnSpPr>
          <p:spPr bwMode="auto">
            <a:xfrm rot="5400000">
              <a:off x="8450508"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9B15F335-68F6-4B31-94F5-C6167E5930DD}"/>
                </a:ext>
              </a:extLst>
            </p:cNvPr>
            <p:cNvCxnSpPr/>
            <p:nvPr/>
          </p:nvCxnSpPr>
          <p:spPr bwMode="auto">
            <a:xfrm rot="5400000">
              <a:off x="8833436"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2E163A2B-424F-4A0B-839F-01D645C7C1AF}"/>
                </a:ext>
              </a:extLst>
            </p:cNvPr>
            <p:cNvCxnSpPr/>
            <p:nvPr/>
          </p:nvCxnSpPr>
          <p:spPr bwMode="auto">
            <a:xfrm rot="5400000">
              <a:off x="9216364"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A8054C49-6DD0-4035-A7F4-7754B5071032}"/>
                </a:ext>
              </a:extLst>
            </p:cNvPr>
            <p:cNvCxnSpPr/>
            <p:nvPr/>
          </p:nvCxnSpPr>
          <p:spPr bwMode="auto">
            <a:xfrm rot="5400000">
              <a:off x="9599293"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86D363CA-B4B7-49D1-B42C-EEA2398BDC0D}"/>
                </a:ext>
              </a:extLst>
            </p:cNvPr>
            <p:cNvCxnSpPr/>
            <p:nvPr/>
          </p:nvCxnSpPr>
          <p:spPr bwMode="auto">
            <a:xfrm rot="5400000">
              <a:off x="9982221"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0DE3C314-C74B-47A4-8914-449F2E140AF0}"/>
                </a:ext>
              </a:extLst>
            </p:cNvPr>
            <p:cNvCxnSpPr/>
            <p:nvPr/>
          </p:nvCxnSpPr>
          <p:spPr bwMode="auto">
            <a:xfrm rot="5400000">
              <a:off x="10365149"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C5956C4B-3635-4FE7-8546-A7A8422F33E9}"/>
                </a:ext>
              </a:extLst>
            </p:cNvPr>
            <p:cNvCxnSpPr/>
            <p:nvPr/>
          </p:nvCxnSpPr>
          <p:spPr bwMode="auto">
            <a:xfrm>
              <a:off x="6918795" y="4140206"/>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00468AC2-F638-4BC6-A634-84EAB28002E1}"/>
                </a:ext>
              </a:extLst>
            </p:cNvPr>
            <p:cNvCxnSpPr/>
            <p:nvPr/>
          </p:nvCxnSpPr>
          <p:spPr bwMode="auto">
            <a:xfrm>
              <a:off x="6918795" y="4523134"/>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98D0421C-4FBA-4AE1-AF23-5F400B23AB23}"/>
                </a:ext>
              </a:extLst>
            </p:cNvPr>
            <p:cNvCxnSpPr/>
            <p:nvPr/>
          </p:nvCxnSpPr>
          <p:spPr bwMode="auto">
            <a:xfrm>
              <a:off x="6918795" y="4906063"/>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8A2BD209-EDC0-4AE4-926A-DFBE5D544789}"/>
                </a:ext>
              </a:extLst>
            </p:cNvPr>
            <p:cNvCxnSpPr/>
            <p:nvPr/>
          </p:nvCxnSpPr>
          <p:spPr bwMode="auto">
            <a:xfrm>
              <a:off x="6918795" y="5288991"/>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6" name="Straight Connector 35">
              <a:extLst>
                <a:ext uri="{FF2B5EF4-FFF2-40B4-BE49-F238E27FC236}">
                  <a16:creationId xmlns:a16="http://schemas.microsoft.com/office/drawing/2014/main" id="{378BDA9E-4C39-4923-AA93-EAFC16B9F64F}"/>
                </a:ext>
              </a:extLst>
            </p:cNvPr>
            <p:cNvCxnSpPr/>
            <p:nvPr/>
          </p:nvCxnSpPr>
          <p:spPr bwMode="auto">
            <a:xfrm>
              <a:off x="6918795" y="5671919"/>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7" name="Straight Connector 36">
              <a:extLst>
                <a:ext uri="{FF2B5EF4-FFF2-40B4-BE49-F238E27FC236}">
                  <a16:creationId xmlns:a16="http://schemas.microsoft.com/office/drawing/2014/main" id="{55431696-91A6-419E-8476-4084FAA09B1D}"/>
                </a:ext>
              </a:extLst>
            </p:cNvPr>
            <p:cNvCxnSpPr/>
            <p:nvPr/>
          </p:nvCxnSpPr>
          <p:spPr bwMode="auto">
            <a:xfrm>
              <a:off x="6918795" y="6054847"/>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8" name="Straight Connector 37">
              <a:extLst>
                <a:ext uri="{FF2B5EF4-FFF2-40B4-BE49-F238E27FC236}">
                  <a16:creationId xmlns:a16="http://schemas.microsoft.com/office/drawing/2014/main" id="{B44EF1A0-DBF1-4770-9785-255B131684CD}"/>
                </a:ext>
              </a:extLst>
            </p:cNvPr>
            <p:cNvCxnSpPr/>
            <p:nvPr/>
          </p:nvCxnSpPr>
          <p:spPr bwMode="auto">
            <a:xfrm rot="5400000">
              <a:off x="5770010"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39" name="Straight Connector 38">
              <a:extLst>
                <a:ext uri="{FF2B5EF4-FFF2-40B4-BE49-F238E27FC236}">
                  <a16:creationId xmlns:a16="http://schemas.microsoft.com/office/drawing/2014/main" id="{4FE73F34-F354-4B6E-BF00-FDE4B506C70F}"/>
                </a:ext>
              </a:extLst>
            </p:cNvPr>
            <p:cNvCxnSpPr/>
            <p:nvPr/>
          </p:nvCxnSpPr>
          <p:spPr bwMode="auto">
            <a:xfrm rot="5400000">
              <a:off x="6152938"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0" name="Straight Connector 39">
              <a:extLst>
                <a:ext uri="{FF2B5EF4-FFF2-40B4-BE49-F238E27FC236}">
                  <a16:creationId xmlns:a16="http://schemas.microsoft.com/office/drawing/2014/main" id="{9C33E158-675B-4A0E-8961-E6EE495C7D99}"/>
                </a:ext>
              </a:extLst>
            </p:cNvPr>
            <p:cNvCxnSpPr/>
            <p:nvPr/>
          </p:nvCxnSpPr>
          <p:spPr bwMode="auto">
            <a:xfrm rot="5400000">
              <a:off x="6535867"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1" name="Straight Connector 40">
              <a:extLst>
                <a:ext uri="{FF2B5EF4-FFF2-40B4-BE49-F238E27FC236}">
                  <a16:creationId xmlns:a16="http://schemas.microsoft.com/office/drawing/2014/main" id="{C2F8EA5E-6EC3-408B-9A9E-2C6F11CCD075}"/>
                </a:ext>
              </a:extLst>
            </p:cNvPr>
            <p:cNvCxnSpPr/>
            <p:nvPr/>
          </p:nvCxnSpPr>
          <p:spPr bwMode="auto">
            <a:xfrm rot="5400000">
              <a:off x="6918795"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55A34A77-921A-440C-AF61-DD8D378F9253}"/>
                </a:ext>
              </a:extLst>
            </p:cNvPr>
            <p:cNvCxnSpPr/>
            <p:nvPr/>
          </p:nvCxnSpPr>
          <p:spPr bwMode="auto">
            <a:xfrm rot="5400000">
              <a:off x="7301723"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E7C0F4A6-2AA1-4C5A-8155-99273FC5E7E3}"/>
                </a:ext>
              </a:extLst>
            </p:cNvPr>
            <p:cNvCxnSpPr/>
            <p:nvPr/>
          </p:nvCxnSpPr>
          <p:spPr bwMode="auto">
            <a:xfrm rot="5400000">
              <a:off x="7684651"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7F04DE22-7BB8-4F75-A32F-8A6456CFD5EA}"/>
                </a:ext>
              </a:extLst>
            </p:cNvPr>
            <p:cNvCxnSpPr/>
            <p:nvPr/>
          </p:nvCxnSpPr>
          <p:spPr bwMode="auto">
            <a:xfrm rot="5400000">
              <a:off x="8067580"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5" name="Straight Connector 44">
              <a:extLst>
                <a:ext uri="{FF2B5EF4-FFF2-40B4-BE49-F238E27FC236}">
                  <a16:creationId xmlns:a16="http://schemas.microsoft.com/office/drawing/2014/main" id="{0E3A11FD-67DD-48C8-9C7E-18EFAB18F32D}"/>
                </a:ext>
              </a:extLst>
            </p:cNvPr>
            <p:cNvCxnSpPr/>
            <p:nvPr/>
          </p:nvCxnSpPr>
          <p:spPr bwMode="auto">
            <a:xfrm rot="5400000">
              <a:off x="8450508"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B9E72CD6-D6B0-45FA-9616-6EF58E79AE6D}"/>
                </a:ext>
              </a:extLst>
            </p:cNvPr>
            <p:cNvCxnSpPr/>
            <p:nvPr/>
          </p:nvCxnSpPr>
          <p:spPr bwMode="auto">
            <a:xfrm rot="5400000">
              <a:off x="8833436"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7" name="Straight Connector 46">
              <a:extLst>
                <a:ext uri="{FF2B5EF4-FFF2-40B4-BE49-F238E27FC236}">
                  <a16:creationId xmlns:a16="http://schemas.microsoft.com/office/drawing/2014/main" id="{E4FC6A4D-4D73-40C9-BFBC-F90050E1BB2E}"/>
                </a:ext>
              </a:extLst>
            </p:cNvPr>
            <p:cNvCxnSpPr/>
            <p:nvPr/>
          </p:nvCxnSpPr>
          <p:spPr bwMode="auto">
            <a:xfrm rot="5400000">
              <a:off x="9216364"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8" name="Straight Connector 47">
              <a:extLst>
                <a:ext uri="{FF2B5EF4-FFF2-40B4-BE49-F238E27FC236}">
                  <a16:creationId xmlns:a16="http://schemas.microsoft.com/office/drawing/2014/main" id="{FDCD35E9-36D2-4E8B-A117-7CD61A9CF1CE}"/>
                </a:ext>
              </a:extLst>
            </p:cNvPr>
            <p:cNvCxnSpPr/>
            <p:nvPr/>
          </p:nvCxnSpPr>
          <p:spPr bwMode="auto">
            <a:xfrm rot="5400000">
              <a:off x="9599293"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49" name="Straight Connector 48">
              <a:extLst>
                <a:ext uri="{FF2B5EF4-FFF2-40B4-BE49-F238E27FC236}">
                  <a16:creationId xmlns:a16="http://schemas.microsoft.com/office/drawing/2014/main" id="{42D9AD73-FCF7-459F-B6D0-CF780C50EF93}"/>
                </a:ext>
              </a:extLst>
            </p:cNvPr>
            <p:cNvCxnSpPr/>
            <p:nvPr/>
          </p:nvCxnSpPr>
          <p:spPr bwMode="auto">
            <a:xfrm rot="5400000">
              <a:off x="9982221"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50" name="Straight Connector 49">
              <a:extLst>
                <a:ext uri="{FF2B5EF4-FFF2-40B4-BE49-F238E27FC236}">
                  <a16:creationId xmlns:a16="http://schemas.microsoft.com/office/drawing/2014/main" id="{965A2AA1-FDC5-4BD7-BE60-BC029C430D61}"/>
                </a:ext>
              </a:extLst>
            </p:cNvPr>
            <p:cNvCxnSpPr/>
            <p:nvPr/>
          </p:nvCxnSpPr>
          <p:spPr bwMode="auto">
            <a:xfrm rot="5400000">
              <a:off x="10365149"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51" name="Straight Arrow Connector 50">
              <a:extLst>
                <a:ext uri="{FF2B5EF4-FFF2-40B4-BE49-F238E27FC236}">
                  <a16:creationId xmlns:a16="http://schemas.microsoft.com/office/drawing/2014/main" id="{F31F2B07-287A-41ED-A907-DB5D41B99C7E}"/>
                </a:ext>
              </a:extLst>
            </p:cNvPr>
            <p:cNvCxnSpPr/>
            <p:nvPr/>
          </p:nvCxnSpPr>
          <p:spPr bwMode="auto">
            <a:xfrm>
              <a:off x="6918795" y="3751527"/>
              <a:ext cx="4595139" cy="2111"/>
            </a:xfrm>
            <a:prstGeom prst="straightConnector1">
              <a:avLst/>
            </a:prstGeom>
            <a:solidFill>
              <a:srgbClr val="9954DE"/>
            </a:solidFill>
            <a:ln w="19050" cap="flat" cmpd="sng" algn="ctr">
              <a:solidFill>
                <a:schemeClr val="tx1"/>
              </a:solidFill>
              <a:prstDash val="solid"/>
              <a:round/>
              <a:headEnd type="none" w="med" len="med"/>
              <a:tailEnd type="arrow"/>
            </a:ln>
            <a:effectLst/>
          </p:spPr>
        </p:cxnSp>
        <p:cxnSp>
          <p:nvCxnSpPr>
            <p:cNvPr id="52" name="Straight Arrow Connector 51">
              <a:extLst>
                <a:ext uri="{FF2B5EF4-FFF2-40B4-BE49-F238E27FC236}">
                  <a16:creationId xmlns:a16="http://schemas.microsoft.com/office/drawing/2014/main" id="{65E1DFB0-78F0-4E59-A139-1D5C6ED68E24}"/>
                </a:ext>
              </a:extLst>
            </p:cNvPr>
            <p:cNvCxnSpPr/>
            <p:nvPr/>
          </p:nvCxnSpPr>
          <p:spPr bwMode="auto">
            <a:xfrm rot="5400000" flipH="1" flipV="1">
              <a:off x="6919850" y="3756222"/>
              <a:ext cx="4595139" cy="2111"/>
            </a:xfrm>
            <a:prstGeom prst="straightConnector1">
              <a:avLst/>
            </a:prstGeom>
            <a:solidFill>
              <a:srgbClr val="9954DE"/>
            </a:solidFill>
            <a:ln w="19050" cap="flat" cmpd="sng" algn="ctr">
              <a:solidFill>
                <a:schemeClr val="tx1"/>
              </a:solidFill>
              <a:prstDash val="solid"/>
              <a:round/>
              <a:headEnd type="none" w="med" len="med"/>
              <a:tailEnd type="arrow"/>
            </a:ln>
            <a:effectLst/>
          </p:spPr>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C09D1EF-80CF-4838-A2FB-643C8EDC4D7E}"/>
                    </a:ext>
                  </a:extLst>
                </p:cNvPr>
                <p:cNvSpPr txBox="1"/>
                <p:nvPr/>
              </p:nvSpPr>
              <p:spPr>
                <a:xfrm>
                  <a:off x="11211705" y="3767077"/>
                  <a:ext cx="3663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𝑥</m:t>
                        </m:r>
                      </m:oMath>
                    </m:oMathPara>
                  </a14:m>
                  <a:endParaRPr lang="en-AU" i="1" dirty="0">
                    <a:latin typeface="Cambria" panose="02040503050406030204" pitchFamily="18" charset="0"/>
                  </a:endParaRPr>
                </a:p>
              </p:txBody>
            </p:sp>
          </mc:Choice>
          <mc:Fallback xmlns="">
            <p:sp>
              <p:nvSpPr>
                <p:cNvPr id="76" name="TextBox 75"/>
                <p:cNvSpPr txBox="1">
                  <a:spLocks noRot="1" noChangeAspect="1" noMove="1" noResize="1" noEditPoints="1" noAdjustHandles="1" noChangeArrowheads="1" noChangeShapeType="1" noTextEdit="1"/>
                </p:cNvSpPr>
                <p:nvPr/>
              </p:nvSpPr>
              <p:spPr>
                <a:xfrm>
                  <a:off x="11211705" y="3767077"/>
                  <a:ext cx="366382" cy="369332"/>
                </a:xfrm>
                <a:prstGeom prst="rect">
                  <a:avLst/>
                </a:prstGeom>
                <a:blipFill>
                  <a:blip r:embed="rId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1BFE3E90-BBBD-4C05-8B82-59015D660C4D}"/>
                    </a:ext>
                  </a:extLst>
                </p:cNvPr>
                <p:cNvSpPr txBox="1"/>
                <p:nvPr/>
              </p:nvSpPr>
              <p:spPr>
                <a:xfrm>
                  <a:off x="8865790" y="142643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𝑦</m:t>
                        </m:r>
                      </m:oMath>
                    </m:oMathPara>
                  </a14:m>
                  <a:endParaRPr lang="en-AU" i="1" dirty="0">
                    <a:latin typeface="Cambria" panose="02040503050406030204" pitchFamily="18" charset="0"/>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8865790" y="1426437"/>
                  <a:ext cx="369781" cy="369332"/>
                </a:xfrm>
                <a:prstGeom prst="rect">
                  <a:avLst/>
                </a:prstGeom>
                <a:blipFill>
                  <a:blip r:embed="rId3"/>
                  <a:stretch>
                    <a:fillRect b="-6557"/>
                  </a:stretch>
                </a:blipFill>
              </p:spPr>
              <p:txBody>
                <a:bodyPr/>
                <a:lstStyle/>
                <a:p>
                  <a:r>
                    <a:rPr lang="en-AU">
                      <a:noFill/>
                    </a:rPr>
                    <a:t> </a:t>
                  </a:r>
                </a:p>
              </p:txBody>
            </p:sp>
          </mc:Fallback>
        </mc:AlternateContent>
        <p:sp>
          <p:nvSpPr>
            <p:cNvPr id="55" name="TextBox 54">
              <a:extLst>
                <a:ext uri="{FF2B5EF4-FFF2-40B4-BE49-F238E27FC236}">
                  <a16:creationId xmlns:a16="http://schemas.microsoft.com/office/drawing/2014/main" id="{5DAC1A94-5C22-4632-951C-44100236C303}"/>
                </a:ext>
              </a:extLst>
            </p:cNvPr>
            <p:cNvSpPr txBox="1"/>
            <p:nvPr/>
          </p:nvSpPr>
          <p:spPr>
            <a:xfrm>
              <a:off x="8962124" y="3691868"/>
              <a:ext cx="316112" cy="369332"/>
            </a:xfrm>
            <a:prstGeom prst="rect">
              <a:avLst/>
            </a:prstGeom>
            <a:noFill/>
          </p:spPr>
          <p:txBody>
            <a:bodyPr wrap="none" rtlCol="0">
              <a:spAutoFit/>
            </a:bodyPr>
            <a:lstStyle/>
            <a:p>
              <a:r>
                <a:rPr lang="en-AU" i="1" dirty="0">
                  <a:latin typeface="Cambria" panose="02040503050406030204" pitchFamily="18" charset="0"/>
                </a:rPr>
                <a:t>0</a:t>
              </a:r>
            </a:p>
          </p:txBody>
        </p:sp>
      </p:grpSp>
      <p:sp>
        <p:nvSpPr>
          <p:cNvPr id="56" name="Freeform 131">
            <a:extLst>
              <a:ext uri="{FF2B5EF4-FFF2-40B4-BE49-F238E27FC236}">
                <a16:creationId xmlns:a16="http://schemas.microsoft.com/office/drawing/2014/main" id="{0355047F-7B6E-445C-A6CD-B12319E0C1B1}"/>
              </a:ext>
            </a:extLst>
          </p:cNvPr>
          <p:cNvSpPr/>
          <p:nvPr/>
        </p:nvSpPr>
        <p:spPr>
          <a:xfrm>
            <a:off x="2410138" y="1343846"/>
            <a:ext cx="1990493" cy="2308308"/>
          </a:xfrm>
          <a:custGeom>
            <a:avLst/>
            <a:gdLst>
              <a:gd name="connsiteX0" fmla="*/ 0 w 1990493"/>
              <a:gd name="connsiteY0" fmla="*/ 0 h 2308308"/>
              <a:gd name="connsiteX1" fmla="*/ 245327 w 1990493"/>
              <a:gd name="connsiteY1" fmla="*/ 775010 h 2308308"/>
              <a:gd name="connsiteX2" fmla="*/ 618893 w 1990493"/>
              <a:gd name="connsiteY2" fmla="*/ 1923586 h 2308308"/>
              <a:gd name="connsiteX3" fmla="*/ 1003610 w 1990493"/>
              <a:gd name="connsiteY3" fmla="*/ 2308303 h 2308308"/>
              <a:gd name="connsiteX4" fmla="*/ 1388327 w 1990493"/>
              <a:gd name="connsiteY4" fmla="*/ 1929161 h 2308308"/>
              <a:gd name="connsiteX5" fmla="*/ 1773044 w 1990493"/>
              <a:gd name="connsiteY5" fmla="*/ 775010 h 2308308"/>
              <a:gd name="connsiteX6" fmla="*/ 1990493 w 1990493"/>
              <a:gd name="connsiteY6" fmla="*/ 22303 h 230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0493" h="2308308">
                <a:moveTo>
                  <a:pt x="0" y="0"/>
                </a:moveTo>
                <a:cubicBezTo>
                  <a:pt x="71089" y="227206"/>
                  <a:pt x="142178" y="454412"/>
                  <a:pt x="245327" y="775010"/>
                </a:cubicBezTo>
                <a:cubicBezTo>
                  <a:pt x="348476" y="1095608"/>
                  <a:pt x="492513" y="1668037"/>
                  <a:pt x="618893" y="1923586"/>
                </a:cubicBezTo>
                <a:cubicBezTo>
                  <a:pt x="745274" y="2179135"/>
                  <a:pt x="875371" y="2307374"/>
                  <a:pt x="1003610" y="2308303"/>
                </a:cubicBezTo>
                <a:cubicBezTo>
                  <a:pt x="1131849" y="2309232"/>
                  <a:pt x="1260088" y="2184710"/>
                  <a:pt x="1388327" y="1929161"/>
                </a:cubicBezTo>
                <a:cubicBezTo>
                  <a:pt x="1516566" y="1673612"/>
                  <a:pt x="1672683" y="1092820"/>
                  <a:pt x="1773044" y="775010"/>
                </a:cubicBezTo>
                <a:cubicBezTo>
                  <a:pt x="1873405" y="457200"/>
                  <a:pt x="1931949" y="239751"/>
                  <a:pt x="1990493" y="22303"/>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7" name="Group 56">
            <a:extLst>
              <a:ext uri="{FF2B5EF4-FFF2-40B4-BE49-F238E27FC236}">
                <a16:creationId xmlns:a16="http://schemas.microsoft.com/office/drawing/2014/main" id="{E42766C0-B7F3-4748-BDAB-F5B2AA4D72B6}"/>
              </a:ext>
            </a:extLst>
          </p:cNvPr>
          <p:cNvGrpSpPr/>
          <p:nvPr/>
        </p:nvGrpSpPr>
        <p:grpSpPr>
          <a:xfrm>
            <a:off x="1119014" y="1330589"/>
            <a:ext cx="4659292" cy="4628411"/>
            <a:chOff x="6918795" y="1426437"/>
            <a:chExt cx="4659292" cy="4628411"/>
          </a:xfrm>
        </p:grpSpPr>
        <p:cxnSp>
          <p:nvCxnSpPr>
            <p:cNvPr id="58" name="Straight Connector 57">
              <a:extLst>
                <a:ext uri="{FF2B5EF4-FFF2-40B4-BE49-F238E27FC236}">
                  <a16:creationId xmlns:a16="http://schemas.microsoft.com/office/drawing/2014/main" id="{0149FB4F-8A65-4AF9-BB8E-E48F03E16B46}"/>
                </a:ext>
              </a:extLst>
            </p:cNvPr>
            <p:cNvCxnSpPr/>
            <p:nvPr/>
          </p:nvCxnSpPr>
          <p:spPr bwMode="auto">
            <a:xfrm>
              <a:off x="6918795" y="1459708"/>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59" name="Straight Connector 58">
              <a:extLst>
                <a:ext uri="{FF2B5EF4-FFF2-40B4-BE49-F238E27FC236}">
                  <a16:creationId xmlns:a16="http://schemas.microsoft.com/office/drawing/2014/main" id="{7FFC276E-21C4-4F0D-BD96-0D927187F54A}"/>
                </a:ext>
              </a:extLst>
            </p:cNvPr>
            <p:cNvCxnSpPr/>
            <p:nvPr/>
          </p:nvCxnSpPr>
          <p:spPr bwMode="auto">
            <a:xfrm>
              <a:off x="6918795" y="1842636"/>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0" name="Straight Connector 59">
              <a:extLst>
                <a:ext uri="{FF2B5EF4-FFF2-40B4-BE49-F238E27FC236}">
                  <a16:creationId xmlns:a16="http://schemas.microsoft.com/office/drawing/2014/main" id="{268D9137-3A64-477A-9025-502BB4E628C8}"/>
                </a:ext>
              </a:extLst>
            </p:cNvPr>
            <p:cNvCxnSpPr/>
            <p:nvPr/>
          </p:nvCxnSpPr>
          <p:spPr bwMode="auto">
            <a:xfrm>
              <a:off x="6918795" y="2225565"/>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1" name="Straight Connector 60">
              <a:extLst>
                <a:ext uri="{FF2B5EF4-FFF2-40B4-BE49-F238E27FC236}">
                  <a16:creationId xmlns:a16="http://schemas.microsoft.com/office/drawing/2014/main" id="{F9F5FA3C-268A-43F5-9A78-1F104DA1726B}"/>
                </a:ext>
              </a:extLst>
            </p:cNvPr>
            <p:cNvCxnSpPr/>
            <p:nvPr/>
          </p:nvCxnSpPr>
          <p:spPr bwMode="auto">
            <a:xfrm>
              <a:off x="6918795" y="2608493"/>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2" name="Straight Connector 61">
              <a:extLst>
                <a:ext uri="{FF2B5EF4-FFF2-40B4-BE49-F238E27FC236}">
                  <a16:creationId xmlns:a16="http://schemas.microsoft.com/office/drawing/2014/main" id="{CA436B8B-CF7D-407D-B6D5-6F3B51BE266F}"/>
                </a:ext>
              </a:extLst>
            </p:cNvPr>
            <p:cNvCxnSpPr/>
            <p:nvPr/>
          </p:nvCxnSpPr>
          <p:spPr bwMode="auto">
            <a:xfrm>
              <a:off x="6918795" y="2991421"/>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3" name="Straight Connector 62">
              <a:extLst>
                <a:ext uri="{FF2B5EF4-FFF2-40B4-BE49-F238E27FC236}">
                  <a16:creationId xmlns:a16="http://schemas.microsoft.com/office/drawing/2014/main" id="{F45C6557-A996-4D90-ACF2-04123F334826}"/>
                </a:ext>
              </a:extLst>
            </p:cNvPr>
            <p:cNvCxnSpPr/>
            <p:nvPr/>
          </p:nvCxnSpPr>
          <p:spPr bwMode="auto">
            <a:xfrm>
              <a:off x="6918795" y="3374349"/>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4" name="Straight Connector 63">
              <a:extLst>
                <a:ext uri="{FF2B5EF4-FFF2-40B4-BE49-F238E27FC236}">
                  <a16:creationId xmlns:a16="http://schemas.microsoft.com/office/drawing/2014/main" id="{E1696A5A-AD7B-4759-9726-77B17A9302DF}"/>
                </a:ext>
              </a:extLst>
            </p:cNvPr>
            <p:cNvCxnSpPr/>
            <p:nvPr/>
          </p:nvCxnSpPr>
          <p:spPr bwMode="auto">
            <a:xfrm>
              <a:off x="6918795" y="3757278"/>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5" name="Straight Connector 64">
              <a:extLst>
                <a:ext uri="{FF2B5EF4-FFF2-40B4-BE49-F238E27FC236}">
                  <a16:creationId xmlns:a16="http://schemas.microsoft.com/office/drawing/2014/main" id="{55B399B3-A899-4CA0-8EC8-6A9B5EA80902}"/>
                </a:ext>
              </a:extLst>
            </p:cNvPr>
            <p:cNvCxnSpPr/>
            <p:nvPr/>
          </p:nvCxnSpPr>
          <p:spPr bwMode="auto">
            <a:xfrm rot="5400000">
              <a:off x="5770010"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6" name="Straight Connector 65">
              <a:extLst>
                <a:ext uri="{FF2B5EF4-FFF2-40B4-BE49-F238E27FC236}">
                  <a16:creationId xmlns:a16="http://schemas.microsoft.com/office/drawing/2014/main" id="{DD6377A5-CB50-498C-A283-DE49507FF50B}"/>
                </a:ext>
              </a:extLst>
            </p:cNvPr>
            <p:cNvCxnSpPr/>
            <p:nvPr/>
          </p:nvCxnSpPr>
          <p:spPr bwMode="auto">
            <a:xfrm rot="5400000">
              <a:off x="6152938"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7" name="Straight Connector 66">
              <a:extLst>
                <a:ext uri="{FF2B5EF4-FFF2-40B4-BE49-F238E27FC236}">
                  <a16:creationId xmlns:a16="http://schemas.microsoft.com/office/drawing/2014/main" id="{767330B4-1DD6-4822-80E9-9ABEE789E9B7}"/>
                </a:ext>
              </a:extLst>
            </p:cNvPr>
            <p:cNvCxnSpPr/>
            <p:nvPr/>
          </p:nvCxnSpPr>
          <p:spPr bwMode="auto">
            <a:xfrm rot="5400000">
              <a:off x="6535867"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8" name="Straight Connector 67">
              <a:extLst>
                <a:ext uri="{FF2B5EF4-FFF2-40B4-BE49-F238E27FC236}">
                  <a16:creationId xmlns:a16="http://schemas.microsoft.com/office/drawing/2014/main" id="{9A7F0B2C-126F-4866-AC2D-0210D277B981}"/>
                </a:ext>
              </a:extLst>
            </p:cNvPr>
            <p:cNvCxnSpPr/>
            <p:nvPr/>
          </p:nvCxnSpPr>
          <p:spPr bwMode="auto">
            <a:xfrm rot="5400000">
              <a:off x="6918795"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11A0167E-C5B6-4F86-AB29-95335E9FF52D}"/>
                </a:ext>
              </a:extLst>
            </p:cNvPr>
            <p:cNvCxnSpPr/>
            <p:nvPr/>
          </p:nvCxnSpPr>
          <p:spPr bwMode="auto">
            <a:xfrm rot="5400000">
              <a:off x="7301723"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27D83B9F-362C-4AF2-BF3F-C65968A42187}"/>
                </a:ext>
              </a:extLst>
            </p:cNvPr>
            <p:cNvCxnSpPr/>
            <p:nvPr/>
          </p:nvCxnSpPr>
          <p:spPr bwMode="auto">
            <a:xfrm rot="5400000">
              <a:off x="7684651"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1" name="Straight Connector 70">
              <a:extLst>
                <a:ext uri="{FF2B5EF4-FFF2-40B4-BE49-F238E27FC236}">
                  <a16:creationId xmlns:a16="http://schemas.microsoft.com/office/drawing/2014/main" id="{F072F8DB-89A8-4759-B10B-881542C5DD67}"/>
                </a:ext>
              </a:extLst>
            </p:cNvPr>
            <p:cNvCxnSpPr/>
            <p:nvPr/>
          </p:nvCxnSpPr>
          <p:spPr bwMode="auto">
            <a:xfrm rot="5400000">
              <a:off x="8067580"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2" name="Straight Connector 71">
              <a:extLst>
                <a:ext uri="{FF2B5EF4-FFF2-40B4-BE49-F238E27FC236}">
                  <a16:creationId xmlns:a16="http://schemas.microsoft.com/office/drawing/2014/main" id="{5984341A-FDA1-499C-8774-D9431C38C08A}"/>
                </a:ext>
              </a:extLst>
            </p:cNvPr>
            <p:cNvCxnSpPr/>
            <p:nvPr/>
          </p:nvCxnSpPr>
          <p:spPr bwMode="auto">
            <a:xfrm rot="5400000">
              <a:off x="8450508"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3" name="Straight Connector 72">
              <a:extLst>
                <a:ext uri="{FF2B5EF4-FFF2-40B4-BE49-F238E27FC236}">
                  <a16:creationId xmlns:a16="http://schemas.microsoft.com/office/drawing/2014/main" id="{E7BC75C6-E591-44C7-A275-423909FDB410}"/>
                </a:ext>
              </a:extLst>
            </p:cNvPr>
            <p:cNvCxnSpPr/>
            <p:nvPr/>
          </p:nvCxnSpPr>
          <p:spPr bwMode="auto">
            <a:xfrm rot="5400000">
              <a:off x="8833436"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4" name="Straight Connector 73">
              <a:extLst>
                <a:ext uri="{FF2B5EF4-FFF2-40B4-BE49-F238E27FC236}">
                  <a16:creationId xmlns:a16="http://schemas.microsoft.com/office/drawing/2014/main" id="{4FD4B270-BAF6-44BE-8DFD-5339E68D22A0}"/>
                </a:ext>
              </a:extLst>
            </p:cNvPr>
            <p:cNvCxnSpPr/>
            <p:nvPr/>
          </p:nvCxnSpPr>
          <p:spPr bwMode="auto">
            <a:xfrm rot="5400000">
              <a:off x="9216364"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5" name="Straight Connector 74">
              <a:extLst>
                <a:ext uri="{FF2B5EF4-FFF2-40B4-BE49-F238E27FC236}">
                  <a16:creationId xmlns:a16="http://schemas.microsoft.com/office/drawing/2014/main" id="{B400E679-F754-4506-8E33-07427FE9962C}"/>
                </a:ext>
              </a:extLst>
            </p:cNvPr>
            <p:cNvCxnSpPr/>
            <p:nvPr/>
          </p:nvCxnSpPr>
          <p:spPr bwMode="auto">
            <a:xfrm rot="5400000">
              <a:off x="9599293"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6" name="Straight Connector 75">
              <a:extLst>
                <a:ext uri="{FF2B5EF4-FFF2-40B4-BE49-F238E27FC236}">
                  <a16:creationId xmlns:a16="http://schemas.microsoft.com/office/drawing/2014/main" id="{81DC82BC-44DE-45E0-BAA7-5F66913C9DEF}"/>
                </a:ext>
              </a:extLst>
            </p:cNvPr>
            <p:cNvCxnSpPr/>
            <p:nvPr/>
          </p:nvCxnSpPr>
          <p:spPr bwMode="auto">
            <a:xfrm rot="5400000">
              <a:off x="9982221"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7" name="Straight Connector 76">
              <a:extLst>
                <a:ext uri="{FF2B5EF4-FFF2-40B4-BE49-F238E27FC236}">
                  <a16:creationId xmlns:a16="http://schemas.microsoft.com/office/drawing/2014/main" id="{24E06BAB-8809-4532-AB23-3BC3A304CA8A}"/>
                </a:ext>
              </a:extLst>
            </p:cNvPr>
            <p:cNvCxnSpPr/>
            <p:nvPr/>
          </p:nvCxnSpPr>
          <p:spPr bwMode="auto">
            <a:xfrm rot="5400000">
              <a:off x="10365149" y="260849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8" name="Straight Connector 77">
              <a:extLst>
                <a:ext uri="{FF2B5EF4-FFF2-40B4-BE49-F238E27FC236}">
                  <a16:creationId xmlns:a16="http://schemas.microsoft.com/office/drawing/2014/main" id="{7D666E46-AA3A-45B0-BF33-BBC76FFB877E}"/>
                </a:ext>
              </a:extLst>
            </p:cNvPr>
            <p:cNvCxnSpPr/>
            <p:nvPr/>
          </p:nvCxnSpPr>
          <p:spPr bwMode="auto">
            <a:xfrm>
              <a:off x="6918795" y="4140206"/>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79" name="Straight Connector 78">
              <a:extLst>
                <a:ext uri="{FF2B5EF4-FFF2-40B4-BE49-F238E27FC236}">
                  <a16:creationId xmlns:a16="http://schemas.microsoft.com/office/drawing/2014/main" id="{F4B1A977-F9EB-4D0C-8AB3-138135590788}"/>
                </a:ext>
              </a:extLst>
            </p:cNvPr>
            <p:cNvCxnSpPr/>
            <p:nvPr/>
          </p:nvCxnSpPr>
          <p:spPr bwMode="auto">
            <a:xfrm>
              <a:off x="6918795" y="4523134"/>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0" name="Straight Connector 79">
              <a:extLst>
                <a:ext uri="{FF2B5EF4-FFF2-40B4-BE49-F238E27FC236}">
                  <a16:creationId xmlns:a16="http://schemas.microsoft.com/office/drawing/2014/main" id="{201493A8-EB9F-413A-B2DB-4C9ABC753EE1}"/>
                </a:ext>
              </a:extLst>
            </p:cNvPr>
            <p:cNvCxnSpPr/>
            <p:nvPr/>
          </p:nvCxnSpPr>
          <p:spPr bwMode="auto">
            <a:xfrm>
              <a:off x="6918795" y="4906063"/>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1" name="Straight Connector 80">
              <a:extLst>
                <a:ext uri="{FF2B5EF4-FFF2-40B4-BE49-F238E27FC236}">
                  <a16:creationId xmlns:a16="http://schemas.microsoft.com/office/drawing/2014/main" id="{84DEC394-2C37-4955-B0A7-149F63955EB0}"/>
                </a:ext>
              </a:extLst>
            </p:cNvPr>
            <p:cNvCxnSpPr/>
            <p:nvPr/>
          </p:nvCxnSpPr>
          <p:spPr bwMode="auto">
            <a:xfrm>
              <a:off x="6918795" y="5288991"/>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2" name="Straight Connector 81">
              <a:extLst>
                <a:ext uri="{FF2B5EF4-FFF2-40B4-BE49-F238E27FC236}">
                  <a16:creationId xmlns:a16="http://schemas.microsoft.com/office/drawing/2014/main" id="{7AE4BA80-F59A-4790-A431-970A4E977F53}"/>
                </a:ext>
              </a:extLst>
            </p:cNvPr>
            <p:cNvCxnSpPr/>
            <p:nvPr/>
          </p:nvCxnSpPr>
          <p:spPr bwMode="auto">
            <a:xfrm>
              <a:off x="6918795" y="5671919"/>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3" name="Straight Connector 82">
              <a:extLst>
                <a:ext uri="{FF2B5EF4-FFF2-40B4-BE49-F238E27FC236}">
                  <a16:creationId xmlns:a16="http://schemas.microsoft.com/office/drawing/2014/main" id="{A94BA9C7-6CD5-418E-A1CA-7BBCBF0D3E98}"/>
                </a:ext>
              </a:extLst>
            </p:cNvPr>
            <p:cNvCxnSpPr/>
            <p:nvPr/>
          </p:nvCxnSpPr>
          <p:spPr bwMode="auto">
            <a:xfrm>
              <a:off x="6918795" y="6054847"/>
              <a:ext cx="4595139"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4" name="Straight Connector 83">
              <a:extLst>
                <a:ext uri="{FF2B5EF4-FFF2-40B4-BE49-F238E27FC236}">
                  <a16:creationId xmlns:a16="http://schemas.microsoft.com/office/drawing/2014/main" id="{80FD5FD0-ABC9-4BFB-B815-DB5BC3B3A776}"/>
                </a:ext>
              </a:extLst>
            </p:cNvPr>
            <p:cNvCxnSpPr/>
            <p:nvPr/>
          </p:nvCxnSpPr>
          <p:spPr bwMode="auto">
            <a:xfrm rot="5400000">
              <a:off x="5770010"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5" name="Straight Connector 84">
              <a:extLst>
                <a:ext uri="{FF2B5EF4-FFF2-40B4-BE49-F238E27FC236}">
                  <a16:creationId xmlns:a16="http://schemas.microsoft.com/office/drawing/2014/main" id="{FF2EEDFE-1E9A-4BD8-B18B-E690E9807DA1}"/>
                </a:ext>
              </a:extLst>
            </p:cNvPr>
            <p:cNvCxnSpPr/>
            <p:nvPr/>
          </p:nvCxnSpPr>
          <p:spPr bwMode="auto">
            <a:xfrm rot="5400000">
              <a:off x="6152938"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6" name="Straight Connector 85">
              <a:extLst>
                <a:ext uri="{FF2B5EF4-FFF2-40B4-BE49-F238E27FC236}">
                  <a16:creationId xmlns:a16="http://schemas.microsoft.com/office/drawing/2014/main" id="{13C2E1B5-6DC5-4E4E-81E4-19FCE52D1964}"/>
                </a:ext>
              </a:extLst>
            </p:cNvPr>
            <p:cNvCxnSpPr/>
            <p:nvPr/>
          </p:nvCxnSpPr>
          <p:spPr bwMode="auto">
            <a:xfrm rot="5400000">
              <a:off x="6535867"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7" name="Straight Connector 86">
              <a:extLst>
                <a:ext uri="{FF2B5EF4-FFF2-40B4-BE49-F238E27FC236}">
                  <a16:creationId xmlns:a16="http://schemas.microsoft.com/office/drawing/2014/main" id="{9A990C83-0D39-4D08-88FF-AEC112C85663}"/>
                </a:ext>
              </a:extLst>
            </p:cNvPr>
            <p:cNvCxnSpPr/>
            <p:nvPr/>
          </p:nvCxnSpPr>
          <p:spPr bwMode="auto">
            <a:xfrm rot="5400000">
              <a:off x="6918795"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8" name="Straight Connector 87">
              <a:extLst>
                <a:ext uri="{FF2B5EF4-FFF2-40B4-BE49-F238E27FC236}">
                  <a16:creationId xmlns:a16="http://schemas.microsoft.com/office/drawing/2014/main" id="{444E7F55-0F4A-40C3-B511-B6FA64C0CAF6}"/>
                </a:ext>
              </a:extLst>
            </p:cNvPr>
            <p:cNvCxnSpPr/>
            <p:nvPr/>
          </p:nvCxnSpPr>
          <p:spPr bwMode="auto">
            <a:xfrm rot="5400000">
              <a:off x="7301723"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89" name="Straight Connector 88">
              <a:extLst>
                <a:ext uri="{FF2B5EF4-FFF2-40B4-BE49-F238E27FC236}">
                  <a16:creationId xmlns:a16="http://schemas.microsoft.com/office/drawing/2014/main" id="{0167454B-1F23-48D1-9684-270B3D804F8F}"/>
                </a:ext>
              </a:extLst>
            </p:cNvPr>
            <p:cNvCxnSpPr/>
            <p:nvPr/>
          </p:nvCxnSpPr>
          <p:spPr bwMode="auto">
            <a:xfrm rot="5400000">
              <a:off x="7684651"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0" name="Straight Connector 89">
              <a:extLst>
                <a:ext uri="{FF2B5EF4-FFF2-40B4-BE49-F238E27FC236}">
                  <a16:creationId xmlns:a16="http://schemas.microsoft.com/office/drawing/2014/main" id="{008188D4-A472-4D67-9BF5-F82BAA291F53}"/>
                </a:ext>
              </a:extLst>
            </p:cNvPr>
            <p:cNvCxnSpPr/>
            <p:nvPr/>
          </p:nvCxnSpPr>
          <p:spPr bwMode="auto">
            <a:xfrm rot="5400000">
              <a:off x="8067580"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1" name="Straight Connector 90">
              <a:extLst>
                <a:ext uri="{FF2B5EF4-FFF2-40B4-BE49-F238E27FC236}">
                  <a16:creationId xmlns:a16="http://schemas.microsoft.com/office/drawing/2014/main" id="{DCC5CABD-BE27-49D6-8873-A7BF5DD7CE18}"/>
                </a:ext>
              </a:extLst>
            </p:cNvPr>
            <p:cNvCxnSpPr/>
            <p:nvPr/>
          </p:nvCxnSpPr>
          <p:spPr bwMode="auto">
            <a:xfrm rot="5400000">
              <a:off x="8450508"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2" name="Straight Connector 91">
              <a:extLst>
                <a:ext uri="{FF2B5EF4-FFF2-40B4-BE49-F238E27FC236}">
                  <a16:creationId xmlns:a16="http://schemas.microsoft.com/office/drawing/2014/main" id="{7D2B94FE-3D10-4A82-A956-7C1F0189BDBC}"/>
                </a:ext>
              </a:extLst>
            </p:cNvPr>
            <p:cNvCxnSpPr/>
            <p:nvPr/>
          </p:nvCxnSpPr>
          <p:spPr bwMode="auto">
            <a:xfrm rot="5400000">
              <a:off x="8833436"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3" name="Straight Connector 92">
              <a:extLst>
                <a:ext uri="{FF2B5EF4-FFF2-40B4-BE49-F238E27FC236}">
                  <a16:creationId xmlns:a16="http://schemas.microsoft.com/office/drawing/2014/main" id="{5CD477E7-61DA-4951-85BB-FCFB03D92F04}"/>
                </a:ext>
              </a:extLst>
            </p:cNvPr>
            <p:cNvCxnSpPr/>
            <p:nvPr/>
          </p:nvCxnSpPr>
          <p:spPr bwMode="auto">
            <a:xfrm rot="5400000">
              <a:off x="9216364"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4" name="Straight Connector 93">
              <a:extLst>
                <a:ext uri="{FF2B5EF4-FFF2-40B4-BE49-F238E27FC236}">
                  <a16:creationId xmlns:a16="http://schemas.microsoft.com/office/drawing/2014/main" id="{70DE71E9-88AD-4B0C-896A-79FBC5A2AC72}"/>
                </a:ext>
              </a:extLst>
            </p:cNvPr>
            <p:cNvCxnSpPr/>
            <p:nvPr/>
          </p:nvCxnSpPr>
          <p:spPr bwMode="auto">
            <a:xfrm rot="5400000">
              <a:off x="9599293"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5" name="Straight Connector 94">
              <a:extLst>
                <a:ext uri="{FF2B5EF4-FFF2-40B4-BE49-F238E27FC236}">
                  <a16:creationId xmlns:a16="http://schemas.microsoft.com/office/drawing/2014/main" id="{BCA4776D-65CF-4AAA-AF35-FE4218C6116D}"/>
                </a:ext>
              </a:extLst>
            </p:cNvPr>
            <p:cNvCxnSpPr/>
            <p:nvPr/>
          </p:nvCxnSpPr>
          <p:spPr bwMode="auto">
            <a:xfrm rot="5400000">
              <a:off x="9982221"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6" name="Straight Connector 95">
              <a:extLst>
                <a:ext uri="{FF2B5EF4-FFF2-40B4-BE49-F238E27FC236}">
                  <a16:creationId xmlns:a16="http://schemas.microsoft.com/office/drawing/2014/main" id="{0CF18A2A-EC9B-42FA-9A79-3E95E4EF5F0C}"/>
                </a:ext>
              </a:extLst>
            </p:cNvPr>
            <p:cNvCxnSpPr/>
            <p:nvPr/>
          </p:nvCxnSpPr>
          <p:spPr bwMode="auto">
            <a:xfrm rot="5400000">
              <a:off x="10365149" y="4906063"/>
              <a:ext cx="2297570" cy="0"/>
            </a:xfrm>
            <a:prstGeom prst="line">
              <a:avLst/>
            </a:prstGeom>
            <a:solidFill>
              <a:srgbClr val="9954DE"/>
            </a:solidFill>
            <a:ln w="9525" cap="flat" cmpd="sng" algn="ctr">
              <a:solidFill>
                <a:schemeClr val="accent5"/>
              </a:solidFill>
              <a:prstDash val="solid"/>
              <a:round/>
              <a:headEnd type="none" w="med" len="med"/>
              <a:tailEnd type="none" w="med" len="med"/>
            </a:ln>
            <a:effectLst/>
          </p:spPr>
        </p:cxnSp>
        <p:cxnSp>
          <p:nvCxnSpPr>
            <p:cNvPr id="97" name="Straight Arrow Connector 96">
              <a:extLst>
                <a:ext uri="{FF2B5EF4-FFF2-40B4-BE49-F238E27FC236}">
                  <a16:creationId xmlns:a16="http://schemas.microsoft.com/office/drawing/2014/main" id="{579033C7-443A-4E2E-B27B-6FDF3C7001A7}"/>
                </a:ext>
              </a:extLst>
            </p:cNvPr>
            <p:cNvCxnSpPr/>
            <p:nvPr/>
          </p:nvCxnSpPr>
          <p:spPr bwMode="auto">
            <a:xfrm>
              <a:off x="6918795" y="3751527"/>
              <a:ext cx="4595139" cy="2111"/>
            </a:xfrm>
            <a:prstGeom prst="straightConnector1">
              <a:avLst/>
            </a:prstGeom>
            <a:solidFill>
              <a:srgbClr val="9954DE"/>
            </a:solidFill>
            <a:ln w="19050" cap="flat" cmpd="sng" algn="ctr">
              <a:solidFill>
                <a:schemeClr val="tx1"/>
              </a:solidFill>
              <a:prstDash val="solid"/>
              <a:round/>
              <a:headEnd type="none" w="med" len="med"/>
              <a:tailEnd type="arrow"/>
            </a:ln>
            <a:effectLst/>
          </p:spPr>
        </p:cxnSp>
        <p:cxnSp>
          <p:nvCxnSpPr>
            <p:cNvPr id="98" name="Straight Arrow Connector 97">
              <a:extLst>
                <a:ext uri="{FF2B5EF4-FFF2-40B4-BE49-F238E27FC236}">
                  <a16:creationId xmlns:a16="http://schemas.microsoft.com/office/drawing/2014/main" id="{643CA87D-81E3-4BF1-9BFD-077C81B4AA3D}"/>
                </a:ext>
              </a:extLst>
            </p:cNvPr>
            <p:cNvCxnSpPr/>
            <p:nvPr/>
          </p:nvCxnSpPr>
          <p:spPr bwMode="auto">
            <a:xfrm rot="5400000" flipH="1" flipV="1">
              <a:off x="6919850" y="3756222"/>
              <a:ext cx="4595139" cy="2111"/>
            </a:xfrm>
            <a:prstGeom prst="straightConnector1">
              <a:avLst/>
            </a:prstGeom>
            <a:solidFill>
              <a:srgbClr val="9954DE"/>
            </a:solidFill>
            <a:ln w="19050" cap="flat" cmpd="sng" algn="ctr">
              <a:solidFill>
                <a:schemeClr val="tx1"/>
              </a:solidFill>
              <a:prstDash val="solid"/>
              <a:round/>
              <a:headEnd type="none" w="med" len="med"/>
              <a:tailEnd type="arrow"/>
            </a:ln>
            <a:effectLst/>
          </p:spPr>
        </p:cxn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705EEF78-1127-4167-A1FC-8B088F4B226F}"/>
                    </a:ext>
                  </a:extLst>
                </p:cNvPr>
                <p:cNvSpPr txBox="1"/>
                <p:nvPr/>
              </p:nvSpPr>
              <p:spPr>
                <a:xfrm>
                  <a:off x="11211705" y="3767077"/>
                  <a:ext cx="3663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𝑥</m:t>
                        </m:r>
                      </m:oMath>
                    </m:oMathPara>
                  </a14:m>
                  <a:endParaRPr lang="en-AU" i="1" dirty="0">
                    <a:latin typeface="Cambria" panose="02040503050406030204" pitchFamily="18" charset="0"/>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11211705" y="3767077"/>
                  <a:ext cx="366382" cy="369332"/>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5C23D9E-B1E7-4D2C-A4BE-9FF89EAB645C}"/>
                    </a:ext>
                  </a:extLst>
                </p:cNvPr>
                <p:cNvSpPr txBox="1"/>
                <p:nvPr/>
              </p:nvSpPr>
              <p:spPr>
                <a:xfrm>
                  <a:off x="8865790" y="142643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𝑦</m:t>
                        </m:r>
                      </m:oMath>
                    </m:oMathPara>
                  </a14:m>
                  <a:endParaRPr lang="en-AU" i="1" dirty="0">
                    <a:latin typeface="Cambria" panose="02040503050406030204" pitchFamily="18" charset="0"/>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8865790" y="1426437"/>
                  <a:ext cx="369781" cy="369332"/>
                </a:xfrm>
                <a:prstGeom prst="rect">
                  <a:avLst/>
                </a:prstGeom>
                <a:blipFill>
                  <a:blip r:embed="rId5"/>
                  <a:stretch>
                    <a:fillRect b="-6557"/>
                  </a:stretch>
                </a:blipFill>
              </p:spPr>
              <p:txBody>
                <a:bodyPr/>
                <a:lstStyle/>
                <a:p>
                  <a:r>
                    <a:rPr lang="en-AU">
                      <a:noFill/>
                    </a:rPr>
                    <a:t> </a:t>
                  </a:r>
                </a:p>
              </p:txBody>
            </p:sp>
          </mc:Fallback>
        </mc:AlternateContent>
        <p:sp>
          <p:nvSpPr>
            <p:cNvPr id="101" name="TextBox 100">
              <a:extLst>
                <a:ext uri="{FF2B5EF4-FFF2-40B4-BE49-F238E27FC236}">
                  <a16:creationId xmlns:a16="http://schemas.microsoft.com/office/drawing/2014/main" id="{F07BCBC5-9BC2-40D6-8BDC-1DFF8FA93F05}"/>
                </a:ext>
              </a:extLst>
            </p:cNvPr>
            <p:cNvSpPr txBox="1"/>
            <p:nvPr/>
          </p:nvSpPr>
          <p:spPr>
            <a:xfrm>
              <a:off x="8962124" y="3691868"/>
              <a:ext cx="316112" cy="369332"/>
            </a:xfrm>
            <a:prstGeom prst="rect">
              <a:avLst/>
            </a:prstGeom>
            <a:noFill/>
          </p:spPr>
          <p:txBody>
            <a:bodyPr wrap="none" rtlCol="0">
              <a:spAutoFit/>
            </a:bodyPr>
            <a:lstStyle/>
            <a:p>
              <a:r>
                <a:rPr lang="en-AU" i="1" dirty="0">
                  <a:latin typeface="Cambria" panose="02040503050406030204" pitchFamily="18" charset="0"/>
                </a:rPr>
                <a:t>0</a:t>
              </a:r>
            </a:p>
          </p:txBody>
        </p:sp>
      </p:grpSp>
      <p:cxnSp>
        <p:nvCxnSpPr>
          <p:cNvPr id="102" name="Straight Connector 101">
            <a:extLst>
              <a:ext uri="{FF2B5EF4-FFF2-40B4-BE49-F238E27FC236}">
                <a16:creationId xmlns:a16="http://schemas.microsoft.com/office/drawing/2014/main" id="{25868F49-BCA7-4678-8C05-2C5D5178A44C}"/>
              </a:ext>
            </a:extLst>
          </p:cNvPr>
          <p:cNvCxnSpPr/>
          <p:nvPr/>
        </p:nvCxnSpPr>
        <p:spPr>
          <a:xfrm>
            <a:off x="2768575" y="1363860"/>
            <a:ext cx="0" cy="459513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CBF9CE5F-64A0-4B6E-AF9C-9C4D5134CC96}"/>
              </a:ext>
            </a:extLst>
          </p:cNvPr>
          <p:cNvSpPr txBox="1"/>
          <p:nvPr/>
        </p:nvSpPr>
        <p:spPr>
          <a:xfrm>
            <a:off x="2601744" y="2353002"/>
            <a:ext cx="338554" cy="461665"/>
          </a:xfrm>
          <a:prstGeom prst="rect">
            <a:avLst/>
          </a:prstGeom>
          <a:noFill/>
        </p:spPr>
        <p:txBody>
          <a:bodyPr wrap="none" rtlCol="0">
            <a:spAutoFit/>
          </a:bodyPr>
          <a:lstStyle/>
          <a:p>
            <a:r>
              <a:rPr lang="en-AU" sz="2400" b="1" dirty="0"/>
              <a:t>*</a:t>
            </a:r>
          </a:p>
        </p:txBody>
      </p:sp>
      <p:sp>
        <p:nvSpPr>
          <p:cNvPr id="104" name="Oval 103">
            <a:extLst>
              <a:ext uri="{FF2B5EF4-FFF2-40B4-BE49-F238E27FC236}">
                <a16:creationId xmlns:a16="http://schemas.microsoft.com/office/drawing/2014/main" id="{5E7B3F02-C519-4560-9230-6F66FABA05A8}"/>
              </a:ext>
            </a:extLst>
          </p:cNvPr>
          <p:cNvSpPr/>
          <p:nvPr/>
        </p:nvSpPr>
        <p:spPr>
          <a:xfrm>
            <a:off x="7622052" y="2476289"/>
            <a:ext cx="2297569" cy="2297569"/>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5" name="Straight Connector 104">
            <a:extLst>
              <a:ext uri="{FF2B5EF4-FFF2-40B4-BE49-F238E27FC236}">
                <a16:creationId xmlns:a16="http://schemas.microsoft.com/office/drawing/2014/main" id="{061D64F0-B0B7-4979-AA4B-0AEF9BA34936}"/>
              </a:ext>
            </a:extLst>
          </p:cNvPr>
          <p:cNvCxnSpPr/>
          <p:nvPr/>
        </p:nvCxnSpPr>
        <p:spPr>
          <a:xfrm>
            <a:off x="8195479" y="1311956"/>
            <a:ext cx="0" cy="4595139"/>
          </a:xfrm>
          <a:prstGeom prst="line">
            <a:avLst/>
          </a:prstGeom>
          <a:ln w="1905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FAFA8819-B991-4C7A-9D54-114E5888A1D2}"/>
              </a:ext>
            </a:extLst>
          </p:cNvPr>
          <p:cNvSpPr txBox="1"/>
          <p:nvPr/>
        </p:nvSpPr>
        <p:spPr>
          <a:xfrm>
            <a:off x="8037840" y="2476560"/>
            <a:ext cx="338554" cy="461665"/>
          </a:xfrm>
          <a:prstGeom prst="rect">
            <a:avLst/>
          </a:prstGeom>
          <a:noFill/>
        </p:spPr>
        <p:txBody>
          <a:bodyPr wrap="none" rtlCol="0">
            <a:spAutoFit/>
          </a:bodyPr>
          <a:lstStyle/>
          <a:p>
            <a:r>
              <a:rPr lang="en-AU" sz="2400" b="1" dirty="0"/>
              <a:t>*</a:t>
            </a:r>
          </a:p>
        </p:txBody>
      </p:sp>
      <p:sp>
        <p:nvSpPr>
          <p:cNvPr id="107" name="TextBox 106">
            <a:extLst>
              <a:ext uri="{FF2B5EF4-FFF2-40B4-BE49-F238E27FC236}">
                <a16:creationId xmlns:a16="http://schemas.microsoft.com/office/drawing/2014/main" id="{C03FEED8-4D62-49A0-9397-CEFE9C632137}"/>
              </a:ext>
            </a:extLst>
          </p:cNvPr>
          <p:cNvSpPr txBox="1"/>
          <p:nvPr/>
        </p:nvSpPr>
        <p:spPr>
          <a:xfrm>
            <a:off x="8037840" y="4427286"/>
            <a:ext cx="338554" cy="461665"/>
          </a:xfrm>
          <a:prstGeom prst="rect">
            <a:avLst/>
          </a:prstGeom>
          <a:noFill/>
        </p:spPr>
        <p:txBody>
          <a:bodyPr wrap="none" rtlCol="0">
            <a:spAutoFit/>
          </a:bodyPr>
          <a:lstStyle/>
          <a:p>
            <a:r>
              <a:rPr lang="en-AU" sz="2400" b="1" dirty="0"/>
              <a:t>*</a:t>
            </a:r>
          </a:p>
        </p:txBody>
      </p:sp>
      <p:sp>
        <p:nvSpPr>
          <p:cNvPr id="108" name="TextBox 107">
            <a:extLst>
              <a:ext uri="{FF2B5EF4-FFF2-40B4-BE49-F238E27FC236}">
                <a16:creationId xmlns:a16="http://schemas.microsoft.com/office/drawing/2014/main" id="{5DD329FF-ACB9-426C-A82E-29EDA02BA46F}"/>
              </a:ext>
            </a:extLst>
          </p:cNvPr>
          <p:cNvSpPr txBox="1"/>
          <p:nvPr/>
        </p:nvSpPr>
        <p:spPr>
          <a:xfrm>
            <a:off x="8190620" y="4787297"/>
            <a:ext cx="2975462" cy="923330"/>
          </a:xfrm>
          <a:prstGeom prst="rect">
            <a:avLst/>
          </a:prstGeom>
          <a:noFill/>
        </p:spPr>
        <p:txBody>
          <a:bodyPr wrap="square" rtlCol="0">
            <a:spAutoFit/>
          </a:bodyPr>
          <a:lstStyle/>
          <a:p>
            <a:pPr algn="ctr"/>
            <a:r>
              <a:rPr lang="en-AU" dirty="0">
                <a:solidFill>
                  <a:srgbClr val="FF0000"/>
                </a:solidFill>
                <a:latin typeface="+mj-lt"/>
              </a:rPr>
              <a:t>This is not a function because there are more than one value of </a:t>
            </a:r>
            <a:r>
              <a:rPr lang="en-AU" i="1" dirty="0">
                <a:solidFill>
                  <a:srgbClr val="FF0000"/>
                </a:solidFill>
                <a:latin typeface="Cambria" panose="02040503050406030204" pitchFamily="18" charset="0"/>
              </a:rPr>
              <a:t>y</a:t>
            </a:r>
            <a:r>
              <a:rPr lang="en-AU" dirty="0">
                <a:solidFill>
                  <a:srgbClr val="FF0000"/>
                </a:solidFill>
                <a:latin typeface="+mj-lt"/>
              </a:rPr>
              <a:t> for each </a:t>
            </a:r>
            <a:r>
              <a:rPr lang="en-AU" i="1" dirty="0">
                <a:solidFill>
                  <a:srgbClr val="FF0000"/>
                </a:solidFill>
                <a:latin typeface="Cambria" panose="02040503050406030204" pitchFamily="18" charset="0"/>
              </a:rPr>
              <a:t>x</a:t>
            </a:r>
            <a:r>
              <a:rPr lang="en-AU" dirty="0">
                <a:solidFill>
                  <a:srgbClr val="FF0000"/>
                </a:solidFill>
                <a:latin typeface="+mj-lt"/>
              </a:rPr>
              <a:t>.</a:t>
            </a:r>
          </a:p>
        </p:txBody>
      </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E1D3891-0E65-48FF-B3C7-6FEAEBC39F1B}"/>
                  </a:ext>
                </a:extLst>
              </p:cNvPr>
              <p:cNvSpPr txBox="1"/>
              <p:nvPr/>
            </p:nvSpPr>
            <p:spPr>
              <a:xfrm>
                <a:off x="9150924" y="2138682"/>
                <a:ext cx="138794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AU" sz="2000" i="1" smtClean="0">
                              <a:solidFill>
                                <a:srgbClr val="FF0000"/>
                              </a:solidFill>
                              <a:latin typeface="Cambria Math" panose="02040503050406030204" pitchFamily="18" charset="0"/>
                            </a:rPr>
                          </m:ctrlPr>
                        </m:sSupPr>
                        <m:e>
                          <m:r>
                            <a:rPr lang="en-AU" sz="2000" b="0" i="1" smtClean="0">
                              <a:solidFill>
                                <a:srgbClr val="FF0000"/>
                              </a:solidFill>
                              <a:latin typeface="Cambria Math" panose="02040503050406030204" pitchFamily="18" charset="0"/>
                            </a:rPr>
                            <m:t>𝑦</m:t>
                          </m:r>
                        </m:e>
                        <m:sup>
                          <m:r>
                            <a:rPr lang="en-AU" sz="2000" b="0" i="1" smtClean="0">
                              <a:solidFill>
                                <a:srgbClr val="FF0000"/>
                              </a:solidFill>
                              <a:latin typeface="Cambria Math" panose="02040503050406030204" pitchFamily="18" charset="0"/>
                            </a:rPr>
                            <m:t>2</m:t>
                          </m:r>
                        </m:sup>
                      </m:sSup>
                      <m:r>
                        <a:rPr lang="en-AU" sz="2000" b="0" i="1" smtClean="0">
                          <a:solidFill>
                            <a:srgbClr val="FF0000"/>
                          </a:solidFill>
                          <a:latin typeface="Cambria Math" panose="02040503050406030204" pitchFamily="18" charset="0"/>
                        </a:rPr>
                        <m:t>+</m:t>
                      </m:r>
                      <m:sSup>
                        <m:sSupPr>
                          <m:ctrlPr>
                            <a:rPr lang="en-AU" sz="2000" b="0" i="1" smtClean="0">
                              <a:solidFill>
                                <a:srgbClr val="FF0000"/>
                              </a:solidFill>
                              <a:latin typeface="Cambria Math" panose="02040503050406030204" pitchFamily="18" charset="0"/>
                            </a:rPr>
                          </m:ctrlPr>
                        </m:sSupPr>
                        <m:e>
                          <m:r>
                            <a:rPr lang="en-AU" sz="2000" b="0" i="1" smtClean="0">
                              <a:solidFill>
                                <a:srgbClr val="FF0000"/>
                              </a:solidFill>
                              <a:latin typeface="Cambria Math" panose="02040503050406030204" pitchFamily="18" charset="0"/>
                            </a:rPr>
                            <m:t>𝑥</m:t>
                          </m:r>
                        </m:e>
                        <m:sup>
                          <m:r>
                            <a:rPr lang="en-AU" sz="2000" b="0" i="1" smtClean="0">
                              <a:solidFill>
                                <a:srgbClr val="FF0000"/>
                              </a:solidFill>
                              <a:latin typeface="Cambria Math" panose="02040503050406030204" pitchFamily="18" charset="0"/>
                            </a:rPr>
                            <m:t>2</m:t>
                          </m:r>
                        </m:sup>
                      </m:sSup>
                      <m:r>
                        <a:rPr lang="en-AU" sz="2000" b="0" i="1" smtClean="0">
                          <a:solidFill>
                            <a:srgbClr val="FF0000"/>
                          </a:solidFill>
                          <a:latin typeface="Cambria Math" panose="02040503050406030204" pitchFamily="18" charset="0"/>
                        </a:rPr>
                        <m:t>=9</m:t>
                      </m:r>
                    </m:oMath>
                  </m:oMathPara>
                </a14:m>
                <a:endParaRPr lang="en-AU" sz="2000" dirty="0">
                  <a:solidFill>
                    <a:srgbClr val="FF0000"/>
                  </a:solidFill>
                </a:endParaRPr>
              </a:p>
            </p:txBody>
          </p:sp>
        </mc:Choice>
        <mc:Fallback xmlns="">
          <p:sp>
            <p:nvSpPr>
              <p:cNvPr id="109" name="TextBox 108">
                <a:extLst>
                  <a:ext uri="{FF2B5EF4-FFF2-40B4-BE49-F238E27FC236}">
                    <a16:creationId xmlns:a16="http://schemas.microsoft.com/office/drawing/2014/main" id="{6E1D3891-0E65-48FF-B3C7-6FEAEBC39F1B}"/>
                  </a:ext>
                </a:extLst>
              </p:cNvPr>
              <p:cNvSpPr txBox="1">
                <a:spLocks noRot="1" noChangeAspect="1" noMove="1" noResize="1" noEditPoints="1" noAdjustHandles="1" noChangeArrowheads="1" noChangeShapeType="1" noTextEdit="1"/>
              </p:cNvSpPr>
              <p:nvPr/>
            </p:nvSpPr>
            <p:spPr>
              <a:xfrm>
                <a:off x="9150924" y="2138682"/>
                <a:ext cx="1387944" cy="307777"/>
              </a:xfrm>
              <a:prstGeom prst="rect">
                <a:avLst/>
              </a:prstGeom>
              <a:blipFill>
                <a:blip r:embed="rId6"/>
                <a:stretch>
                  <a:fillRect l="-3947" t="-4000" r="-3947" b="-26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218C7D35-8D63-4AD9-8622-DC0F6F284963}"/>
                  </a:ext>
                </a:extLst>
              </p:cNvPr>
              <p:cNvSpPr txBox="1"/>
              <p:nvPr/>
            </p:nvSpPr>
            <p:spPr>
              <a:xfrm>
                <a:off x="4480828" y="1389974"/>
                <a:ext cx="81111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b="0" i="1" smtClean="0">
                          <a:solidFill>
                            <a:srgbClr val="FF0000"/>
                          </a:solidFill>
                          <a:latin typeface="Cambria Math" panose="02040503050406030204" pitchFamily="18" charset="0"/>
                        </a:rPr>
                        <m:t>𝑦</m:t>
                      </m:r>
                      <m:r>
                        <a:rPr lang="en-AU" sz="2000" b="0" i="1" smtClean="0">
                          <a:solidFill>
                            <a:srgbClr val="FF0000"/>
                          </a:solidFill>
                          <a:latin typeface="Cambria Math" panose="02040503050406030204" pitchFamily="18" charset="0"/>
                        </a:rPr>
                        <m:t>=</m:t>
                      </m:r>
                      <m:sSup>
                        <m:sSupPr>
                          <m:ctrlPr>
                            <a:rPr lang="en-AU" sz="2000" b="0" i="1" smtClean="0">
                              <a:solidFill>
                                <a:srgbClr val="FF0000"/>
                              </a:solidFill>
                              <a:latin typeface="Cambria Math" panose="02040503050406030204" pitchFamily="18" charset="0"/>
                            </a:rPr>
                          </m:ctrlPr>
                        </m:sSupPr>
                        <m:e>
                          <m:r>
                            <a:rPr lang="en-AU" sz="2000" b="0" i="1" smtClean="0">
                              <a:solidFill>
                                <a:srgbClr val="FF0000"/>
                              </a:solidFill>
                              <a:latin typeface="Cambria Math" panose="02040503050406030204" pitchFamily="18" charset="0"/>
                            </a:rPr>
                            <m:t>𝑥</m:t>
                          </m:r>
                        </m:e>
                        <m:sup>
                          <m:r>
                            <a:rPr lang="en-AU" sz="2000" b="0" i="1" smtClean="0">
                              <a:solidFill>
                                <a:srgbClr val="FF0000"/>
                              </a:solidFill>
                              <a:latin typeface="Cambria Math" panose="02040503050406030204" pitchFamily="18" charset="0"/>
                            </a:rPr>
                            <m:t>2</m:t>
                          </m:r>
                        </m:sup>
                      </m:sSup>
                    </m:oMath>
                  </m:oMathPara>
                </a14:m>
                <a:endParaRPr lang="en-AU" sz="2000" dirty="0">
                  <a:solidFill>
                    <a:srgbClr val="FF0000"/>
                  </a:solidFill>
                </a:endParaRPr>
              </a:p>
            </p:txBody>
          </p:sp>
        </mc:Choice>
        <mc:Fallback xmlns="">
          <p:sp>
            <p:nvSpPr>
              <p:cNvPr id="110" name="TextBox 109">
                <a:extLst>
                  <a:ext uri="{FF2B5EF4-FFF2-40B4-BE49-F238E27FC236}">
                    <a16:creationId xmlns:a16="http://schemas.microsoft.com/office/drawing/2014/main" id="{218C7D35-8D63-4AD9-8622-DC0F6F284963}"/>
                  </a:ext>
                </a:extLst>
              </p:cNvPr>
              <p:cNvSpPr txBox="1">
                <a:spLocks noRot="1" noChangeAspect="1" noMove="1" noResize="1" noEditPoints="1" noAdjustHandles="1" noChangeArrowheads="1" noChangeShapeType="1" noTextEdit="1"/>
              </p:cNvSpPr>
              <p:nvPr/>
            </p:nvSpPr>
            <p:spPr>
              <a:xfrm>
                <a:off x="4480828" y="1389974"/>
                <a:ext cx="811119" cy="307777"/>
              </a:xfrm>
              <a:prstGeom prst="rect">
                <a:avLst/>
              </a:prstGeom>
              <a:blipFill>
                <a:blip r:embed="rId7"/>
                <a:stretch>
                  <a:fillRect l="-7519" t="-1961" r="-3008" b="-23529"/>
                </a:stretch>
              </a:blipFill>
            </p:spPr>
            <p:txBody>
              <a:bodyPr/>
              <a:lstStyle/>
              <a:p>
                <a:r>
                  <a:rPr lang="en-GB">
                    <a:noFill/>
                  </a:rPr>
                  <a:t> </a:t>
                </a:r>
              </a:p>
            </p:txBody>
          </p:sp>
        </mc:Fallback>
      </mc:AlternateContent>
      <p:pic>
        <p:nvPicPr>
          <p:cNvPr id="1028" name="Picture 4" descr="Graph Jokes">
            <a:extLst>
              <a:ext uri="{FF2B5EF4-FFF2-40B4-BE49-F238E27FC236}">
                <a16:creationId xmlns:a16="http://schemas.microsoft.com/office/drawing/2014/main" id="{0CEABB02-DD49-451A-90B1-6FA43E2E25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2430" y="998914"/>
            <a:ext cx="5240820" cy="5240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24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3C191B2-1E38-4754-B55D-5607C3727A99}"/>
                  </a:ext>
                </a:extLst>
              </p:cNvPr>
              <p:cNvSpPr txBox="1"/>
              <p:nvPr/>
            </p:nvSpPr>
            <p:spPr>
              <a:xfrm>
                <a:off x="240535" y="1070510"/>
                <a:ext cx="11710929" cy="1938992"/>
              </a:xfrm>
              <a:prstGeom prst="rect">
                <a:avLst/>
              </a:prstGeom>
              <a:noFill/>
            </p:spPr>
            <p:txBody>
              <a:bodyPr wrap="square" rtlCol="0">
                <a:spAutoFit/>
              </a:bodyPr>
              <a:lstStyle/>
              <a:p>
                <a:r>
                  <a:rPr lang="en-GB" sz="2400" i="1" dirty="0">
                    <a:latin typeface="+mj-lt"/>
                  </a:rPr>
                  <a:t>Bijective function and the horizontal line test</a:t>
                </a:r>
                <a:r>
                  <a:rPr lang="en-GB" sz="2400" dirty="0">
                    <a:latin typeface="+mj-lt"/>
                  </a:rPr>
                  <a:t>. 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a:t>
                </a:r>
                <a14:m>
                  <m:oMath xmlns:m="http://schemas.openxmlformats.org/officeDocument/2006/math">
                    <m:r>
                      <a:rPr lang="en-AU" sz="2400" i="1" smtClean="0">
                        <a:latin typeface="Cambria Math" panose="02040503050406030204" pitchFamily="18" charset="0"/>
                      </a:rPr>
                      <m:t>𝑓</m:t>
                    </m:r>
                    <m:r>
                      <a:rPr lang="en-AU" sz="2400" i="1">
                        <a:latin typeface="Cambria Math" panose="02040503050406030204" pitchFamily="18" charset="0"/>
                      </a:rPr>
                      <m:t> </m:t>
                    </m:r>
                  </m:oMath>
                </a14:m>
                <a:r>
                  <a:rPr lang="en-GB" sz="2400" dirty="0">
                    <a:latin typeface="+mj-lt"/>
                  </a:rPr>
                  <a:t> is said to be one-to-one or bijective if each element of the set </a:t>
                </a:r>
                <a14:m>
                  <m:oMath xmlns:m="http://schemas.openxmlformats.org/officeDocument/2006/math">
                    <m:r>
                      <a:rPr lang="en-AU" sz="2400" b="0" i="1" smtClean="0">
                        <a:latin typeface="Cambria Math" panose="02040503050406030204" pitchFamily="18" charset="0"/>
                      </a:rPr>
                      <m:t>𝑟𝑎𝑛</m:t>
                    </m:r>
                    <m:r>
                      <a:rPr lang="en-AU" sz="2400" i="1">
                        <a:latin typeface="Cambria Math" panose="02040503050406030204" pitchFamily="18" charset="0"/>
                      </a:rPr>
                      <m:t>(</m:t>
                    </m:r>
                    <m:r>
                      <a:rPr lang="en-AU" sz="2400" i="1">
                        <a:latin typeface="Cambria Math" panose="02040503050406030204" pitchFamily="18" charset="0"/>
                      </a:rPr>
                      <m:t>𝑓</m:t>
                    </m:r>
                    <m:r>
                      <a:rPr lang="en-AU" sz="2400" i="1">
                        <a:latin typeface="Cambria Math" panose="02040503050406030204" pitchFamily="18" charset="0"/>
                      </a:rPr>
                      <m:t>) </m:t>
                    </m:r>
                  </m:oMath>
                </a14:m>
                <a:r>
                  <a:rPr lang="en-GB" sz="2400" dirty="0">
                    <a:latin typeface="+mj-lt"/>
                  </a:rPr>
                  <a:t> has one and only one element of </a:t>
                </a:r>
                <a14:m>
                  <m:oMath xmlns:m="http://schemas.openxmlformats.org/officeDocument/2006/math">
                    <m:r>
                      <a:rPr lang="en-AU" sz="2400" b="0" i="1" smtClean="0">
                        <a:latin typeface="Cambria Math" panose="02040503050406030204" pitchFamily="18" charset="0"/>
                      </a:rPr>
                      <m:t>𝑑𝑜𝑚</m:t>
                    </m:r>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oMath>
                </a14:m>
                <a:r>
                  <a:rPr lang="en-GB" sz="2400" dirty="0">
                    <a:latin typeface="+mj-lt"/>
                  </a:rPr>
                  <a:t> mapped to it. </a:t>
                </a:r>
              </a:p>
              <a:p>
                <a:r>
                  <a:rPr lang="en-GB" sz="2400" dirty="0">
                    <a:latin typeface="+mj-lt"/>
                  </a:rPr>
                  <a:t>If a function is bijective, </a:t>
                </a:r>
                <a14:m>
                  <m:oMath xmlns:m="http://schemas.openxmlformats.org/officeDocument/2006/math">
                    <m:r>
                      <a:rPr lang="en-AU" sz="2400" b="0" i="1" smtClean="0">
                        <a:latin typeface="Cambria Math" panose="02040503050406030204" pitchFamily="18" charset="0"/>
                      </a:rPr>
                      <m:t>𝑔𝑟𝑎𝑝h</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𝑓</m:t>
                        </m:r>
                      </m:e>
                    </m:d>
                  </m:oMath>
                </a14:m>
                <a:r>
                  <a:rPr lang="en-GB" sz="2400" dirty="0">
                    <a:latin typeface="+mj-lt"/>
                  </a:rPr>
                  <a:t> has only one intersection point with a horizontal line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𝑏</m:t>
                    </m:r>
                  </m:oMath>
                </a14:m>
                <a:r>
                  <a:rPr lang="en-GB" sz="2400" dirty="0">
                    <a:latin typeface="+mj-lt"/>
                  </a:rPr>
                  <a:t> for every </a:t>
                </a:r>
                <a14:m>
                  <m:oMath xmlns:m="http://schemas.openxmlformats.org/officeDocument/2006/math">
                    <m:r>
                      <a:rPr lang="en-AU" sz="2400" b="0" i="1" smtClean="0">
                        <a:latin typeface="Cambria Math" panose="02040503050406030204" pitchFamily="18" charset="0"/>
                      </a:rPr>
                      <m:t>𝑏</m:t>
                    </m:r>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𝑟𝑎𝑛</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𝑓</m:t>
                        </m:r>
                      </m:e>
                    </m:d>
                    <m:r>
                      <a:rPr lang="en-AU" sz="2400" b="0" i="1" smtClean="0">
                        <a:latin typeface="Cambria Math" panose="02040503050406030204" pitchFamily="18" charset="0"/>
                        <a:ea typeface="Cambria Math" panose="02040503050406030204" pitchFamily="18" charset="0"/>
                      </a:rPr>
                      <m:t>.</m:t>
                    </m:r>
                  </m:oMath>
                </a14:m>
                <a:endParaRPr lang="en-GB" sz="2400" dirty="0">
                  <a:latin typeface="+mj-lt"/>
                </a:endParaRPr>
              </a:p>
            </p:txBody>
          </p:sp>
        </mc:Choice>
        <mc:Fallback xmlns="">
          <p:sp>
            <p:nvSpPr>
              <p:cNvPr id="2" name="TextBox 1">
                <a:extLst>
                  <a:ext uri="{FF2B5EF4-FFF2-40B4-BE49-F238E27FC236}">
                    <a16:creationId xmlns:a16="http://schemas.microsoft.com/office/drawing/2014/main" id="{A3C191B2-1E38-4754-B55D-5607C3727A99}"/>
                  </a:ext>
                </a:extLst>
              </p:cNvPr>
              <p:cNvSpPr txBox="1">
                <a:spLocks noRot="1" noChangeAspect="1" noMove="1" noResize="1" noEditPoints="1" noAdjustHandles="1" noChangeArrowheads="1" noChangeShapeType="1" noTextEdit="1"/>
              </p:cNvSpPr>
              <p:nvPr/>
            </p:nvSpPr>
            <p:spPr>
              <a:xfrm>
                <a:off x="240535" y="1070510"/>
                <a:ext cx="11710929" cy="1938992"/>
              </a:xfrm>
              <a:prstGeom prst="rect">
                <a:avLst/>
              </a:prstGeom>
              <a:blipFill>
                <a:blip r:embed="rId2"/>
                <a:stretch>
                  <a:fillRect l="-780" t="-2516" b="-6289"/>
                </a:stretch>
              </a:blipFill>
            </p:spPr>
            <p:txBody>
              <a:bodyPr/>
              <a:lstStyle/>
              <a:p>
                <a:r>
                  <a:rPr lang="en-GB">
                    <a:noFill/>
                  </a:rPr>
                  <a:t> </a:t>
                </a:r>
              </a:p>
            </p:txBody>
          </p:sp>
        </mc:Fallback>
      </mc:AlternateContent>
      <p:sp>
        <p:nvSpPr>
          <p:cNvPr id="11" name="Oval 10">
            <a:extLst>
              <a:ext uri="{FF2B5EF4-FFF2-40B4-BE49-F238E27FC236}">
                <a16:creationId xmlns:a16="http://schemas.microsoft.com/office/drawing/2014/main" id="{823158DF-CFE4-4399-BFB0-00F03CCC3378}"/>
              </a:ext>
            </a:extLst>
          </p:cNvPr>
          <p:cNvSpPr/>
          <p:nvPr/>
        </p:nvSpPr>
        <p:spPr>
          <a:xfrm>
            <a:off x="1630185" y="3254337"/>
            <a:ext cx="1714809" cy="27444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F34B3CFE-C680-48F0-B423-4C55EE254FFC}"/>
              </a:ext>
            </a:extLst>
          </p:cNvPr>
          <p:cNvSpPr/>
          <p:nvPr/>
        </p:nvSpPr>
        <p:spPr>
          <a:xfrm>
            <a:off x="7032951" y="3254337"/>
            <a:ext cx="1714809" cy="274443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Isosceles Triangle 12">
            <a:extLst>
              <a:ext uri="{FF2B5EF4-FFF2-40B4-BE49-F238E27FC236}">
                <a16:creationId xmlns:a16="http://schemas.microsoft.com/office/drawing/2014/main" id="{3516EC03-E06F-40C1-BBE7-2527C8A37825}"/>
              </a:ext>
            </a:extLst>
          </p:cNvPr>
          <p:cNvSpPr/>
          <p:nvPr/>
        </p:nvSpPr>
        <p:spPr>
          <a:xfrm>
            <a:off x="2306283" y="3377076"/>
            <a:ext cx="362611" cy="384734"/>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0B5F7434-0801-4A44-ADAD-17B4D1AF421E}"/>
              </a:ext>
            </a:extLst>
          </p:cNvPr>
          <p:cNvSpPr/>
          <p:nvPr/>
        </p:nvSpPr>
        <p:spPr>
          <a:xfrm>
            <a:off x="2314337" y="3963929"/>
            <a:ext cx="312595" cy="384734"/>
          </a:xfrm>
          <a:prstGeom prst="ellips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ight Triangle 15">
            <a:extLst>
              <a:ext uri="{FF2B5EF4-FFF2-40B4-BE49-F238E27FC236}">
                <a16:creationId xmlns:a16="http://schemas.microsoft.com/office/drawing/2014/main" id="{170B4A04-C78B-4AE5-ACBE-6554AD1FD6D7}"/>
              </a:ext>
            </a:extLst>
          </p:cNvPr>
          <p:cNvSpPr/>
          <p:nvPr/>
        </p:nvSpPr>
        <p:spPr>
          <a:xfrm>
            <a:off x="2416814" y="4593498"/>
            <a:ext cx="363206" cy="447025"/>
          </a:xfrm>
          <a:prstGeom prst="r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DE33566B-1770-43B7-BA7E-9A66431DA259}"/>
              </a:ext>
            </a:extLst>
          </p:cNvPr>
          <p:cNvSpPr/>
          <p:nvPr/>
        </p:nvSpPr>
        <p:spPr>
          <a:xfrm>
            <a:off x="2412303" y="5326634"/>
            <a:ext cx="279848" cy="34442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ED774C7C-833C-4AA3-8B62-CD44D2D9E48E}"/>
              </a:ext>
            </a:extLst>
          </p:cNvPr>
          <p:cNvSpPr txBox="1"/>
          <p:nvPr/>
        </p:nvSpPr>
        <p:spPr>
          <a:xfrm>
            <a:off x="7192942" y="3499849"/>
            <a:ext cx="1378829" cy="2339102"/>
          </a:xfrm>
          <a:prstGeom prst="rect">
            <a:avLst/>
          </a:prstGeom>
          <a:noFill/>
        </p:spPr>
        <p:txBody>
          <a:bodyPr wrap="square" rtlCol="0">
            <a:spAutoFit/>
          </a:bodyPr>
          <a:lstStyle/>
          <a:p>
            <a:pPr algn="ctr"/>
            <a:r>
              <a:rPr lang="en-AU" sz="1600" b="1" dirty="0">
                <a:solidFill>
                  <a:srgbClr val="FF0000"/>
                </a:solidFill>
                <a:latin typeface="+mj-lt"/>
              </a:rPr>
              <a:t>RED</a:t>
            </a:r>
          </a:p>
          <a:p>
            <a:pPr algn="ctr"/>
            <a:endParaRPr lang="en-AU" sz="1600" b="1" dirty="0">
              <a:latin typeface="+mj-lt"/>
            </a:endParaRPr>
          </a:p>
          <a:p>
            <a:pPr algn="ctr"/>
            <a:r>
              <a:rPr lang="en-AU" sz="1600" b="1" dirty="0">
                <a:solidFill>
                  <a:schemeClr val="accent6"/>
                </a:solidFill>
                <a:latin typeface="+mj-lt"/>
              </a:rPr>
              <a:t>GREEN</a:t>
            </a:r>
          </a:p>
          <a:p>
            <a:pPr algn="ctr"/>
            <a:endParaRPr lang="en-AU" sz="1600" b="1" dirty="0">
              <a:latin typeface="+mj-lt"/>
            </a:endParaRPr>
          </a:p>
          <a:p>
            <a:pPr algn="ctr"/>
            <a:r>
              <a:rPr lang="en-AU" sz="1600" b="1" dirty="0">
                <a:solidFill>
                  <a:schemeClr val="accent5"/>
                </a:solidFill>
                <a:latin typeface="+mj-lt"/>
              </a:rPr>
              <a:t>BLUE</a:t>
            </a:r>
          </a:p>
          <a:p>
            <a:pPr algn="ctr"/>
            <a:endParaRPr lang="en-AU" sz="1600" b="1" dirty="0">
              <a:latin typeface="+mj-lt"/>
            </a:endParaRPr>
          </a:p>
          <a:p>
            <a:pPr algn="ctr"/>
            <a:r>
              <a:rPr lang="en-AU" sz="1600" b="1" dirty="0">
                <a:solidFill>
                  <a:schemeClr val="accent4"/>
                </a:solidFill>
                <a:latin typeface="+mj-lt"/>
              </a:rPr>
              <a:t>YELLOW</a:t>
            </a:r>
          </a:p>
          <a:p>
            <a:pPr algn="ctr"/>
            <a:endParaRPr lang="en-AU" sz="1600" b="1" dirty="0">
              <a:latin typeface="+mj-lt"/>
            </a:endParaRPr>
          </a:p>
          <a:p>
            <a:pPr algn="ctr"/>
            <a:r>
              <a:rPr lang="en-AU" sz="1600" b="1" dirty="0">
                <a:solidFill>
                  <a:srgbClr val="7030A0"/>
                </a:solidFill>
                <a:latin typeface="+mj-lt"/>
              </a:rPr>
              <a:t>PURPLE</a:t>
            </a:r>
          </a:p>
        </p:txBody>
      </p:sp>
      <p:cxnSp>
        <p:nvCxnSpPr>
          <p:cNvPr id="19" name="Straight Arrow Connector 18">
            <a:extLst>
              <a:ext uri="{FF2B5EF4-FFF2-40B4-BE49-F238E27FC236}">
                <a16:creationId xmlns:a16="http://schemas.microsoft.com/office/drawing/2014/main" id="{4659D458-1F15-4C28-9BD3-4FBB643EF1DC}"/>
              </a:ext>
            </a:extLst>
          </p:cNvPr>
          <p:cNvCxnSpPr>
            <a:cxnSpLocks/>
          </p:cNvCxnSpPr>
          <p:nvPr/>
        </p:nvCxnSpPr>
        <p:spPr>
          <a:xfrm flipV="1">
            <a:off x="2855874" y="3761810"/>
            <a:ext cx="4723486" cy="175213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E75920F-9D86-40BD-81C1-69AA89360F95}"/>
              </a:ext>
            </a:extLst>
          </p:cNvPr>
          <p:cNvCxnSpPr>
            <a:cxnSpLocks/>
          </p:cNvCxnSpPr>
          <p:nvPr/>
        </p:nvCxnSpPr>
        <p:spPr>
          <a:xfrm>
            <a:off x="2770923" y="3557895"/>
            <a:ext cx="4808437" cy="16196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E3B3CC2-497F-4786-B8C6-4D2B2C0825FB}"/>
              </a:ext>
            </a:extLst>
          </p:cNvPr>
          <p:cNvCxnSpPr>
            <a:cxnSpLocks/>
          </p:cNvCxnSpPr>
          <p:nvPr/>
        </p:nvCxnSpPr>
        <p:spPr>
          <a:xfrm>
            <a:off x="2786923" y="4156296"/>
            <a:ext cx="472577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1976583-B30C-4922-A847-49AF193F85B3}"/>
              </a:ext>
            </a:extLst>
          </p:cNvPr>
          <p:cNvCxnSpPr>
            <a:cxnSpLocks/>
          </p:cNvCxnSpPr>
          <p:nvPr/>
        </p:nvCxnSpPr>
        <p:spPr>
          <a:xfrm>
            <a:off x="2855874" y="4817010"/>
            <a:ext cx="4550766" cy="3036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7389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p:pic>
        <p:nvPicPr>
          <p:cNvPr id="3" name="Picture 2">
            <a:extLst>
              <a:ext uri="{FF2B5EF4-FFF2-40B4-BE49-F238E27FC236}">
                <a16:creationId xmlns:a16="http://schemas.microsoft.com/office/drawing/2014/main" id="{11E6F5DB-5956-4965-B5ED-81589748F9C4}"/>
              </a:ext>
            </a:extLst>
          </p:cNvPr>
          <p:cNvPicPr>
            <a:picLocks noChangeAspect="1"/>
          </p:cNvPicPr>
          <p:nvPr/>
        </p:nvPicPr>
        <p:blipFill>
          <a:blip r:embed="rId2"/>
          <a:stretch>
            <a:fillRect/>
          </a:stretch>
        </p:blipFill>
        <p:spPr>
          <a:xfrm>
            <a:off x="1481899" y="2069047"/>
            <a:ext cx="4340646" cy="2947012"/>
          </a:xfrm>
          <a:prstGeom prst="rect">
            <a:avLst/>
          </a:prstGeom>
        </p:spPr>
      </p:pic>
      <p:pic>
        <p:nvPicPr>
          <p:cNvPr id="5" name="Picture 4">
            <a:extLst>
              <a:ext uri="{FF2B5EF4-FFF2-40B4-BE49-F238E27FC236}">
                <a16:creationId xmlns:a16="http://schemas.microsoft.com/office/drawing/2014/main" id="{05540C6F-63EE-40C8-934B-FBEFD084D380}"/>
              </a:ext>
            </a:extLst>
          </p:cNvPr>
          <p:cNvPicPr>
            <a:picLocks noChangeAspect="1"/>
          </p:cNvPicPr>
          <p:nvPr/>
        </p:nvPicPr>
        <p:blipFill>
          <a:blip r:embed="rId3"/>
          <a:stretch>
            <a:fillRect/>
          </a:stretch>
        </p:blipFill>
        <p:spPr>
          <a:xfrm>
            <a:off x="6392484" y="2148919"/>
            <a:ext cx="4516916" cy="2787267"/>
          </a:xfrm>
          <a:prstGeom prst="rect">
            <a:avLst/>
          </a:prstGeom>
        </p:spPr>
      </p:pic>
    </p:spTree>
    <p:extLst>
      <p:ext uri="{BB962C8B-B14F-4D97-AF65-F5344CB8AC3E}">
        <p14:creationId xmlns:p14="http://schemas.microsoft.com/office/powerpoint/2010/main" val="1749037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4B2B667-DEA3-4177-8FB4-CC84F5726AF8}"/>
                  </a:ext>
                </a:extLst>
              </p:cNvPr>
              <p:cNvSpPr txBox="1"/>
              <p:nvPr/>
            </p:nvSpPr>
            <p:spPr>
              <a:xfrm>
                <a:off x="240534" y="4348248"/>
                <a:ext cx="11710929" cy="1677190"/>
              </a:xfrm>
              <a:prstGeom prst="rect">
                <a:avLst/>
              </a:prstGeom>
              <a:noFill/>
            </p:spPr>
            <p:txBody>
              <a:bodyPr wrap="square" rtlCol="0">
                <a:spAutoFit/>
              </a:bodyPr>
              <a:lstStyle/>
              <a:p>
                <a:r>
                  <a:rPr lang="en-GB" sz="2400" i="1" dirty="0">
                    <a:latin typeface="+mj-lt"/>
                  </a:rPr>
                  <a:t>Natural Domain. </a:t>
                </a:r>
                <a:r>
                  <a:rPr lang="en-GB" sz="2400" dirty="0">
                    <a:latin typeface="+mj-lt"/>
                  </a:rPr>
                  <a:t>Given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the natural domain of </a:t>
                </a:r>
                <a14:m>
                  <m:oMath xmlns:m="http://schemas.openxmlformats.org/officeDocument/2006/math">
                    <m:r>
                      <a:rPr lang="en-AU" sz="2400" i="1" smtClean="0">
                        <a:latin typeface="Cambria Math" panose="02040503050406030204" pitchFamily="18" charset="0"/>
                      </a:rPr>
                      <m:t>𝑓</m:t>
                    </m:r>
                    <m:r>
                      <a:rPr lang="en-AU" sz="2400" i="1">
                        <a:latin typeface="Cambria Math" panose="02040503050406030204" pitchFamily="18" charset="0"/>
                      </a:rPr>
                      <m:t> </m:t>
                    </m:r>
                  </m:oMath>
                </a14:m>
                <a:r>
                  <a:rPr lang="en-GB" sz="2400" dirty="0">
                    <a:latin typeface="+mj-lt"/>
                  </a:rPr>
                  <a:t>is the largest possible subset </a:t>
                </a:r>
                <a14:m>
                  <m:oMath xmlns:m="http://schemas.openxmlformats.org/officeDocument/2006/math">
                    <m:r>
                      <a:rPr lang="en-AU" sz="2400" b="0" i="1" smtClean="0">
                        <a:latin typeface="Cambria Math" panose="02040503050406030204" pitchFamily="18" charset="0"/>
                      </a:rPr>
                      <m:t>𝐷</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for which the rule defining </a:t>
                </a:r>
                <a14:m>
                  <m:oMath xmlns:m="http://schemas.openxmlformats.org/officeDocument/2006/math">
                    <m:r>
                      <a:rPr lang="en-AU" sz="2400" i="1">
                        <a:latin typeface="Cambria Math" panose="02040503050406030204" pitchFamily="18" charset="0"/>
                      </a:rPr>
                      <m:t>𝑓</m:t>
                    </m:r>
                    <m:r>
                      <a:rPr lang="en-AU" sz="2400" i="1">
                        <a:latin typeface="Cambria Math" panose="02040503050406030204" pitchFamily="18" charset="0"/>
                      </a:rPr>
                      <m:t> </m:t>
                    </m:r>
                  </m:oMath>
                </a14:m>
                <a:r>
                  <a:rPr lang="en-GB" sz="2400" dirty="0">
                    <a:latin typeface="+mj-lt"/>
                  </a:rPr>
                  <a:t>can be implemented. </a:t>
                </a:r>
              </a:p>
              <a:p>
                <a:endParaRPr lang="en-GB" sz="2400" dirty="0">
                  <a:latin typeface="+mj-lt"/>
                </a:endParaRPr>
              </a:p>
              <a:p>
                <a:r>
                  <a:rPr lang="en-GB" sz="2400" dirty="0">
                    <a:latin typeface="+mj-lt"/>
                  </a:rPr>
                  <a:t>What is the natural domain and the range of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e>
                    </m:rad>
                  </m:oMath>
                </a14:m>
                <a:r>
                  <a:rPr lang="en-GB" sz="2400" dirty="0">
                    <a:latin typeface="+mj-lt"/>
                  </a:rPr>
                  <a:t>?</a:t>
                </a:r>
              </a:p>
            </p:txBody>
          </p:sp>
        </mc:Choice>
        <mc:Fallback xmlns="">
          <p:sp>
            <p:nvSpPr>
              <p:cNvPr id="2" name="TextBox 1">
                <a:extLst>
                  <a:ext uri="{FF2B5EF4-FFF2-40B4-BE49-F238E27FC236}">
                    <a16:creationId xmlns:a16="http://schemas.microsoft.com/office/drawing/2014/main" id="{B4B2B667-DEA3-4177-8FB4-CC84F5726AF8}"/>
                  </a:ext>
                </a:extLst>
              </p:cNvPr>
              <p:cNvSpPr txBox="1">
                <a:spLocks noRot="1" noChangeAspect="1" noMove="1" noResize="1" noEditPoints="1" noAdjustHandles="1" noChangeArrowheads="1" noChangeShapeType="1" noTextEdit="1"/>
              </p:cNvSpPr>
              <p:nvPr/>
            </p:nvSpPr>
            <p:spPr>
              <a:xfrm>
                <a:off x="240534" y="4348248"/>
                <a:ext cx="11710929" cy="1677190"/>
              </a:xfrm>
              <a:prstGeom prst="rect">
                <a:avLst/>
              </a:prstGeom>
              <a:blipFill>
                <a:blip r:embed="rId2"/>
                <a:stretch>
                  <a:fillRect l="-780" t="-2909" b="-4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ABCC82D-17F3-479B-BE7B-572FDB9F4B59}"/>
                  </a:ext>
                </a:extLst>
              </p:cNvPr>
              <p:cNvSpPr txBox="1"/>
              <p:nvPr/>
            </p:nvSpPr>
            <p:spPr>
              <a:xfrm>
                <a:off x="240534" y="972709"/>
                <a:ext cx="11710929" cy="3375539"/>
              </a:xfrm>
              <a:prstGeom prst="rect">
                <a:avLst/>
              </a:prstGeom>
              <a:noFill/>
            </p:spPr>
            <p:txBody>
              <a:bodyPr wrap="square" rtlCol="0">
                <a:spAutoFit/>
              </a:bodyPr>
              <a:lstStyle/>
              <a:p>
                <a:r>
                  <a:rPr lang="en-AU" sz="2400" dirty="0">
                    <a:latin typeface="+mj-lt"/>
                  </a:rPr>
                  <a:t>For the following functions, find their domain, range and say if they are bijective or not.</a:t>
                </a:r>
              </a:p>
              <a:p>
                <a:endParaRPr lang="en-AU" sz="2400" dirty="0">
                  <a:latin typeface="+mj-lt"/>
                </a:endParaRPr>
              </a:p>
              <a:p>
                <a:r>
                  <a:rPr lang="en-AU" sz="2400" dirty="0">
                    <a:latin typeface="+mj-lt"/>
                  </a:rPr>
                  <a:t>a.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oMath>
                </a14:m>
                <a:endParaRPr lang="en-GB" sz="2400" dirty="0">
                  <a:latin typeface="+mj-lt"/>
                </a:endParaRPr>
              </a:p>
              <a:p>
                <a:endParaRPr lang="en-GB" sz="2400" dirty="0">
                  <a:latin typeface="+mj-lt"/>
                </a:endParaRPr>
              </a:p>
              <a:p>
                <a:r>
                  <a:rPr lang="en-GB" sz="2400" dirty="0">
                    <a:latin typeface="+mj-lt"/>
                  </a:rPr>
                  <a:t>b.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2</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d>
                      <m:dPr>
                        <m:begChr m:val="{"/>
                        <m:endChr m:val=""/>
                        <m:ctrlPr>
                          <a:rPr lang="en-AU" sz="2400" b="0" i="1" smtClean="0">
                            <a:latin typeface="Cambria Math" panose="02040503050406030204" pitchFamily="18" charset="0"/>
                          </a:rPr>
                        </m:ctrlPr>
                      </m:dPr>
                      <m:e>
                        <m:m>
                          <m:mPr>
                            <m:mcs>
                              <m:mc>
                                <m:mcPr>
                                  <m:count m:val="1"/>
                                  <m:mcJc m:val="center"/>
                                </m:mcPr>
                              </m:mc>
                            </m:mcs>
                            <m:ctrlPr>
                              <a:rPr lang="en-AU" sz="2400" i="1">
                                <a:latin typeface="Cambria Math" panose="02040503050406030204" pitchFamily="18" charset="0"/>
                              </a:rPr>
                            </m:ctrlPr>
                          </m:mPr>
                          <m:mr>
                            <m:e>
                              <m:sSup>
                                <m:sSupPr>
                                  <m:ctrlPr>
                                    <a:rPr lang="en-AU" sz="240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m:rPr>
                                  <m:brk m:alnAt="7"/>
                                </m:rPr>
                                <a:rPr lang="en-AU" sz="2400" b="0" i="1" smtClean="0">
                                  <a:latin typeface="Cambria Math" panose="02040503050406030204" pitchFamily="18" charset="0"/>
                                </a:rPr>
                                <m:t> </m:t>
                              </m:r>
                              <m:r>
                                <a:rPr lang="en-AU" sz="2400" b="0" i="1" smtClean="0">
                                  <a:latin typeface="Cambria Math" panose="02040503050406030204" pitchFamily="18" charset="0"/>
                                </a:rPr>
                                <m:t>        </m:t>
                              </m:r>
                              <m:r>
                                <m:rPr>
                                  <m:sty m:val="p"/>
                                  <m:brk m:alnAt="7"/>
                                </m:rPr>
                                <a:rPr lang="en-AU" sz="2400" b="0" i="0" smtClean="0">
                                  <a:latin typeface="Cambria Math" panose="02040503050406030204" pitchFamily="18" charset="0"/>
                                </a:rPr>
                                <m:t>i</m:t>
                              </m:r>
                              <m:r>
                                <m:rPr>
                                  <m:sty m:val="p"/>
                                </m:rPr>
                                <a:rPr lang="en-AU" sz="2400" b="0" i="0" smtClean="0">
                                  <a:latin typeface="Cambria Math" panose="02040503050406030204" pitchFamily="18" charset="0"/>
                                </a:rPr>
                                <m:t>f</m:t>
                              </m:r>
                              <m:r>
                                <a:rPr lang="en-AU" sz="2400" b="0" i="0" smtClean="0">
                                  <a:latin typeface="Cambria Math" panose="02040503050406030204" pitchFamily="18" charset="0"/>
                                </a:rPr>
                                <m:t> </m:t>
                              </m:r>
                              <m:r>
                                <m:rPr>
                                  <m:brk m:alnAt="7"/>
                                </m:rP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[0,1)</m:t>
                              </m:r>
                            </m:e>
                          </m:mr>
                          <m:mr>
                            <m:e>
                              <m:r>
                                <a:rPr lang="en-AU" sz="2400" b="0" i="1" smtClean="0">
                                  <a:latin typeface="Cambria Math" panose="02040503050406030204" pitchFamily="18" charset="0"/>
                                </a:rPr>
                                <m:t>𝑥</m:t>
                              </m:r>
                              <m:r>
                                <a:rPr lang="en-AU" sz="2400" b="0" i="1" smtClean="0">
                                  <a:latin typeface="Cambria Math" panose="02040503050406030204" pitchFamily="18" charset="0"/>
                                </a:rPr>
                                <m:t>−1    </m:t>
                              </m:r>
                              <m:r>
                                <m:rPr>
                                  <m:sty m:val="p"/>
                                </m:rPr>
                                <a:rPr lang="en-AU" sz="2400" b="0" i="0" smtClean="0">
                                  <a:latin typeface="Cambria Math" panose="02040503050406030204" pitchFamily="18" charset="0"/>
                                </a:rPr>
                                <m:t>if</m:t>
                              </m:r>
                              <m:r>
                                <a:rPr lang="en-AU" sz="2400" b="0" i="1"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[1,2)</m:t>
                              </m:r>
                            </m:e>
                          </m:mr>
                        </m:m>
                        <m:r>
                          <m:rPr>
                            <m:nor/>
                          </m:rPr>
                          <a:rPr lang="en-GB" sz="2400" dirty="0">
                            <a:latin typeface="+mj-lt"/>
                          </a:rPr>
                          <m:t> </m:t>
                        </m:r>
                      </m:e>
                    </m:d>
                  </m:oMath>
                </a14:m>
                <a:endParaRPr lang="en-GB" sz="2400" dirty="0">
                  <a:latin typeface="+mj-lt"/>
                </a:endParaRPr>
              </a:p>
              <a:p>
                <a:endParaRPr lang="en-GB" sz="2400" dirty="0">
                  <a:latin typeface="+mj-lt"/>
                </a:endParaRPr>
              </a:p>
              <a:p>
                <a:r>
                  <a:rPr lang="en-GB" sz="2400" dirty="0">
                    <a:latin typeface="+mj-lt"/>
                  </a:rPr>
                  <a:t>c.</a:t>
                </a:r>
                <a:r>
                  <a:rPr lang="en-AU" sz="2400" dirty="0"/>
                  <a:t>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𝑓</m:t>
                        </m:r>
                      </m:e>
                      <m:sub>
                        <m:r>
                          <a:rPr lang="en-AU" sz="2400" i="1">
                            <a:latin typeface="Cambria Math" panose="02040503050406030204" pitchFamily="18" charset="0"/>
                          </a:rPr>
                          <m:t>3</m:t>
                        </m:r>
                      </m:sub>
                    </m:sSub>
                    <m:d>
                      <m:dPr>
                        <m:ctrlPr>
                          <a:rPr lang="en-AU" sz="2400" i="1">
                            <a:latin typeface="Cambria Math" panose="02040503050406030204" pitchFamily="18" charset="0"/>
                          </a:rPr>
                        </m:ctrlPr>
                      </m:dPr>
                      <m:e>
                        <m:r>
                          <a:rPr lang="en-AU" sz="2400" i="1">
                            <a:latin typeface="Cambria Math" panose="02040503050406030204" pitchFamily="18" charset="0"/>
                          </a:rPr>
                          <m:t>𝑥</m:t>
                        </m:r>
                      </m:e>
                    </m:d>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1</m:t>
                        </m:r>
                      </m:num>
                      <m:den>
                        <m:r>
                          <a:rPr lang="en-AU" sz="2400" i="1">
                            <a:latin typeface="Cambria Math" panose="02040503050406030204" pitchFamily="18" charset="0"/>
                          </a:rPr>
                          <m:t>𝑥</m:t>
                        </m:r>
                      </m:den>
                    </m:f>
                  </m:oMath>
                </a14:m>
                <a:endParaRPr lang="en-GB" sz="2400" dirty="0">
                  <a:latin typeface="+mj-lt"/>
                </a:endParaRPr>
              </a:p>
            </p:txBody>
          </p:sp>
        </mc:Choice>
        <mc:Fallback xmlns="">
          <p:sp>
            <p:nvSpPr>
              <p:cNvPr id="11" name="TextBox 10">
                <a:extLst>
                  <a:ext uri="{FF2B5EF4-FFF2-40B4-BE49-F238E27FC236}">
                    <a16:creationId xmlns:a16="http://schemas.microsoft.com/office/drawing/2014/main" id="{9ABCC82D-17F3-479B-BE7B-572FDB9F4B59}"/>
                  </a:ext>
                </a:extLst>
              </p:cNvPr>
              <p:cNvSpPr txBox="1">
                <a:spLocks noRot="1" noChangeAspect="1" noMove="1" noResize="1" noEditPoints="1" noAdjustHandles="1" noChangeArrowheads="1" noChangeShapeType="1" noTextEdit="1"/>
              </p:cNvSpPr>
              <p:nvPr/>
            </p:nvSpPr>
            <p:spPr>
              <a:xfrm>
                <a:off x="240534" y="972709"/>
                <a:ext cx="11710929" cy="3375539"/>
              </a:xfrm>
              <a:prstGeom prst="rect">
                <a:avLst/>
              </a:prstGeom>
              <a:blipFill>
                <a:blip r:embed="rId3"/>
                <a:stretch>
                  <a:fillRect l="-780" t="-1447"/>
                </a:stretch>
              </a:blipFill>
            </p:spPr>
            <p:txBody>
              <a:bodyPr/>
              <a:lstStyle/>
              <a:p>
                <a:r>
                  <a:rPr lang="en-GB">
                    <a:noFill/>
                  </a:rPr>
                  <a:t> </a:t>
                </a:r>
              </a:p>
            </p:txBody>
          </p:sp>
        </mc:Fallback>
      </mc:AlternateContent>
    </p:spTree>
    <p:extLst>
      <p:ext uri="{BB962C8B-B14F-4D97-AF65-F5344CB8AC3E}">
        <p14:creationId xmlns:p14="http://schemas.microsoft.com/office/powerpoint/2010/main" val="2659396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183548-E6DD-495E-B039-714BF129C21C}"/>
              </a:ext>
            </a:extLst>
          </p:cNvPr>
          <p:cNvSpPr>
            <a:spLocks noGrp="1"/>
          </p:cNvSpPr>
          <p:nvPr>
            <p:ph type="sldNum" sz="quarter" idx="12"/>
          </p:nvPr>
        </p:nvSpPr>
        <p:spPr>
          <a:xfrm>
            <a:off x="9238130" y="6347385"/>
            <a:ext cx="2743200" cy="365125"/>
          </a:xfrm>
        </p:spPr>
        <p:txBody>
          <a:bodyPr/>
          <a:lstStyle/>
          <a:p>
            <a:fld id="{529F08E9-1735-422C-B5C5-130668B15985}" type="slidenum">
              <a:rPr lang="en-AU" sz="1600" b="1" smtClean="0">
                <a:solidFill>
                  <a:schemeClr val="tx1"/>
                </a:solidFill>
              </a:rPr>
              <a:t>28</a:t>
            </a:fld>
            <a:endParaRPr lang="en-AU" sz="1600" b="1" dirty="0">
              <a:solidFill>
                <a:schemeClr val="tx1"/>
              </a:solidFill>
            </a:endParaRPr>
          </a:p>
        </p:txBody>
      </p:sp>
      <p:grpSp>
        <p:nvGrpSpPr>
          <p:cNvPr id="5" name="Group 4">
            <a:extLst>
              <a:ext uri="{FF2B5EF4-FFF2-40B4-BE49-F238E27FC236}">
                <a16:creationId xmlns:a16="http://schemas.microsoft.com/office/drawing/2014/main" id="{9604A57A-8C10-4E21-9261-04ED14CDAFA0}"/>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1D21BB63-E27A-4A9E-9E77-7424565E85BE}"/>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D0052546-E046-4CC8-92CA-5E34998E4FA9}"/>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46F677AE-379A-4F38-B476-3DB696E5100C}"/>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711983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E298DC1-42CE-4F05-8602-0776723E2753}"/>
                  </a:ext>
                </a:extLst>
              </p:cNvPr>
              <p:cNvSpPr txBox="1"/>
              <p:nvPr/>
            </p:nvSpPr>
            <p:spPr>
              <a:xfrm>
                <a:off x="240535" y="1070510"/>
                <a:ext cx="11710929" cy="1569660"/>
              </a:xfrm>
              <a:prstGeom prst="rect">
                <a:avLst/>
              </a:prstGeom>
              <a:noFill/>
            </p:spPr>
            <p:txBody>
              <a:bodyPr wrap="square" rtlCol="0">
                <a:spAutoFit/>
              </a:bodyPr>
              <a:lstStyle/>
              <a:p>
                <a:r>
                  <a:rPr lang="en-AU" sz="2400" i="1" dirty="0">
                    <a:latin typeface="+mj-lt"/>
                  </a:rPr>
                  <a:t>Composition of functions. </a:t>
                </a:r>
                <a:r>
                  <a:rPr lang="en-AU" sz="2400" dirty="0">
                    <a:latin typeface="+mj-lt"/>
                  </a:rPr>
                  <a:t>Consider two functions,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𝑉</m:t>
                    </m:r>
                    <m:r>
                      <a:rPr lang="en-AU" sz="2400" b="0" i="1" smtClean="0">
                        <a:latin typeface="Cambria Math" panose="02040503050406030204" pitchFamily="18" charset="0"/>
                      </a:rPr>
                      <m:t>→</m:t>
                    </m:r>
                    <m:r>
                      <a:rPr lang="en-AU" sz="2400" b="0" i="1" smtClean="0">
                        <a:latin typeface="Cambria Math" panose="02040503050406030204" pitchFamily="18" charset="0"/>
                      </a:rPr>
                      <m:t>𝑊</m:t>
                    </m:r>
                  </m:oMath>
                </a14:m>
                <a:r>
                  <a:rPr lang="en-GB" sz="2400" dirty="0">
                    <a:latin typeface="+mj-lt"/>
                  </a:rPr>
                  <a:t>, assuming that </a:t>
                </a:r>
                <a14:m>
                  <m:oMath xmlns:m="http://schemas.openxmlformats.org/officeDocument/2006/math">
                    <m:r>
                      <a:rPr lang="en-AU" sz="2400" b="0" i="1" smtClean="0">
                        <a:latin typeface="Cambria Math" panose="02040503050406030204" pitchFamily="18" charset="0"/>
                      </a:rPr>
                      <m:t>𝑉</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r>
                      <a:rPr lang="en-AU" sz="2400" b="0" i="1" smtClean="0">
                        <a:latin typeface="Cambria Math" panose="02040503050406030204" pitchFamily="18" charset="0"/>
                      </a:rPr>
                      <m:t>,</m:t>
                    </m:r>
                    <m:r>
                      <a:rPr lang="en-AU" sz="2400" b="0" i="1" smtClean="0">
                        <a:latin typeface="Cambria Math" panose="02040503050406030204" pitchFamily="18" charset="0"/>
                      </a:rPr>
                      <m:t>𝑊</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The composition of </a:t>
                </a:r>
                <a14:m>
                  <m:oMath xmlns:m="http://schemas.openxmlformats.org/officeDocument/2006/math">
                    <m:r>
                      <a:rPr lang="en-AU" sz="2400" i="1">
                        <a:latin typeface="Cambria Math" panose="02040503050406030204" pitchFamily="18" charset="0"/>
                      </a:rPr>
                      <m:t>𝑔</m:t>
                    </m:r>
                    <m:r>
                      <a:rPr lang="en-AU" sz="2400" i="1">
                        <a:latin typeface="Cambria Math" panose="02040503050406030204" pitchFamily="18" charset="0"/>
                      </a:rPr>
                      <m:t> </m:t>
                    </m:r>
                  </m:oMath>
                </a14:m>
                <a:r>
                  <a:rPr lang="en-GB" sz="2400" dirty="0">
                    <a:latin typeface="+mj-lt"/>
                  </a:rPr>
                  <a:t>with </a:t>
                </a:r>
                <a14:m>
                  <m:oMath xmlns:m="http://schemas.openxmlformats.org/officeDocument/2006/math">
                    <m:r>
                      <a:rPr lang="en-AU" sz="2400" i="1">
                        <a:latin typeface="Cambria Math" panose="02040503050406030204" pitchFamily="18" charset="0"/>
                      </a:rPr>
                      <m:t>𝑓</m:t>
                    </m:r>
                  </m:oMath>
                </a14:m>
                <a:r>
                  <a:rPr lang="en-GB" sz="2400" dirty="0">
                    <a:latin typeface="+mj-lt"/>
                  </a:rPr>
                  <a:t> is indicated by </a:t>
                </a:r>
                <a14:m>
                  <m:oMath xmlns:m="http://schemas.openxmlformats.org/officeDocument/2006/math">
                    <m:r>
                      <a:rPr lang="en-AU" sz="2400" b="0" i="1" smtClean="0">
                        <a:latin typeface="Cambria Math" panose="02040503050406030204" pitchFamily="18" charset="0"/>
                      </a:rPr>
                      <m:t>𝑔</m:t>
                    </m:r>
                    <m:r>
                      <a:rPr lang="en-AU" sz="240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oMath>
                </a14:m>
                <a:r>
                  <a:rPr lang="en-GB" sz="2400" dirty="0">
                    <a:latin typeface="+mj-lt"/>
                  </a:rPr>
                  <a:t> and is the function that associates every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𝑋</m:t>
                    </m:r>
                  </m:oMath>
                </a14:m>
                <a:r>
                  <a:rPr lang="en-GB" sz="2400" dirty="0">
                    <a:latin typeface="+mj-lt"/>
                  </a:rPr>
                  <a:t> with the element </a:t>
                </a:r>
                <a14:m>
                  <m:oMath xmlns:m="http://schemas.openxmlformats.org/officeDocument/2006/math">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oMath>
                </a14:m>
                <a:r>
                  <a:rPr lang="en-GB" sz="2400" dirty="0">
                    <a:latin typeface="+mj-lt"/>
                  </a:rPr>
                  <a:t> in </a:t>
                </a:r>
                <a14:m>
                  <m:oMath xmlns:m="http://schemas.openxmlformats.org/officeDocument/2006/math">
                    <m:r>
                      <a:rPr lang="en-AU" sz="2400" i="1">
                        <a:latin typeface="Cambria Math" panose="02040503050406030204" pitchFamily="18" charset="0"/>
                      </a:rPr>
                      <m:t>𝑊</m:t>
                    </m:r>
                  </m:oMath>
                </a14:m>
                <a:r>
                  <a:rPr lang="en-GB" sz="2400" dirty="0">
                    <a:latin typeface="+mj-lt"/>
                  </a:rPr>
                  <a:t>, if this is defined.</a:t>
                </a:r>
              </a:p>
              <a:p>
                <a:endParaRPr lang="en-GB" sz="2400" dirty="0">
                  <a:latin typeface="+mj-lt"/>
                </a:endParaRPr>
              </a:p>
            </p:txBody>
          </p:sp>
        </mc:Choice>
        <mc:Fallback xmlns="">
          <p:sp>
            <p:nvSpPr>
              <p:cNvPr id="2" name="TextBox 1">
                <a:extLst>
                  <a:ext uri="{FF2B5EF4-FFF2-40B4-BE49-F238E27FC236}">
                    <a16:creationId xmlns:a16="http://schemas.microsoft.com/office/drawing/2014/main" id="{FE298DC1-42CE-4F05-8602-0776723E2753}"/>
                  </a:ext>
                </a:extLst>
              </p:cNvPr>
              <p:cNvSpPr txBox="1">
                <a:spLocks noRot="1" noChangeAspect="1" noMove="1" noResize="1" noEditPoints="1" noAdjustHandles="1" noChangeArrowheads="1" noChangeShapeType="1" noTextEdit="1"/>
              </p:cNvSpPr>
              <p:nvPr/>
            </p:nvSpPr>
            <p:spPr>
              <a:xfrm>
                <a:off x="240535" y="1070510"/>
                <a:ext cx="11710929" cy="1569660"/>
              </a:xfrm>
              <a:prstGeom prst="rect">
                <a:avLst/>
              </a:prstGeom>
              <a:blipFill>
                <a:blip r:embed="rId2"/>
                <a:stretch>
                  <a:fillRect l="-780" t="-3113"/>
                </a:stretch>
              </a:blipFill>
            </p:spPr>
            <p:txBody>
              <a:bodyPr/>
              <a:lstStyle/>
              <a:p>
                <a:r>
                  <a:rPr lang="en-GB">
                    <a:noFill/>
                  </a:rPr>
                  <a:t> </a:t>
                </a:r>
              </a:p>
            </p:txBody>
          </p:sp>
        </mc:Fallback>
      </mc:AlternateContent>
      <p:sp>
        <p:nvSpPr>
          <p:cNvPr id="33" name="Oval 32">
            <a:extLst>
              <a:ext uri="{FF2B5EF4-FFF2-40B4-BE49-F238E27FC236}">
                <a16:creationId xmlns:a16="http://schemas.microsoft.com/office/drawing/2014/main" id="{5E1EF3BA-8FFE-4331-85F2-CD22E4F2D980}"/>
              </a:ext>
            </a:extLst>
          </p:cNvPr>
          <p:cNvSpPr/>
          <p:nvPr/>
        </p:nvSpPr>
        <p:spPr>
          <a:xfrm>
            <a:off x="1532405" y="2998369"/>
            <a:ext cx="2380784" cy="347483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Oval 33">
            <a:extLst>
              <a:ext uri="{FF2B5EF4-FFF2-40B4-BE49-F238E27FC236}">
                <a16:creationId xmlns:a16="http://schemas.microsoft.com/office/drawing/2014/main" id="{2BD78779-F877-4A2D-B9F3-A2B4A2813F82}"/>
              </a:ext>
            </a:extLst>
          </p:cNvPr>
          <p:cNvSpPr/>
          <p:nvPr/>
        </p:nvSpPr>
        <p:spPr>
          <a:xfrm>
            <a:off x="5336071" y="3010333"/>
            <a:ext cx="2213516" cy="352501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5" name="Straight Arrow Connector 34">
            <a:extLst>
              <a:ext uri="{FF2B5EF4-FFF2-40B4-BE49-F238E27FC236}">
                <a16:creationId xmlns:a16="http://schemas.microsoft.com/office/drawing/2014/main" id="{D2D1B775-8CAC-49C9-8B57-5AEBAEF964A6}"/>
              </a:ext>
            </a:extLst>
          </p:cNvPr>
          <p:cNvCxnSpPr>
            <a:cxnSpLocks/>
          </p:cNvCxnSpPr>
          <p:nvPr/>
        </p:nvCxnSpPr>
        <p:spPr>
          <a:xfrm>
            <a:off x="2854607" y="5171928"/>
            <a:ext cx="3490541" cy="160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5F38413-965C-4263-8DA9-957505440280}"/>
              </a:ext>
            </a:extLst>
          </p:cNvPr>
          <p:cNvCxnSpPr>
            <a:cxnSpLocks/>
          </p:cNvCxnSpPr>
          <p:nvPr/>
        </p:nvCxnSpPr>
        <p:spPr>
          <a:xfrm>
            <a:off x="2979425" y="3890683"/>
            <a:ext cx="3301846" cy="4998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F74C213-519A-45FA-8C48-115FE95F8732}"/>
              </a:ext>
            </a:extLst>
          </p:cNvPr>
          <p:cNvCxnSpPr>
            <a:cxnSpLocks/>
          </p:cNvCxnSpPr>
          <p:nvPr/>
        </p:nvCxnSpPr>
        <p:spPr>
          <a:xfrm>
            <a:off x="2995691" y="4290640"/>
            <a:ext cx="3204650" cy="333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9B2561C-C1B7-4D62-AA72-02D5CA048387}"/>
              </a:ext>
            </a:extLst>
          </p:cNvPr>
          <p:cNvCxnSpPr>
            <a:cxnSpLocks/>
          </p:cNvCxnSpPr>
          <p:nvPr/>
        </p:nvCxnSpPr>
        <p:spPr>
          <a:xfrm>
            <a:off x="2854607" y="4708930"/>
            <a:ext cx="3490541" cy="268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A72498F-3F53-489F-87F0-AB1431A3A35E}"/>
              </a:ext>
            </a:extLst>
          </p:cNvPr>
          <p:cNvSpPr txBox="1"/>
          <p:nvPr/>
        </p:nvSpPr>
        <p:spPr>
          <a:xfrm>
            <a:off x="1817320" y="2786938"/>
            <a:ext cx="380232" cy="523220"/>
          </a:xfrm>
          <a:prstGeom prst="rect">
            <a:avLst/>
          </a:prstGeom>
          <a:noFill/>
        </p:spPr>
        <p:txBody>
          <a:bodyPr wrap="none" rtlCol="0">
            <a:spAutoFit/>
          </a:bodyPr>
          <a:lstStyle/>
          <a:p>
            <a:r>
              <a:rPr lang="en-AU" sz="2800" i="1" dirty="0">
                <a:latin typeface="Cambria" panose="02040503050406030204" pitchFamily="18" charset="0"/>
              </a:rPr>
              <a:t>X</a:t>
            </a:r>
          </a:p>
        </p:txBody>
      </p:sp>
      <p:sp>
        <p:nvSpPr>
          <p:cNvPr id="40" name="TextBox 39">
            <a:extLst>
              <a:ext uri="{FF2B5EF4-FFF2-40B4-BE49-F238E27FC236}">
                <a16:creationId xmlns:a16="http://schemas.microsoft.com/office/drawing/2014/main" id="{795015A6-9631-4DBE-962C-E647182F7FFA}"/>
              </a:ext>
            </a:extLst>
          </p:cNvPr>
          <p:cNvSpPr txBox="1"/>
          <p:nvPr/>
        </p:nvSpPr>
        <p:spPr>
          <a:xfrm>
            <a:off x="2416450" y="2931051"/>
            <a:ext cx="562975" cy="3354765"/>
          </a:xfrm>
          <a:prstGeom prst="rect">
            <a:avLst/>
          </a:prstGeom>
          <a:noFill/>
        </p:spPr>
        <p:txBody>
          <a:bodyPr wrap="none" rtlCol="0">
            <a:spAutoFit/>
          </a:bodyPr>
          <a:lstStyle/>
          <a:p>
            <a:pPr algn="ctr"/>
            <a:r>
              <a:rPr lang="en-AU" sz="2800" i="1" dirty="0">
                <a:latin typeface="Cambria" panose="02040503050406030204" pitchFamily="18" charset="0"/>
              </a:rPr>
              <a:t>x</a:t>
            </a:r>
          </a:p>
          <a:p>
            <a:pPr algn="ctr"/>
            <a:endParaRPr lang="en-AU" sz="1600" i="1" dirty="0">
              <a:latin typeface="Cambria" panose="02040503050406030204" pitchFamily="18" charset="0"/>
            </a:endParaRPr>
          </a:p>
          <a:p>
            <a:pPr algn="ctr"/>
            <a:r>
              <a:rPr lang="en-AU" sz="2800" dirty="0">
                <a:latin typeface="Cambria" panose="02040503050406030204" pitchFamily="18" charset="0"/>
              </a:rPr>
              <a:t>–3</a:t>
            </a:r>
          </a:p>
          <a:p>
            <a:pPr algn="ctr"/>
            <a:r>
              <a:rPr lang="en-AU" sz="2800" dirty="0">
                <a:latin typeface="Cambria" panose="02040503050406030204" pitchFamily="18" charset="0"/>
              </a:rPr>
              <a:t>–2</a:t>
            </a:r>
          </a:p>
          <a:p>
            <a:pPr algn="ctr"/>
            <a:r>
              <a:rPr lang="en-AU" sz="2800" dirty="0">
                <a:latin typeface="Cambria" panose="02040503050406030204" pitchFamily="18" charset="0"/>
              </a:rPr>
              <a:t>–1</a:t>
            </a:r>
          </a:p>
          <a:p>
            <a:pPr algn="ctr"/>
            <a:r>
              <a:rPr lang="en-AU" sz="2800" dirty="0">
                <a:latin typeface="Cambria" panose="02040503050406030204" pitchFamily="18" charset="0"/>
              </a:rPr>
              <a:t>0 </a:t>
            </a:r>
          </a:p>
          <a:p>
            <a:pPr algn="ctr"/>
            <a:r>
              <a:rPr lang="en-AU" sz="2800" dirty="0">
                <a:latin typeface="Cambria" panose="02040503050406030204" pitchFamily="18" charset="0"/>
              </a:rPr>
              <a:t>1</a:t>
            </a:r>
          </a:p>
          <a:p>
            <a:pPr algn="ctr"/>
            <a:r>
              <a:rPr lang="en-AU" sz="2800" dirty="0">
                <a:latin typeface="Cambria" panose="02040503050406030204" pitchFamily="18" charset="0"/>
              </a:rPr>
              <a:t>…</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456EF54-BE5D-4699-ADCF-4326AF443300}"/>
                  </a:ext>
                </a:extLst>
              </p:cNvPr>
              <p:cNvSpPr txBox="1"/>
              <p:nvPr/>
            </p:nvSpPr>
            <p:spPr>
              <a:xfrm>
                <a:off x="6253111" y="2947408"/>
                <a:ext cx="562975" cy="3354765"/>
              </a:xfrm>
              <a:prstGeom prst="rect">
                <a:avLst/>
              </a:prstGeom>
              <a:noFill/>
            </p:spPr>
            <p:txBody>
              <a:bodyPr wrap="none" rtlCol="0">
                <a:spAutoFit/>
              </a:bodyPr>
              <a:lstStyle/>
              <a:p>
                <a:pPr algn="ctr"/>
                <a:r>
                  <a:rPr lang="en-AU" sz="2800" i="1" dirty="0">
                    <a:latin typeface="Cambria" panose="02040503050406030204" pitchFamily="18" charset="0"/>
                  </a:rPr>
                  <a:t>y</a:t>
                </a:r>
              </a:p>
              <a:p>
                <a:pPr algn="ctr"/>
                <a:endParaRPr lang="en-AU" sz="1600" i="1" dirty="0">
                  <a:latin typeface="Cambria" panose="02040503050406030204" pitchFamily="18" charset="0"/>
                </a:endParaRPr>
              </a:p>
              <a:p>
                <a:pPr algn="ctr"/>
                <a:r>
                  <a:rPr lang="en-AU" sz="2800" dirty="0">
                    <a:latin typeface="Cambria" panose="02040503050406030204" pitchFamily="18" charset="0"/>
                  </a:rPr>
                  <a:t>–2</a:t>
                </a:r>
              </a:p>
              <a:p>
                <a:pPr algn="ctr"/>
                <a:r>
                  <a:rPr lang="en-AU" sz="2800" dirty="0">
                    <a:latin typeface="Cambria" panose="02040503050406030204" pitchFamily="18" charset="0"/>
                  </a:rPr>
                  <a:t>–1</a:t>
                </a:r>
              </a:p>
              <a:p>
                <a:pPr algn="ctr"/>
                <a:r>
                  <a:rPr lang="en-AU" sz="2800" dirty="0">
                    <a:latin typeface="Cambria" panose="02040503050406030204" pitchFamily="18" charset="0"/>
                  </a:rPr>
                  <a:t>0</a:t>
                </a:r>
              </a:p>
              <a:p>
                <a:pPr algn="ctr"/>
                <a:r>
                  <a:rPr lang="en-AU" sz="2800" dirty="0">
                    <a:latin typeface="Cambria" panose="02040503050406030204" pitchFamily="18" charset="0"/>
                  </a:rPr>
                  <a:t>1</a:t>
                </a:r>
              </a:p>
              <a:p>
                <a:pPr algn="ctr"/>
                <a14:m>
                  <m:oMathPara xmlns:m="http://schemas.openxmlformats.org/officeDocument/2006/math">
                    <m:oMathParaPr>
                      <m:jc m:val="centerGroup"/>
                    </m:oMathParaPr>
                    <m:oMath xmlns:m="http://schemas.openxmlformats.org/officeDocument/2006/math">
                      <m:r>
                        <a:rPr lang="en-AU" sz="2800" i="1" dirty="0" smtClean="0">
                          <a:latin typeface="Cambria Math" panose="02040503050406030204" pitchFamily="18" charset="0"/>
                        </a:rPr>
                        <m:t>2</m:t>
                      </m:r>
                    </m:oMath>
                  </m:oMathPara>
                </a14:m>
                <a:endParaRPr lang="en-AU" sz="2800" dirty="0">
                  <a:latin typeface="Cambria" panose="02040503050406030204" pitchFamily="18" charset="0"/>
                </a:endParaRPr>
              </a:p>
              <a:p>
                <a:pPr algn="ctr"/>
                <a:r>
                  <a:rPr lang="en-AU" sz="2800" dirty="0">
                    <a:latin typeface="Cambria" panose="02040503050406030204" pitchFamily="18" charset="0"/>
                  </a:rPr>
                  <a:t>…</a:t>
                </a:r>
              </a:p>
            </p:txBody>
          </p:sp>
        </mc:Choice>
        <mc:Fallback xmlns="">
          <p:sp>
            <p:nvSpPr>
              <p:cNvPr id="41" name="TextBox 40">
                <a:extLst>
                  <a:ext uri="{FF2B5EF4-FFF2-40B4-BE49-F238E27FC236}">
                    <a16:creationId xmlns:a16="http://schemas.microsoft.com/office/drawing/2014/main" id="{7456EF54-BE5D-4699-ADCF-4326AF443300}"/>
                  </a:ext>
                </a:extLst>
              </p:cNvPr>
              <p:cNvSpPr txBox="1">
                <a:spLocks noRot="1" noChangeAspect="1" noMove="1" noResize="1" noEditPoints="1" noAdjustHandles="1" noChangeArrowheads="1" noChangeShapeType="1" noTextEdit="1"/>
              </p:cNvSpPr>
              <p:nvPr/>
            </p:nvSpPr>
            <p:spPr>
              <a:xfrm>
                <a:off x="6253111" y="2947408"/>
                <a:ext cx="562975" cy="3354765"/>
              </a:xfrm>
              <a:prstGeom prst="rect">
                <a:avLst/>
              </a:prstGeom>
              <a:blipFill>
                <a:blip r:embed="rId3"/>
                <a:stretch>
                  <a:fillRect l="-22826" t="-1815" r="-20652" b="-3993"/>
                </a:stretch>
              </a:blipFill>
            </p:spPr>
            <p:txBody>
              <a:bodyPr/>
              <a:lstStyle/>
              <a:p>
                <a:r>
                  <a:rPr lang="en-GB">
                    <a:noFill/>
                  </a:rPr>
                  <a:t> </a:t>
                </a:r>
              </a:p>
            </p:txBody>
          </p:sp>
        </mc:Fallback>
      </mc:AlternateContent>
      <p:sp>
        <p:nvSpPr>
          <p:cNvPr id="42" name="TextBox 41">
            <a:extLst>
              <a:ext uri="{FF2B5EF4-FFF2-40B4-BE49-F238E27FC236}">
                <a16:creationId xmlns:a16="http://schemas.microsoft.com/office/drawing/2014/main" id="{B8ACBE85-633A-4970-A5F7-7D8A4E814496}"/>
              </a:ext>
            </a:extLst>
          </p:cNvPr>
          <p:cNvSpPr txBox="1"/>
          <p:nvPr/>
        </p:nvSpPr>
        <p:spPr>
          <a:xfrm>
            <a:off x="5733681" y="2563642"/>
            <a:ext cx="380232" cy="523220"/>
          </a:xfrm>
          <a:prstGeom prst="rect">
            <a:avLst/>
          </a:prstGeom>
          <a:noFill/>
        </p:spPr>
        <p:txBody>
          <a:bodyPr wrap="none" rtlCol="0">
            <a:spAutoFit/>
          </a:bodyPr>
          <a:lstStyle/>
          <a:p>
            <a:r>
              <a:rPr lang="en-AU" sz="2800" i="1" dirty="0">
                <a:latin typeface="Cambria" panose="02040503050406030204" pitchFamily="18" charset="0"/>
              </a:rPr>
              <a:t>Y</a:t>
            </a:r>
          </a:p>
        </p:txBody>
      </p:sp>
      <p:sp>
        <p:nvSpPr>
          <p:cNvPr id="43" name="Freeform 22">
            <a:extLst>
              <a:ext uri="{FF2B5EF4-FFF2-40B4-BE49-F238E27FC236}">
                <a16:creationId xmlns:a16="http://schemas.microsoft.com/office/drawing/2014/main" id="{CAEB6B57-5773-4257-856D-8B9060565D6E}"/>
              </a:ext>
            </a:extLst>
          </p:cNvPr>
          <p:cNvSpPr/>
          <p:nvPr/>
        </p:nvSpPr>
        <p:spPr>
          <a:xfrm flipV="1">
            <a:off x="2947593" y="2761306"/>
            <a:ext cx="3333678" cy="485103"/>
          </a:xfrm>
          <a:custGeom>
            <a:avLst/>
            <a:gdLst>
              <a:gd name="connsiteX0" fmla="*/ 0 w 4393580"/>
              <a:gd name="connsiteY0" fmla="*/ 16727 h 485103"/>
              <a:gd name="connsiteX1" fmla="*/ 1973766 w 4393580"/>
              <a:gd name="connsiteY1" fmla="*/ 485079 h 485103"/>
              <a:gd name="connsiteX2" fmla="*/ 4393580 w 4393580"/>
              <a:gd name="connsiteY2" fmla="*/ 0 h 485103"/>
            </a:gdLst>
            <a:ahLst/>
            <a:cxnLst>
              <a:cxn ang="0">
                <a:pos x="connsiteX0" y="connsiteY0"/>
              </a:cxn>
              <a:cxn ang="0">
                <a:pos x="connsiteX1" y="connsiteY1"/>
              </a:cxn>
              <a:cxn ang="0">
                <a:pos x="connsiteX2" y="connsiteY2"/>
              </a:cxn>
            </a:cxnLst>
            <a:rect l="l" t="t" r="r" b="b"/>
            <a:pathLst>
              <a:path w="4393580" h="485103">
                <a:moveTo>
                  <a:pt x="0" y="16727"/>
                </a:moveTo>
                <a:cubicBezTo>
                  <a:pt x="620751" y="252297"/>
                  <a:pt x="1241503" y="487867"/>
                  <a:pt x="1973766" y="485079"/>
                </a:cubicBezTo>
                <a:cubicBezTo>
                  <a:pt x="2706029" y="482291"/>
                  <a:pt x="3549804" y="241145"/>
                  <a:pt x="4393580" y="0"/>
                </a:cubicBez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467A924-AB0A-4442-AD62-49D1D7675157}"/>
                  </a:ext>
                </a:extLst>
              </p:cNvPr>
              <p:cNvSpPr txBox="1"/>
              <p:nvPr/>
            </p:nvSpPr>
            <p:spPr>
              <a:xfrm>
                <a:off x="3570964" y="3087674"/>
                <a:ext cx="17851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+1</m:t>
                      </m:r>
                    </m:oMath>
                  </m:oMathPara>
                </a14:m>
                <a:endParaRPr lang="en-AU" sz="2400" dirty="0"/>
              </a:p>
            </p:txBody>
          </p:sp>
        </mc:Choice>
        <mc:Fallback xmlns="">
          <p:sp>
            <p:nvSpPr>
              <p:cNvPr id="44" name="TextBox 43">
                <a:extLst>
                  <a:ext uri="{FF2B5EF4-FFF2-40B4-BE49-F238E27FC236}">
                    <a16:creationId xmlns:a16="http://schemas.microsoft.com/office/drawing/2014/main" id="{7467A924-AB0A-4442-AD62-49D1D7675157}"/>
                  </a:ext>
                </a:extLst>
              </p:cNvPr>
              <p:cNvSpPr txBox="1">
                <a:spLocks noRot="1" noChangeAspect="1" noMove="1" noResize="1" noEditPoints="1" noAdjustHandles="1" noChangeArrowheads="1" noChangeShapeType="1" noTextEdit="1"/>
              </p:cNvSpPr>
              <p:nvPr/>
            </p:nvSpPr>
            <p:spPr>
              <a:xfrm>
                <a:off x="3570964" y="3087674"/>
                <a:ext cx="1785104" cy="369332"/>
              </a:xfrm>
              <a:prstGeom prst="rect">
                <a:avLst/>
              </a:prstGeom>
              <a:blipFill>
                <a:blip r:embed="rId4"/>
                <a:stretch>
                  <a:fillRect l="-5802" r="-3413" b="-35000"/>
                </a:stretch>
              </a:blipFill>
            </p:spPr>
            <p:txBody>
              <a:bodyPr/>
              <a:lstStyle/>
              <a:p>
                <a:r>
                  <a:rPr lang="en-GB">
                    <a:noFill/>
                  </a:rPr>
                  <a:t> </a:t>
                </a:r>
              </a:p>
            </p:txBody>
          </p:sp>
        </mc:Fallback>
      </mc:AlternateContent>
      <p:sp>
        <p:nvSpPr>
          <p:cNvPr id="45" name="Oval 44">
            <a:extLst>
              <a:ext uri="{FF2B5EF4-FFF2-40B4-BE49-F238E27FC236}">
                <a16:creationId xmlns:a16="http://schemas.microsoft.com/office/drawing/2014/main" id="{A5654B3C-C6E3-406D-A01A-3AED42C93B07}"/>
              </a:ext>
            </a:extLst>
          </p:cNvPr>
          <p:cNvSpPr/>
          <p:nvPr/>
        </p:nvSpPr>
        <p:spPr>
          <a:xfrm>
            <a:off x="9248045" y="3021745"/>
            <a:ext cx="2213516" cy="352501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9B6262D-9C23-4EB6-B6A2-905917147154}"/>
                  </a:ext>
                </a:extLst>
              </p:cNvPr>
              <p:cNvSpPr txBox="1"/>
              <p:nvPr/>
            </p:nvSpPr>
            <p:spPr>
              <a:xfrm>
                <a:off x="10141377" y="3193245"/>
                <a:ext cx="697820" cy="2728376"/>
              </a:xfrm>
              <a:prstGeom prst="rect">
                <a:avLst/>
              </a:prstGeom>
              <a:noFill/>
            </p:spPr>
            <p:txBody>
              <a:bodyPr wrap="none" rtlCol="0">
                <a:spAutoFit/>
              </a:bodyPr>
              <a:lstStyle/>
              <a:p>
                <a:pPr algn="ctr"/>
                <a:r>
                  <a:rPr lang="en-AU" sz="2800" i="1" dirty="0">
                    <a:latin typeface="Cambria" panose="02040503050406030204" pitchFamily="18" charset="0"/>
                  </a:rPr>
                  <a:t>w</a:t>
                </a:r>
              </a:p>
              <a:p>
                <a:pPr algn="ctr"/>
                <a:endParaRPr lang="en-AU" sz="2800" i="1" dirty="0">
                  <a:latin typeface="Cambria" panose="02040503050406030204" pitchFamily="18" charset="0"/>
                </a:endParaRPr>
              </a:p>
              <a:p>
                <a:pPr algn="ctr"/>
                <a:r>
                  <a:rPr lang="en-AU" sz="2800" dirty="0">
                    <a:latin typeface="Cambria" panose="02040503050406030204" pitchFamily="18" charset="0"/>
                  </a:rPr>
                  <a:t>0</a:t>
                </a:r>
              </a:p>
              <a:p>
                <a:pPr algn="ctr"/>
                <a:r>
                  <a:rPr lang="en-AU" sz="2800" dirty="0">
                    <a:latin typeface="Cambria" panose="02040503050406030204" pitchFamily="18" charset="0"/>
                  </a:rPr>
                  <a:t>1</a:t>
                </a:r>
              </a:p>
              <a:p>
                <a:pPr algn="ctr"/>
                <a14:m>
                  <m:oMathPara xmlns:m="http://schemas.openxmlformats.org/officeDocument/2006/math">
                    <m:oMathParaPr>
                      <m:jc m:val="centerGroup"/>
                    </m:oMathParaPr>
                    <m:oMath xmlns:m="http://schemas.openxmlformats.org/officeDocument/2006/math">
                      <m:rad>
                        <m:radPr>
                          <m:degHide m:val="on"/>
                          <m:ctrlPr>
                            <a:rPr lang="en-AU" sz="2800" i="1" dirty="0" smtClean="0">
                              <a:latin typeface="Cambria Math" panose="02040503050406030204" pitchFamily="18" charset="0"/>
                            </a:rPr>
                          </m:ctrlPr>
                        </m:radPr>
                        <m:deg/>
                        <m:e>
                          <m:r>
                            <a:rPr lang="en-AU" sz="2800" b="0" i="1" dirty="0" smtClean="0">
                              <a:latin typeface="Cambria Math" panose="02040503050406030204" pitchFamily="18" charset="0"/>
                            </a:rPr>
                            <m:t>2</m:t>
                          </m:r>
                        </m:e>
                      </m:rad>
                    </m:oMath>
                  </m:oMathPara>
                </a14:m>
                <a:endParaRPr lang="en-AU" sz="2800" dirty="0">
                  <a:latin typeface="Cambria" panose="02040503050406030204" pitchFamily="18" charset="0"/>
                </a:endParaRPr>
              </a:p>
              <a:p>
                <a:pPr algn="ctr"/>
                <a:r>
                  <a:rPr lang="en-AU" sz="2800" dirty="0">
                    <a:latin typeface="Cambria" panose="02040503050406030204" pitchFamily="18" charset="0"/>
                  </a:rPr>
                  <a:t>…</a:t>
                </a:r>
              </a:p>
            </p:txBody>
          </p:sp>
        </mc:Choice>
        <mc:Fallback xmlns="">
          <p:sp>
            <p:nvSpPr>
              <p:cNvPr id="46" name="TextBox 45">
                <a:extLst>
                  <a:ext uri="{FF2B5EF4-FFF2-40B4-BE49-F238E27FC236}">
                    <a16:creationId xmlns:a16="http://schemas.microsoft.com/office/drawing/2014/main" id="{D9B6262D-9C23-4EB6-B6A2-905917147154}"/>
                  </a:ext>
                </a:extLst>
              </p:cNvPr>
              <p:cNvSpPr txBox="1">
                <a:spLocks noRot="1" noChangeAspect="1" noMove="1" noResize="1" noEditPoints="1" noAdjustHandles="1" noChangeArrowheads="1" noChangeShapeType="1" noTextEdit="1"/>
              </p:cNvSpPr>
              <p:nvPr/>
            </p:nvSpPr>
            <p:spPr>
              <a:xfrm>
                <a:off x="10141377" y="3193245"/>
                <a:ext cx="697820" cy="2728376"/>
              </a:xfrm>
              <a:prstGeom prst="rect">
                <a:avLst/>
              </a:prstGeom>
              <a:blipFill>
                <a:blip r:embed="rId5"/>
                <a:stretch>
                  <a:fillRect l="-877" t="-2461" b="-5369"/>
                </a:stretch>
              </a:blipFill>
            </p:spPr>
            <p:txBody>
              <a:bodyPr/>
              <a:lstStyle/>
              <a:p>
                <a:r>
                  <a:rPr lang="en-GB">
                    <a:noFill/>
                  </a:rPr>
                  <a:t> </a:t>
                </a:r>
              </a:p>
            </p:txBody>
          </p:sp>
        </mc:Fallback>
      </mc:AlternateContent>
      <p:sp>
        <p:nvSpPr>
          <p:cNvPr id="47" name="TextBox 46">
            <a:extLst>
              <a:ext uri="{FF2B5EF4-FFF2-40B4-BE49-F238E27FC236}">
                <a16:creationId xmlns:a16="http://schemas.microsoft.com/office/drawing/2014/main" id="{EC254D55-0C7B-4485-9784-97BFDB7BCA07}"/>
              </a:ext>
            </a:extLst>
          </p:cNvPr>
          <p:cNvSpPr txBox="1"/>
          <p:nvPr/>
        </p:nvSpPr>
        <p:spPr>
          <a:xfrm>
            <a:off x="10925549" y="2883557"/>
            <a:ext cx="506870" cy="523220"/>
          </a:xfrm>
          <a:prstGeom prst="rect">
            <a:avLst/>
          </a:prstGeom>
          <a:noFill/>
        </p:spPr>
        <p:txBody>
          <a:bodyPr wrap="none" rtlCol="0">
            <a:spAutoFit/>
          </a:bodyPr>
          <a:lstStyle/>
          <a:p>
            <a:r>
              <a:rPr lang="en-AU" sz="2800" i="1" dirty="0">
                <a:latin typeface="Cambria" panose="02040503050406030204" pitchFamily="18" charset="0"/>
              </a:rPr>
              <a:t>W</a:t>
            </a:r>
          </a:p>
        </p:txBody>
      </p:sp>
      <p:sp>
        <p:nvSpPr>
          <p:cNvPr id="48" name="Freeform 32">
            <a:extLst>
              <a:ext uri="{FF2B5EF4-FFF2-40B4-BE49-F238E27FC236}">
                <a16:creationId xmlns:a16="http://schemas.microsoft.com/office/drawing/2014/main" id="{805E0BD8-9E67-4E03-8E5A-1ADD308F445F}"/>
              </a:ext>
            </a:extLst>
          </p:cNvPr>
          <p:cNvSpPr/>
          <p:nvPr/>
        </p:nvSpPr>
        <p:spPr>
          <a:xfrm flipV="1">
            <a:off x="6861601" y="2840164"/>
            <a:ext cx="3333678" cy="485103"/>
          </a:xfrm>
          <a:custGeom>
            <a:avLst/>
            <a:gdLst>
              <a:gd name="connsiteX0" fmla="*/ 0 w 4393580"/>
              <a:gd name="connsiteY0" fmla="*/ 16727 h 485103"/>
              <a:gd name="connsiteX1" fmla="*/ 1973766 w 4393580"/>
              <a:gd name="connsiteY1" fmla="*/ 485079 h 485103"/>
              <a:gd name="connsiteX2" fmla="*/ 4393580 w 4393580"/>
              <a:gd name="connsiteY2" fmla="*/ 0 h 485103"/>
            </a:gdLst>
            <a:ahLst/>
            <a:cxnLst>
              <a:cxn ang="0">
                <a:pos x="connsiteX0" y="connsiteY0"/>
              </a:cxn>
              <a:cxn ang="0">
                <a:pos x="connsiteX1" y="connsiteY1"/>
              </a:cxn>
              <a:cxn ang="0">
                <a:pos x="connsiteX2" y="connsiteY2"/>
              </a:cxn>
            </a:cxnLst>
            <a:rect l="l" t="t" r="r" b="b"/>
            <a:pathLst>
              <a:path w="4393580" h="485103">
                <a:moveTo>
                  <a:pt x="0" y="16727"/>
                </a:moveTo>
                <a:cubicBezTo>
                  <a:pt x="620751" y="252297"/>
                  <a:pt x="1241503" y="487867"/>
                  <a:pt x="1973766" y="485079"/>
                </a:cubicBezTo>
                <a:cubicBezTo>
                  <a:pt x="2706029" y="482291"/>
                  <a:pt x="3549804" y="241145"/>
                  <a:pt x="4393580" y="0"/>
                </a:cubicBez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65F6BAF-91C5-46B4-A1DE-74BA46864D17}"/>
                  </a:ext>
                </a:extLst>
              </p:cNvPr>
              <p:cNvSpPr txBox="1"/>
              <p:nvPr/>
            </p:nvSpPr>
            <p:spPr>
              <a:xfrm>
                <a:off x="7602357" y="3223942"/>
                <a:ext cx="1465080" cy="373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𝑥</m:t>
                          </m:r>
                        </m:e>
                      </m:rad>
                    </m:oMath>
                  </m:oMathPara>
                </a14:m>
                <a:endParaRPr lang="en-AU" sz="2400" dirty="0"/>
              </a:p>
            </p:txBody>
          </p:sp>
        </mc:Choice>
        <mc:Fallback xmlns="">
          <p:sp>
            <p:nvSpPr>
              <p:cNvPr id="49" name="TextBox 48">
                <a:extLst>
                  <a:ext uri="{FF2B5EF4-FFF2-40B4-BE49-F238E27FC236}">
                    <a16:creationId xmlns:a16="http://schemas.microsoft.com/office/drawing/2014/main" id="{365F6BAF-91C5-46B4-A1DE-74BA46864D17}"/>
                  </a:ext>
                </a:extLst>
              </p:cNvPr>
              <p:cNvSpPr txBox="1">
                <a:spLocks noRot="1" noChangeAspect="1" noMove="1" noResize="1" noEditPoints="1" noAdjustHandles="1" noChangeArrowheads="1" noChangeShapeType="1" noTextEdit="1"/>
              </p:cNvSpPr>
              <p:nvPr/>
            </p:nvSpPr>
            <p:spPr>
              <a:xfrm>
                <a:off x="7602357" y="3223942"/>
                <a:ext cx="1465080" cy="373436"/>
              </a:xfrm>
              <a:prstGeom prst="rect">
                <a:avLst/>
              </a:prstGeom>
              <a:blipFill>
                <a:blip r:embed="rId6"/>
                <a:stretch>
                  <a:fillRect l="-4583" r="-2500" b="-26230"/>
                </a:stretch>
              </a:blipFill>
            </p:spPr>
            <p:txBody>
              <a:bodyPr/>
              <a:lstStyle/>
              <a:p>
                <a:r>
                  <a:rPr lang="en-GB">
                    <a:noFill/>
                  </a:rPr>
                  <a:t> </a:t>
                </a:r>
              </a:p>
            </p:txBody>
          </p:sp>
        </mc:Fallback>
      </mc:AlternateContent>
      <p:cxnSp>
        <p:nvCxnSpPr>
          <p:cNvPr id="50" name="Straight Arrow Connector 49">
            <a:extLst>
              <a:ext uri="{FF2B5EF4-FFF2-40B4-BE49-F238E27FC236}">
                <a16:creationId xmlns:a16="http://schemas.microsoft.com/office/drawing/2014/main" id="{AFC04C0D-BFE4-49C8-A84E-DD28F796C83D}"/>
              </a:ext>
            </a:extLst>
          </p:cNvPr>
          <p:cNvCxnSpPr>
            <a:cxnSpLocks/>
          </p:cNvCxnSpPr>
          <p:nvPr/>
        </p:nvCxnSpPr>
        <p:spPr>
          <a:xfrm flipV="1">
            <a:off x="6751034" y="4368566"/>
            <a:ext cx="3412050" cy="3881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811C849-41EF-45C4-991A-62F6944C01FD}"/>
              </a:ext>
            </a:extLst>
          </p:cNvPr>
          <p:cNvCxnSpPr>
            <a:cxnSpLocks/>
          </p:cNvCxnSpPr>
          <p:nvPr/>
        </p:nvCxnSpPr>
        <p:spPr>
          <a:xfrm flipV="1">
            <a:off x="6751035" y="4735787"/>
            <a:ext cx="3412049" cy="4361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30C3911-BB79-41A2-A6EB-8B1229D2843F}"/>
              </a:ext>
            </a:extLst>
          </p:cNvPr>
          <p:cNvCxnSpPr>
            <a:cxnSpLocks/>
          </p:cNvCxnSpPr>
          <p:nvPr/>
        </p:nvCxnSpPr>
        <p:spPr>
          <a:xfrm flipV="1">
            <a:off x="6751035" y="5171928"/>
            <a:ext cx="3077340" cy="3837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A88F0171-34A5-4EB7-8800-3575870364C2}"/>
                  </a:ext>
                </a:extLst>
              </p:cNvPr>
              <p:cNvSpPr txBox="1"/>
              <p:nvPr/>
            </p:nvSpPr>
            <p:spPr>
              <a:xfrm>
                <a:off x="266291" y="2317019"/>
                <a:ext cx="2456506" cy="442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e>
                      </m:d>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𝑥</m:t>
                          </m:r>
                          <m:r>
                            <a:rPr lang="en-AU" sz="2400" b="0" i="1" smtClean="0">
                              <a:latin typeface="Cambria Math" panose="02040503050406030204" pitchFamily="18" charset="0"/>
                            </a:rPr>
                            <m:t>+1</m:t>
                          </m:r>
                        </m:e>
                      </m:rad>
                    </m:oMath>
                  </m:oMathPara>
                </a14:m>
                <a:endParaRPr lang="en-AU" sz="2400" dirty="0"/>
              </a:p>
            </p:txBody>
          </p:sp>
        </mc:Choice>
        <mc:Fallback xmlns="">
          <p:sp>
            <p:nvSpPr>
              <p:cNvPr id="53" name="TextBox 52">
                <a:extLst>
                  <a:ext uri="{FF2B5EF4-FFF2-40B4-BE49-F238E27FC236}">
                    <a16:creationId xmlns:a16="http://schemas.microsoft.com/office/drawing/2014/main" id="{A88F0171-34A5-4EB7-8800-3575870364C2}"/>
                  </a:ext>
                </a:extLst>
              </p:cNvPr>
              <p:cNvSpPr txBox="1">
                <a:spLocks noRot="1" noChangeAspect="1" noMove="1" noResize="1" noEditPoints="1" noAdjustHandles="1" noChangeArrowheads="1" noChangeShapeType="1" noTextEdit="1"/>
              </p:cNvSpPr>
              <p:nvPr/>
            </p:nvSpPr>
            <p:spPr>
              <a:xfrm>
                <a:off x="266291" y="2317019"/>
                <a:ext cx="2456506" cy="44249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A4559722-D7DF-4CA9-AA73-7302E7748807}"/>
                  </a:ext>
                </a:extLst>
              </p:cNvPr>
              <p:cNvSpPr txBox="1"/>
              <p:nvPr/>
            </p:nvSpPr>
            <p:spPr>
              <a:xfrm>
                <a:off x="6526302" y="2615514"/>
                <a:ext cx="101002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𝑉</m:t>
                      </m:r>
                      <m:r>
                        <a:rPr lang="en-AU" sz="2800" b="0" i="1" smtClean="0">
                          <a:latin typeface="Cambria Math" panose="02040503050406030204" pitchFamily="18" charset="0"/>
                          <a:ea typeface="Cambria Math" panose="02040503050406030204" pitchFamily="18" charset="0"/>
                        </a:rPr>
                        <m:t>⊆</m:t>
                      </m:r>
                      <m:r>
                        <a:rPr lang="en-AU" sz="2800" b="0" i="1" smtClean="0">
                          <a:latin typeface="Cambria Math" panose="02040503050406030204" pitchFamily="18" charset="0"/>
                          <a:ea typeface="Cambria Math" panose="02040503050406030204" pitchFamily="18" charset="0"/>
                        </a:rPr>
                        <m:t>𝑌</m:t>
                      </m:r>
                    </m:oMath>
                  </m:oMathPara>
                </a14:m>
                <a:endParaRPr lang="en-GB" sz="2800" dirty="0"/>
              </a:p>
            </p:txBody>
          </p:sp>
        </mc:Choice>
        <mc:Fallback xmlns="">
          <p:sp>
            <p:nvSpPr>
              <p:cNvPr id="54" name="TextBox 53">
                <a:extLst>
                  <a:ext uri="{FF2B5EF4-FFF2-40B4-BE49-F238E27FC236}">
                    <a16:creationId xmlns:a16="http://schemas.microsoft.com/office/drawing/2014/main" id="{A4559722-D7DF-4CA9-AA73-7302E7748807}"/>
                  </a:ext>
                </a:extLst>
              </p:cNvPr>
              <p:cNvSpPr txBox="1">
                <a:spLocks noRot="1" noChangeAspect="1" noMove="1" noResize="1" noEditPoints="1" noAdjustHandles="1" noChangeArrowheads="1" noChangeShapeType="1" noTextEdit="1"/>
              </p:cNvSpPr>
              <p:nvPr/>
            </p:nvSpPr>
            <p:spPr>
              <a:xfrm>
                <a:off x="6526302" y="2615514"/>
                <a:ext cx="1010020" cy="430887"/>
              </a:xfrm>
              <a:prstGeom prst="rect">
                <a:avLst/>
              </a:prstGeom>
              <a:blipFill>
                <a:blip r:embed="rId8"/>
                <a:stretch>
                  <a:fillRect/>
                </a:stretch>
              </a:blipFill>
            </p:spPr>
            <p:txBody>
              <a:bodyPr/>
              <a:lstStyle/>
              <a:p>
                <a:r>
                  <a:rPr lang="en-GB">
                    <a:noFill/>
                  </a:rPr>
                  <a:t> </a:t>
                </a:r>
              </a:p>
            </p:txBody>
          </p:sp>
        </mc:Fallback>
      </mc:AlternateContent>
      <p:cxnSp>
        <p:nvCxnSpPr>
          <p:cNvPr id="55" name="Straight Arrow Connector 54">
            <a:extLst>
              <a:ext uri="{FF2B5EF4-FFF2-40B4-BE49-F238E27FC236}">
                <a16:creationId xmlns:a16="http://schemas.microsoft.com/office/drawing/2014/main" id="{FFA1EFDF-0DC3-4C75-8CB3-89BE0D30765C}"/>
              </a:ext>
            </a:extLst>
          </p:cNvPr>
          <p:cNvCxnSpPr>
            <a:cxnSpLocks/>
          </p:cNvCxnSpPr>
          <p:nvPr/>
        </p:nvCxnSpPr>
        <p:spPr>
          <a:xfrm flipV="1">
            <a:off x="2854607" y="5586199"/>
            <a:ext cx="3482829" cy="168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764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9" grpId="0"/>
      <p:bldP spid="40" grpId="0"/>
      <p:bldP spid="41" grpId="0"/>
      <p:bldP spid="42" grpId="0"/>
      <p:bldP spid="43" grpId="0" animBg="1"/>
      <p:bldP spid="44" grpId="0"/>
      <p:bldP spid="45" grpId="0" animBg="1"/>
      <p:bldP spid="46" grpId="0"/>
      <p:bldP spid="47" grpId="0"/>
      <p:bldP spid="48" grpId="0" animBg="1"/>
      <p:bldP spid="49" grpId="0"/>
      <p:bldP spid="53" grpId="0"/>
      <p:bldP spid="5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E9F4C13-735D-48E8-BDC9-744B49D76BD8}"/>
                  </a:ext>
                </a:extLst>
              </p:cNvPr>
              <p:cNvSpPr txBox="1"/>
              <p:nvPr/>
            </p:nvSpPr>
            <p:spPr>
              <a:xfrm>
                <a:off x="304799" y="931713"/>
                <a:ext cx="11259671" cy="3605282"/>
              </a:xfrm>
              <a:prstGeom prst="rect">
                <a:avLst/>
              </a:prstGeom>
              <a:noFill/>
            </p:spPr>
            <p:txBody>
              <a:bodyPr wrap="square">
                <a:spAutoFit/>
              </a:bodyPr>
              <a:lstStyle/>
              <a:p>
                <a:r>
                  <a:rPr lang="en-GB" sz="2400" dirty="0">
                    <a:latin typeface="+mj-lt"/>
                  </a:rPr>
                  <a:t>Find the functions </a:t>
                </a:r>
                <a14:m>
                  <m:oMath xmlns:m="http://schemas.openxmlformats.org/officeDocument/2006/math">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oMath>
                </a14:m>
                <a:r>
                  <a:rPr lang="en-GB" sz="2400" dirty="0">
                    <a:latin typeface="+mj-lt"/>
                  </a:rPr>
                  <a:t> and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oMath>
                </a14:m>
                <a:r>
                  <a:rPr lang="en-GB" sz="2400" dirty="0">
                    <a:latin typeface="+mj-lt"/>
                  </a:rPr>
                  <a:t>, their domain and range:</a:t>
                </a:r>
              </a:p>
              <a:p>
                <a:endParaRPr lang="en-GB" sz="2400" dirty="0">
                  <a:latin typeface="+mj-lt"/>
                </a:endParaRPr>
              </a:p>
              <a:p>
                <a:r>
                  <a:rPr lang="en-GB" sz="2400" dirty="0">
                    <a:latin typeface="+mj-lt"/>
                  </a:rPr>
                  <a:t>a.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+1, </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𝑥</m:t>
                        </m:r>
                      </m:den>
                    </m:f>
                  </m:oMath>
                </a14:m>
                <a:endParaRPr lang="en-GB" sz="2400" dirty="0">
                  <a:latin typeface="+mj-lt"/>
                </a:endParaRPr>
              </a:p>
              <a:p>
                <a:endParaRPr lang="en-GB" sz="2400" dirty="0">
                  <a:latin typeface="+mj-lt"/>
                </a:endParaRPr>
              </a:p>
              <a:p>
                <a:endParaRPr lang="en-GB" sz="2400" dirty="0">
                  <a:latin typeface="+mj-lt"/>
                </a:endParaRPr>
              </a:p>
              <a:p>
                <a:endParaRPr lang="en-GB" sz="2400" dirty="0">
                  <a:latin typeface="+mj-lt"/>
                </a:endParaRPr>
              </a:p>
              <a:p>
                <a:endParaRPr lang="en-GB" sz="2400" dirty="0">
                  <a:latin typeface="+mj-lt"/>
                </a:endParaRPr>
              </a:p>
              <a:p>
                <a:endParaRPr lang="en-GB" sz="2400" dirty="0">
                  <a:latin typeface="+mj-lt"/>
                </a:endParaRPr>
              </a:p>
              <a:p>
                <a:r>
                  <a:rPr lang="en-GB" sz="2400" dirty="0">
                    <a:latin typeface="+mj-lt"/>
                  </a:rPr>
                  <a:t>b.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 </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𝑥</m:t>
                        </m:r>
                        <m:r>
                          <a:rPr lang="en-AU" sz="2400" b="0" i="1" smtClean="0">
                            <a:latin typeface="Cambria Math" panose="02040503050406030204" pitchFamily="18" charset="0"/>
                          </a:rPr>
                          <m:t>−1</m:t>
                        </m:r>
                      </m:e>
                    </m:rad>
                  </m:oMath>
                </a14:m>
                <a:endParaRPr lang="en-GB" sz="2400" dirty="0">
                  <a:latin typeface="+mj-lt"/>
                </a:endParaRPr>
              </a:p>
            </p:txBody>
          </p:sp>
        </mc:Choice>
        <mc:Fallback xmlns="">
          <p:sp>
            <p:nvSpPr>
              <p:cNvPr id="61" name="TextBox 60">
                <a:extLst>
                  <a:ext uri="{FF2B5EF4-FFF2-40B4-BE49-F238E27FC236}">
                    <a16:creationId xmlns:a16="http://schemas.microsoft.com/office/drawing/2014/main" id="{8E9F4C13-735D-48E8-BDC9-744B49D76BD8}"/>
                  </a:ext>
                </a:extLst>
              </p:cNvPr>
              <p:cNvSpPr txBox="1">
                <a:spLocks noRot="1" noChangeAspect="1" noMove="1" noResize="1" noEditPoints="1" noAdjustHandles="1" noChangeArrowheads="1" noChangeShapeType="1" noTextEdit="1"/>
              </p:cNvSpPr>
              <p:nvPr/>
            </p:nvSpPr>
            <p:spPr>
              <a:xfrm>
                <a:off x="304799" y="931713"/>
                <a:ext cx="11259671" cy="3605282"/>
              </a:xfrm>
              <a:prstGeom prst="rect">
                <a:avLst/>
              </a:prstGeom>
              <a:blipFill>
                <a:blip r:embed="rId2"/>
                <a:stretch>
                  <a:fillRect l="-812" t="-1354" b="-3046"/>
                </a:stretch>
              </a:blipFill>
            </p:spPr>
            <p:txBody>
              <a:bodyPr/>
              <a:lstStyle/>
              <a:p>
                <a:r>
                  <a:rPr lang="en-GB">
                    <a:noFill/>
                  </a:rPr>
                  <a:t> </a:t>
                </a:r>
              </a:p>
            </p:txBody>
          </p:sp>
        </mc:Fallback>
      </mc:AlternateContent>
    </p:spTree>
    <p:extLst>
      <p:ext uri="{BB962C8B-B14F-4D97-AF65-F5344CB8AC3E}">
        <p14:creationId xmlns:p14="http://schemas.microsoft.com/office/powerpoint/2010/main" val="2931491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90621B-C0A0-4DDC-BDBE-4690BD4E47F3}"/>
                  </a:ext>
                </a:extLst>
              </p:cNvPr>
              <p:cNvSpPr txBox="1"/>
              <p:nvPr/>
            </p:nvSpPr>
            <p:spPr>
              <a:xfrm>
                <a:off x="240535" y="1070510"/>
                <a:ext cx="11710929" cy="4619341"/>
              </a:xfrm>
              <a:prstGeom prst="rect">
                <a:avLst/>
              </a:prstGeom>
              <a:noFill/>
            </p:spPr>
            <p:txBody>
              <a:bodyPr wrap="square" rtlCol="0">
                <a:spAutoFit/>
              </a:bodyPr>
              <a:lstStyle/>
              <a:p>
                <a:r>
                  <a:rPr lang="en-AU" sz="2400" i="1" dirty="0">
                    <a:latin typeface="+mj-lt"/>
                  </a:rPr>
                  <a:t>Injectivity.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is said to be injective (or invertible) if it sends different elements to different elements; that is, if for every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1</m:t>
                        </m:r>
                      </m:sub>
                    </m:sSub>
                    <m:r>
                      <a:rPr lang="en-GB" sz="2400" i="1" smtClean="0">
                        <a:latin typeface="Cambria Math" panose="02040503050406030204" pitchFamily="18" charset="0"/>
                        <a:ea typeface="Cambria Math" panose="02040503050406030204" pitchFamily="18" charset="0"/>
                      </a:rPr>
                      <m:t>≠</m:t>
                    </m:r>
                    <m:sSub>
                      <m:sSubPr>
                        <m:ctrlPr>
                          <a:rPr lang="en-GB" sz="240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2</m:t>
                        </m:r>
                      </m:sub>
                    </m:sSub>
                  </m:oMath>
                </a14:m>
                <a:r>
                  <a:rPr lang="en-AU" sz="2400" i="1" dirty="0">
                    <a:latin typeface="+mj-lt"/>
                  </a:rPr>
                  <a:t> of </a:t>
                </a:r>
                <a14:m>
                  <m:oMath xmlns:m="http://schemas.openxmlformats.org/officeDocument/2006/math">
                    <m:r>
                      <a:rPr lang="en-AU" sz="2400" b="0" i="1" smtClean="0">
                        <a:latin typeface="Cambria Math" panose="02040503050406030204" pitchFamily="18" charset="0"/>
                      </a:rPr>
                      <m:t>𝑋</m:t>
                    </m:r>
                    <m:r>
                      <a:rPr lang="en-AU" sz="2400" b="0" i="1" smtClean="0">
                        <a:latin typeface="Cambria Math" panose="02040503050406030204" pitchFamily="18" charset="0"/>
                      </a:rPr>
                      <m:t>, </m:t>
                    </m:r>
                    <m:r>
                      <a:rPr lang="en-AU" sz="2400" b="0" i="1" smtClean="0">
                        <a:latin typeface="Cambria Math" panose="02040503050406030204" pitchFamily="18" charset="0"/>
                      </a:rPr>
                      <m:t>𝑓</m:t>
                    </m:r>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𝑥</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2</m:t>
                        </m:r>
                      </m:sub>
                    </m:sSub>
                    <m:r>
                      <a:rPr lang="en-AU" sz="2400" b="0" i="1" smtClean="0">
                        <a:latin typeface="Cambria Math" panose="02040503050406030204" pitchFamily="18" charset="0"/>
                        <a:ea typeface="Cambria Math" panose="02040503050406030204" pitchFamily="18" charset="0"/>
                      </a:rPr>
                      <m:t>)</m:t>
                    </m:r>
                  </m:oMath>
                </a14:m>
                <a:r>
                  <a:rPr lang="en-AU" sz="2400" i="1" dirty="0">
                    <a:latin typeface="+mj-lt"/>
                  </a:rPr>
                  <a:t>.</a:t>
                </a:r>
                <a:r>
                  <a:rPr lang="en-AU" sz="2400" dirty="0">
                    <a:latin typeface="+mj-lt"/>
                  </a:rPr>
                  <a:t>If </a:t>
                </a:r>
                <a14:m>
                  <m:oMath xmlns:m="http://schemas.openxmlformats.org/officeDocument/2006/math">
                    <m:r>
                      <a:rPr lang="en-AU" sz="2400" i="1">
                        <a:latin typeface="Cambria Math" panose="02040503050406030204" pitchFamily="18" charset="0"/>
                      </a:rPr>
                      <m:t>𝑓</m:t>
                    </m:r>
                  </m:oMath>
                </a14:m>
                <a:r>
                  <a:rPr lang="en-AU" sz="2400" i="1" dirty="0">
                    <a:latin typeface="+mj-lt"/>
                  </a:rPr>
                  <a:t> is a function and is also injective, then it is automatically bijective.</a:t>
                </a:r>
              </a:p>
              <a:p>
                <a:endParaRPr lang="en-AU" sz="2400" i="1" dirty="0">
                  <a:latin typeface="+mj-lt"/>
                </a:endParaRPr>
              </a:p>
              <a:p>
                <a:r>
                  <a:rPr lang="en-AU" sz="2400" i="1" dirty="0">
                    <a:latin typeface="+mj-lt"/>
                  </a:rPr>
                  <a:t>Inverse of a function. </a:t>
                </a:r>
                <a:r>
                  <a:rPr lang="en-AU" sz="2400" dirty="0">
                    <a:latin typeface="+mj-lt"/>
                  </a:rPr>
                  <a:t>If a function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rPr>
                      <m:t>𝑌</m:t>
                    </m:r>
                  </m:oMath>
                </a14:m>
                <a:r>
                  <a:rPr lang="en-GB" sz="2400" dirty="0">
                    <a:latin typeface="+mj-lt"/>
                  </a:rPr>
                  <a:t> </a:t>
                </a:r>
                <a:r>
                  <a:rPr lang="en-AU" sz="2400" dirty="0">
                    <a:latin typeface="+mj-lt"/>
                  </a:rPr>
                  <a:t>is injective, then its inverse is the function that associates with every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𝑟𝑎𝑛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𝑓</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the unique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𝑑𝑜𝑚</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𝑓</m:t>
                        </m:r>
                      </m:e>
                    </m:d>
                  </m:oMath>
                </a14:m>
                <a:r>
                  <a:rPr lang="en-GB" sz="2400" dirty="0">
                    <a:latin typeface="+mj-lt"/>
                  </a:rPr>
                  <a:t> for which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The inverse is indicated by </a:t>
                </a:r>
                <a14:m>
                  <m:oMath xmlns:m="http://schemas.openxmlformats.org/officeDocument/2006/math">
                    <m:sSup>
                      <m:sSupPr>
                        <m:ctrlPr>
                          <a:rPr lang="en-GB" sz="240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−1</m:t>
                        </m:r>
                      </m:sup>
                    </m:sSup>
                  </m:oMath>
                </a14:m>
                <a:r>
                  <a:rPr lang="en-GB" sz="2400" dirty="0">
                    <a:latin typeface="+mj-lt"/>
                  </a:rPr>
                  <a:t> and satisfies the following properties:</a:t>
                </a:r>
              </a:p>
              <a:p>
                <a:pPr/>
                <a14:m>
                  <m:oMathPara xmlns:m="http://schemas.openxmlformats.org/officeDocument/2006/math">
                    <m:oMathParaPr>
                      <m:jc m:val="centerGroup"/>
                    </m:oMathParaPr>
                    <m:oMath xmlns:m="http://schemas.openxmlformats.org/officeDocument/2006/math">
                      <m:sSup>
                        <m:sSupPr>
                          <m:ctrlPr>
                            <a:rPr lang="en-GB" sz="240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−1</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e>
                      </m:d>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     </m:t>
                      </m:r>
                      <m:r>
                        <m:rPr>
                          <m:sty m:val="p"/>
                        </m:rPr>
                        <a:rPr lang="en-AU" sz="2400" b="0" i="0" smtClean="0">
                          <a:latin typeface="Cambria Math" panose="02040503050406030204" pitchFamily="18" charset="0"/>
                        </a:rPr>
                        <m:t>for</m:t>
                      </m:r>
                      <m:r>
                        <a:rPr lang="en-AU" sz="2400" b="0" i="0" smtClean="0">
                          <a:latin typeface="Cambria Math" panose="02040503050406030204" pitchFamily="18" charset="0"/>
                        </a:rPr>
                        <m:t> </m:t>
                      </m:r>
                      <m:r>
                        <m:rPr>
                          <m:sty m:val="p"/>
                        </m:rPr>
                        <a:rPr lang="en-AU" sz="2400" b="0" i="0" smtClean="0">
                          <a:latin typeface="Cambria Math" panose="02040503050406030204" pitchFamily="18" charset="0"/>
                        </a:rPr>
                        <m:t>every</m:t>
                      </m:r>
                      <m:r>
                        <a:rPr lang="en-AU" sz="2400" b="0" i="0" smtClean="0">
                          <a:latin typeface="Cambria Math" panose="02040503050406030204" pitchFamily="18" charset="0"/>
                        </a:rPr>
                        <m:t> </m:t>
                      </m:r>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 </m:t>
                      </m:r>
                      <m:r>
                        <m:rPr>
                          <m:sty m:val="p"/>
                        </m:rPr>
                        <a:rPr lang="en-AU" sz="2400" b="0" i="0" smtClean="0">
                          <a:latin typeface="Cambria Math" panose="02040503050406030204" pitchFamily="18" charset="0"/>
                          <a:ea typeface="Cambria Math" panose="02040503050406030204" pitchFamily="18" charset="0"/>
                        </a:rPr>
                        <m:t>and</m:t>
                      </m:r>
                    </m:oMath>
                  </m:oMathPara>
                </a14:m>
                <a:endParaRPr lang="en-GB"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𝑓</m:t>
                              </m:r>
                            </m:e>
                            <m:sup>
                              <m:r>
                                <a:rPr lang="en-AU" sz="2400" b="0" i="1" smtClean="0">
                                  <a:latin typeface="Cambria Math" panose="02040503050406030204" pitchFamily="18" charset="0"/>
                                </a:rPr>
                                <m:t>−1</m:t>
                              </m:r>
                            </m:sup>
                          </m:sSup>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e>
                      </m:d>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     </m:t>
                      </m:r>
                      <m:r>
                        <m:rPr>
                          <m:sty m:val="p"/>
                        </m:rPr>
                        <a:rPr lang="en-AU" sz="2400" b="0" i="0" smtClean="0">
                          <a:latin typeface="Cambria Math" panose="02040503050406030204" pitchFamily="18" charset="0"/>
                        </a:rPr>
                        <m:t>for</m:t>
                      </m:r>
                      <m:r>
                        <a:rPr lang="en-AU" sz="2400" b="0" i="0" smtClean="0">
                          <a:latin typeface="Cambria Math" panose="02040503050406030204" pitchFamily="18" charset="0"/>
                        </a:rPr>
                        <m:t> </m:t>
                      </m:r>
                      <m:r>
                        <m:rPr>
                          <m:sty m:val="p"/>
                        </m:rPr>
                        <a:rPr lang="en-AU" sz="2400" b="0" i="0" smtClean="0">
                          <a:latin typeface="Cambria Math" panose="02040503050406030204" pitchFamily="18" charset="0"/>
                        </a:rPr>
                        <m:t>every</m:t>
                      </m:r>
                      <m:r>
                        <a:rPr lang="en-AU" sz="2400" b="0" i="0" smtClean="0">
                          <a:latin typeface="Cambria Math" panose="02040503050406030204" pitchFamily="18" charset="0"/>
                        </a:rPr>
                        <m:t> </m:t>
                      </m:r>
                      <m:r>
                        <a:rPr lang="en-AU" sz="2400" b="0" i="1" smtClean="0">
                          <a:latin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𝑌</m:t>
                      </m:r>
                      <m:r>
                        <a:rPr lang="en-AU" sz="2400" b="0" i="1" smtClean="0">
                          <a:latin typeface="Cambria Math" panose="02040503050406030204" pitchFamily="18" charset="0"/>
                          <a:ea typeface="Cambria Math" panose="02040503050406030204" pitchFamily="18" charset="0"/>
                        </a:rPr>
                        <m:t>         </m:t>
                      </m:r>
                    </m:oMath>
                  </m:oMathPara>
                </a14:m>
                <a:endParaRPr lang="en-GB" sz="2400" dirty="0">
                  <a:latin typeface="+mj-lt"/>
                </a:endParaRPr>
              </a:p>
              <a:p>
                <a:endParaRPr lang="en-GB" sz="2400" dirty="0">
                  <a:latin typeface="+mj-lt"/>
                </a:endParaRPr>
              </a:p>
              <a:p>
                <a:r>
                  <a:rPr lang="en-GB" sz="2400" dirty="0">
                    <a:latin typeface="+mj-lt"/>
                  </a:rPr>
                  <a:t>Monotonic functions are those that are strictly increasing or decreasing, are always invertible.</a:t>
                </a:r>
              </a:p>
              <a:p>
                <a:r>
                  <a:rPr lang="en-GB" sz="2400" dirty="0">
                    <a:latin typeface="+mj-lt"/>
                  </a:rPr>
                  <a:t>The graph of a function and its inverse are symmetrical with respect to the line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𝑥</m:t>
                    </m:r>
                  </m:oMath>
                </a14:m>
                <a:r>
                  <a:rPr lang="en-GB" sz="2400" dirty="0">
                    <a:latin typeface="+mj-lt"/>
                  </a:rPr>
                  <a:t>.</a:t>
                </a:r>
              </a:p>
            </p:txBody>
          </p:sp>
        </mc:Choice>
        <mc:Fallback xmlns="">
          <p:sp>
            <p:nvSpPr>
              <p:cNvPr id="2" name="TextBox 1">
                <a:extLst>
                  <a:ext uri="{FF2B5EF4-FFF2-40B4-BE49-F238E27FC236}">
                    <a16:creationId xmlns:a16="http://schemas.microsoft.com/office/drawing/2014/main" id="{2D90621B-C0A0-4DDC-BDBE-4690BD4E47F3}"/>
                  </a:ext>
                </a:extLst>
              </p:cNvPr>
              <p:cNvSpPr txBox="1">
                <a:spLocks noRot="1" noChangeAspect="1" noMove="1" noResize="1" noEditPoints="1" noAdjustHandles="1" noChangeArrowheads="1" noChangeShapeType="1" noTextEdit="1"/>
              </p:cNvSpPr>
              <p:nvPr/>
            </p:nvSpPr>
            <p:spPr>
              <a:xfrm>
                <a:off x="240535" y="1070510"/>
                <a:ext cx="11710929" cy="4619341"/>
              </a:xfrm>
              <a:prstGeom prst="rect">
                <a:avLst/>
              </a:prstGeom>
              <a:blipFill>
                <a:blip r:embed="rId2"/>
                <a:stretch>
                  <a:fillRect l="-780" t="-1057" r="-156" b="-2114"/>
                </a:stretch>
              </a:blipFill>
            </p:spPr>
            <p:txBody>
              <a:bodyPr/>
              <a:lstStyle/>
              <a:p>
                <a:r>
                  <a:rPr lang="en-GB">
                    <a:noFill/>
                  </a:rPr>
                  <a:t> </a:t>
                </a:r>
              </a:p>
            </p:txBody>
          </p:sp>
        </mc:Fallback>
      </mc:AlternateContent>
    </p:spTree>
    <p:extLst>
      <p:ext uri="{BB962C8B-B14F-4D97-AF65-F5344CB8AC3E}">
        <p14:creationId xmlns:p14="http://schemas.microsoft.com/office/powerpoint/2010/main" val="1734867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4867999" cy="523220"/>
          </a:xfrm>
          <a:prstGeom prst="rect">
            <a:avLst/>
          </a:prstGeom>
          <a:noFill/>
        </p:spPr>
        <p:txBody>
          <a:bodyPr wrap="none" rtlCol="0">
            <a:spAutoFit/>
          </a:bodyPr>
          <a:lstStyle/>
          <a:p>
            <a:r>
              <a:rPr lang="en-AU" sz="2800" b="1" cap="small" dirty="0">
                <a:solidFill>
                  <a:schemeClr val="bg1"/>
                </a:solidFill>
                <a:latin typeface="+mj-lt"/>
              </a:rPr>
              <a:t>1.4 Functions and their properties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348CB9-51A4-4FE4-929E-BB6B0030F4E3}"/>
                  </a:ext>
                </a:extLst>
              </p:cNvPr>
              <p:cNvSpPr txBox="1"/>
              <p:nvPr/>
            </p:nvSpPr>
            <p:spPr>
              <a:xfrm>
                <a:off x="240535" y="1070510"/>
                <a:ext cx="11710929" cy="4154984"/>
              </a:xfrm>
              <a:prstGeom prst="rect">
                <a:avLst/>
              </a:prstGeom>
              <a:noFill/>
            </p:spPr>
            <p:txBody>
              <a:bodyPr wrap="square" rtlCol="0">
                <a:spAutoFit/>
              </a:bodyPr>
              <a:lstStyle/>
              <a:p>
                <a:r>
                  <a:rPr lang="en-AU" sz="2400" dirty="0">
                    <a:latin typeface="+mj-lt"/>
                  </a:rPr>
                  <a:t>For the following functions, find if they are invertible or not. If they are invertible, find their inverse. If they are not invertible, find if by restricting their domain you can make them invertible.</a:t>
                </a:r>
              </a:p>
              <a:p>
                <a:endParaRPr lang="en-AU" sz="2400" dirty="0">
                  <a:latin typeface="+mj-lt"/>
                </a:endParaRPr>
              </a:p>
              <a:p>
                <a:r>
                  <a:rPr lang="en-AU" sz="2400" dirty="0">
                    <a:latin typeface="+mj-lt"/>
                  </a:rPr>
                  <a:t>a.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3</m:t>
                        </m:r>
                      </m:sup>
                    </m:sSup>
                  </m:oMath>
                </a14:m>
                <a:endParaRPr lang="en-GB" sz="2400" dirty="0">
                  <a:latin typeface="+mj-lt"/>
                </a:endParaRPr>
              </a:p>
              <a:p>
                <a:endParaRPr lang="en-GB" sz="2400" dirty="0">
                  <a:latin typeface="+mj-lt"/>
                </a:endParaRPr>
              </a:p>
              <a:p>
                <a:endParaRPr lang="en-GB" sz="2400" dirty="0">
                  <a:latin typeface="+mj-lt"/>
                </a:endParaRPr>
              </a:p>
              <a:p>
                <a:r>
                  <a:rPr lang="en-GB" sz="2400" dirty="0">
                    <a:latin typeface="+mj-lt"/>
                  </a:rPr>
                  <a:t>b.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oMath>
                </a14:m>
                <a:endParaRPr lang="en-GB" sz="2400" dirty="0">
                  <a:latin typeface="+mj-lt"/>
                </a:endParaRPr>
              </a:p>
              <a:p>
                <a:endParaRPr lang="en-GB" sz="2400" dirty="0">
                  <a:latin typeface="+mj-lt"/>
                </a:endParaRPr>
              </a:p>
              <a:p>
                <a:endParaRPr lang="en-GB" sz="2400" dirty="0">
                  <a:latin typeface="+mj-lt"/>
                </a:endParaRPr>
              </a:p>
              <a:p>
                <a:r>
                  <a:rPr lang="en-GB" sz="2400" dirty="0">
                    <a:latin typeface="+mj-lt"/>
                  </a:rPr>
                  <a:t>c.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−4</m:t>
                    </m:r>
                    <m:r>
                      <a:rPr lang="en-AU" sz="2400" b="0" i="1" smtClean="0">
                        <a:latin typeface="Cambria Math" panose="02040503050406030204" pitchFamily="18" charset="0"/>
                      </a:rPr>
                      <m:t>𝑥</m:t>
                    </m:r>
                    <m:r>
                      <a:rPr lang="en-AU" sz="2400" b="0" i="1" smtClean="0">
                        <a:latin typeface="Cambria Math" panose="02040503050406030204" pitchFamily="18" charset="0"/>
                      </a:rPr>
                      <m:t>+5</m:t>
                    </m:r>
                  </m:oMath>
                </a14:m>
                <a:endParaRPr lang="en-GB" sz="2400" dirty="0">
                  <a:latin typeface="+mj-lt"/>
                </a:endParaRPr>
              </a:p>
            </p:txBody>
          </p:sp>
        </mc:Choice>
        <mc:Fallback xmlns="">
          <p:sp>
            <p:nvSpPr>
              <p:cNvPr id="2" name="TextBox 1">
                <a:extLst>
                  <a:ext uri="{FF2B5EF4-FFF2-40B4-BE49-F238E27FC236}">
                    <a16:creationId xmlns:a16="http://schemas.microsoft.com/office/drawing/2014/main" id="{01348CB9-51A4-4FE4-929E-BB6B0030F4E3}"/>
                  </a:ext>
                </a:extLst>
              </p:cNvPr>
              <p:cNvSpPr txBox="1">
                <a:spLocks noRot="1" noChangeAspect="1" noMove="1" noResize="1" noEditPoints="1" noAdjustHandles="1" noChangeArrowheads="1" noChangeShapeType="1" noTextEdit="1"/>
              </p:cNvSpPr>
              <p:nvPr/>
            </p:nvSpPr>
            <p:spPr>
              <a:xfrm>
                <a:off x="240535" y="1070510"/>
                <a:ext cx="11710929" cy="4154984"/>
              </a:xfrm>
              <a:prstGeom prst="rect">
                <a:avLst/>
              </a:prstGeom>
              <a:blipFill>
                <a:blip r:embed="rId2"/>
                <a:stretch>
                  <a:fillRect l="-780" t="-1175" b="-2496"/>
                </a:stretch>
              </a:blipFill>
            </p:spPr>
            <p:txBody>
              <a:bodyPr/>
              <a:lstStyle/>
              <a:p>
                <a:r>
                  <a:rPr lang="en-GB">
                    <a:noFill/>
                  </a:rPr>
                  <a:t> </a:t>
                </a:r>
              </a:p>
            </p:txBody>
          </p:sp>
        </mc:Fallback>
      </mc:AlternateContent>
    </p:spTree>
    <p:extLst>
      <p:ext uri="{BB962C8B-B14F-4D97-AF65-F5344CB8AC3E}">
        <p14:creationId xmlns:p14="http://schemas.microsoft.com/office/powerpoint/2010/main" val="1950797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FE63619-80A3-4A89-960D-0F91C6BB0AAA}"/>
              </a:ext>
            </a:extLst>
          </p:cNvPr>
          <p:cNvGrpSpPr/>
          <p:nvPr/>
        </p:nvGrpSpPr>
        <p:grpSpPr>
          <a:xfrm>
            <a:off x="0" y="361"/>
            <a:ext cx="12192000" cy="825314"/>
            <a:chOff x="0" y="213019"/>
            <a:chExt cx="12192000" cy="825314"/>
          </a:xfrm>
          <a:solidFill>
            <a:schemeClr val="accent2">
              <a:lumMod val="50000"/>
            </a:schemeClr>
          </a:solidFill>
        </p:grpSpPr>
        <p:sp>
          <p:nvSpPr>
            <p:cNvPr id="4" name="Rectangle 3">
              <a:extLst>
                <a:ext uri="{FF2B5EF4-FFF2-40B4-BE49-F238E27FC236}">
                  <a16:creationId xmlns:a16="http://schemas.microsoft.com/office/drawing/2014/main" id="{0F605405-8240-4BCC-AF89-B810229A04DC}"/>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9556E24-176E-4E21-ACB9-FCE58612884D}"/>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20AD420-227D-44EE-A46A-95E968DB579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3833D331-C78A-418D-9AFF-6E3587061322}"/>
              </a:ext>
            </a:extLst>
          </p:cNvPr>
          <p:cNvSpPr txBox="1"/>
          <p:nvPr/>
        </p:nvSpPr>
        <p:spPr>
          <a:xfrm>
            <a:off x="66245" y="124632"/>
            <a:ext cx="2220673" cy="523220"/>
          </a:xfrm>
          <a:prstGeom prst="rect">
            <a:avLst/>
          </a:prstGeom>
          <a:noFill/>
        </p:spPr>
        <p:txBody>
          <a:bodyPr wrap="none" rtlCol="0">
            <a:spAutoFit/>
          </a:bodyPr>
          <a:lstStyle/>
          <a:p>
            <a:r>
              <a:rPr lang="en-AU" sz="2800" b="1" cap="small" dirty="0">
                <a:solidFill>
                  <a:schemeClr val="bg1"/>
                </a:solidFill>
                <a:latin typeface="+mj-lt"/>
              </a:rPr>
              <a:t>End of Lecture</a:t>
            </a:r>
            <a:endParaRPr lang="en-GB" sz="2800" b="1" cap="small" dirty="0">
              <a:solidFill>
                <a:schemeClr val="bg1"/>
              </a:solidFill>
              <a:latin typeface="+mj-lt"/>
            </a:endParaRPr>
          </a:p>
        </p:txBody>
      </p:sp>
    </p:spTree>
    <p:extLst>
      <p:ext uri="{BB962C8B-B14F-4D97-AF65-F5344CB8AC3E}">
        <p14:creationId xmlns:p14="http://schemas.microsoft.com/office/powerpoint/2010/main" val="3677207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2135</TotalTime>
  <Words>2290</Words>
  <Application>Microsoft Office PowerPoint</Application>
  <PresentationFormat>Widescreen</PresentationFormat>
  <Paragraphs>340</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Cambria</vt:lpstr>
      <vt:lpstr>Cambria Math</vt:lpstr>
      <vt:lpstr>Times New Roman</vt:lpstr>
      <vt:lpstr>Wingdings</vt:lpstr>
      <vt:lpstr>Office Theme</vt:lpstr>
      <vt:lpstr>Calculus and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MATHEMATICS</dc:title>
  <dc:creator>David</dc:creator>
  <cp:lastModifiedBy>Paul Hernandez Martinez</cp:lastModifiedBy>
  <cp:revision>184</cp:revision>
  <dcterms:created xsi:type="dcterms:W3CDTF">2018-11-23T00:41:45Z</dcterms:created>
  <dcterms:modified xsi:type="dcterms:W3CDTF">2024-08-02T00:05:03Z</dcterms:modified>
</cp:coreProperties>
</file>