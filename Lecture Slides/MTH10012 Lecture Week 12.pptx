
<file path=[Content_Types].xml><?xml version="1.0" encoding="utf-8"?>
<Types xmlns="http://schemas.openxmlformats.org/package/2006/content-types">
  <Default Extension="emf" ContentType="image/x-emf"/>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0"/>
  </p:notesMasterIdLst>
  <p:handoutMasterIdLst>
    <p:handoutMasterId r:id="rId31"/>
  </p:handoutMasterIdLst>
  <p:sldIdLst>
    <p:sldId id="256" r:id="rId2"/>
    <p:sldId id="261" r:id="rId3"/>
    <p:sldId id="402" r:id="rId4"/>
    <p:sldId id="438" r:id="rId5"/>
    <p:sldId id="439" r:id="rId6"/>
    <p:sldId id="440" r:id="rId7"/>
    <p:sldId id="441" r:id="rId8"/>
    <p:sldId id="442" r:id="rId9"/>
    <p:sldId id="443" r:id="rId10"/>
    <p:sldId id="437" r:id="rId11"/>
    <p:sldId id="444" r:id="rId12"/>
    <p:sldId id="445" r:id="rId13"/>
    <p:sldId id="446" r:id="rId14"/>
    <p:sldId id="447" r:id="rId15"/>
    <p:sldId id="448" r:id="rId16"/>
    <p:sldId id="449" r:id="rId17"/>
    <p:sldId id="450" r:id="rId18"/>
    <p:sldId id="451" r:id="rId19"/>
    <p:sldId id="452" r:id="rId20"/>
    <p:sldId id="453" r:id="rId21"/>
    <p:sldId id="454" r:id="rId22"/>
    <p:sldId id="455" r:id="rId23"/>
    <p:sldId id="456" r:id="rId24"/>
    <p:sldId id="457" r:id="rId25"/>
    <p:sldId id="458" r:id="rId26"/>
    <p:sldId id="459" r:id="rId27"/>
    <p:sldId id="460" r:id="rId28"/>
    <p:sldId id="337" r:id="rId29"/>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C0000"/>
    <a:srgbClr val="E050C5"/>
    <a:srgbClr val="FFF2CC"/>
    <a:srgbClr val="FFEBB3"/>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56" autoAdjust="0"/>
    <p:restoredTop sz="96625" autoAdjust="0"/>
  </p:normalViewPr>
  <p:slideViewPr>
    <p:cSldViewPr snapToGrid="0">
      <p:cViewPr>
        <p:scale>
          <a:sx n="100" d="100"/>
          <a:sy n="100" d="100"/>
        </p:scale>
        <p:origin x="-654" y="3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10/6/2023</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6/10/2023</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10/6/2023</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6/10/2023</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6/10/2023</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6/10/2023</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6/10/2023</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6/10/2023</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6/10/2023</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6/10/2023</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6/10/2023</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6/10/2023</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6/10/2023</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6/10/2023</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A close up of text on a whiteboard&#10;&#10;Description automatically generated">
            <a:extLst>
              <a:ext uri="{FF2B5EF4-FFF2-40B4-BE49-F238E27FC236}">
                <a16:creationId xmlns:a16="http://schemas.microsoft.com/office/drawing/2014/main" id="{9CBF2271-6786-48D8-8625-48074A2F58E8}"/>
              </a:ext>
            </a:extLst>
          </p:cNvPr>
          <p:cNvPicPr>
            <a:picLocks noChangeAspect="1"/>
          </p:cNvPicPr>
          <p:nvPr/>
        </p:nvPicPr>
        <p:blipFill>
          <a:blip r:embed="rId2">
            <a:duotone>
              <a:prstClr val="black"/>
              <a:srgbClr val="D9C3A5">
                <a:tint val="50000"/>
                <a:satMod val="180000"/>
              </a:srgbClr>
            </a:duotone>
            <a:alphaModFix amt="35000"/>
            <a:extLst>
              <a:ext uri="{28A0092B-C50C-407E-A947-70E740481C1C}">
                <a14:useLocalDpi xmlns:a14="http://schemas.microsoft.com/office/drawing/2010/main" val="0"/>
              </a:ext>
            </a:extLst>
          </a:blip>
          <a:stretch>
            <a:fillRect/>
          </a:stretch>
        </p:blipFill>
        <p:spPr>
          <a:xfrm>
            <a:off x="0" y="0"/>
            <a:ext cx="12192000" cy="4591665"/>
          </a:xfrm>
          <a:prstGeom prst="rect">
            <a:avLst/>
          </a:prstGeom>
        </p:spPr>
      </p:pic>
      <p:sp>
        <p:nvSpPr>
          <p:cNvPr id="5" name="Title 1">
            <a:extLst>
              <a:ext uri="{FF2B5EF4-FFF2-40B4-BE49-F238E27FC236}">
                <a16:creationId xmlns:a16="http://schemas.microsoft.com/office/drawing/2014/main" id="{50029B91-E5FE-43A6-9535-58B2F4EBB5EE}"/>
              </a:ext>
            </a:extLst>
          </p:cNvPr>
          <p:cNvSpPr txBox="1">
            <a:spLocks/>
          </p:cNvSpPr>
          <p:nvPr/>
        </p:nvSpPr>
        <p:spPr>
          <a:xfrm>
            <a:off x="0" y="-2"/>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12</a:t>
            </a:r>
          </a:p>
        </p:txBody>
      </p:sp>
      <p:sp>
        <p:nvSpPr>
          <p:cNvPr id="2" name="Title 1"/>
          <p:cNvSpPr>
            <a:spLocks noGrp="1"/>
          </p:cNvSpPr>
          <p:nvPr>
            <p:ph type="ctrTitle"/>
          </p:nvPr>
        </p:nvSpPr>
        <p:spPr>
          <a:xfrm>
            <a:off x="589935" y="248636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1" name="TextBox 10">
            <a:extLst>
              <a:ext uri="{FF2B5EF4-FFF2-40B4-BE49-F238E27FC236}">
                <a16:creationId xmlns:a16="http://schemas.microsoft.com/office/drawing/2014/main" id="{A61EC46B-21B4-4C87-946C-3EAD91A29AA1}"/>
              </a:ext>
            </a:extLst>
          </p:cNvPr>
          <p:cNvSpPr txBox="1"/>
          <p:nvPr/>
        </p:nvSpPr>
        <p:spPr>
          <a:xfrm>
            <a:off x="307593" y="1036182"/>
            <a:ext cx="101662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11</a:t>
            </a:r>
            <a:endParaRPr lang="en-GB" sz="2000" b="1" cap="small" dirty="0">
              <a:latin typeface="+mj-lt"/>
            </a:endParaRPr>
          </a:p>
        </p:txBody>
      </p:sp>
      <p:sp>
        <p:nvSpPr>
          <p:cNvPr id="13" name="TextBox 12">
            <a:extLst>
              <a:ext uri="{FF2B5EF4-FFF2-40B4-BE49-F238E27FC236}">
                <a16:creationId xmlns:a16="http://schemas.microsoft.com/office/drawing/2014/main" id="{EDAF658E-4D46-438A-89D3-59C69A018DE7}"/>
              </a:ext>
            </a:extLst>
          </p:cNvPr>
          <p:cNvSpPr txBox="1"/>
          <p:nvPr/>
        </p:nvSpPr>
        <p:spPr>
          <a:xfrm>
            <a:off x="307593" y="3130514"/>
            <a:ext cx="101662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12</a:t>
            </a:r>
            <a:endParaRPr lang="en-GB" sz="2000" b="1" cap="small" dirty="0">
              <a:latin typeface="+mj-lt"/>
            </a:endParaRPr>
          </a:p>
        </p:txBody>
      </p:sp>
      <p:cxnSp>
        <p:nvCxnSpPr>
          <p:cNvPr id="3" name="Straight Connector 2">
            <a:extLst>
              <a:ext uri="{FF2B5EF4-FFF2-40B4-BE49-F238E27FC236}">
                <a16:creationId xmlns:a16="http://schemas.microsoft.com/office/drawing/2014/main" id="{CD60D396-44DB-4720-AA20-0FECBBC96907}"/>
              </a:ext>
            </a:extLst>
          </p:cNvPr>
          <p:cNvCxnSpPr>
            <a:stCxn id="13" idx="3"/>
          </p:cNvCxnSpPr>
          <p:nvPr/>
        </p:nvCxnSpPr>
        <p:spPr>
          <a:xfrm>
            <a:off x="1324218" y="3330569"/>
            <a:ext cx="10276111"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5D933F3-BDCD-41B7-8B70-5B047253E6FA}"/>
              </a:ext>
            </a:extLst>
          </p:cNvPr>
          <p:cNvCxnSpPr>
            <a:cxnSpLocks/>
            <a:stCxn id="11" idx="3"/>
          </p:cNvCxnSpPr>
          <p:nvPr/>
        </p:nvCxnSpPr>
        <p:spPr>
          <a:xfrm flipV="1">
            <a:off x="1324218" y="1211599"/>
            <a:ext cx="10276111" cy="24638"/>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83F34354-4086-4731-BD25-91F233A36B56}"/>
              </a:ext>
            </a:extLst>
          </p:cNvPr>
          <p:cNvSpPr txBox="1"/>
          <p:nvPr/>
        </p:nvSpPr>
        <p:spPr>
          <a:xfrm>
            <a:off x="1354226" y="1644618"/>
            <a:ext cx="10216093" cy="1200329"/>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Second order ODEs with constant coefficients</a:t>
            </a:r>
          </a:p>
          <a:p>
            <a:pPr marL="342900" indent="-342900">
              <a:buFont typeface="Arial" panose="020B0604020202020204" pitchFamily="34" charset="0"/>
              <a:buChar char="•"/>
            </a:pPr>
            <a:r>
              <a:rPr lang="en-AU" sz="2400" b="1" dirty="0">
                <a:latin typeface="+mj-lt"/>
              </a:rPr>
              <a:t>Functions of two variables</a:t>
            </a:r>
          </a:p>
          <a:p>
            <a:pPr marL="342900" indent="-342900">
              <a:buFont typeface="Arial" panose="020B0604020202020204" pitchFamily="34" charset="0"/>
              <a:buChar char="•"/>
            </a:pPr>
            <a:r>
              <a:rPr lang="en-AU" sz="2400" b="1" dirty="0">
                <a:latin typeface="+mj-lt"/>
              </a:rPr>
              <a:t>The method of cross-sections and simple surfaces</a:t>
            </a:r>
          </a:p>
        </p:txBody>
      </p:sp>
      <p:sp>
        <p:nvSpPr>
          <p:cNvPr id="15" name="TextBox 14">
            <a:extLst>
              <a:ext uri="{FF2B5EF4-FFF2-40B4-BE49-F238E27FC236}">
                <a16:creationId xmlns:a16="http://schemas.microsoft.com/office/drawing/2014/main" id="{129E731F-9800-49E3-9304-B64154685349}"/>
              </a:ext>
            </a:extLst>
          </p:cNvPr>
          <p:cNvSpPr txBox="1"/>
          <p:nvPr/>
        </p:nvSpPr>
        <p:spPr>
          <a:xfrm>
            <a:off x="1324218" y="3740041"/>
            <a:ext cx="10216093" cy="1938992"/>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Limits and continuity for functions of two variables</a:t>
            </a:r>
          </a:p>
          <a:p>
            <a:pPr marL="342900" indent="-342900">
              <a:buFont typeface="Arial" panose="020B0604020202020204" pitchFamily="34" charset="0"/>
              <a:buChar char="•"/>
            </a:pPr>
            <a:r>
              <a:rPr lang="en-AU" sz="2400" b="1" dirty="0">
                <a:latin typeface="+mj-lt"/>
              </a:rPr>
              <a:t>Partial derivatives</a:t>
            </a:r>
          </a:p>
          <a:p>
            <a:pPr marL="342900" indent="-342900">
              <a:buFont typeface="Arial" panose="020B0604020202020204" pitchFamily="34" charset="0"/>
              <a:buChar char="•"/>
            </a:pPr>
            <a:r>
              <a:rPr lang="en-AU" sz="2400" b="1" dirty="0">
                <a:latin typeface="+mj-lt"/>
              </a:rPr>
              <a:t>Small increments approximation</a:t>
            </a:r>
          </a:p>
          <a:p>
            <a:pPr marL="342900" indent="-342900">
              <a:buFont typeface="Arial" panose="020B0604020202020204" pitchFamily="34" charset="0"/>
              <a:buChar char="•"/>
            </a:pPr>
            <a:r>
              <a:rPr lang="en-AU" sz="2400" b="1" dirty="0">
                <a:latin typeface="+mj-lt"/>
              </a:rPr>
              <a:t>Chain rules for functions of two variables</a:t>
            </a:r>
          </a:p>
          <a:p>
            <a:pPr marL="342900" indent="-342900">
              <a:buFont typeface="Arial" panose="020B0604020202020204" pitchFamily="34" charset="0"/>
              <a:buChar char="•"/>
            </a:pPr>
            <a:r>
              <a:rPr lang="en-AU" sz="2400" b="1" dirty="0">
                <a:latin typeface="+mj-lt"/>
              </a:rPr>
              <a:t>Stationary points on a surface</a:t>
            </a: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871194" cy="523220"/>
          </a:xfrm>
          <a:prstGeom prst="rect">
            <a:avLst/>
          </a:prstGeom>
          <a:noFill/>
        </p:spPr>
        <p:txBody>
          <a:bodyPr wrap="none" rtlCol="0">
            <a:spAutoFit/>
          </a:bodyPr>
          <a:lstStyle/>
          <a:p>
            <a:r>
              <a:rPr lang="en-AU" sz="2800" b="1" cap="small" dirty="0">
                <a:solidFill>
                  <a:schemeClr val="bg1"/>
                </a:solidFill>
                <a:latin typeface="+mj-lt"/>
              </a:rPr>
              <a:t>7.3 Limits and continuity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1361270"/>
              </a:xfrm>
              <a:prstGeom prst="rect">
                <a:avLst/>
              </a:prstGeom>
              <a:noFill/>
            </p:spPr>
            <p:txBody>
              <a:bodyPr wrap="square" rtlCol="0">
                <a:spAutoFit/>
              </a:bodyPr>
              <a:lstStyle/>
              <a:p>
                <a:r>
                  <a:rPr lang="en-AU" sz="2400" dirty="0">
                    <a:latin typeface="+mj-lt"/>
                  </a:rPr>
                  <a:t>Definition (Limit for functions of two variables). For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ℝ</m:t>
                        </m:r>
                      </m:e>
                      <m:sup>
                        <m:r>
                          <a:rPr lang="en-AU" sz="2400" b="0" i="1" smtClean="0">
                            <a:latin typeface="Cambria Math" panose="02040503050406030204" pitchFamily="18" charset="0"/>
                            <a:ea typeface="Cambria Math" panose="02040503050406030204" pitchFamily="18" charset="0"/>
                          </a:rPr>
                          <m:t>2</m:t>
                        </m:r>
                      </m:sup>
                    </m:sSup>
                  </m:oMath>
                </a14:m>
                <a:r>
                  <a:rPr lang="en-AU" sz="2400" b="0" dirty="0">
                    <a:latin typeface="+mj-lt"/>
                  </a:rPr>
                  <a:t> and </a:t>
                </a:r>
                <a14:m>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b="0" dirty="0">
                    <a:latin typeface="+mj-lt"/>
                  </a:rPr>
                  <a:t>, we say that the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b="0" dirty="0">
                    <a:latin typeface="+mj-lt"/>
                  </a:rPr>
                  <a:t> has the limit </a:t>
                </a:r>
                <a14:m>
                  <m:oMath xmlns:m="http://schemas.openxmlformats.org/officeDocument/2006/math">
                    <m:r>
                      <a:rPr lang="en-AU" sz="2400" i="1">
                        <a:latin typeface="Cambria Math" panose="02040503050406030204" pitchFamily="18" charset="0"/>
                      </a:rPr>
                      <m:t>𝐿</m:t>
                    </m:r>
                  </m:oMath>
                </a14:m>
                <a:r>
                  <a:rPr lang="en-AU" sz="2400" b="0" dirty="0">
                    <a:latin typeface="+mj-lt"/>
                  </a:rPr>
                  <a:t> as </a:t>
                </a:r>
                <a14:m>
                  <m:oMath xmlns:m="http://schemas.openxmlformats.org/officeDocument/2006/math">
                    <m:r>
                      <a:rPr lang="en-AU" sz="2400" i="1">
                        <a:latin typeface="Cambria Math" panose="02040503050406030204" pitchFamily="18" charset="0"/>
                      </a:rPr>
                      <m:t>(</m:t>
                    </m:r>
                    <m:r>
                      <a:rPr lang="en-AU" sz="2400" b="0" i="1" smtClean="0">
                        <a:latin typeface="Cambria Math" panose="02040503050406030204" pitchFamily="18" charset="0"/>
                      </a:rPr>
                      <m:t>𝑥</m:t>
                    </m:r>
                    <m:r>
                      <a:rPr lang="en-AU" sz="2400" i="1">
                        <a:latin typeface="Cambria Math" panose="02040503050406030204" pitchFamily="18" charset="0"/>
                      </a:rPr>
                      <m:t>,</m:t>
                    </m:r>
                    <m:r>
                      <a:rPr lang="en-AU" sz="2400" b="0" i="1" smtClean="0">
                        <a:latin typeface="Cambria Math" panose="02040503050406030204" pitchFamily="18" charset="0"/>
                      </a:rPr>
                      <m:t>𝑦</m:t>
                    </m:r>
                    <m:r>
                      <a:rPr lang="en-AU" sz="2400" i="1">
                        <a:latin typeface="Cambria Math" panose="02040503050406030204" pitchFamily="18" charset="0"/>
                      </a:rPr>
                      <m:t>)</m:t>
                    </m:r>
                  </m:oMath>
                </a14:m>
                <a:r>
                  <a:rPr lang="en-AU" sz="2400" b="0" dirty="0">
                    <a:latin typeface="+mj-lt"/>
                  </a:rPr>
                  <a:t> approaches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r>
                      <a:rPr lang="en-AU" sz="2400" i="1">
                        <a:latin typeface="Cambria Math" panose="02040503050406030204" pitchFamily="18" charset="0"/>
                      </a:rPr>
                      <m:t>)</m:t>
                    </m:r>
                  </m:oMath>
                </a14:m>
                <a:r>
                  <a:rPr lang="en-AU" sz="2400" b="0" dirty="0">
                    <a:latin typeface="+mj-lt"/>
                  </a:rPr>
                  <a:t>:</a:t>
                </a: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rPr>
                        <m:t>𝐿</m:t>
                      </m:r>
                    </m:oMath>
                  </m:oMathPara>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1361270"/>
              </a:xfrm>
              <a:prstGeom prst="rect">
                <a:avLst/>
              </a:prstGeom>
              <a:blipFill>
                <a:blip r:embed="rId2"/>
                <a:stretch>
                  <a:fillRect l="-836" t="-3571" b="-3125"/>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37F5CF29-FDD7-4149-AB00-A69B31F365F5}"/>
              </a:ext>
            </a:extLst>
          </p:cNvPr>
          <p:cNvPicPr>
            <a:picLocks noChangeAspect="1"/>
          </p:cNvPicPr>
          <p:nvPr/>
        </p:nvPicPr>
        <p:blipFill>
          <a:blip r:embed="rId3"/>
          <a:stretch>
            <a:fillRect/>
          </a:stretch>
        </p:blipFill>
        <p:spPr>
          <a:xfrm>
            <a:off x="6096000" y="2356507"/>
            <a:ext cx="5607909" cy="352980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E9AAE4C-8EFA-4AC4-BCFA-CAE0ABBB859F}"/>
                  </a:ext>
                </a:extLst>
              </p:cNvPr>
              <p:cNvSpPr txBox="1"/>
              <p:nvPr/>
            </p:nvSpPr>
            <p:spPr>
              <a:xfrm>
                <a:off x="259976" y="2271726"/>
                <a:ext cx="5733886" cy="3785652"/>
              </a:xfrm>
              <a:prstGeom prst="rect">
                <a:avLst/>
              </a:prstGeom>
              <a:noFill/>
            </p:spPr>
            <p:txBody>
              <a:bodyPr wrap="square">
                <a:spAutoFit/>
              </a:bodyPr>
              <a:lstStyle/>
              <a:p>
                <a:r>
                  <a:rPr lang="en-AU" sz="2400" dirty="0">
                    <a:latin typeface="+mj-lt"/>
                  </a:rPr>
                  <a:t>if we can make the value of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b="0" dirty="0">
                    <a:latin typeface="+mj-lt"/>
                  </a:rPr>
                  <a:t> arbitrarily close to </a:t>
                </a:r>
                <a14:m>
                  <m:oMath xmlns:m="http://schemas.openxmlformats.org/officeDocument/2006/math">
                    <m:r>
                      <a:rPr lang="en-AU" sz="2400" i="1">
                        <a:latin typeface="Cambria Math" panose="02040503050406030204" pitchFamily="18" charset="0"/>
                      </a:rPr>
                      <m:t>𝐿</m:t>
                    </m:r>
                  </m:oMath>
                </a14:m>
                <a:r>
                  <a:rPr lang="en-AU" sz="2400" b="0" dirty="0">
                    <a:latin typeface="+mj-lt"/>
                  </a:rPr>
                  <a:t> by taking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m:t>
                    </m:r>
                  </m:oMath>
                </a14:m>
                <a:r>
                  <a:rPr lang="en-AU" sz="2400" dirty="0"/>
                  <a:t> </a:t>
                </a:r>
                <a:r>
                  <a:rPr lang="en-AU" sz="2400" dirty="0">
                    <a:latin typeface="+mj-lt"/>
                  </a:rPr>
                  <a:t>to be sufficiently close to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r>
                      <a:rPr lang="en-AU" sz="2400" i="1">
                        <a:latin typeface="Cambria Math" panose="02040503050406030204" pitchFamily="18" charset="0"/>
                      </a:rPr>
                      <m:t>)</m:t>
                    </m:r>
                  </m:oMath>
                </a14:m>
                <a:r>
                  <a:rPr lang="en-AU" sz="2400" dirty="0">
                    <a:latin typeface="+mj-lt"/>
                  </a:rPr>
                  <a:t> but not equal to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r>
                      <a:rPr lang="en-AU" sz="2400" i="1">
                        <a:latin typeface="Cambria Math" panose="02040503050406030204" pitchFamily="18" charset="0"/>
                      </a:rPr>
                      <m:t>)</m:t>
                    </m:r>
                  </m:oMath>
                </a14:m>
                <a:r>
                  <a:rPr lang="en-AU" sz="2400" dirty="0">
                    <a:latin typeface="+mj-lt"/>
                  </a:rPr>
                  <a:t>.</a:t>
                </a:r>
              </a:p>
              <a:p>
                <a:r>
                  <a:rPr lang="en-AU" sz="2400" dirty="0">
                    <a:latin typeface="+mj-lt"/>
                  </a:rPr>
                  <a:t>For the limit to exist,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b="0" dirty="0">
                    <a:latin typeface="+mj-lt"/>
                  </a:rPr>
                  <a:t> has to approach the same value </a:t>
                </a:r>
                <a14:m>
                  <m:oMath xmlns:m="http://schemas.openxmlformats.org/officeDocument/2006/math">
                    <m:r>
                      <a:rPr lang="en-AU" sz="2400" i="1">
                        <a:latin typeface="Cambria Math" panose="02040503050406030204" pitchFamily="18" charset="0"/>
                      </a:rPr>
                      <m:t>𝐿</m:t>
                    </m:r>
                  </m:oMath>
                </a14:m>
                <a:r>
                  <a:rPr lang="en-AU" sz="2400" dirty="0">
                    <a:latin typeface="+mj-lt"/>
                  </a:rPr>
                  <a:t> as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m:t>
                    </m:r>
                  </m:oMath>
                </a14:m>
                <a:r>
                  <a:rPr lang="en-AU" sz="2400" dirty="0"/>
                  <a:t> </a:t>
                </a:r>
                <a:r>
                  <a:rPr lang="en-AU" sz="2400" dirty="0">
                    <a:latin typeface="+mj-lt"/>
                  </a:rPr>
                  <a:t>approaches </a:t>
                </a:r>
                <a14:m>
                  <m:oMath xmlns:m="http://schemas.openxmlformats.org/officeDocument/2006/math">
                    <m:d>
                      <m:dPr>
                        <m:ctrlPr>
                          <a:rPr lang="en-AU" sz="2400" i="1">
                            <a:latin typeface="Cambria Math" panose="02040503050406030204" pitchFamily="18" charset="0"/>
                          </a:rPr>
                        </m:ctrlPr>
                      </m:dPr>
                      <m:e>
                        <m:r>
                          <a:rPr lang="en-AU" sz="2400">
                            <a:latin typeface="Cambria Math" panose="02040503050406030204" pitchFamily="18" charset="0"/>
                          </a:rPr>
                          <m:t>𝑎</m:t>
                        </m:r>
                        <m:r>
                          <a:rPr lang="en-AU" sz="2400">
                            <a:latin typeface="Cambria Math" panose="02040503050406030204" pitchFamily="18" charset="0"/>
                          </a:rPr>
                          <m:t>,</m:t>
                        </m:r>
                        <m:r>
                          <a:rPr lang="en-AU" sz="2400">
                            <a:latin typeface="Cambria Math" panose="02040503050406030204" pitchFamily="18" charset="0"/>
                          </a:rPr>
                          <m:t>𝑏</m:t>
                        </m:r>
                      </m:e>
                    </m:d>
                  </m:oMath>
                </a14:m>
                <a:r>
                  <a:rPr lang="en-AU" sz="2400" dirty="0">
                    <a:latin typeface="+mj-lt"/>
                  </a:rPr>
                  <a:t> along </a:t>
                </a:r>
                <a:r>
                  <a:rPr lang="en-AU" sz="2400" u="sng" dirty="0">
                    <a:latin typeface="+mj-lt"/>
                  </a:rPr>
                  <a:t>any</a:t>
                </a:r>
                <a:r>
                  <a:rPr lang="en-AU" sz="2400" dirty="0">
                    <a:latin typeface="+mj-lt"/>
                  </a:rPr>
                  <a:t> path.</a:t>
                </a:r>
              </a:p>
              <a:p>
                <a:r>
                  <a:rPr lang="en-AU" sz="2400" dirty="0">
                    <a:latin typeface="+mj-lt"/>
                  </a:rPr>
                  <a:t>Note. Infinities are treated differently to the cases for functions of one variable.</a:t>
                </a:r>
              </a:p>
              <a:p>
                <a:r>
                  <a:rPr lang="en-AU" sz="2400" dirty="0">
                    <a:latin typeface="+mj-lt"/>
                  </a:rPr>
                  <a:t>Note. The usual limit laws apply for the case of functions of two variables.</a:t>
                </a:r>
              </a:p>
            </p:txBody>
          </p:sp>
        </mc:Choice>
        <mc:Fallback xmlns="">
          <p:sp>
            <p:nvSpPr>
              <p:cNvPr id="12" name="TextBox 11">
                <a:extLst>
                  <a:ext uri="{FF2B5EF4-FFF2-40B4-BE49-F238E27FC236}">
                    <a16:creationId xmlns:a16="http://schemas.microsoft.com/office/drawing/2014/main" id="{9E9AAE4C-8EFA-4AC4-BCFA-CAE0ABBB859F}"/>
                  </a:ext>
                </a:extLst>
              </p:cNvPr>
              <p:cNvSpPr txBox="1">
                <a:spLocks noRot="1" noChangeAspect="1" noMove="1" noResize="1" noEditPoints="1" noAdjustHandles="1" noChangeArrowheads="1" noChangeShapeType="1" noTextEdit="1"/>
              </p:cNvSpPr>
              <p:nvPr/>
            </p:nvSpPr>
            <p:spPr>
              <a:xfrm>
                <a:off x="259976" y="2271726"/>
                <a:ext cx="5733886" cy="3785652"/>
              </a:xfrm>
              <a:prstGeom prst="rect">
                <a:avLst/>
              </a:prstGeom>
              <a:blipFill>
                <a:blip r:embed="rId4"/>
                <a:stretch>
                  <a:fillRect l="-1702" t="-1288" r="-2553" b="-2738"/>
                </a:stretch>
              </a:blipFill>
            </p:spPr>
            <p:txBody>
              <a:bodyPr/>
              <a:lstStyle/>
              <a:p>
                <a:r>
                  <a:rPr lang="en-GB">
                    <a:noFill/>
                  </a:rPr>
                  <a:t> </a:t>
                </a:r>
              </a:p>
            </p:txBody>
          </p:sp>
        </mc:Fallback>
      </mc:AlternateContent>
    </p:spTree>
    <p:extLst>
      <p:ext uri="{BB962C8B-B14F-4D97-AF65-F5344CB8AC3E}">
        <p14:creationId xmlns:p14="http://schemas.microsoft.com/office/powerpoint/2010/main" val="50978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871194" cy="523220"/>
          </a:xfrm>
          <a:prstGeom prst="rect">
            <a:avLst/>
          </a:prstGeom>
          <a:noFill/>
        </p:spPr>
        <p:txBody>
          <a:bodyPr wrap="none" rtlCol="0">
            <a:spAutoFit/>
          </a:bodyPr>
          <a:lstStyle/>
          <a:p>
            <a:r>
              <a:rPr lang="en-AU" sz="2800" b="1" cap="small" dirty="0">
                <a:solidFill>
                  <a:schemeClr val="bg1"/>
                </a:solidFill>
                <a:latin typeface="+mj-lt"/>
              </a:rPr>
              <a:t>7.3 Limits and continuity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2469266"/>
              </a:xfrm>
              <a:prstGeom prst="rect">
                <a:avLst/>
              </a:prstGeom>
              <a:noFill/>
            </p:spPr>
            <p:txBody>
              <a:bodyPr wrap="square" rtlCol="0">
                <a:spAutoFit/>
              </a:bodyPr>
              <a:lstStyle/>
              <a:p>
                <a:r>
                  <a:rPr lang="en-AU" sz="2400" dirty="0">
                    <a:latin typeface="+mj-lt"/>
                  </a:rPr>
                  <a:t>Definition (Continuity at a point for functions of two variables).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𝑍</m:t>
                    </m:r>
                  </m:oMath>
                </a14:m>
                <a:r>
                  <a:rPr lang="en-AU" sz="2400" dirty="0">
                    <a:latin typeface="+mj-lt"/>
                  </a:rPr>
                  <a:t> is said to be continuous at a point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oMath>
                </a14:m>
                <a:r>
                  <a:rPr lang="en-AU" sz="2400" b="0" dirty="0">
                    <a:latin typeface="+mj-lt"/>
                  </a:rPr>
                  <a:t> if</a:t>
                </a: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oMath>
                  </m:oMathPara>
                </a14:m>
                <a:endParaRPr lang="en-AU" sz="2400" b="0" dirty="0">
                  <a:latin typeface="+mj-lt"/>
                </a:endParaRPr>
              </a:p>
              <a:p>
                <a:endParaRPr lang="en-AU" sz="2400" dirty="0">
                  <a:latin typeface="+mj-lt"/>
                </a:endParaRPr>
              </a:p>
              <a:p>
                <a:r>
                  <a:rPr lang="en-AU" sz="2400" dirty="0">
                    <a:latin typeface="+mj-lt"/>
                  </a:rPr>
                  <a:t>Example. Determine for which values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b="0" dirty="0">
                    <a:latin typeface="+mj-lt"/>
                  </a:rPr>
                  <a:t> the function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=3</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+2</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r>
                      <a:rPr lang="en-AU" sz="2400" b="0" i="1" smtClean="0">
                        <a:latin typeface="Cambria Math" panose="02040503050406030204" pitchFamily="18" charset="0"/>
                      </a:rPr>
                      <m:t>𝑦</m:t>
                    </m:r>
                  </m:oMath>
                </a14:m>
                <a:r>
                  <a:rPr lang="en-AU" sz="2400" b="0" dirty="0">
                    <a:latin typeface="+mj-lt"/>
                  </a:rPr>
                  <a:t> is continuous.</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2469266"/>
              </a:xfrm>
              <a:prstGeom prst="rect">
                <a:avLst/>
              </a:prstGeom>
              <a:blipFill>
                <a:blip r:embed="rId2"/>
                <a:stretch>
                  <a:fillRect l="-836" t="-1975" b="-4691"/>
                </a:stretch>
              </a:blipFill>
            </p:spPr>
            <p:txBody>
              <a:bodyPr/>
              <a:lstStyle/>
              <a:p>
                <a:r>
                  <a:rPr lang="en-GB">
                    <a:noFill/>
                  </a:rPr>
                  <a:t> </a:t>
                </a:r>
              </a:p>
            </p:txBody>
          </p:sp>
        </mc:Fallback>
      </mc:AlternateContent>
    </p:spTree>
    <p:extLst>
      <p:ext uri="{BB962C8B-B14F-4D97-AF65-F5344CB8AC3E}">
        <p14:creationId xmlns:p14="http://schemas.microsoft.com/office/powerpoint/2010/main" val="1472359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871194" cy="523220"/>
          </a:xfrm>
          <a:prstGeom prst="rect">
            <a:avLst/>
          </a:prstGeom>
          <a:noFill/>
        </p:spPr>
        <p:txBody>
          <a:bodyPr wrap="none" rtlCol="0">
            <a:spAutoFit/>
          </a:bodyPr>
          <a:lstStyle/>
          <a:p>
            <a:r>
              <a:rPr lang="en-AU" sz="2800" b="1" cap="small" dirty="0">
                <a:solidFill>
                  <a:schemeClr val="bg1"/>
                </a:solidFill>
                <a:latin typeface="+mj-lt"/>
              </a:rPr>
              <a:t>7.3 Limits and continuity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709618"/>
              </a:xfrm>
              <a:prstGeom prst="rect">
                <a:avLst/>
              </a:prstGeom>
              <a:noFill/>
            </p:spPr>
            <p:txBody>
              <a:bodyPr wrap="square" rtlCol="0">
                <a:spAutoFit/>
              </a:bodyPr>
              <a:lstStyle/>
              <a:p>
                <a:r>
                  <a:rPr lang="en-AU" sz="2400" dirty="0">
                    <a:latin typeface="+mj-lt"/>
                  </a:rPr>
                  <a:t>Example. Determine for which values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b="0" dirty="0">
                    <a:latin typeface="+mj-lt"/>
                  </a:rPr>
                  <a:t> the function </a:t>
                </a:r>
                <a14:m>
                  <m:oMath xmlns:m="http://schemas.openxmlformats.org/officeDocument/2006/math">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num>
                      <m:den>
                        <m:r>
                          <a:rPr lang="en-AU" sz="2400" b="0" i="1" smtClean="0">
                            <a:latin typeface="Cambria Math" panose="02040503050406030204" pitchFamily="18" charset="0"/>
                          </a:rPr>
                          <m:t>𝑦</m:t>
                        </m:r>
                      </m:den>
                    </m:f>
                  </m:oMath>
                </a14:m>
                <a:r>
                  <a:rPr lang="en-AU" sz="2400" b="0" dirty="0">
                    <a:latin typeface="+mj-lt"/>
                  </a:rPr>
                  <a:t> is continuous.</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709618"/>
              </a:xfrm>
              <a:prstGeom prst="rect">
                <a:avLst/>
              </a:prstGeom>
              <a:blipFill>
                <a:blip r:embed="rId2"/>
                <a:stretch>
                  <a:fillRect l="-836" b="-1709"/>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C9A002FC-57C9-413D-A391-8959D6FC7D79}"/>
              </a:ext>
            </a:extLst>
          </p:cNvPr>
          <p:cNvPicPr>
            <a:picLocks noChangeAspect="1"/>
          </p:cNvPicPr>
          <p:nvPr/>
        </p:nvPicPr>
        <p:blipFill>
          <a:blip r:embed="rId3"/>
          <a:stretch>
            <a:fillRect/>
          </a:stretch>
        </p:blipFill>
        <p:spPr>
          <a:xfrm>
            <a:off x="5906877" y="2921254"/>
            <a:ext cx="5899641" cy="2328251"/>
          </a:xfrm>
          <a:prstGeom prst="rect">
            <a:avLst/>
          </a:prstGeom>
        </p:spPr>
      </p:pic>
    </p:spTree>
    <p:extLst>
      <p:ext uri="{BB962C8B-B14F-4D97-AF65-F5344CB8AC3E}">
        <p14:creationId xmlns:p14="http://schemas.microsoft.com/office/powerpoint/2010/main" val="158135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871194" cy="523220"/>
          </a:xfrm>
          <a:prstGeom prst="rect">
            <a:avLst/>
          </a:prstGeom>
          <a:noFill/>
        </p:spPr>
        <p:txBody>
          <a:bodyPr wrap="none" rtlCol="0">
            <a:spAutoFit/>
          </a:bodyPr>
          <a:lstStyle/>
          <a:p>
            <a:r>
              <a:rPr lang="en-AU" sz="2800" b="1" cap="small" dirty="0">
                <a:solidFill>
                  <a:schemeClr val="bg1"/>
                </a:solidFill>
                <a:latin typeface="+mj-lt"/>
              </a:rPr>
              <a:t>7.3 Limits and continuity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745460"/>
              </a:xfrm>
              <a:prstGeom prst="rect">
                <a:avLst/>
              </a:prstGeom>
              <a:noFill/>
            </p:spPr>
            <p:txBody>
              <a:bodyPr wrap="square" rtlCol="0">
                <a:spAutoFit/>
              </a:bodyPr>
              <a:lstStyle/>
              <a:p>
                <a:r>
                  <a:rPr lang="en-AU" sz="2400" dirty="0">
                    <a:latin typeface="+mj-lt"/>
                  </a:rPr>
                  <a:t>Example. Evaluate the limit </a:t>
                </a:r>
                <a14:m>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→(1,0)</m:t>
                            </m:r>
                          </m:lim>
                        </m:limLow>
                      </m:fName>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d>
                              <m:dPr>
                                <m:ctrlPr>
                                  <a:rPr lang="en-AU" sz="2400" b="0" i="1" smtClean="0">
                                    <a:latin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r>
                                      <a:rPr lang="en-AU" sz="2400" b="0" i="1" smtClean="0">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𝑦</m:t>
                                        </m:r>
                                      </m:e>
                                      <m:sup>
                                        <m:r>
                                          <a:rPr lang="en-AU" sz="2400" i="1">
                                            <a:latin typeface="Cambria Math" panose="02040503050406030204" pitchFamily="18" charset="0"/>
                                            <a:ea typeface="Cambria Math" panose="02040503050406030204" pitchFamily="18" charset="0"/>
                                          </a:rPr>
                                          <m:t>2</m:t>
                                        </m:r>
                                      </m:sup>
                                    </m:sSup>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𝑥𝑦</m:t>
                                    </m:r>
                                  </m:num>
                                  <m:den>
                                    <m:r>
                                      <a:rPr lang="en-AU" sz="2400" b="0" i="1" smtClean="0">
                                        <a:latin typeface="Cambria Math" panose="02040503050406030204" pitchFamily="18" charset="0"/>
                                        <a:ea typeface="Cambria Math" panose="02040503050406030204" pitchFamily="18" charset="0"/>
                                      </a:rPr>
                                      <m:t>2</m:t>
                                    </m:r>
                                  </m:den>
                                </m:f>
                              </m:e>
                            </m:d>
                          </m:e>
                        </m:func>
                      </m:e>
                    </m:func>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745460"/>
              </a:xfrm>
              <a:prstGeom prst="rect">
                <a:avLst/>
              </a:prstGeom>
              <a:blipFill>
                <a:blip r:embed="rId2"/>
                <a:stretch>
                  <a:fillRect l="-836"/>
                </a:stretch>
              </a:blipFill>
            </p:spPr>
            <p:txBody>
              <a:bodyPr/>
              <a:lstStyle/>
              <a:p>
                <a:r>
                  <a:rPr lang="en-GB">
                    <a:noFill/>
                  </a:rPr>
                  <a:t> </a:t>
                </a:r>
              </a:p>
            </p:txBody>
          </p:sp>
        </mc:Fallback>
      </mc:AlternateContent>
    </p:spTree>
    <p:extLst>
      <p:ext uri="{BB962C8B-B14F-4D97-AF65-F5344CB8AC3E}">
        <p14:creationId xmlns:p14="http://schemas.microsoft.com/office/powerpoint/2010/main" val="4265148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301644"/>
              </a:xfrm>
              <a:prstGeom prst="rect">
                <a:avLst/>
              </a:prstGeom>
              <a:noFill/>
            </p:spPr>
            <p:txBody>
              <a:bodyPr wrap="square" rtlCol="0">
                <a:spAutoFit/>
              </a:bodyPr>
              <a:lstStyle/>
              <a:p>
                <a:r>
                  <a:rPr lang="en-AU" sz="2400" dirty="0">
                    <a:latin typeface="+mj-lt"/>
                  </a:rPr>
                  <a:t>Definition (Partial derivatives).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the following two limits</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m:t>
                      </m:r>
                      <m:func>
                        <m:funcPr>
                          <m:ctrlPr>
                            <a:rPr lang="en-AU" sz="2400" b="0" i="1" smtClean="0">
                              <a:latin typeface="Cambria Math" panose="02040503050406030204" pitchFamily="18" charset="0"/>
                              <a:ea typeface="Cambria Math" panose="02040503050406030204" pitchFamily="18" charset="0"/>
                            </a:rPr>
                          </m:ctrlPr>
                        </m:funcPr>
                        <m:fName>
                          <m:limLow>
                            <m:limLowPr>
                              <m:ctrlPr>
                                <a:rPr lang="en-AU" sz="2400" b="0" i="1" smtClean="0">
                                  <a:latin typeface="Cambria Math" panose="02040503050406030204" pitchFamily="18" charset="0"/>
                                  <a:ea typeface="Cambria Math" panose="02040503050406030204" pitchFamily="18" charset="0"/>
                                </a:rPr>
                              </m:ctrlPr>
                            </m:limLowPr>
                            <m:e>
                              <m:r>
                                <m:rPr>
                                  <m:sty m:val="p"/>
                                </m:rPr>
                                <a:rPr lang="en-AU" sz="2400" b="0" i="0" smtClean="0">
                                  <a:latin typeface="Cambria Math" panose="02040503050406030204" pitchFamily="18" charset="0"/>
                                  <a:ea typeface="Cambria Math" panose="02040503050406030204" pitchFamily="18" charset="0"/>
                                </a:rPr>
                                <m:t>lim</m:t>
                              </m:r>
                            </m:e>
                            <m:lim>
                              <m:r>
                                <a:rPr lang="en-AU" sz="2400" b="0" i="1" smtClean="0">
                                  <a:latin typeface="Cambria Math" panose="02040503050406030204" pitchFamily="18" charset="0"/>
                                  <a:ea typeface="Cambria Math" panose="02040503050406030204" pitchFamily="18" charset="0"/>
                                </a:rPr>
                                <m:t>h</m:t>
                              </m:r>
                              <m:r>
                                <a:rPr lang="en-AU" sz="2400" b="0" i="1" smtClean="0">
                                  <a:latin typeface="Cambria Math" panose="02040503050406030204" pitchFamily="18" charset="0"/>
                                  <a:ea typeface="Cambria Math" panose="02040503050406030204" pitchFamily="18" charset="0"/>
                                </a:rPr>
                                <m:t>→0</m:t>
                              </m:r>
                            </m:lim>
                          </m:limLow>
                        </m:fName>
                        <m:e>
                          <m:f>
                            <m:fPr>
                              <m:ctrlPr>
                                <a:rPr lang="en-AU" sz="2400" b="0" i="1" smtClean="0">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𝑓</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h</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e>
                              </m:d>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𝑓</m:t>
                              </m:r>
                              <m:d>
                                <m:dPr>
                                  <m:ctrlPr>
                                    <a:rPr lang="en-AU" sz="2400" i="1" smtClean="0">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e>
                              </m:d>
                            </m:num>
                            <m:den>
                              <m:r>
                                <a:rPr lang="en-AU" sz="2400" b="0" i="1" smtClean="0">
                                  <a:latin typeface="Cambria Math" panose="02040503050406030204" pitchFamily="18" charset="0"/>
                                  <a:ea typeface="Cambria Math" panose="02040503050406030204" pitchFamily="18" charset="0"/>
                                </a:rPr>
                                <m:t>h</m:t>
                              </m:r>
                            </m:den>
                          </m:f>
                        </m:e>
                      </m:func>
                    </m:oMath>
                  </m:oMathPara>
                </a14:m>
                <a:endParaRPr lang="en-AU" sz="2400" b="0" dirty="0">
                  <a:latin typeface="+mj-lt"/>
                </a:endParaRPr>
              </a:p>
              <a:p>
                <a:endParaRPr lang="en-AU" sz="2400" b="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m:t>
                      </m:r>
                      <m:func>
                        <m:funcPr>
                          <m:ctrlPr>
                            <a:rPr lang="en-AU" sz="2400" b="0" i="1" smtClean="0">
                              <a:latin typeface="Cambria Math" panose="02040503050406030204" pitchFamily="18" charset="0"/>
                              <a:ea typeface="Cambria Math" panose="02040503050406030204" pitchFamily="18" charset="0"/>
                            </a:rPr>
                          </m:ctrlPr>
                        </m:funcPr>
                        <m:fName>
                          <m:limLow>
                            <m:limLowPr>
                              <m:ctrlPr>
                                <a:rPr lang="en-AU" sz="2400" b="0" i="1" smtClean="0">
                                  <a:latin typeface="Cambria Math" panose="02040503050406030204" pitchFamily="18" charset="0"/>
                                  <a:ea typeface="Cambria Math" panose="02040503050406030204" pitchFamily="18" charset="0"/>
                                </a:rPr>
                              </m:ctrlPr>
                            </m:limLowPr>
                            <m:e>
                              <m:r>
                                <m:rPr>
                                  <m:sty m:val="p"/>
                                </m:rPr>
                                <a:rPr lang="en-AU" sz="2400" b="0" i="0" smtClean="0">
                                  <a:latin typeface="Cambria Math" panose="02040503050406030204" pitchFamily="18" charset="0"/>
                                  <a:ea typeface="Cambria Math" panose="02040503050406030204" pitchFamily="18" charset="0"/>
                                </a:rPr>
                                <m:t>lim</m:t>
                              </m:r>
                            </m:e>
                            <m:lim>
                              <m:r>
                                <a:rPr lang="en-AU" sz="2400" b="0" i="1" smtClean="0">
                                  <a:latin typeface="Cambria Math" panose="02040503050406030204" pitchFamily="18" charset="0"/>
                                  <a:ea typeface="Cambria Math" panose="02040503050406030204" pitchFamily="18" charset="0"/>
                                </a:rPr>
                                <m:t>h</m:t>
                              </m:r>
                              <m:r>
                                <a:rPr lang="en-AU" sz="2400" b="0" i="1" smtClean="0">
                                  <a:latin typeface="Cambria Math" panose="02040503050406030204" pitchFamily="18" charset="0"/>
                                  <a:ea typeface="Cambria Math" panose="02040503050406030204" pitchFamily="18" charset="0"/>
                                </a:rPr>
                                <m:t>→0</m:t>
                              </m:r>
                            </m:lim>
                          </m:limLow>
                        </m:fName>
                        <m:e>
                          <m:f>
                            <m:fPr>
                              <m:ctrlPr>
                                <a:rPr lang="en-AU" sz="2400" b="0" i="1" smtClean="0">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𝑓</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h</m:t>
                                  </m:r>
                                </m:e>
                              </m:d>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𝑓</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e>
                              </m:d>
                            </m:num>
                            <m:den>
                              <m:r>
                                <a:rPr lang="en-AU" sz="2400" b="0" i="1" smtClean="0">
                                  <a:latin typeface="Cambria Math" panose="02040503050406030204" pitchFamily="18" charset="0"/>
                                  <a:ea typeface="Cambria Math" panose="02040503050406030204" pitchFamily="18" charset="0"/>
                                </a:rPr>
                                <m:t>h</m:t>
                              </m:r>
                            </m:den>
                          </m:f>
                        </m:e>
                      </m:func>
                    </m:oMath>
                  </m:oMathPara>
                </a14:m>
                <a:endParaRPr lang="en-AU" sz="2400" b="0" dirty="0">
                  <a:latin typeface="+mj-lt"/>
                </a:endParaRPr>
              </a:p>
              <a:p>
                <a:r>
                  <a:rPr lang="en-AU" sz="2400" dirty="0">
                    <a:latin typeface="+mj-lt"/>
                  </a:rPr>
                  <a:t>are respectively called the (first) partial derivative of </a:t>
                </a:r>
                <a14:m>
                  <m:oMath xmlns:m="http://schemas.openxmlformats.org/officeDocument/2006/math">
                    <m:r>
                      <a:rPr lang="en-AU" sz="2400" b="0" i="1" smtClean="0">
                        <a:latin typeface="Cambria Math" panose="02040503050406030204" pitchFamily="18" charset="0"/>
                      </a:rPr>
                      <m:t>𝑓</m:t>
                    </m:r>
                  </m:oMath>
                </a14:m>
                <a:r>
                  <a:rPr lang="en-AU" sz="2400" b="0" dirty="0">
                    <a:latin typeface="+mj-lt"/>
                  </a:rPr>
                  <a:t> at </a:t>
                </a:r>
                <a14:m>
                  <m:oMath xmlns:m="http://schemas.openxmlformats.org/officeDocument/2006/math">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e>
                    </m:d>
                  </m:oMath>
                </a14:m>
                <a:r>
                  <a:rPr lang="en-AU" sz="2400" b="0" dirty="0">
                    <a:latin typeface="+mj-lt"/>
                  </a:rPr>
                  <a:t> with respect to </a:t>
                </a:r>
                <a14:m>
                  <m:oMath xmlns:m="http://schemas.openxmlformats.org/officeDocument/2006/math">
                    <m:r>
                      <a:rPr lang="en-AU" sz="2400" i="1">
                        <a:latin typeface="Cambria Math" panose="02040503050406030204" pitchFamily="18" charset="0"/>
                        <a:ea typeface="Cambria Math" panose="02040503050406030204" pitchFamily="18" charset="0"/>
                      </a:rPr>
                      <m:t>𝑥</m:t>
                    </m:r>
                  </m:oMath>
                </a14:m>
                <a:r>
                  <a:rPr lang="en-AU" sz="2400" b="0" dirty="0">
                    <a:latin typeface="+mj-lt"/>
                  </a:rPr>
                  <a:t>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𝑦</m:t>
                    </m:r>
                  </m:oMath>
                </a14:m>
                <a:r>
                  <a:rPr lang="en-AU" sz="2400" b="0" dirty="0">
                    <a:latin typeface="+mj-lt"/>
                  </a:rPr>
                  <a:t>.</a:t>
                </a:r>
              </a:p>
              <a:p>
                <a:r>
                  <a:rPr lang="en-AU" sz="2400" dirty="0">
                    <a:latin typeface="+mj-lt"/>
                  </a:rPr>
                  <a:t>Note.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𝑥</m:t>
                        </m:r>
                      </m:sub>
                    </m:sSub>
                  </m:oMath>
                </a14:m>
                <a:r>
                  <a:rPr lang="en-AU" sz="2400" b="0" dirty="0">
                    <a:latin typeface="+mj-lt"/>
                  </a:rPr>
                  <a:t> measures the rate of change of </a:t>
                </a:r>
                <a14:m>
                  <m:oMath xmlns:m="http://schemas.openxmlformats.org/officeDocument/2006/math">
                    <m:r>
                      <a:rPr lang="en-AU" sz="2400" i="1">
                        <a:latin typeface="Cambria Math" panose="02040503050406030204" pitchFamily="18" charset="0"/>
                      </a:rPr>
                      <m:t>𝑓</m:t>
                    </m:r>
                  </m:oMath>
                </a14:m>
                <a:r>
                  <a:rPr lang="en-AU" sz="2400" b="0" dirty="0">
                    <a:latin typeface="+mj-lt"/>
                  </a:rPr>
                  <a:t> with respect to </a:t>
                </a:r>
                <a14:m>
                  <m:oMath xmlns:m="http://schemas.openxmlformats.org/officeDocument/2006/math">
                    <m:r>
                      <a:rPr lang="en-AU" sz="2400" i="1">
                        <a:latin typeface="Cambria Math" panose="02040503050406030204" pitchFamily="18" charset="0"/>
                        <a:ea typeface="Cambria Math" panose="02040503050406030204" pitchFamily="18" charset="0"/>
                      </a:rPr>
                      <m:t>𝑥</m:t>
                    </m:r>
                  </m:oMath>
                </a14:m>
                <a:r>
                  <a:rPr lang="en-AU" sz="2400" b="0" dirty="0">
                    <a:latin typeface="+mj-lt"/>
                  </a:rPr>
                  <a:t> when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𝑦</m:t>
                    </m:r>
                  </m:oMath>
                </a14:m>
                <a:r>
                  <a:rPr lang="en-AU" sz="2400" b="0" dirty="0">
                    <a:latin typeface="+mj-lt"/>
                  </a:rPr>
                  <a:t> is kept </a:t>
                </a:r>
                <a:r>
                  <a:rPr lang="en-AU" sz="2400" b="0" u="sng" dirty="0">
                    <a:latin typeface="+mj-lt"/>
                  </a:rPr>
                  <a:t>constant</a:t>
                </a:r>
                <a:r>
                  <a:rPr lang="en-AU" sz="2400" b="0" dirty="0">
                    <a:latin typeface="+mj-lt"/>
                  </a:rPr>
                  <a:t>. So, to calculate it, we consider </a:t>
                </a:r>
                <a14:m>
                  <m:oMath xmlns:m="http://schemas.openxmlformats.org/officeDocument/2006/math">
                    <m:r>
                      <a:rPr lang="en-AU" sz="2400" i="1">
                        <a:latin typeface="Cambria Math" panose="02040503050406030204" pitchFamily="18" charset="0"/>
                        <a:ea typeface="Cambria Math" panose="02040503050406030204" pitchFamily="18" charset="0"/>
                      </a:rPr>
                      <m:t>𝑦</m:t>
                    </m:r>
                  </m:oMath>
                </a14:m>
                <a:r>
                  <a:rPr lang="en-AU" sz="2400" b="0" dirty="0">
                    <a:latin typeface="+mj-lt"/>
                  </a:rPr>
                  <a:t> as a constant.</a:t>
                </a:r>
              </a:p>
              <a:p>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𝑦</m:t>
                        </m:r>
                      </m:sub>
                    </m:sSub>
                  </m:oMath>
                </a14:m>
                <a:r>
                  <a:rPr lang="en-AU" sz="2400" b="0" dirty="0">
                    <a:latin typeface="+mj-lt"/>
                  </a:rPr>
                  <a:t> measures the rate of change of </a:t>
                </a:r>
                <a14:m>
                  <m:oMath xmlns:m="http://schemas.openxmlformats.org/officeDocument/2006/math">
                    <m:r>
                      <a:rPr lang="en-AU" sz="2400" i="1">
                        <a:latin typeface="Cambria Math" panose="02040503050406030204" pitchFamily="18" charset="0"/>
                      </a:rPr>
                      <m:t>𝑓</m:t>
                    </m:r>
                  </m:oMath>
                </a14:m>
                <a:r>
                  <a:rPr lang="en-AU" sz="2400" b="0" dirty="0">
                    <a:latin typeface="+mj-lt"/>
                  </a:rPr>
                  <a:t> with respect to </a:t>
                </a:r>
                <a14:m>
                  <m:oMath xmlns:m="http://schemas.openxmlformats.org/officeDocument/2006/math">
                    <m:r>
                      <a:rPr lang="en-AU" sz="2400" b="0" i="1" smtClean="0">
                        <a:latin typeface="Cambria Math" panose="02040503050406030204" pitchFamily="18" charset="0"/>
                        <a:ea typeface="Cambria Math" panose="02040503050406030204" pitchFamily="18" charset="0"/>
                      </a:rPr>
                      <m:t>𝑦</m:t>
                    </m:r>
                  </m:oMath>
                </a14:m>
                <a:r>
                  <a:rPr lang="en-AU" sz="2400" b="0" dirty="0">
                    <a:latin typeface="+mj-lt"/>
                  </a:rPr>
                  <a:t> when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oMath>
                </a14:m>
                <a:r>
                  <a:rPr lang="en-AU" sz="2400" b="0" dirty="0">
                    <a:latin typeface="+mj-lt"/>
                  </a:rPr>
                  <a:t> is kept </a:t>
                </a:r>
                <a:r>
                  <a:rPr lang="en-AU" sz="2400" b="0" u="sng" dirty="0">
                    <a:latin typeface="+mj-lt"/>
                  </a:rPr>
                  <a:t>constant</a:t>
                </a:r>
                <a:r>
                  <a:rPr lang="en-AU" sz="2400" b="0" dirty="0">
                    <a:latin typeface="+mj-lt"/>
                  </a:rPr>
                  <a:t>. So, to calculate it, we consider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oMath>
                </a14:m>
                <a:r>
                  <a:rPr lang="en-AU" sz="2400" b="0" dirty="0">
                    <a:latin typeface="+mj-lt"/>
                  </a:rPr>
                  <a:t> as a constant.</a:t>
                </a:r>
              </a:p>
              <a:p>
                <a:r>
                  <a:rPr lang="en-AU" sz="2400" dirty="0">
                    <a:latin typeface="+mj-lt"/>
                  </a:rPr>
                  <a:t>This allows us to use all the formulae and properties for derivatives of functions of one variable, e.g. chain, product and quotient rules.</a:t>
                </a:r>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301644"/>
              </a:xfrm>
              <a:prstGeom prst="rect">
                <a:avLst/>
              </a:prstGeom>
              <a:blipFill>
                <a:blip r:embed="rId2"/>
                <a:stretch>
                  <a:fillRect l="-836" t="-920" r="-731" b="-1609"/>
                </a:stretch>
              </a:blipFill>
            </p:spPr>
            <p:txBody>
              <a:bodyPr/>
              <a:lstStyle/>
              <a:p>
                <a:r>
                  <a:rPr lang="en-GB">
                    <a:noFill/>
                  </a:rPr>
                  <a:t> </a:t>
                </a:r>
              </a:p>
            </p:txBody>
          </p:sp>
        </mc:Fallback>
      </mc:AlternateContent>
    </p:spTree>
    <p:extLst>
      <p:ext uri="{BB962C8B-B14F-4D97-AF65-F5344CB8AC3E}">
        <p14:creationId xmlns:p14="http://schemas.microsoft.com/office/powerpoint/2010/main" val="2174098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3602012"/>
              </a:xfrm>
              <a:prstGeom prst="rect">
                <a:avLst/>
              </a:prstGeom>
              <a:noFill/>
            </p:spPr>
            <p:txBody>
              <a:bodyPr wrap="square" rtlCol="0">
                <a:spAutoFit/>
              </a:bodyPr>
              <a:lstStyle/>
              <a:p>
                <a:r>
                  <a:rPr lang="en-AU" sz="2400" dirty="0">
                    <a:latin typeface="+mj-lt"/>
                  </a:rPr>
                  <a:t>Example. Calculate the first partial derivatives for the following functions:</a:t>
                </a:r>
              </a:p>
              <a:p>
                <a:r>
                  <a:rPr lang="en-AU" sz="2400" b="0" dirty="0">
                    <a:latin typeface="+mj-lt"/>
                  </a:rPr>
                  <a:t>1.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=3</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r>
                      <a:rPr lang="en-AU" sz="2400" b="0" i="1" smtClean="0">
                        <a:latin typeface="Cambria Math" panose="02040503050406030204" pitchFamily="18" charset="0"/>
                      </a:rPr>
                      <m:t>−2</m:t>
                    </m:r>
                    <m:r>
                      <a:rPr lang="en-AU" sz="2400" b="0" i="1" smtClean="0">
                        <a:latin typeface="Cambria Math" panose="02040503050406030204" pitchFamily="18" charset="0"/>
                      </a:rPr>
                      <m:t>𝑥</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r>
                      <a:rPr lang="en-AU" sz="2400" b="0" i="1" smtClean="0">
                        <a:latin typeface="Cambria Math" panose="02040503050406030204" pitchFamily="18" charset="0"/>
                      </a:rPr>
                      <m:t>𝑥</m:t>
                    </m:r>
                  </m:oMath>
                </a14:m>
                <a:endParaRPr lang="en-AU" sz="2400" b="0" dirty="0">
                  <a:latin typeface="+mj-lt"/>
                </a:endParaRPr>
              </a:p>
              <a:p>
                <a:endParaRPr lang="en-AU" sz="2400" b="0" dirty="0">
                  <a:latin typeface="+mj-lt"/>
                </a:endParaRPr>
              </a:p>
              <a:p>
                <a:endParaRPr lang="en-AU" sz="2400" dirty="0">
                  <a:latin typeface="+mj-lt"/>
                </a:endParaRPr>
              </a:p>
              <a:p>
                <a:endParaRPr lang="en-AU" sz="2400" b="0" dirty="0">
                  <a:latin typeface="+mj-lt"/>
                </a:endParaRPr>
              </a:p>
              <a:p>
                <a:endParaRPr lang="en-AU" sz="2400" dirty="0">
                  <a:latin typeface="+mj-lt"/>
                </a:endParaRPr>
              </a:p>
              <a:p>
                <a:endParaRPr lang="en-AU" sz="2400" b="0" dirty="0">
                  <a:latin typeface="+mj-lt"/>
                </a:endParaRPr>
              </a:p>
              <a:p>
                <a:endParaRPr lang="en-AU" sz="2400" dirty="0">
                  <a:latin typeface="+mj-lt"/>
                </a:endParaRPr>
              </a:p>
              <a:p>
                <a:r>
                  <a:rPr lang="en-AU" sz="2400" b="0" dirty="0">
                    <a:latin typeface="+mj-lt"/>
                  </a:rPr>
                  <a:t>2. </a:t>
                </a:r>
                <a14:m>
                  <m:oMath xmlns:m="http://schemas.openxmlformats.org/officeDocument/2006/math">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𝑥𝑦</m:t>
                        </m:r>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𝑦</m:t>
                            </m:r>
                          </m:e>
                        </m:func>
                      </m:num>
                      <m:den>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den>
                    </m:f>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3602012"/>
              </a:xfrm>
              <a:prstGeom prst="rect">
                <a:avLst/>
              </a:prstGeom>
              <a:blipFill>
                <a:blip r:embed="rId2"/>
                <a:stretch>
                  <a:fillRect l="-836" t="-1354" b="-338"/>
                </a:stretch>
              </a:blipFill>
            </p:spPr>
            <p:txBody>
              <a:bodyPr/>
              <a:lstStyle/>
              <a:p>
                <a:r>
                  <a:rPr lang="en-GB">
                    <a:noFill/>
                  </a:rPr>
                  <a:t> </a:t>
                </a:r>
              </a:p>
            </p:txBody>
          </p:sp>
        </mc:Fallback>
      </mc:AlternateContent>
    </p:spTree>
    <p:extLst>
      <p:ext uri="{BB962C8B-B14F-4D97-AF65-F5344CB8AC3E}">
        <p14:creationId xmlns:p14="http://schemas.microsoft.com/office/powerpoint/2010/main" val="118767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2677656"/>
              </a:xfrm>
              <a:prstGeom prst="rect">
                <a:avLst/>
              </a:prstGeom>
              <a:noFill/>
            </p:spPr>
            <p:txBody>
              <a:bodyPr wrap="square" rtlCol="0">
                <a:spAutoFit/>
              </a:bodyPr>
              <a:lstStyle/>
              <a:p>
                <a:r>
                  <a:rPr lang="en-AU" sz="2400" b="0" dirty="0">
                    <a:latin typeface="+mj-lt"/>
                  </a:rPr>
                  <a:t>3. </a:t>
                </a:r>
                <a14:m>
                  <m:oMath xmlns:m="http://schemas.openxmlformats.org/officeDocument/2006/math">
                    <m:r>
                      <a:rPr lang="en-AU" sz="2400" b="0" i="1" smtClean="0">
                        <a:latin typeface="Cambria Math" panose="02040503050406030204" pitchFamily="18" charset="0"/>
                      </a:rPr>
                      <m:t>h</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e>
                    </m:func>
                  </m:oMath>
                </a14:m>
                <a:endParaRPr lang="en-AU" sz="2400" b="0" dirty="0">
                  <a:latin typeface="+mj-lt"/>
                </a:endParaRPr>
              </a:p>
              <a:p>
                <a:endParaRPr lang="en-AU" sz="2400" dirty="0">
                  <a:latin typeface="+mj-lt"/>
                </a:endParaRPr>
              </a:p>
              <a:p>
                <a:endParaRPr lang="en-AU" sz="2400" b="0" dirty="0">
                  <a:latin typeface="+mj-lt"/>
                </a:endParaRPr>
              </a:p>
              <a:p>
                <a:endParaRPr lang="en-AU" sz="2400" dirty="0">
                  <a:latin typeface="+mj-lt"/>
                </a:endParaRPr>
              </a:p>
              <a:p>
                <a:endParaRPr lang="en-AU" sz="2400" b="0" dirty="0">
                  <a:latin typeface="+mj-lt"/>
                </a:endParaRPr>
              </a:p>
              <a:p>
                <a:endParaRPr lang="en-AU" sz="2400" dirty="0">
                  <a:latin typeface="+mj-lt"/>
                </a:endParaRPr>
              </a:p>
              <a:p>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2677656"/>
              </a:xfrm>
              <a:prstGeom prst="rect">
                <a:avLst/>
              </a:prstGeom>
              <a:blipFill>
                <a:blip r:embed="rId2"/>
                <a:stretch>
                  <a:fillRect l="-836" t="-1818"/>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45CE22AE-8F7B-457C-9A61-D0A12036E5A2}"/>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25554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5282280"/>
              </a:xfrm>
              <a:prstGeom prst="rect">
                <a:avLst/>
              </a:prstGeom>
              <a:noFill/>
            </p:spPr>
            <p:txBody>
              <a:bodyPr wrap="square">
                <a:spAutoFit/>
              </a:bodyPr>
              <a:lstStyle/>
              <a:p>
                <a:r>
                  <a:rPr lang="en-AU" sz="2400" dirty="0">
                    <a:latin typeface="+mj-lt"/>
                  </a:rPr>
                  <a:t>The geometric interpretation of partial derivatives is a straightforward generalisation of the case of functions of one variable. It is still associated with the idea of the slope of a tangent line to a curve, with the only difference that now the curve lies on the surface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and is the result of taking a specific cross-section.</a:t>
                </a:r>
              </a:p>
              <a:p>
                <a:r>
                  <a:rPr lang="en-AU" sz="2400" dirty="0">
                    <a:latin typeface="+mj-lt"/>
                  </a:rPr>
                  <a:t>Consider a point </a:t>
                </a:r>
                <a14:m>
                  <m:oMath xmlns:m="http://schemas.openxmlformats.org/officeDocument/2006/math">
                    <m:r>
                      <a:rPr lang="en-AU" sz="2400" b="0" i="1" smtClean="0">
                        <a:latin typeface="Cambria Math" panose="02040503050406030204" pitchFamily="18" charset="0"/>
                      </a:rPr>
                      <m:t>𝑃</m:t>
                    </m:r>
                  </m:oMath>
                </a14:m>
                <a:r>
                  <a:rPr lang="en-AU" sz="2400" dirty="0">
                    <a:latin typeface="+mj-lt"/>
                  </a:rPr>
                  <a:t> on the surface, with coordinates given by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rPr>
                      <m:t>)</m:t>
                    </m:r>
                  </m:oMath>
                </a14:m>
                <a:r>
                  <a:rPr lang="en-AU" sz="2400" dirty="0">
                    <a:latin typeface="+mj-lt"/>
                  </a:rPr>
                  <a:t>.</a:t>
                </a:r>
              </a:p>
              <a:p>
                <a:pPr marL="342900" indent="-342900">
                  <a:buFont typeface="Arial" panose="020B0604020202020204" pitchFamily="34" charset="0"/>
                  <a:buChar char="•"/>
                </a:pPr>
                <a:r>
                  <a:rPr lang="en-AU" sz="2400" dirty="0">
                    <a:latin typeface="+mj-lt"/>
                  </a:rPr>
                  <a:t>If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𝐶</m:t>
                        </m:r>
                      </m:e>
                      <m:sub>
                        <m:r>
                          <a:rPr lang="en-AU" sz="2400" b="0" i="1" smtClean="0">
                            <a:latin typeface="Cambria Math" panose="02040503050406030204" pitchFamily="18" charset="0"/>
                          </a:rPr>
                          <m:t>1</m:t>
                        </m:r>
                      </m:sub>
                    </m:sSub>
                  </m:oMath>
                </a14:m>
                <a:r>
                  <a:rPr lang="en-AU" sz="2400" dirty="0">
                    <a:latin typeface="+mj-lt"/>
                  </a:rPr>
                  <a:t> is the curve representing the cross-section between the surface and the plane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𝑏</m:t>
                    </m:r>
                  </m:oMath>
                </a14:m>
                <a:r>
                  <a:rPr lang="en-AU" sz="2400" dirty="0">
                    <a:latin typeface="+mj-lt"/>
                  </a:rPr>
                  <a:t> then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oMath>
                </a14:m>
                <a:r>
                  <a:rPr lang="en-AU" sz="2400" dirty="0">
                    <a:latin typeface="+mj-lt"/>
                  </a:rPr>
                  <a:t> is the slope of the tangent line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oMath>
                </a14:m>
                <a:r>
                  <a:rPr lang="en-AU" sz="2400" dirty="0">
                    <a:latin typeface="+mj-lt"/>
                  </a:rPr>
                  <a:t> to the curve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𝐶</m:t>
                        </m:r>
                      </m:e>
                      <m:sub>
                        <m:r>
                          <a:rPr lang="en-AU" sz="2400" i="1">
                            <a:latin typeface="Cambria Math" panose="02040503050406030204" pitchFamily="18" charset="0"/>
                          </a:rPr>
                          <m:t>1</m:t>
                        </m:r>
                      </m:sub>
                    </m:sSub>
                  </m:oMath>
                </a14:m>
                <a:r>
                  <a:rPr lang="en-AU" sz="2400" dirty="0"/>
                  <a:t> </a:t>
                </a:r>
                <a:r>
                  <a:rPr lang="en-AU" sz="2400" dirty="0">
                    <a:latin typeface="+mj-lt"/>
                  </a:rPr>
                  <a:t>at the point </a:t>
                </a:r>
                <a14:m>
                  <m:oMath xmlns:m="http://schemas.openxmlformats.org/officeDocument/2006/math">
                    <m:r>
                      <a:rPr lang="en-AU" sz="2400" i="1">
                        <a:latin typeface="Cambria Math" panose="02040503050406030204" pitchFamily="18" charset="0"/>
                      </a:rPr>
                      <m:t>𝑃</m:t>
                    </m:r>
                  </m:oMath>
                </a14:m>
                <a:r>
                  <a:rPr lang="en-AU" sz="2400" dirty="0">
                    <a:latin typeface="+mj-lt"/>
                  </a:rPr>
                  <a:t> with coordinates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r>
                      <a:rPr lang="en-AU" sz="2400" i="1">
                        <a:latin typeface="Cambria Math" panose="02040503050406030204" pitchFamily="18" charset="0"/>
                      </a:rPr>
                      <m:t>,</m:t>
                    </m:r>
                    <m:r>
                      <a:rPr lang="en-AU" sz="2400" i="1">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r>
                      <a:rPr lang="en-AU" sz="2400" i="1">
                        <a:latin typeface="Cambria Math" panose="02040503050406030204" pitchFamily="18" charset="0"/>
                      </a:rPr>
                      <m:t>)</m:t>
                    </m:r>
                  </m:oMath>
                </a14:m>
                <a:r>
                  <a:rPr lang="en-AU" sz="2400" dirty="0"/>
                  <a:t>.</a:t>
                </a:r>
              </a:p>
              <a:p>
                <a:pPr marL="342900" indent="-342900">
                  <a:buFont typeface="Arial" panose="020B0604020202020204" pitchFamily="34" charset="0"/>
                  <a:buChar char="•"/>
                </a:pPr>
                <a:r>
                  <a:rPr lang="en-AU" sz="2400" dirty="0">
                    <a:latin typeface="+mj-lt"/>
                  </a:rPr>
                  <a:t>If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𝐶</m:t>
                        </m:r>
                      </m:e>
                      <m:sub>
                        <m:r>
                          <a:rPr lang="en-AU" sz="2400" b="0" i="1" smtClean="0">
                            <a:latin typeface="Cambria Math" panose="02040503050406030204" pitchFamily="18" charset="0"/>
                          </a:rPr>
                          <m:t>2</m:t>
                        </m:r>
                      </m:sub>
                    </m:sSub>
                  </m:oMath>
                </a14:m>
                <a:r>
                  <a:rPr lang="en-AU" sz="2400" dirty="0">
                    <a:latin typeface="+mj-lt"/>
                  </a:rPr>
                  <a:t> is the curve representing the cross-section between the surface and the plane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oMath>
                </a14:m>
                <a:r>
                  <a:rPr lang="en-AU" sz="2400" dirty="0">
                    <a:latin typeface="+mj-lt"/>
                  </a:rPr>
                  <a:t> then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oMath>
                </a14:m>
                <a:r>
                  <a:rPr lang="en-AU" sz="2400" dirty="0">
                    <a:latin typeface="+mj-lt"/>
                  </a:rPr>
                  <a:t> is the slope of the tangent line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2</m:t>
                        </m:r>
                      </m:sub>
                    </m:sSub>
                  </m:oMath>
                </a14:m>
                <a:r>
                  <a:rPr lang="en-AU" sz="2400" dirty="0">
                    <a:latin typeface="+mj-lt"/>
                  </a:rPr>
                  <a:t> to the curve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𝐶</m:t>
                        </m:r>
                      </m:e>
                      <m:sub>
                        <m:r>
                          <a:rPr lang="en-AU" sz="2400" b="0" i="1" smtClean="0">
                            <a:latin typeface="Cambria Math" panose="02040503050406030204" pitchFamily="18" charset="0"/>
                          </a:rPr>
                          <m:t>2</m:t>
                        </m:r>
                      </m:sub>
                    </m:sSub>
                  </m:oMath>
                </a14:m>
                <a:r>
                  <a:rPr lang="en-AU" sz="2400" dirty="0"/>
                  <a:t> </a:t>
                </a:r>
                <a:r>
                  <a:rPr lang="en-AU" sz="2400" dirty="0">
                    <a:latin typeface="+mj-lt"/>
                  </a:rPr>
                  <a:t>at the point </a:t>
                </a:r>
                <a14:m>
                  <m:oMath xmlns:m="http://schemas.openxmlformats.org/officeDocument/2006/math">
                    <m:r>
                      <a:rPr lang="en-AU" sz="2400" i="1">
                        <a:latin typeface="Cambria Math" panose="02040503050406030204" pitchFamily="18" charset="0"/>
                      </a:rPr>
                      <m:t>𝑃</m:t>
                    </m:r>
                  </m:oMath>
                </a14:m>
                <a:r>
                  <a:rPr lang="en-AU" sz="2400" dirty="0">
                    <a:latin typeface="+mj-lt"/>
                  </a:rPr>
                  <a:t> with coordinates </a:t>
                </a:r>
                <a14:m>
                  <m:oMath xmlns:m="http://schemas.openxmlformats.org/officeDocument/2006/math">
                    <m:r>
                      <a:rPr lang="en-AU" sz="2400" i="1">
                        <a:latin typeface="Cambria Math" panose="02040503050406030204" pitchFamily="18" charset="0"/>
                      </a:rPr>
                      <m:t>(</m:t>
                    </m:r>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r>
                      <a:rPr lang="en-AU" sz="2400" i="1">
                        <a:latin typeface="Cambria Math" panose="02040503050406030204" pitchFamily="18" charset="0"/>
                      </a:rPr>
                      <m:t>,</m:t>
                    </m:r>
                    <m:r>
                      <a:rPr lang="en-AU" sz="2400" i="1">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r>
                      <a:rPr lang="en-AU" sz="2400" i="1">
                        <a:latin typeface="Cambria Math" panose="02040503050406030204" pitchFamily="18" charset="0"/>
                      </a:rPr>
                      <m:t>)</m:t>
                    </m:r>
                  </m:oMath>
                </a14:m>
                <a:r>
                  <a:rPr lang="en-AU" sz="2400" dirty="0"/>
                  <a:t>.</a:t>
                </a:r>
              </a:p>
              <a:p>
                <a:pPr marL="342900" indent="-342900">
                  <a:buFont typeface="Arial" panose="020B0604020202020204" pitchFamily="34" charset="0"/>
                  <a:buChar char="•"/>
                </a:pPr>
                <a:r>
                  <a:rPr lang="en-AU" sz="2400" dirty="0">
                    <a:latin typeface="+mj-lt"/>
                  </a:rPr>
                  <a:t>The tangents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oMath>
                </a14:m>
                <a:r>
                  <a:rPr lang="en-AU" sz="2400" dirty="0">
                    <a:latin typeface="+mj-lt"/>
                  </a:rPr>
                  <a:t> and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𝐿</m:t>
                        </m:r>
                      </m:e>
                      <m:sub>
                        <m:r>
                          <a:rPr lang="en-AU" sz="2400" i="1">
                            <a:latin typeface="Cambria Math" panose="02040503050406030204" pitchFamily="18" charset="0"/>
                          </a:rPr>
                          <m:t>2</m:t>
                        </m:r>
                      </m:sub>
                    </m:sSub>
                  </m:oMath>
                </a14:m>
                <a:r>
                  <a:rPr lang="en-AU" sz="2400" dirty="0">
                    <a:latin typeface="+mj-lt"/>
                  </a:rPr>
                  <a:t> define a plane that is tangent to the surface, called the tangent plane at </a:t>
                </a:r>
                <a14:m>
                  <m:oMath xmlns:m="http://schemas.openxmlformats.org/officeDocument/2006/math">
                    <m:r>
                      <a:rPr lang="en-AU" sz="2400" i="1">
                        <a:latin typeface="Cambria Math" panose="02040503050406030204" pitchFamily="18" charset="0"/>
                      </a:rPr>
                      <m:t>𝑃</m:t>
                    </m:r>
                  </m:oMath>
                </a14:m>
                <a:r>
                  <a:rPr lang="en-AU" sz="2400" dirty="0">
                    <a:latin typeface="+mj-lt"/>
                  </a:rPr>
                  <a:t>.</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5282280"/>
              </a:xfrm>
              <a:prstGeom prst="rect">
                <a:avLst/>
              </a:prstGeom>
              <a:blipFill>
                <a:blip r:embed="rId2"/>
                <a:stretch>
                  <a:fillRect l="-832" t="-923" r="-884" b="-1615"/>
                </a:stretch>
              </a:blipFill>
            </p:spPr>
            <p:txBody>
              <a:bodyPr/>
              <a:lstStyle/>
              <a:p>
                <a:r>
                  <a:rPr lang="en-GB">
                    <a:noFill/>
                  </a:rPr>
                  <a:t> </a:t>
                </a:r>
              </a:p>
            </p:txBody>
          </p:sp>
        </mc:Fallback>
      </mc:AlternateContent>
    </p:spTree>
    <p:extLst>
      <p:ext uri="{BB962C8B-B14F-4D97-AF65-F5344CB8AC3E}">
        <p14:creationId xmlns:p14="http://schemas.microsoft.com/office/powerpoint/2010/main" val="1594655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p:pic>
        <p:nvPicPr>
          <p:cNvPr id="3" name="Picture 2">
            <a:extLst>
              <a:ext uri="{FF2B5EF4-FFF2-40B4-BE49-F238E27FC236}">
                <a16:creationId xmlns:a16="http://schemas.microsoft.com/office/drawing/2014/main" id="{1D7E9383-155B-4773-A690-4AD5A0177612}"/>
              </a:ext>
            </a:extLst>
          </p:cNvPr>
          <p:cNvPicPr>
            <a:picLocks noChangeAspect="1"/>
          </p:cNvPicPr>
          <p:nvPr/>
        </p:nvPicPr>
        <p:blipFill>
          <a:blip r:embed="rId2"/>
          <a:stretch>
            <a:fillRect/>
          </a:stretch>
        </p:blipFill>
        <p:spPr>
          <a:xfrm>
            <a:off x="2447365" y="1258137"/>
            <a:ext cx="6323897" cy="4542712"/>
          </a:xfrm>
          <a:prstGeom prst="rect">
            <a:avLst/>
          </a:prstGeom>
        </p:spPr>
      </p:pic>
    </p:spTree>
    <p:extLst>
      <p:ext uri="{BB962C8B-B14F-4D97-AF65-F5344CB8AC3E}">
        <p14:creationId xmlns:p14="http://schemas.microsoft.com/office/powerpoint/2010/main" val="198579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4919039"/>
              </a:xfrm>
              <a:prstGeom prst="rect">
                <a:avLst/>
              </a:prstGeom>
              <a:noFill/>
            </p:spPr>
            <p:txBody>
              <a:bodyPr wrap="square">
                <a:spAutoFit/>
              </a:bodyPr>
              <a:lstStyle/>
              <a:p>
                <a:r>
                  <a:rPr lang="en-AU" sz="2400" dirty="0">
                    <a:latin typeface="+mj-lt"/>
                  </a:rPr>
                  <a:t>Higher order partial derivatives can be defined in the same way that we defined higher order derivatives in the case of functions of one variable. Given a function of two variables, four second order partial derivatives can be defined:</a:t>
                </a:r>
              </a:p>
              <a:p>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d>
                        <m:dPr>
                          <m:ctrlPr>
                            <a:rPr lang="en-AU" sz="2400" b="0" i="1" smtClean="0">
                              <a:latin typeface="Cambria Math" panose="02040503050406030204" pitchFamily="18" charset="0"/>
                              <a:ea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𝑥𝑥</m:t>
                          </m:r>
                        </m:sub>
                      </m:sSub>
                    </m:oMath>
                  </m:oMathPara>
                </a14:m>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𝑦</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d>
                        <m:dPr>
                          <m:ctrlPr>
                            <a:rPr lang="en-AU" sz="2400" b="0" i="1" smtClean="0">
                              <a:latin typeface="Cambria Math" panose="02040503050406030204" pitchFamily="18" charset="0"/>
                              <a:ea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𝑦𝑦</m:t>
                          </m:r>
                        </m:sub>
                      </m:sSub>
                    </m:oMath>
                  </m:oMathPara>
                </a14:m>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d>
                        <m:dPr>
                          <m:ctrlPr>
                            <a:rPr lang="en-AU" sz="2400" b="0" i="1" smtClean="0">
                              <a:latin typeface="Cambria Math" panose="02040503050406030204" pitchFamily="18" charset="0"/>
                              <a:ea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𝑦𝑥</m:t>
                          </m:r>
                        </m:sub>
                      </m:sSub>
                    </m:oMath>
                  </m:oMathPara>
                </a14:m>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d>
                        <m:dPr>
                          <m:ctrlPr>
                            <a:rPr lang="en-AU" sz="2400" b="0" i="1" smtClean="0">
                              <a:latin typeface="Cambria Math" panose="02040503050406030204" pitchFamily="18" charset="0"/>
                              <a:ea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𝑥𝑦</m:t>
                          </m:r>
                        </m:sub>
                      </m:sSub>
                    </m:oMath>
                  </m:oMathPara>
                </a14:m>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4919039"/>
              </a:xfrm>
              <a:prstGeom prst="rect">
                <a:avLst/>
              </a:prstGeom>
              <a:blipFill>
                <a:blip r:embed="rId2"/>
                <a:stretch>
                  <a:fillRect l="-832" t="-991"/>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1F2D44F6-C49D-4A4C-98CF-62DEAC961C0A}"/>
              </a:ext>
            </a:extLst>
          </p:cNvPr>
          <p:cNvSpPr txBox="1"/>
          <p:nvPr/>
        </p:nvSpPr>
        <p:spPr>
          <a:xfrm>
            <a:off x="7915835" y="4705581"/>
            <a:ext cx="1989968" cy="369332"/>
          </a:xfrm>
          <a:prstGeom prst="rect">
            <a:avLst/>
          </a:prstGeom>
          <a:noFill/>
        </p:spPr>
        <p:txBody>
          <a:bodyPr wrap="none" rtlCol="0">
            <a:spAutoFit/>
          </a:bodyPr>
          <a:lstStyle/>
          <a:p>
            <a:r>
              <a:rPr lang="en-AU" dirty="0">
                <a:latin typeface="+mj-lt"/>
              </a:rPr>
              <a:t>“Mixed” derivatives</a:t>
            </a:r>
            <a:endParaRPr lang="en-GB" dirty="0">
              <a:latin typeface="+mj-lt"/>
            </a:endParaRPr>
          </a:p>
        </p:txBody>
      </p:sp>
      <p:sp>
        <p:nvSpPr>
          <p:cNvPr id="3" name="Right Brace 2">
            <a:extLst>
              <a:ext uri="{FF2B5EF4-FFF2-40B4-BE49-F238E27FC236}">
                <a16:creationId xmlns:a16="http://schemas.microsoft.com/office/drawing/2014/main" id="{2BA38677-14BA-487B-9AFD-C748D95C2050}"/>
              </a:ext>
            </a:extLst>
          </p:cNvPr>
          <p:cNvSpPr/>
          <p:nvPr/>
        </p:nvSpPr>
        <p:spPr>
          <a:xfrm>
            <a:off x="7691718" y="4231341"/>
            <a:ext cx="224117" cy="131781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338283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159968" cy="523220"/>
          </a:xfrm>
          <a:prstGeom prst="rect">
            <a:avLst/>
          </a:prstGeom>
          <a:noFill/>
        </p:spPr>
        <p:txBody>
          <a:bodyPr wrap="none" rtlCol="0">
            <a:spAutoFit/>
          </a:bodyPr>
          <a:lstStyle/>
          <a:p>
            <a:r>
              <a:rPr lang="en-AU" sz="2800" b="1" cap="small" dirty="0">
                <a:solidFill>
                  <a:schemeClr val="bg1"/>
                </a:solidFill>
                <a:latin typeface="+mj-lt"/>
              </a:rPr>
              <a:t>7.4 Partial derivatives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3481915"/>
              </a:xfrm>
              <a:prstGeom prst="rect">
                <a:avLst/>
              </a:prstGeom>
              <a:noFill/>
            </p:spPr>
            <p:txBody>
              <a:bodyPr wrap="square">
                <a:spAutoFit/>
              </a:bodyPr>
              <a:lstStyle/>
              <a:p>
                <a:r>
                  <a:rPr lang="en-AU" sz="2400" dirty="0">
                    <a:latin typeface="+mj-lt"/>
                  </a:rPr>
                  <a:t>Theorem (Symmetry of second order derivatives). Consider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𝑍</m:t>
                    </m:r>
                  </m:oMath>
                </a14:m>
                <a:r>
                  <a:rPr lang="en-AU" sz="2400" dirty="0">
                    <a:latin typeface="+mj-lt"/>
                  </a:rPr>
                  <a:t>. If the second order mixed partial derivatives exist and are continuous everywhere in </a:t>
                </a:r>
                <a14:m>
                  <m:oMath xmlns:m="http://schemas.openxmlformats.org/officeDocument/2006/math">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 then</a:t>
                </a:r>
              </a:p>
              <a:p>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r>
                        <a:rPr lang="en-AU" sz="2400" b="0" i="1" smtClean="0">
                          <a:latin typeface="Cambria Math" panose="02040503050406030204" pitchFamily="18" charset="0"/>
                          <a:ea typeface="Cambria Math" panose="02040503050406030204" pitchFamily="18" charset="0"/>
                        </a:rPr>
                        <m:t>=</m:t>
                      </m:r>
                      <m:f>
                        <m:fPr>
                          <m:ctrlPr>
                            <a:rPr lang="en-AU" sz="2400" i="1">
                              <a:latin typeface="Cambria Math" panose="02040503050406030204" pitchFamily="18" charset="0"/>
                              <a:ea typeface="Cambria Math" panose="02040503050406030204" pitchFamily="18" charset="0"/>
                            </a:rPr>
                          </m:ctrlPr>
                        </m:fPr>
                        <m:num>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m:t>
                              </m:r>
                            </m:e>
                            <m:sup>
                              <m:r>
                                <a:rPr lang="en-AU" sz="2400" i="1">
                                  <a:latin typeface="Cambria Math" panose="02040503050406030204" pitchFamily="18" charset="0"/>
                                  <a:ea typeface="Cambria Math" panose="02040503050406030204" pitchFamily="18" charset="0"/>
                                </a:rPr>
                                <m:t>2</m:t>
                              </m:r>
                            </m:sup>
                          </m:sSup>
                          <m:r>
                            <a:rPr lang="en-AU" sz="2400" i="1">
                              <a:latin typeface="Cambria Math" panose="02040503050406030204" pitchFamily="18" charset="0"/>
                              <a:ea typeface="Cambria Math" panose="02040503050406030204" pitchFamily="18" charset="0"/>
                            </a:rPr>
                            <m:t>𝑓</m:t>
                          </m:r>
                        </m:num>
                        <m:den>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𝑦</m:t>
                          </m:r>
                        </m:den>
                      </m:f>
                    </m:oMath>
                  </m:oMathPara>
                </a14:m>
                <a:endParaRPr lang="en-AU" sz="2400" dirty="0">
                  <a:latin typeface="+mj-lt"/>
                </a:endParaRPr>
              </a:p>
              <a:p>
                <a:r>
                  <a:rPr lang="en-AU" sz="2400" dirty="0">
                    <a:latin typeface="+mj-lt"/>
                  </a:rPr>
                  <a:t>everywhere in </a:t>
                </a:r>
                <a14:m>
                  <m:oMath xmlns:m="http://schemas.openxmlformats.org/officeDocument/2006/math">
                    <m:r>
                      <a:rPr lang="en-AU" sz="2400" i="1" smtClean="0">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a:t>
                </a:r>
              </a:p>
              <a:p>
                <a:r>
                  <a:rPr lang="en-AU" sz="2400" dirty="0">
                    <a:latin typeface="+mj-lt"/>
                  </a:rPr>
                  <a:t>Example. Verify that the second order mixed partial derivatives are equal for the following:</a:t>
                </a:r>
              </a:p>
              <a:p>
                <a:r>
                  <a:rPr lang="en-AU" sz="2400" dirty="0">
                    <a:latin typeface="+mj-lt"/>
                  </a:rPr>
                  <a:t>1.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=3</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r>
                      <a:rPr lang="en-AU" sz="2400" b="0" i="1" smtClean="0">
                        <a:latin typeface="Cambria Math" panose="02040503050406030204" pitchFamily="18" charset="0"/>
                      </a:rPr>
                      <m:t>−2</m:t>
                    </m:r>
                    <m:r>
                      <a:rPr lang="en-AU" sz="2400" b="0" i="1" smtClean="0">
                        <a:latin typeface="Cambria Math" panose="02040503050406030204" pitchFamily="18" charset="0"/>
                      </a:rPr>
                      <m:t>𝑥</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r>
                      <a:rPr lang="en-AU" sz="2400" b="0" i="1" smtClean="0">
                        <a:latin typeface="Cambria Math" panose="02040503050406030204" pitchFamily="18" charset="0"/>
                      </a:rPr>
                      <m:t>𝑥</m:t>
                    </m:r>
                  </m:oMath>
                </a14:m>
                <a:endParaRPr lang="en-AU" sz="2400" dirty="0">
                  <a:latin typeface="+mj-lt"/>
                </a:endParaRPr>
              </a:p>
              <a:p>
                <a:r>
                  <a:rPr lang="en-AU" sz="2400" dirty="0">
                    <a:latin typeface="+mj-lt"/>
                  </a:rPr>
                  <a:t>2. </a:t>
                </a:r>
                <a14:m>
                  <m:oMath xmlns:m="http://schemas.openxmlformats.org/officeDocument/2006/math">
                    <m:r>
                      <a:rPr lang="en-AU" sz="2400" b="0" i="1" smtClean="0">
                        <a:latin typeface="Cambria Math" panose="02040503050406030204" pitchFamily="18" charset="0"/>
                      </a:rPr>
                      <m:t>h</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e>
                    </m:func>
                  </m:oMath>
                </a14:m>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3481915"/>
              </a:xfrm>
              <a:prstGeom prst="rect">
                <a:avLst/>
              </a:prstGeom>
              <a:blipFill>
                <a:blip r:embed="rId2"/>
                <a:stretch>
                  <a:fillRect l="-832" t="-1401" b="-3152"/>
                </a:stretch>
              </a:blipFill>
            </p:spPr>
            <p:txBody>
              <a:bodyPr/>
              <a:lstStyle/>
              <a:p>
                <a:r>
                  <a:rPr lang="en-GB">
                    <a:noFill/>
                  </a:rPr>
                  <a:t> </a:t>
                </a:r>
              </a:p>
            </p:txBody>
          </p:sp>
        </mc:Fallback>
      </mc:AlternateContent>
    </p:spTree>
    <p:extLst>
      <p:ext uri="{BB962C8B-B14F-4D97-AF65-F5344CB8AC3E}">
        <p14:creationId xmlns:p14="http://schemas.microsoft.com/office/powerpoint/2010/main" val="2473606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086842" cy="523220"/>
          </a:xfrm>
          <a:prstGeom prst="rect">
            <a:avLst/>
          </a:prstGeom>
          <a:noFill/>
        </p:spPr>
        <p:txBody>
          <a:bodyPr wrap="none" rtlCol="0">
            <a:spAutoFit/>
          </a:bodyPr>
          <a:lstStyle/>
          <a:p>
            <a:r>
              <a:rPr lang="en-AU" sz="2800" b="1" cap="small" dirty="0">
                <a:solidFill>
                  <a:schemeClr val="bg1"/>
                </a:solidFill>
                <a:latin typeface="+mj-lt"/>
              </a:rPr>
              <a:t>7.5 Small increments approximation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1997342"/>
              </a:xfrm>
              <a:prstGeom prst="rect">
                <a:avLst/>
              </a:prstGeom>
              <a:noFill/>
            </p:spPr>
            <p:txBody>
              <a:bodyPr wrap="square">
                <a:spAutoFit/>
              </a:bodyPr>
              <a:lstStyle/>
              <a:p>
                <a:r>
                  <a:rPr lang="en-AU" sz="2400" dirty="0">
                    <a:latin typeface="+mj-lt"/>
                  </a:rPr>
                  <a:t>Definition (Small increments approximation). Consider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which describes a surface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Given increments </a:t>
                </a:r>
                <a14:m>
                  <m:oMath xmlns:m="http://schemas.openxmlformats.org/officeDocument/2006/math">
                    <m:r>
                      <a:rPr lang="en-AU" sz="2400" i="1" smtClean="0">
                        <a:latin typeface="Cambria Math" panose="02040503050406030204" pitchFamily="18" charset="0"/>
                        <a:ea typeface="Cambria Math" panose="02040503050406030204" pitchFamily="18" charset="0"/>
                      </a:rPr>
                      <m:t>𝛿</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𝛿</m:t>
                    </m:r>
                    <m:r>
                      <a:rPr lang="en-AU" sz="2400" b="0" i="1" smtClean="0">
                        <a:latin typeface="Cambria Math" panose="02040503050406030204" pitchFamily="18" charset="0"/>
                        <a:ea typeface="Cambria Math" panose="02040503050406030204" pitchFamily="18" charset="0"/>
                      </a:rPr>
                      <m:t>𝑦</m:t>
                    </m:r>
                  </m:oMath>
                </a14:m>
                <a:r>
                  <a:rPr lang="en-AU" sz="2400" dirty="0">
                    <a:latin typeface="+mj-lt"/>
                  </a:rPr>
                  <a:t> that are sufficiently small, then</a:t>
                </a:r>
              </a:p>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ea typeface="Cambria Math" panose="02040503050406030204" pitchFamily="18" charset="0"/>
                        </a:rPr>
                        <m:t>𝛿</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𝛿</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𝛿</m:t>
                          </m:r>
                          <m:r>
                            <a:rPr lang="en-AU" sz="2400" b="0" i="1" smtClean="0">
                              <a:latin typeface="Cambria Math" panose="02040503050406030204" pitchFamily="18" charset="0"/>
                              <a:ea typeface="Cambria Math" panose="02040503050406030204" pitchFamily="18" charset="0"/>
                            </a:rPr>
                            <m:t>𝑦</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d>
                        <m:dPr>
                          <m:ctrlPr>
                            <a:rPr lang="en-AU" sz="2400" b="0" i="1" smtClean="0">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e>
                      </m:d>
                      <m:r>
                        <a:rPr lang="en-AU" sz="2400" i="1">
                          <a:latin typeface="Cambria Math" panose="02040503050406030204" pitchFamily="18" charset="0"/>
                          <a:ea typeface="Cambria Math" panose="02040503050406030204" pitchFamily="18" charset="0"/>
                        </a:rPr>
                        <m:t>𝛿</m:t>
                      </m:r>
                      <m:r>
                        <a:rPr lang="en-AU" sz="2400" i="1">
                          <a:latin typeface="Cambria Math" panose="02040503050406030204" pitchFamily="18" charset="0"/>
                          <a:ea typeface="Cambria Math" panose="02040503050406030204" pitchFamily="18" charset="0"/>
                        </a:rPr>
                        <m:t>𝑥</m:t>
                      </m:r>
                      <m:r>
                        <a:rPr lang="en-AU" sz="2400" b="0" i="0" smtClean="0">
                          <a:latin typeface="Cambria Math" panose="02040503050406030204" pitchFamily="18" charset="0"/>
                          <a:ea typeface="Cambria Math" panose="02040503050406030204" pitchFamily="18" charset="0"/>
                        </a:rPr>
                        <m:t>+</m:t>
                      </m:r>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𝑓</m:t>
                          </m:r>
                        </m:num>
                        <m:den>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e>
                      </m:d>
                      <m:r>
                        <a:rPr lang="en-AU" sz="2400" i="1">
                          <a:latin typeface="Cambria Math" panose="02040503050406030204" pitchFamily="18" charset="0"/>
                          <a:ea typeface="Cambria Math" panose="02040503050406030204" pitchFamily="18" charset="0"/>
                        </a:rPr>
                        <m:t>𝛿</m:t>
                      </m:r>
                      <m:r>
                        <a:rPr lang="en-AU" sz="2400" b="0" i="1" smtClean="0">
                          <a:latin typeface="Cambria Math" panose="02040503050406030204" pitchFamily="18" charset="0"/>
                          <a:ea typeface="Cambria Math" panose="02040503050406030204" pitchFamily="18" charset="0"/>
                        </a:rPr>
                        <m:t>𝑦</m:t>
                      </m:r>
                    </m:oMath>
                  </m:oMathPara>
                </a14:m>
                <a:endParaRPr lang="en-AU" sz="2400" dirty="0">
                  <a:latin typeface="+mj-lt"/>
                </a:endParaRPr>
              </a:p>
              <a:p>
                <a:r>
                  <a:rPr lang="en-AU" sz="2400" dirty="0">
                    <a:latin typeface="+mj-lt"/>
                  </a:rPr>
                  <a:t>This approximation is known as the small increments approximation or formula.</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1997342"/>
              </a:xfrm>
              <a:prstGeom prst="rect">
                <a:avLst/>
              </a:prstGeom>
              <a:blipFill>
                <a:blip r:embed="rId2"/>
                <a:stretch>
                  <a:fillRect l="-832" t="-2439" b="-4268"/>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519140B3-17CF-4A42-9C83-DF37CED2BABB}"/>
              </a:ext>
            </a:extLst>
          </p:cNvPr>
          <p:cNvPicPr>
            <a:picLocks noChangeAspect="1"/>
          </p:cNvPicPr>
          <p:nvPr/>
        </p:nvPicPr>
        <p:blipFill>
          <a:blip r:embed="rId3"/>
          <a:stretch>
            <a:fillRect/>
          </a:stretch>
        </p:blipFill>
        <p:spPr>
          <a:xfrm>
            <a:off x="3340401" y="2813005"/>
            <a:ext cx="5377887" cy="3810065"/>
          </a:xfrm>
          <a:prstGeom prst="rect">
            <a:avLst/>
          </a:prstGeom>
        </p:spPr>
      </p:pic>
    </p:spTree>
    <p:extLst>
      <p:ext uri="{BB962C8B-B14F-4D97-AF65-F5344CB8AC3E}">
        <p14:creationId xmlns:p14="http://schemas.microsoft.com/office/powerpoint/2010/main" val="2885745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086842" cy="523220"/>
          </a:xfrm>
          <a:prstGeom prst="rect">
            <a:avLst/>
          </a:prstGeom>
          <a:noFill/>
        </p:spPr>
        <p:txBody>
          <a:bodyPr wrap="none" rtlCol="0">
            <a:spAutoFit/>
          </a:bodyPr>
          <a:lstStyle/>
          <a:p>
            <a:r>
              <a:rPr lang="en-AU" sz="2800" b="1" cap="small" dirty="0">
                <a:solidFill>
                  <a:schemeClr val="bg1"/>
                </a:solidFill>
                <a:latin typeface="+mj-lt"/>
              </a:rPr>
              <a:t>7.5 Small increments approximation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830997"/>
              </a:xfrm>
              <a:prstGeom prst="rect">
                <a:avLst/>
              </a:prstGeom>
              <a:noFill/>
            </p:spPr>
            <p:txBody>
              <a:bodyPr wrap="square">
                <a:spAutoFit/>
              </a:bodyPr>
              <a:lstStyle/>
              <a:p>
                <a:r>
                  <a:rPr lang="en-AU" sz="2400" dirty="0">
                    <a:latin typeface="+mj-lt"/>
                  </a:rPr>
                  <a:t>Example. Consider the function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exp</m:t>
                        </m:r>
                      </m:fName>
                      <m:e>
                        <m:r>
                          <a:rPr lang="en-AU" sz="2400" b="0" i="1" smtClean="0">
                            <a:latin typeface="Cambria Math" panose="02040503050406030204" pitchFamily="18" charset="0"/>
                          </a:rPr>
                          <m:t>(</m:t>
                        </m:r>
                        <m:r>
                          <a:rPr lang="en-AU" sz="2400" b="0" i="1" smtClean="0">
                            <a:latin typeface="Cambria Math" panose="02040503050406030204" pitchFamily="18" charset="0"/>
                          </a:rPr>
                          <m:t>𝑥</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m:t>
                        </m:r>
                      </m:e>
                    </m:func>
                  </m:oMath>
                </a14:m>
                <a:r>
                  <a:rPr lang="en-AU" sz="2400" dirty="0">
                    <a:latin typeface="+mj-lt"/>
                  </a:rPr>
                  <a:t>. Calculate the approximate value of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at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=1.1</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=0.9</m:t>
                    </m:r>
                  </m:oMath>
                </a14:m>
                <a:r>
                  <a:rPr lang="en-AU" sz="2400" dirty="0">
                    <a:latin typeface="+mj-lt"/>
                  </a:rPr>
                  <a:t> using the value of </a:t>
                </a:r>
                <a14:m>
                  <m:oMath xmlns:m="http://schemas.openxmlformats.org/officeDocument/2006/math">
                    <m:r>
                      <a:rPr lang="en-AU" sz="2400" b="0" i="1" smtClean="0">
                        <a:latin typeface="Cambria Math" panose="02040503050406030204" pitchFamily="18" charset="0"/>
                      </a:rPr>
                      <m:t>𝑓</m:t>
                    </m:r>
                  </m:oMath>
                </a14:m>
                <a:r>
                  <a:rPr lang="en-AU" sz="2400" dirty="0">
                    <a:latin typeface="+mj-lt"/>
                  </a:rPr>
                  <a:t> at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0</m:t>
                        </m:r>
                      </m:sub>
                    </m:sSub>
                    <m:r>
                      <a:rPr lang="en-AU" sz="2400" b="0" i="1" smtClean="0">
                        <a:latin typeface="Cambria Math" panose="02040503050406030204" pitchFamily="18" charset="0"/>
                      </a:rPr>
                      <m:t>=1</m:t>
                    </m:r>
                  </m:oMath>
                </a14:m>
                <a:r>
                  <a:rPr lang="en-AU" sz="2400" dirty="0">
                    <a:latin typeface="+mj-lt"/>
                  </a:rPr>
                  <a:t> and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0</m:t>
                        </m:r>
                      </m:sub>
                    </m:sSub>
                    <m:r>
                      <a:rPr lang="en-AU" sz="2400" b="0" i="1" smtClean="0">
                        <a:latin typeface="Cambria Math" panose="02040503050406030204" pitchFamily="18" charset="0"/>
                      </a:rPr>
                      <m:t>=1</m:t>
                    </m:r>
                  </m:oMath>
                </a14:m>
                <a:r>
                  <a:rPr lang="en-AU" sz="2400" dirty="0">
                    <a:latin typeface="+mj-lt"/>
                  </a:rPr>
                  <a:t>.</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830997"/>
              </a:xfrm>
              <a:prstGeom prst="rect">
                <a:avLst/>
              </a:prstGeom>
              <a:blipFill>
                <a:blip r:embed="rId2"/>
                <a:stretch>
                  <a:fillRect l="-832" t="-5882" b="-16176"/>
                </a:stretch>
              </a:blipFill>
            </p:spPr>
            <p:txBody>
              <a:bodyPr/>
              <a:lstStyle/>
              <a:p>
                <a:r>
                  <a:rPr lang="en-GB">
                    <a:noFill/>
                  </a:rPr>
                  <a:t> </a:t>
                </a:r>
              </a:p>
            </p:txBody>
          </p:sp>
        </mc:Fallback>
      </mc:AlternateContent>
    </p:spTree>
    <p:extLst>
      <p:ext uri="{BB962C8B-B14F-4D97-AF65-F5344CB8AC3E}">
        <p14:creationId xmlns:p14="http://schemas.microsoft.com/office/powerpoint/2010/main" val="3714827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086842" cy="523220"/>
          </a:xfrm>
          <a:prstGeom prst="rect">
            <a:avLst/>
          </a:prstGeom>
          <a:noFill/>
        </p:spPr>
        <p:txBody>
          <a:bodyPr wrap="none" rtlCol="0">
            <a:spAutoFit/>
          </a:bodyPr>
          <a:lstStyle/>
          <a:p>
            <a:r>
              <a:rPr lang="en-AU" sz="2800" b="1" cap="small" dirty="0">
                <a:solidFill>
                  <a:schemeClr val="bg1"/>
                </a:solidFill>
                <a:latin typeface="+mj-lt"/>
              </a:rPr>
              <a:t>7.5 Small increments approximation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2677721"/>
              </a:xfrm>
              <a:prstGeom prst="rect">
                <a:avLst/>
              </a:prstGeom>
              <a:noFill/>
            </p:spPr>
            <p:txBody>
              <a:bodyPr wrap="square">
                <a:spAutoFit/>
              </a:bodyPr>
              <a:lstStyle/>
              <a:p>
                <a:r>
                  <a:rPr lang="en-AU" sz="2400" dirty="0">
                    <a:latin typeface="+mj-lt"/>
                  </a:rPr>
                  <a:t>Practical example. The power (</a:t>
                </a:r>
                <a14:m>
                  <m:oMath xmlns:m="http://schemas.openxmlformats.org/officeDocument/2006/math">
                    <m:r>
                      <a:rPr lang="en-AU" sz="2400" b="0" i="1" smtClean="0">
                        <a:latin typeface="Cambria Math" panose="02040503050406030204" pitchFamily="18" charset="0"/>
                      </a:rPr>
                      <m:t>𝑃</m:t>
                    </m:r>
                  </m:oMath>
                </a14:m>
                <a:r>
                  <a:rPr lang="en-AU" sz="2400" dirty="0">
                    <a:latin typeface="+mj-lt"/>
                  </a:rPr>
                  <a:t>) (in watts) dissipated in a resistor is given by </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𝑃</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𝑉</m:t>
                              </m:r>
                            </m:e>
                            <m:sup>
                              <m:r>
                                <a:rPr lang="en-AU" sz="2400" b="0" i="1" smtClean="0">
                                  <a:latin typeface="Cambria Math" panose="02040503050406030204" pitchFamily="18" charset="0"/>
                                </a:rPr>
                                <m:t>2</m:t>
                              </m:r>
                            </m:sup>
                          </m:sSup>
                        </m:num>
                        <m:den>
                          <m:r>
                            <a:rPr lang="en-AU" sz="2400" b="0" i="1" smtClean="0">
                              <a:latin typeface="Cambria Math" panose="02040503050406030204" pitchFamily="18" charset="0"/>
                            </a:rPr>
                            <m:t>𝑅</m:t>
                          </m:r>
                        </m:den>
                      </m:f>
                    </m:oMath>
                  </m:oMathPara>
                </a14:m>
                <a:endParaRPr lang="en-AU" sz="2400" dirty="0">
                  <a:latin typeface="+mj-lt"/>
                </a:endParaRPr>
              </a:p>
              <a:p>
                <a:r>
                  <a:rPr lang="en-AU" sz="2400" dirty="0">
                    <a:latin typeface="+mj-lt"/>
                  </a:rPr>
                  <a:t>where </a:t>
                </a:r>
                <a14:m>
                  <m:oMath xmlns:m="http://schemas.openxmlformats.org/officeDocument/2006/math">
                    <m:r>
                      <a:rPr lang="en-AU" sz="2400" b="0" i="1" smtClean="0">
                        <a:latin typeface="Cambria Math" panose="02040503050406030204" pitchFamily="18" charset="0"/>
                      </a:rPr>
                      <m:t>𝑉</m:t>
                    </m:r>
                  </m:oMath>
                </a14:m>
                <a:r>
                  <a:rPr lang="en-AU" sz="2400" dirty="0">
                    <a:latin typeface="+mj-lt"/>
                  </a:rPr>
                  <a:t> is the voltage drop across the resistor (in volts), and </a:t>
                </a:r>
                <a14:m>
                  <m:oMath xmlns:m="http://schemas.openxmlformats.org/officeDocument/2006/math">
                    <m:r>
                      <a:rPr lang="en-AU" sz="2400" b="0" i="1" smtClean="0">
                        <a:latin typeface="Cambria Math" panose="02040503050406030204" pitchFamily="18" charset="0"/>
                      </a:rPr>
                      <m:t>𝑅</m:t>
                    </m:r>
                  </m:oMath>
                </a14:m>
                <a:r>
                  <a:rPr lang="en-AU" sz="2400" dirty="0">
                    <a:latin typeface="+mj-lt"/>
                  </a:rPr>
                  <a:t> is the resistance of the resistor (in ohms). If the voltage drop across a resistor is 100V and the resistance is 5</a:t>
                </a:r>
                <a:r>
                  <a:rPr lang="el-GR" sz="2400" dirty="0">
                    <a:latin typeface="+mj-lt"/>
                  </a:rPr>
                  <a:t>Ω</a:t>
                </a:r>
                <a:r>
                  <a:rPr lang="en-AU" sz="2400" dirty="0">
                    <a:latin typeface="+mj-lt"/>
                  </a:rPr>
                  <a:t>, find the approximate change in the watts dissipated if the resistance drops by 0.01</a:t>
                </a:r>
                <a:r>
                  <a:rPr lang="el-GR" sz="2400" dirty="0">
                    <a:latin typeface="+mj-lt"/>
                  </a:rPr>
                  <a:t>Ω</a:t>
                </a:r>
                <a:r>
                  <a:rPr lang="en-AU" sz="2400" dirty="0">
                    <a:latin typeface="+mj-lt"/>
                  </a:rPr>
                  <a:t> and the voltage drop increases by 0.02V.</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2677721"/>
              </a:xfrm>
              <a:prstGeom prst="rect">
                <a:avLst/>
              </a:prstGeom>
              <a:blipFill>
                <a:blip r:embed="rId2"/>
                <a:stretch>
                  <a:fillRect l="-832" t="-1822" r="-520" b="-4328"/>
                </a:stretch>
              </a:blipFill>
            </p:spPr>
            <p:txBody>
              <a:bodyPr/>
              <a:lstStyle/>
              <a:p>
                <a:r>
                  <a:rPr lang="en-GB">
                    <a:noFill/>
                  </a:rPr>
                  <a:t> </a:t>
                </a:r>
              </a:p>
            </p:txBody>
          </p:sp>
        </mc:Fallback>
      </mc:AlternateContent>
      <p:sp>
        <p:nvSpPr>
          <p:cNvPr id="2" name="Rectangle 1">
            <a:extLst>
              <a:ext uri="{FF2B5EF4-FFF2-40B4-BE49-F238E27FC236}">
                <a16:creationId xmlns:a16="http://schemas.microsoft.com/office/drawing/2014/main" id="{288056A0-542C-4E9F-A67F-136B71C397BC}"/>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17614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703345" cy="523220"/>
          </a:xfrm>
          <a:prstGeom prst="rect">
            <a:avLst/>
          </a:prstGeom>
          <a:noFill/>
        </p:spPr>
        <p:txBody>
          <a:bodyPr wrap="none" rtlCol="0">
            <a:spAutoFit/>
          </a:bodyPr>
          <a:lstStyle/>
          <a:p>
            <a:r>
              <a:rPr lang="en-AU" sz="2800" b="1" cap="small" dirty="0">
                <a:solidFill>
                  <a:schemeClr val="bg1"/>
                </a:solidFill>
                <a:latin typeface="+mj-lt"/>
              </a:rPr>
              <a:t>7.6 Two additional chain rules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3443058"/>
              </a:xfrm>
              <a:prstGeom prst="rect">
                <a:avLst/>
              </a:prstGeom>
              <a:noFill/>
            </p:spPr>
            <p:txBody>
              <a:bodyPr wrap="square">
                <a:spAutoFit/>
              </a:bodyPr>
              <a:lstStyle/>
              <a:p>
                <a:r>
                  <a:rPr lang="en-AU" sz="2400" dirty="0">
                    <a:latin typeface="+mj-lt"/>
                  </a:rPr>
                  <a:t>In practical applications, we often encounter functions of two variables that are themselves functions of other variables.</a:t>
                </a:r>
              </a:p>
              <a:p>
                <a:r>
                  <a:rPr lang="en-AU" sz="2400" u="sng" dirty="0">
                    <a:latin typeface="+mj-lt"/>
                  </a:rPr>
                  <a:t>Case (a): </a:t>
                </a:r>
                <a14:m>
                  <m:oMath xmlns:m="http://schemas.openxmlformats.org/officeDocument/2006/math">
                    <m:r>
                      <a:rPr lang="en-AU" sz="2400" b="0" i="1" u="sng" smtClean="0">
                        <a:latin typeface="Cambria Math" panose="02040503050406030204" pitchFamily="18" charset="0"/>
                      </a:rPr>
                      <m:t>𝑧</m:t>
                    </m:r>
                    <m:r>
                      <a:rPr lang="en-AU" sz="2400" b="0" i="1" u="sng" smtClean="0">
                        <a:latin typeface="Cambria Math" panose="02040503050406030204" pitchFamily="18" charset="0"/>
                      </a:rPr>
                      <m:t>=</m:t>
                    </m:r>
                    <m:r>
                      <a:rPr lang="en-AU" sz="2400" b="0" i="1" u="sng" smtClean="0">
                        <a:latin typeface="Cambria Math" panose="02040503050406030204" pitchFamily="18" charset="0"/>
                      </a:rPr>
                      <m:t>𝑓</m:t>
                    </m:r>
                    <m:r>
                      <a:rPr lang="en-AU" sz="2400" b="0" i="1" u="sng" smtClean="0">
                        <a:latin typeface="Cambria Math" panose="02040503050406030204" pitchFamily="18" charset="0"/>
                      </a:rPr>
                      <m:t>(</m:t>
                    </m:r>
                    <m:r>
                      <a:rPr lang="en-AU" sz="2400" b="0" i="1" u="sng" smtClean="0">
                        <a:latin typeface="Cambria Math" panose="02040503050406030204" pitchFamily="18" charset="0"/>
                      </a:rPr>
                      <m:t>𝑥</m:t>
                    </m:r>
                    <m:d>
                      <m:dPr>
                        <m:ctrlPr>
                          <a:rPr lang="en-AU" sz="2400" b="0" i="1" u="sng" smtClean="0">
                            <a:latin typeface="Cambria Math" panose="02040503050406030204" pitchFamily="18" charset="0"/>
                          </a:rPr>
                        </m:ctrlPr>
                      </m:dPr>
                      <m:e>
                        <m:r>
                          <a:rPr lang="en-AU" sz="2400" b="0" i="1" u="sng" smtClean="0">
                            <a:latin typeface="Cambria Math" panose="02040503050406030204" pitchFamily="18" charset="0"/>
                          </a:rPr>
                          <m:t>𝑡</m:t>
                        </m:r>
                      </m:e>
                    </m:d>
                    <m:r>
                      <a:rPr lang="en-AU" sz="2400" b="0" i="1" u="sng" smtClean="0">
                        <a:latin typeface="Cambria Math" panose="02040503050406030204" pitchFamily="18" charset="0"/>
                      </a:rPr>
                      <m:t>,</m:t>
                    </m:r>
                    <m:r>
                      <a:rPr lang="en-AU" sz="2400" b="0" i="1" u="sng" smtClean="0">
                        <a:latin typeface="Cambria Math" panose="02040503050406030204" pitchFamily="18" charset="0"/>
                      </a:rPr>
                      <m:t>𝑦</m:t>
                    </m:r>
                    <m:d>
                      <m:dPr>
                        <m:ctrlPr>
                          <a:rPr lang="en-AU" sz="2400" b="0" i="1" u="sng" smtClean="0">
                            <a:latin typeface="Cambria Math" panose="02040503050406030204" pitchFamily="18" charset="0"/>
                          </a:rPr>
                        </m:ctrlPr>
                      </m:dPr>
                      <m:e>
                        <m:r>
                          <a:rPr lang="en-AU" sz="2400" b="0" i="1" u="sng" smtClean="0">
                            <a:latin typeface="Cambria Math" panose="02040503050406030204" pitchFamily="18" charset="0"/>
                          </a:rPr>
                          <m:t>𝑡</m:t>
                        </m:r>
                      </m:e>
                    </m:d>
                    <m:r>
                      <a:rPr lang="en-AU" sz="2400" b="0" i="1" u="sng" smtClean="0">
                        <a:latin typeface="Cambria Math" panose="02040503050406030204" pitchFamily="18" charset="0"/>
                      </a:rPr>
                      <m:t>)</m:t>
                    </m:r>
                  </m:oMath>
                </a14:m>
                <a:endParaRPr lang="en-AU" sz="2400" u="sng" dirty="0">
                  <a:latin typeface="+mj-lt"/>
                </a:endParaRPr>
              </a:p>
              <a:p>
                <a:r>
                  <a:rPr lang="en-AU" sz="2400" dirty="0">
                    <a:latin typeface="+mj-lt"/>
                  </a:rPr>
                  <a:t>Theorem (The total derivative with respect to </a:t>
                </a:r>
                <a14:m>
                  <m:oMath xmlns:m="http://schemas.openxmlformats.org/officeDocument/2006/math">
                    <m:r>
                      <a:rPr lang="en-AU" sz="2400" b="0" i="1" smtClean="0">
                        <a:latin typeface="Cambria Math" panose="02040503050406030204" pitchFamily="18" charset="0"/>
                      </a:rPr>
                      <m:t>𝑡</m:t>
                    </m:r>
                  </m:oMath>
                </a14:m>
                <a:r>
                  <a:rPr lang="en-AU" sz="2400" dirty="0">
                    <a:latin typeface="+mj-lt"/>
                  </a:rPr>
                  <a:t>). Consider a function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smtClean="0">
                        <a:latin typeface="Cambria Math" panose="02040503050406030204" pitchFamily="18" charset="0"/>
                        <a:ea typeface="Cambria Math" panose="02040503050406030204" pitchFamily="18" charset="0"/>
                      </a:rPr>
                      <m:t>ℝ</m:t>
                    </m:r>
                  </m:oMath>
                </a14:m>
                <a:r>
                  <a:rPr lang="en-AU" sz="2400" dirty="0">
                    <a:latin typeface="+mj-lt"/>
                  </a:rPr>
                  <a:t> given by </a:t>
                </a:r>
                <a14:m>
                  <m:oMath xmlns:m="http://schemas.openxmlformats.org/officeDocument/2006/math">
                    <m:r>
                      <a:rPr lang="en-AU" sz="2400" i="1">
                        <a:latin typeface="Cambria Math" panose="02040503050406030204" pitchFamily="18" charset="0"/>
                      </a:rPr>
                      <m:t>𝑧</m:t>
                    </m:r>
                    <m:r>
                      <a:rPr lang="en-AU" sz="2400" i="1">
                        <a:latin typeface="Cambria Math" panose="02040503050406030204" pitchFamily="18" charset="0"/>
                      </a:rPr>
                      <m:t>=</m:t>
                    </m:r>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m:t>
                    </m:r>
                  </m:oMath>
                </a14:m>
                <a:r>
                  <a:rPr lang="en-AU" sz="2400" dirty="0">
                    <a:latin typeface="+mj-lt"/>
                  </a:rPr>
                  <a:t>. Suppose that both </a:t>
                </a:r>
                <a14:m>
                  <m:oMath xmlns:m="http://schemas.openxmlformats.org/officeDocument/2006/math">
                    <m:r>
                      <a:rPr lang="en-AU" sz="2400" b="0" i="1" smtClean="0">
                        <a:latin typeface="Cambria Math" panose="02040503050406030204" pitchFamily="18" charset="0"/>
                      </a:rPr>
                      <m:t>𝑥</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𝑦</m:t>
                    </m:r>
                  </m:oMath>
                </a14:m>
                <a:r>
                  <a:rPr lang="en-AU" sz="2400" dirty="0">
                    <a:latin typeface="+mj-lt"/>
                  </a:rPr>
                  <a:t> are functions of another variable </a:t>
                </a:r>
                <a14:m>
                  <m:oMath xmlns:m="http://schemas.openxmlformats.org/officeDocument/2006/math">
                    <m:r>
                      <a:rPr lang="en-AU" sz="2400" b="0" i="1" smtClean="0">
                        <a:latin typeface="Cambria Math" panose="02040503050406030204" pitchFamily="18" charset="0"/>
                      </a:rPr>
                      <m:t>𝑡</m:t>
                    </m:r>
                  </m:oMath>
                </a14:m>
                <a:r>
                  <a:rPr lang="en-AU" sz="2400" dirty="0">
                    <a:latin typeface="+mj-lt"/>
                  </a:rPr>
                  <a:t> and share a common domain </a:t>
                </a:r>
                <a14:m>
                  <m:oMath xmlns:m="http://schemas.openxmlformats.org/officeDocument/2006/math">
                    <m:r>
                      <a:rPr lang="en-AU" sz="2400" b="0" i="1" smtClean="0">
                        <a:latin typeface="Cambria Math" panose="02040503050406030204" pitchFamily="18" charset="0"/>
                      </a:rPr>
                      <m:t>𝐴</m:t>
                    </m:r>
                  </m:oMath>
                </a14:m>
                <a:r>
                  <a:rPr lang="en-AU" sz="2400" dirty="0">
                    <a:latin typeface="+mj-lt"/>
                  </a:rPr>
                  <a:t>, i.e.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𝐴</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𝐴</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We say that </a:t>
                </a:r>
                <a14:m>
                  <m:oMath xmlns:m="http://schemas.openxmlformats.org/officeDocument/2006/math">
                    <m:r>
                      <a:rPr lang="en-AU" sz="2400" b="0" i="1" smtClean="0">
                        <a:latin typeface="Cambria Math" panose="02040503050406030204" pitchFamily="18" charset="0"/>
                      </a:rPr>
                      <m:t>𝑓</m:t>
                    </m:r>
                  </m:oMath>
                </a14:m>
                <a:r>
                  <a:rPr lang="en-AU" sz="2400" dirty="0">
                    <a:latin typeface="+mj-lt"/>
                  </a:rPr>
                  <a:t>depends on </a:t>
                </a:r>
                <a14:m>
                  <m:oMath xmlns:m="http://schemas.openxmlformats.org/officeDocument/2006/math">
                    <m:r>
                      <a:rPr lang="en-AU" sz="2400" i="1">
                        <a:latin typeface="Cambria Math" panose="02040503050406030204" pitchFamily="18" charset="0"/>
                      </a:rPr>
                      <m:t>𝑡</m:t>
                    </m:r>
                  </m:oMath>
                </a14:m>
                <a:r>
                  <a:rPr lang="en-AU" sz="2400" dirty="0">
                    <a:latin typeface="+mj-lt"/>
                  </a:rPr>
                  <a:t> “through” </a:t>
                </a:r>
                <a14:m>
                  <m:oMath xmlns:m="http://schemas.openxmlformats.org/officeDocument/2006/math">
                    <m:r>
                      <a:rPr lang="en-AU" sz="2400" i="1">
                        <a:latin typeface="Cambria Math" panose="02040503050406030204" pitchFamily="18" charset="0"/>
                      </a:rPr>
                      <m:t>𝑥</m:t>
                    </m:r>
                  </m:oMath>
                </a14:m>
                <a:r>
                  <a:rPr lang="en-AU" sz="2400" dirty="0"/>
                  <a:t> </a:t>
                </a:r>
                <a:r>
                  <a:rPr lang="en-AU" sz="2400" dirty="0">
                    <a:latin typeface="+mj-lt"/>
                  </a:rPr>
                  <a:t>and </a:t>
                </a:r>
                <a14:m>
                  <m:oMath xmlns:m="http://schemas.openxmlformats.org/officeDocument/2006/math">
                    <m:r>
                      <a:rPr lang="en-AU" sz="2400">
                        <a:latin typeface="Cambria Math" panose="02040503050406030204" pitchFamily="18" charset="0"/>
                      </a:rPr>
                      <m:t>𝑦</m:t>
                    </m:r>
                  </m:oMath>
                </a14:m>
                <a:r>
                  <a:rPr lang="en-AU" sz="2400" dirty="0">
                    <a:latin typeface="+mj-lt"/>
                  </a:rPr>
                  <a:t>, i.e.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𝑡</m:t>
                    </m:r>
                    <m:r>
                      <a:rPr lang="en-AU" sz="2400" b="0" i="1" smtClean="0">
                        <a:latin typeface="Cambria Math" panose="02040503050406030204" pitchFamily="18" charset="0"/>
                      </a:rPr>
                      <m:t>)</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𝐴</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The total derivative of </a:t>
                </a:r>
                <a14:m>
                  <m:oMath xmlns:m="http://schemas.openxmlformats.org/officeDocument/2006/math">
                    <m:r>
                      <a:rPr lang="en-AU" sz="2400" i="1">
                        <a:latin typeface="Cambria Math" panose="02040503050406030204" pitchFamily="18" charset="0"/>
                      </a:rPr>
                      <m:t>𝑧</m:t>
                    </m:r>
                  </m:oMath>
                </a14:m>
                <a:r>
                  <a:rPr lang="en-AU" sz="2400" dirty="0">
                    <a:latin typeface="+mj-lt"/>
                  </a:rPr>
                  <a:t> with respect to </a:t>
                </a:r>
                <a14:m>
                  <m:oMath xmlns:m="http://schemas.openxmlformats.org/officeDocument/2006/math">
                    <m:r>
                      <a:rPr lang="en-AU" sz="2400" b="0" i="1" smtClean="0">
                        <a:latin typeface="Cambria Math" panose="02040503050406030204" pitchFamily="18" charset="0"/>
                      </a:rPr>
                      <m:t>𝑡</m:t>
                    </m:r>
                  </m:oMath>
                </a14:m>
                <a:r>
                  <a:rPr lang="en-AU" sz="2400" dirty="0">
                    <a:latin typeface="+mj-lt"/>
                  </a:rPr>
                  <a:t> is</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𝑑𝑧</m:t>
                          </m:r>
                        </m:num>
                        <m:den>
                          <m:r>
                            <a:rPr lang="en-AU" sz="2400" b="0" i="1" smtClean="0">
                              <a:latin typeface="Cambria Math" panose="02040503050406030204" pitchFamily="18" charset="0"/>
                            </a:rPr>
                            <m:t>𝑑𝑡</m:t>
                          </m:r>
                        </m:den>
                      </m:f>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𝑑𝑥</m:t>
                          </m:r>
                        </m:num>
                        <m:den>
                          <m:r>
                            <a:rPr lang="en-AU" sz="2400" b="0" i="1" smtClean="0">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𝑑𝑦</m:t>
                          </m:r>
                        </m:den>
                      </m:f>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𝑑𝑡</m:t>
                          </m:r>
                        </m:den>
                      </m:f>
                    </m:oMath>
                  </m:oMathPara>
                </a14:m>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3443058"/>
              </a:xfrm>
              <a:prstGeom prst="rect">
                <a:avLst/>
              </a:prstGeom>
              <a:blipFill>
                <a:blip r:embed="rId2"/>
                <a:stretch>
                  <a:fillRect l="-832" t="-1416"/>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3310C3CD-4630-4111-A285-1A2C98AB9952}"/>
              </a:ext>
            </a:extLst>
          </p:cNvPr>
          <p:cNvPicPr>
            <a:picLocks noChangeAspect="1"/>
          </p:cNvPicPr>
          <p:nvPr/>
        </p:nvPicPr>
        <p:blipFill>
          <a:blip r:embed="rId3"/>
          <a:stretch>
            <a:fillRect/>
          </a:stretch>
        </p:blipFill>
        <p:spPr>
          <a:xfrm>
            <a:off x="5247701" y="4636048"/>
            <a:ext cx="1696598" cy="1261431"/>
          </a:xfrm>
          <a:prstGeom prst="rect">
            <a:avLst/>
          </a:prstGeom>
        </p:spPr>
      </p:pic>
    </p:spTree>
    <p:extLst>
      <p:ext uri="{BB962C8B-B14F-4D97-AF65-F5344CB8AC3E}">
        <p14:creationId xmlns:p14="http://schemas.microsoft.com/office/powerpoint/2010/main" val="3530339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703345" cy="523220"/>
          </a:xfrm>
          <a:prstGeom prst="rect">
            <a:avLst/>
          </a:prstGeom>
          <a:noFill/>
        </p:spPr>
        <p:txBody>
          <a:bodyPr wrap="none" rtlCol="0">
            <a:spAutoFit/>
          </a:bodyPr>
          <a:lstStyle/>
          <a:p>
            <a:r>
              <a:rPr lang="en-AU" sz="2800" b="1" cap="small" dirty="0">
                <a:solidFill>
                  <a:schemeClr val="bg1"/>
                </a:solidFill>
                <a:latin typeface="+mj-lt"/>
              </a:rPr>
              <a:t>7.6 Two additional chain rules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1732269"/>
              </a:xfrm>
              <a:prstGeom prst="rect">
                <a:avLst/>
              </a:prstGeom>
              <a:noFill/>
            </p:spPr>
            <p:txBody>
              <a:bodyPr wrap="square">
                <a:spAutoFit/>
              </a:bodyPr>
              <a:lstStyle/>
              <a:p>
                <a:r>
                  <a:rPr lang="en-AU" sz="2400" dirty="0">
                    <a:latin typeface="+mj-lt"/>
                  </a:rPr>
                  <a:t>Example. A car is travelling east along a road at 36 km/h and at 12 noon is 300m west of an intersection. A second car is 400m north of the intersection at 12 noon and is travelling northwards at 54 km/h. Find the rate at which the distance </a:t>
                </a:r>
                <a14:m>
                  <m:oMath xmlns:m="http://schemas.openxmlformats.org/officeDocument/2006/math">
                    <m:r>
                      <a:rPr lang="en-AU" sz="2400" b="0" i="1" smtClean="0">
                        <a:latin typeface="Cambria Math" panose="02040503050406030204" pitchFamily="18" charset="0"/>
                      </a:rPr>
                      <m:t>𝑧</m:t>
                    </m:r>
                  </m:oMath>
                </a14:m>
                <a:r>
                  <a:rPr lang="en-AU" sz="2400" dirty="0">
                    <a:latin typeface="+mj-lt"/>
                  </a:rPr>
                  <a:t> between the cars is changing with time (</a:t>
                </a:r>
                <a14:m>
                  <m:oMath xmlns:m="http://schemas.openxmlformats.org/officeDocument/2006/math">
                    <m:r>
                      <a:rPr lang="en-AU" sz="2400" b="0" i="1" smtClean="0">
                        <a:latin typeface="Cambria Math" panose="02040503050406030204" pitchFamily="18" charset="0"/>
                      </a:rPr>
                      <m:t>𝑡</m:t>
                    </m:r>
                  </m:oMath>
                </a14:m>
                <a:r>
                  <a:rPr lang="en-AU" sz="2400" dirty="0">
                    <a:latin typeface="+mj-lt"/>
                  </a:rPr>
                  <a:t> seconds) at noon, i.e. find </a:t>
                </a:r>
                <a14:m>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𝑑𝑧</m:t>
                        </m:r>
                      </m:num>
                      <m:den>
                        <m:r>
                          <a:rPr lang="en-AU" sz="2400" b="0" i="1" smtClean="0">
                            <a:latin typeface="Cambria Math" panose="02040503050406030204" pitchFamily="18" charset="0"/>
                          </a:rPr>
                          <m:t>𝑑𝑡</m:t>
                        </m:r>
                      </m:den>
                    </m:f>
                  </m:oMath>
                </a14:m>
                <a:r>
                  <a:rPr lang="en-AU" sz="2400" dirty="0">
                    <a:latin typeface="+mj-lt"/>
                  </a:rPr>
                  <a:t> at noon.</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1732269"/>
              </a:xfrm>
              <a:prstGeom prst="rect">
                <a:avLst/>
              </a:prstGeom>
              <a:blipFill>
                <a:blip r:embed="rId2"/>
                <a:stretch>
                  <a:fillRect l="-832" t="-2817" b="-2817"/>
                </a:stretch>
              </a:blipFill>
            </p:spPr>
            <p:txBody>
              <a:bodyPr/>
              <a:lstStyle/>
              <a:p>
                <a:r>
                  <a:rPr lang="en-GB">
                    <a:noFill/>
                  </a:rPr>
                  <a:t> </a:t>
                </a:r>
              </a:p>
            </p:txBody>
          </p:sp>
        </mc:Fallback>
      </mc:AlternateContent>
    </p:spTree>
    <p:extLst>
      <p:ext uri="{BB962C8B-B14F-4D97-AF65-F5344CB8AC3E}">
        <p14:creationId xmlns:p14="http://schemas.microsoft.com/office/powerpoint/2010/main" val="149596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703345" cy="523220"/>
          </a:xfrm>
          <a:prstGeom prst="rect">
            <a:avLst/>
          </a:prstGeom>
          <a:noFill/>
        </p:spPr>
        <p:txBody>
          <a:bodyPr wrap="none" rtlCol="0">
            <a:spAutoFit/>
          </a:bodyPr>
          <a:lstStyle/>
          <a:p>
            <a:r>
              <a:rPr lang="en-AU" sz="2800" b="1" cap="small" dirty="0">
                <a:solidFill>
                  <a:schemeClr val="bg1"/>
                </a:solidFill>
                <a:latin typeface="+mj-lt"/>
              </a:rPr>
              <a:t>7.6 Two additional chain rules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4577792"/>
              </a:xfrm>
              <a:prstGeom prst="rect">
                <a:avLst/>
              </a:prstGeom>
              <a:noFill/>
            </p:spPr>
            <p:txBody>
              <a:bodyPr wrap="square">
                <a:spAutoFit/>
              </a:bodyPr>
              <a:lstStyle/>
              <a:p>
                <a:r>
                  <a:rPr lang="en-AU" sz="2400" u="sng" dirty="0">
                    <a:latin typeface="+mj-lt"/>
                  </a:rPr>
                  <a:t>Case (b): </a:t>
                </a:r>
                <a14:m>
                  <m:oMath xmlns:m="http://schemas.openxmlformats.org/officeDocument/2006/math">
                    <m:r>
                      <a:rPr lang="en-AU" sz="2400" b="0" i="1" u="sng" smtClean="0">
                        <a:latin typeface="Cambria Math" panose="02040503050406030204" pitchFamily="18" charset="0"/>
                      </a:rPr>
                      <m:t>𝑧</m:t>
                    </m:r>
                    <m:r>
                      <a:rPr lang="en-AU" sz="2400" b="0" i="1" u="sng" smtClean="0">
                        <a:latin typeface="Cambria Math" panose="02040503050406030204" pitchFamily="18" charset="0"/>
                      </a:rPr>
                      <m:t>=</m:t>
                    </m:r>
                    <m:r>
                      <a:rPr lang="en-AU" sz="2400" b="0" i="1" u="sng" smtClean="0">
                        <a:latin typeface="Cambria Math" panose="02040503050406030204" pitchFamily="18" charset="0"/>
                      </a:rPr>
                      <m:t>𝑓</m:t>
                    </m:r>
                    <m:r>
                      <a:rPr lang="en-AU" sz="2400" b="0" i="1" u="sng" smtClean="0">
                        <a:latin typeface="Cambria Math" panose="02040503050406030204" pitchFamily="18" charset="0"/>
                      </a:rPr>
                      <m:t>(</m:t>
                    </m:r>
                    <m:r>
                      <a:rPr lang="en-AU" sz="2400" b="0" i="1" u="sng" smtClean="0">
                        <a:latin typeface="Cambria Math" panose="02040503050406030204" pitchFamily="18" charset="0"/>
                      </a:rPr>
                      <m:t>𝑥</m:t>
                    </m:r>
                    <m:d>
                      <m:dPr>
                        <m:ctrlPr>
                          <a:rPr lang="en-AU" sz="2400" b="0" i="1" u="sng" smtClean="0">
                            <a:latin typeface="Cambria Math" panose="02040503050406030204" pitchFamily="18" charset="0"/>
                          </a:rPr>
                        </m:ctrlPr>
                      </m:dPr>
                      <m:e>
                        <m:r>
                          <a:rPr lang="en-AU" sz="2400" b="0" i="1" u="sng" smtClean="0">
                            <a:latin typeface="Cambria Math" panose="02040503050406030204" pitchFamily="18" charset="0"/>
                          </a:rPr>
                          <m:t>𝑢</m:t>
                        </m:r>
                        <m:r>
                          <a:rPr lang="en-AU" sz="2400" b="0" i="1" u="sng" smtClean="0">
                            <a:latin typeface="Cambria Math" panose="02040503050406030204" pitchFamily="18" charset="0"/>
                          </a:rPr>
                          <m:t>,</m:t>
                        </m:r>
                        <m:r>
                          <a:rPr lang="en-AU" sz="2400" b="0" i="1" u="sng" smtClean="0">
                            <a:latin typeface="Cambria Math" panose="02040503050406030204" pitchFamily="18" charset="0"/>
                          </a:rPr>
                          <m:t>𝑣</m:t>
                        </m:r>
                      </m:e>
                    </m:d>
                    <m:r>
                      <a:rPr lang="en-AU" sz="2400" b="0" i="1" u="sng" smtClean="0">
                        <a:latin typeface="Cambria Math" panose="02040503050406030204" pitchFamily="18" charset="0"/>
                      </a:rPr>
                      <m:t>,</m:t>
                    </m:r>
                    <m:r>
                      <a:rPr lang="en-AU" sz="2400" b="0" i="1" u="sng" smtClean="0">
                        <a:latin typeface="Cambria Math" panose="02040503050406030204" pitchFamily="18" charset="0"/>
                      </a:rPr>
                      <m:t>𝑦</m:t>
                    </m:r>
                    <m:d>
                      <m:dPr>
                        <m:ctrlPr>
                          <a:rPr lang="en-AU" sz="2400" b="0" i="1" u="sng" smtClean="0">
                            <a:latin typeface="Cambria Math" panose="02040503050406030204" pitchFamily="18" charset="0"/>
                          </a:rPr>
                        </m:ctrlPr>
                      </m:dPr>
                      <m:e>
                        <m:r>
                          <a:rPr lang="en-AU" sz="2400" b="0" i="1" u="sng" smtClean="0">
                            <a:latin typeface="Cambria Math" panose="02040503050406030204" pitchFamily="18" charset="0"/>
                          </a:rPr>
                          <m:t>𝑢</m:t>
                        </m:r>
                        <m:r>
                          <a:rPr lang="en-AU" sz="2400" b="0" i="1" u="sng" smtClean="0">
                            <a:latin typeface="Cambria Math" panose="02040503050406030204" pitchFamily="18" charset="0"/>
                          </a:rPr>
                          <m:t>,</m:t>
                        </m:r>
                        <m:r>
                          <a:rPr lang="en-AU" sz="2400" b="0" i="1" u="sng" smtClean="0">
                            <a:latin typeface="Cambria Math" panose="02040503050406030204" pitchFamily="18" charset="0"/>
                          </a:rPr>
                          <m:t>𝑣</m:t>
                        </m:r>
                      </m:e>
                    </m:d>
                    <m:r>
                      <a:rPr lang="en-AU" sz="2400" b="0" i="1" u="sng" smtClean="0">
                        <a:latin typeface="Cambria Math" panose="02040503050406030204" pitchFamily="18" charset="0"/>
                      </a:rPr>
                      <m:t>)</m:t>
                    </m:r>
                  </m:oMath>
                </a14:m>
                <a:endParaRPr lang="en-AU" sz="2400" u="sng" dirty="0">
                  <a:latin typeface="+mj-lt"/>
                </a:endParaRPr>
              </a:p>
              <a:p>
                <a:r>
                  <a:rPr lang="en-AU" sz="2400" dirty="0">
                    <a:latin typeface="+mj-lt"/>
                  </a:rPr>
                  <a:t>Theorem (Change of variables: from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to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𝑢</m:t>
                    </m:r>
                    <m:r>
                      <a:rPr lang="en-AU" sz="2400" b="0" i="1" smtClean="0">
                        <a:latin typeface="Cambria Math" panose="02040503050406030204" pitchFamily="18" charset="0"/>
                      </a:rPr>
                      <m:t>,</m:t>
                    </m:r>
                    <m:r>
                      <a:rPr lang="en-AU" sz="2400" b="0" i="1" smtClean="0">
                        <a:latin typeface="Cambria Math" panose="02040503050406030204" pitchFamily="18" charset="0"/>
                      </a:rPr>
                      <m:t>𝑣</m:t>
                    </m:r>
                    <m:r>
                      <a:rPr lang="en-AU" sz="2400" b="0" i="1" smtClean="0">
                        <a:latin typeface="Cambria Math" panose="02040503050406030204" pitchFamily="18" charset="0"/>
                      </a:rPr>
                      <m:t>)</m:t>
                    </m:r>
                  </m:oMath>
                </a14:m>
                <a:r>
                  <a:rPr lang="en-AU" sz="2400" dirty="0">
                    <a:latin typeface="+mj-lt"/>
                  </a:rPr>
                  <a:t>). Consider a function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smtClean="0">
                        <a:latin typeface="Cambria Math" panose="02040503050406030204" pitchFamily="18" charset="0"/>
                        <a:ea typeface="Cambria Math" panose="02040503050406030204" pitchFamily="18" charset="0"/>
                      </a:rPr>
                      <m:t>ℝ</m:t>
                    </m:r>
                  </m:oMath>
                </a14:m>
                <a:r>
                  <a:rPr lang="en-AU" sz="2400" dirty="0">
                    <a:latin typeface="+mj-lt"/>
                  </a:rPr>
                  <a:t> given by </a:t>
                </a:r>
                <a14:m>
                  <m:oMath xmlns:m="http://schemas.openxmlformats.org/officeDocument/2006/math">
                    <m:r>
                      <a:rPr lang="en-AU" sz="2400" i="1">
                        <a:latin typeface="Cambria Math" panose="02040503050406030204" pitchFamily="18" charset="0"/>
                      </a:rPr>
                      <m:t>𝑧</m:t>
                    </m:r>
                    <m:r>
                      <a:rPr lang="en-AU" sz="2400" i="1">
                        <a:latin typeface="Cambria Math" panose="02040503050406030204" pitchFamily="18" charset="0"/>
                      </a:rPr>
                      <m:t>=</m:t>
                    </m:r>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m:t>
                    </m:r>
                  </m:oMath>
                </a14:m>
                <a:r>
                  <a:rPr lang="en-AU" sz="2400" dirty="0">
                    <a:latin typeface="+mj-lt"/>
                  </a:rPr>
                  <a:t>. Suppose that both </a:t>
                </a:r>
                <a14:m>
                  <m:oMath xmlns:m="http://schemas.openxmlformats.org/officeDocument/2006/math">
                    <m:r>
                      <a:rPr lang="en-AU" sz="2400" b="0" i="1" smtClean="0">
                        <a:latin typeface="Cambria Math" panose="02040503050406030204" pitchFamily="18" charset="0"/>
                      </a:rPr>
                      <m:t>𝑥</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𝑦</m:t>
                    </m:r>
                  </m:oMath>
                </a14:m>
                <a:r>
                  <a:rPr lang="en-AU" sz="2400" dirty="0">
                    <a:latin typeface="+mj-lt"/>
                  </a:rPr>
                  <a:t> are functions of two other variables </a:t>
                </a:r>
                <a14:m>
                  <m:oMath xmlns:m="http://schemas.openxmlformats.org/officeDocument/2006/math">
                    <m:r>
                      <a:rPr lang="en-AU" sz="2400" b="0" i="0" smtClean="0">
                        <a:latin typeface="Cambria Math" panose="02040503050406030204" pitchFamily="18" charset="0"/>
                      </a:rPr>
                      <m:t>(</m:t>
                    </m:r>
                    <m:r>
                      <m:rPr>
                        <m:sty m:val="p"/>
                      </m:rPr>
                      <a:rPr lang="en-AU" sz="2400" b="0" i="0" smtClean="0">
                        <a:latin typeface="Cambria Math" panose="02040503050406030204" pitchFamily="18" charset="0"/>
                      </a:rPr>
                      <m:t>u</m:t>
                    </m:r>
                    <m:r>
                      <a:rPr lang="en-AU" sz="2400" b="0" i="0" smtClean="0">
                        <a:latin typeface="Cambria Math" panose="02040503050406030204" pitchFamily="18" charset="0"/>
                      </a:rPr>
                      <m:t>,</m:t>
                    </m:r>
                    <m:r>
                      <m:rPr>
                        <m:sty m:val="p"/>
                      </m:rPr>
                      <a:rPr lang="en-AU" sz="2400" b="0" i="0" smtClean="0">
                        <a:latin typeface="Cambria Math" panose="02040503050406030204" pitchFamily="18" charset="0"/>
                      </a:rPr>
                      <m:t>v</m:t>
                    </m:r>
                    <m:r>
                      <a:rPr lang="en-AU" sz="2400" b="0" i="0" smtClean="0">
                        <a:latin typeface="Cambria Math" panose="02040503050406030204" pitchFamily="18" charset="0"/>
                      </a:rPr>
                      <m:t>)</m:t>
                    </m:r>
                  </m:oMath>
                </a14:m>
                <a:r>
                  <a:rPr lang="en-AU" sz="2400" dirty="0">
                    <a:latin typeface="+mj-lt"/>
                  </a:rPr>
                  <a:t> and share a common domain </a:t>
                </a:r>
                <a14:m>
                  <m:oMath xmlns:m="http://schemas.openxmlformats.org/officeDocument/2006/math">
                    <m:r>
                      <a:rPr lang="en-AU" sz="2400" b="0" i="1" smtClean="0">
                        <a:latin typeface="Cambria Math" panose="02040503050406030204" pitchFamily="18" charset="0"/>
                      </a:rPr>
                      <m:t>𝑈</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𝑉</m:t>
                    </m:r>
                  </m:oMath>
                </a14:m>
                <a:r>
                  <a:rPr lang="en-AU" sz="2400" dirty="0">
                    <a:latin typeface="+mj-lt"/>
                  </a:rPr>
                  <a:t>, i.e. </a:t>
                </a:r>
                <a14:m>
                  <m:oMath xmlns:m="http://schemas.openxmlformats.org/officeDocument/2006/math">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𝑈</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𝑉</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and </a:t>
                </a:r>
                <a14:m>
                  <m:oMath xmlns:m="http://schemas.openxmlformats.org/officeDocument/2006/math">
                    <m:r>
                      <a:rPr lang="en-AU" sz="2400" i="1">
                        <a:latin typeface="Cambria Math" panose="02040503050406030204" pitchFamily="18" charset="0"/>
                      </a:rPr>
                      <m:t>𝑦</m:t>
                    </m:r>
                    <m:r>
                      <a:rPr lang="en-AU" sz="2400" i="1">
                        <a:latin typeface="Cambria Math" panose="02040503050406030204" pitchFamily="18" charset="0"/>
                      </a:rPr>
                      <m:t>:</m:t>
                    </m:r>
                    <m:r>
                      <a:rPr lang="en-AU" sz="2400" i="1">
                        <a:latin typeface="Cambria Math" panose="02040503050406030204" pitchFamily="18" charset="0"/>
                      </a:rPr>
                      <m:t>𝑈</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𝑉</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We say that </a:t>
                </a:r>
                <a14:m>
                  <m:oMath xmlns:m="http://schemas.openxmlformats.org/officeDocument/2006/math">
                    <m:r>
                      <a:rPr lang="en-AU" sz="2400" b="0" i="1" smtClean="0">
                        <a:latin typeface="Cambria Math" panose="02040503050406030204" pitchFamily="18" charset="0"/>
                      </a:rPr>
                      <m:t>𝑓</m:t>
                    </m:r>
                  </m:oMath>
                </a14:m>
                <a:r>
                  <a:rPr lang="en-AU" sz="2400" dirty="0">
                    <a:latin typeface="+mj-lt"/>
                  </a:rPr>
                  <a:t>depends on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𝑢</m:t>
                    </m:r>
                    <m:r>
                      <a:rPr lang="en-AU" sz="2400" b="0" i="1" smtClean="0">
                        <a:latin typeface="Cambria Math" panose="02040503050406030204" pitchFamily="18" charset="0"/>
                      </a:rPr>
                      <m:t>,</m:t>
                    </m:r>
                    <m:r>
                      <a:rPr lang="en-AU" sz="2400" b="0" i="1" smtClean="0">
                        <a:latin typeface="Cambria Math" panose="02040503050406030204" pitchFamily="18" charset="0"/>
                      </a:rPr>
                      <m:t>𝑣</m:t>
                    </m:r>
                    <m:r>
                      <a:rPr lang="en-AU" sz="2400" b="0" i="1" smtClean="0">
                        <a:latin typeface="Cambria Math" panose="02040503050406030204" pitchFamily="18" charset="0"/>
                      </a:rPr>
                      <m:t>)</m:t>
                    </m:r>
                  </m:oMath>
                </a14:m>
                <a:r>
                  <a:rPr lang="en-AU" sz="2400" dirty="0">
                    <a:latin typeface="+mj-lt"/>
                  </a:rPr>
                  <a:t> “through” </a:t>
                </a:r>
                <a14:m>
                  <m:oMath xmlns:m="http://schemas.openxmlformats.org/officeDocument/2006/math">
                    <m:r>
                      <a:rPr lang="en-AU" sz="2400" i="1">
                        <a:latin typeface="Cambria Math" panose="02040503050406030204" pitchFamily="18" charset="0"/>
                      </a:rPr>
                      <m:t>𝑥</m:t>
                    </m:r>
                  </m:oMath>
                </a14:m>
                <a:r>
                  <a:rPr lang="en-AU" sz="2400" dirty="0"/>
                  <a:t> </a:t>
                </a:r>
                <a:r>
                  <a:rPr lang="en-AU" sz="2400" dirty="0">
                    <a:latin typeface="+mj-lt"/>
                  </a:rPr>
                  <a:t>and</a:t>
                </a:r>
                <a:r>
                  <a:rPr lang="en-AU" sz="2400" dirty="0"/>
                  <a:t> </a:t>
                </a:r>
                <a14:m>
                  <m:oMath xmlns:m="http://schemas.openxmlformats.org/officeDocument/2006/math">
                    <m:r>
                      <a:rPr lang="en-AU" sz="2400">
                        <a:latin typeface="Cambria Math" panose="02040503050406030204" pitchFamily="18" charset="0"/>
                      </a:rPr>
                      <m:t>𝑦</m:t>
                    </m:r>
                  </m:oMath>
                </a14:m>
                <a:r>
                  <a:rPr lang="en-AU" sz="2400" dirty="0">
                    <a:latin typeface="+mj-lt"/>
                  </a:rPr>
                  <a:t>, i.e.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b="0" i="1" smtClean="0">
                        <a:latin typeface="Cambria Math" panose="02040503050406030204" pitchFamily="18" charset="0"/>
                      </a:rPr>
                      <m:t>𝑢</m:t>
                    </m:r>
                    <m:r>
                      <a:rPr lang="en-AU" sz="2400" b="0" i="1" smtClean="0">
                        <a:latin typeface="Cambria Math" panose="02040503050406030204" pitchFamily="18" charset="0"/>
                      </a:rPr>
                      <m:t>,</m:t>
                    </m:r>
                    <m:r>
                      <a:rPr lang="en-AU" sz="2400" b="0" i="1" smtClean="0">
                        <a:latin typeface="Cambria Math" panose="02040503050406030204" pitchFamily="18" charset="0"/>
                      </a:rPr>
                      <m:t>𝑣</m:t>
                    </m:r>
                    <m:r>
                      <a:rPr lang="en-AU" sz="2400" b="0" i="1" smtClean="0">
                        <a:latin typeface="Cambria Math" panose="02040503050406030204" pitchFamily="18" charset="0"/>
                      </a:rPr>
                      <m:t>)</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rPr>
                      <m:t>:</m:t>
                    </m:r>
                    <m:r>
                      <a:rPr lang="en-AU" sz="2400" i="1">
                        <a:latin typeface="Cambria Math" panose="02040503050406030204" pitchFamily="18" charset="0"/>
                      </a:rPr>
                      <m:t>𝑈</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𝑉</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The two partial derivatives of </a:t>
                </a:r>
                <a14:m>
                  <m:oMath xmlns:m="http://schemas.openxmlformats.org/officeDocument/2006/math">
                    <m:r>
                      <a:rPr lang="en-AU" sz="2400" i="1">
                        <a:latin typeface="Cambria Math" panose="02040503050406030204" pitchFamily="18" charset="0"/>
                      </a:rPr>
                      <m:t>𝑧</m:t>
                    </m:r>
                  </m:oMath>
                </a14:m>
                <a:r>
                  <a:rPr lang="en-AU" sz="2400" dirty="0">
                    <a:latin typeface="+mj-lt"/>
                  </a:rPr>
                  <a:t> with respect to </a:t>
                </a:r>
                <a14:m>
                  <m:oMath xmlns:m="http://schemas.openxmlformats.org/officeDocument/2006/math">
                    <m:r>
                      <a:rPr lang="en-AU" sz="2400" b="0" i="1" smtClean="0">
                        <a:latin typeface="Cambria Math" panose="02040503050406030204" pitchFamily="18" charset="0"/>
                      </a:rPr>
                      <m:t>𝑢</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𝑣</m:t>
                    </m:r>
                  </m:oMath>
                </a14:m>
                <a:r>
                  <a:rPr lang="en-AU" sz="2400" dirty="0">
                    <a:latin typeface="+mj-lt"/>
                  </a:rPr>
                  <a:t> are</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𝑢</m:t>
                          </m:r>
                        </m:den>
                      </m:f>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𝑢</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𝑑𝑦</m:t>
                          </m:r>
                        </m:den>
                      </m:f>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𝑢</m:t>
                          </m:r>
                        </m:den>
                      </m:f>
                    </m:oMath>
                  </m:oMathPara>
                </a14:m>
                <a:endParaRPr lang="en-AU" sz="2400" dirty="0">
                  <a:latin typeface="+mj-lt"/>
                </a:endParaRPr>
              </a:p>
              <a:p>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𝑣</m:t>
                          </m:r>
                        </m:den>
                      </m:f>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𝑣</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num>
                        <m:den>
                          <m:r>
                            <a:rPr lang="en-AU" sz="2400" b="0" i="1" smtClean="0">
                              <a:latin typeface="Cambria Math" panose="02040503050406030204" pitchFamily="18" charset="0"/>
                              <a:ea typeface="Cambria Math" panose="02040503050406030204" pitchFamily="18" charset="0"/>
                            </a:rPr>
                            <m:t>𝑑𝑦</m:t>
                          </m:r>
                        </m:den>
                      </m:f>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𝑣</m:t>
                          </m:r>
                        </m:den>
                      </m:f>
                    </m:oMath>
                  </m:oMathPara>
                </a14:m>
                <a:endParaRPr lang="en-AU" sz="2400" dirty="0">
                  <a:latin typeface="+mj-lt"/>
                </a:endParaRPr>
              </a:p>
              <a:p>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4577792"/>
              </a:xfrm>
              <a:prstGeom prst="rect">
                <a:avLst/>
              </a:prstGeom>
              <a:blipFill>
                <a:blip r:embed="rId2"/>
                <a:stretch>
                  <a:fillRect l="-832" t="-1065" r="-260"/>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C7F26EC9-9E3F-4FBB-AC28-D7C9A27396FF}"/>
              </a:ext>
            </a:extLst>
          </p:cNvPr>
          <p:cNvPicPr>
            <a:picLocks noChangeAspect="1"/>
          </p:cNvPicPr>
          <p:nvPr/>
        </p:nvPicPr>
        <p:blipFill>
          <a:blip r:embed="rId3"/>
          <a:stretch>
            <a:fillRect/>
          </a:stretch>
        </p:blipFill>
        <p:spPr>
          <a:xfrm>
            <a:off x="8307365" y="3233774"/>
            <a:ext cx="2533880" cy="1735157"/>
          </a:xfrm>
          <a:prstGeom prst="rect">
            <a:avLst/>
          </a:prstGeom>
        </p:spPr>
      </p:pic>
    </p:spTree>
    <p:extLst>
      <p:ext uri="{BB962C8B-B14F-4D97-AF65-F5344CB8AC3E}">
        <p14:creationId xmlns:p14="http://schemas.microsoft.com/office/powerpoint/2010/main" val="1700381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703345" cy="523220"/>
          </a:xfrm>
          <a:prstGeom prst="rect">
            <a:avLst/>
          </a:prstGeom>
          <a:noFill/>
        </p:spPr>
        <p:txBody>
          <a:bodyPr wrap="none" rtlCol="0">
            <a:spAutoFit/>
          </a:bodyPr>
          <a:lstStyle/>
          <a:p>
            <a:r>
              <a:rPr lang="en-AU" sz="2800" b="1" cap="small" dirty="0">
                <a:solidFill>
                  <a:schemeClr val="bg1"/>
                </a:solidFill>
                <a:latin typeface="+mj-lt"/>
              </a:rPr>
              <a:t>7.6 Two additional chain rules for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1374030"/>
              </a:xfrm>
              <a:prstGeom prst="rect">
                <a:avLst/>
              </a:prstGeom>
              <a:noFill/>
            </p:spPr>
            <p:txBody>
              <a:bodyPr wrap="square">
                <a:spAutoFit/>
              </a:bodyPr>
              <a:lstStyle/>
              <a:p>
                <a:r>
                  <a:rPr lang="en-AU" sz="2400" dirty="0">
                    <a:latin typeface="+mj-lt"/>
                  </a:rPr>
                  <a:t>Example. The temperature </a:t>
                </a:r>
                <a14:m>
                  <m:oMath xmlns:m="http://schemas.openxmlformats.org/officeDocument/2006/math">
                    <m:r>
                      <a:rPr lang="en-AU" sz="2400" b="0" i="1" smtClean="0">
                        <a:latin typeface="Cambria Math" panose="02040503050406030204" pitchFamily="18" charset="0"/>
                      </a:rPr>
                      <m:t>𝑇</m:t>
                    </m:r>
                  </m:oMath>
                </a14:m>
                <a:r>
                  <a:rPr lang="en-AU" sz="2400" dirty="0">
                    <a:latin typeface="+mj-lt"/>
                  </a:rPr>
                  <a:t> of a slab of concrete is a function of the position on the slab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a:t>
                </a:r>
                <a14:m>
                  <m:oMath xmlns:m="http://schemas.openxmlformats.org/officeDocument/2006/math">
                    <m:r>
                      <a:rPr lang="en-AU" sz="2400" b="0" i="1" dirty="0" smtClean="0">
                        <a:latin typeface="Cambria Math" panose="02040503050406030204" pitchFamily="18" charset="0"/>
                      </a:rPr>
                      <m:t>𝑇</m:t>
                    </m:r>
                    <m:d>
                      <m:dPr>
                        <m:ctrlPr>
                          <a:rPr lang="en-AU" sz="2400" b="0" i="1" dirty="0" smtClean="0">
                            <a:latin typeface="Cambria Math" panose="02040503050406030204" pitchFamily="18" charset="0"/>
                          </a:rPr>
                        </m:ctrlPr>
                      </m:dPr>
                      <m:e>
                        <m:r>
                          <a:rPr lang="en-AU" sz="2400" b="0" i="1" dirty="0" smtClean="0">
                            <a:latin typeface="Cambria Math" panose="02040503050406030204" pitchFamily="18" charset="0"/>
                          </a:rPr>
                          <m:t>𝑥</m:t>
                        </m:r>
                        <m:r>
                          <a:rPr lang="en-AU" sz="2400" b="0" i="1" dirty="0" smtClean="0">
                            <a:latin typeface="Cambria Math" panose="02040503050406030204" pitchFamily="18" charset="0"/>
                          </a:rPr>
                          <m:t>,</m:t>
                        </m:r>
                        <m:r>
                          <a:rPr lang="en-AU" sz="2400" b="0" i="1" dirty="0" smtClean="0">
                            <a:latin typeface="Cambria Math" panose="02040503050406030204" pitchFamily="18" charset="0"/>
                          </a:rPr>
                          <m:t>𝑦</m:t>
                        </m:r>
                      </m:e>
                    </m:d>
                    <m:r>
                      <a:rPr lang="en-AU" sz="2400" b="0" i="1" dirty="0" smtClean="0">
                        <a:latin typeface="Cambria Math" panose="02040503050406030204" pitchFamily="18" charset="0"/>
                      </a:rPr>
                      <m:t>=</m:t>
                    </m:r>
                    <m:r>
                      <a:rPr lang="en-AU" sz="2400" b="0" i="1" dirty="0" smtClean="0">
                        <a:latin typeface="Cambria Math" panose="02040503050406030204" pitchFamily="18" charset="0"/>
                      </a:rPr>
                      <m:t>𝑥</m:t>
                    </m:r>
                    <m:r>
                      <a:rPr lang="en-AU" sz="2400" b="0" i="1" dirty="0" smtClean="0">
                        <a:latin typeface="Cambria Math" panose="02040503050406030204" pitchFamily="18" charset="0"/>
                      </a:rPr>
                      <m:t>+</m:t>
                    </m:r>
                    <m:sSup>
                      <m:sSupPr>
                        <m:ctrlPr>
                          <a:rPr lang="en-AU" sz="2400" b="0" i="1" dirty="0" smtClean="0">
                            <a:latin typeface="Cambria Math" panose="02040503050406030204" pitchFamily="18" charset="0"/>
                          </a:rPr>
                        </m:ctrlPr>
                      </m:sSupPr>
                      <m:e>
                        <m:r>
                          <a:rPr lang="en-AU" sz="2400" b="0" i="1" dirty="0" smtClean="0">
                            <a:latin typeface="Cambria Math" panose="02040503050406030204" pitchFamily="18" charset="0"/>
                          </a:rPr>
                          <m:t>𝑦</m:t>
                        </m:r>
                      </m:e>
                      <m:sup>
                        <m:r>
                          <a:rPr lang="en-AU" sz="2400" b="0" i="1" dirty="0" smtClean="0">
                            <a:latin typeface="Cambria Math" panose="02040503050406030204" pitchFamily="18" charset="0"/>
                          </a:rPr>
                          <m:t>2</m:t>
                        </m:r>
                      </m:sup>
                    </m:sSup>
                  </m:oMath>
                </a14:m>
                <a:r>
                  <a:rPr lang="en-AU" sz="2400" dirty="0">
                    <a:latin typeface="+mj-lt"/>
                  </a:rPr>
                  <a:t>. Find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𝑇</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𝑟</m:t>
                        </m:r>
                      </m:den>
                    </m:f>
                  </m:oMath>
                </a14:m>
                <a:r>
                  <a:rPr lang="en-AU" sz="2400" dirty="0">
                    <a:latin typeface="+mj-lt"/>
                  </a:rPr>
                  <a:t> and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𝑇</m:t>
                        </m:r>
                      </m:num>
                      <m:den>
                        <m:r>
                          <a:rPr lang="en-AU" sz="2400" b="0" i="1" smtClean="0">
                            <a:latin typeface="Cambria Math" panose="02040503050406030204" pitchFamily="18" charset="0"/>
                            <a:ea typeface="Cambria Math" panose="02040503050406030204" pitchFamily="18" charset="0"/>
                          </a:rPr>
                          <m:t>𝜕𝜃</m:t>
                        </m:r>
                      </m:den>
                    </m:f>
                  </m:oMath>
                </a14:m>
                <a:r>
                  <a:rPr lang="en-AU" sz="2400" dirty="0">
                    <a:latin typeface="+mj-lt"/>
                  </a:rPr>
                  <a:t>, where </a:t>
                </a:r>
                <a14:m>
                  <m:oMath xmlns:m="http://schemas.openxmlformats.org/officeDocument/2006/math">
                    <m:r>
                      <a:rPr lang="en-AU" sz="2400" b="0" i="1" smtClean="0">
                        <a:latin typeface="Cambria Math" panose="02040503050406030204" pitchFamily="18" charset="0"/>
                      </a:rPr>
                      <m:t>𝑟</m:t>
                    </m:r>
                  </m:oMath>
                </a14:m>
                <a:r>
                  <a:rPr lang="en-AU" sz="2400" dirty="0">
                    <a:latin typeface="+mj-lt"/>
                  </a:rPr>
                  <a:t> and </a:t>
                </a:r>
                <a14:m>
                  <m:oMath xmlns:m="http://schemas.openxmlformats.org/officeDocument/2006/math">
                    <m:r>
                      <a:rPr lang="en-AU" sz="2400" i="1" smtClean="0">
                        <a:latin typeface="Cambria Math" panose="02040503050406030204" pitchFamily="18" charset="0"/>
                        <a:ea typeface="Cambria Math" panose="02040503050406030204" pitchFamily="18" charset="0"/>
                      </a:rPr>
                      <m:t>𝜃</m:t>
                    </m:r>
                  </m:oMath>
                </a14:m>
                <a:r>
                  <a:rPr lang="en-AU" sz="2400" dirty="0">
                    <a:latin typeface="+mj-lt"/>
                  </a:rPr>
                  <a:t> are polar coordinates defined as</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𝑟</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𝜃</m:t>
                          </m:r>
                        </m:e>
                      </m:func>
                      <m:r>
                        <a:rPr lang="en-AU" sz="2400" b="0" i="1" smtClean="0">
                          <a:latin typeface="Cambria Math" panose="02040503050406030204" pitchFamily="18" charset="0"/>
                        </a:rPr>
                        <m:t>,     </m:t>
                      </m:r>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𝑟</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𝜃</m:t>
                          </m:r>
                        </m:e>
                      </m:func>
                    </m:oMath>
                  </m:oMathPara>
                </a14:m>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1374030"/>
              </a:xfrm>
              <a:prstGeom prst="rect">
                <a:avLst/>
              </a:prstGeom>
              <a:blipFill>
                <a:blip r:embed="rId2"/>
                <a:stretch>
                  <a:fillRect l="-832" t="-3556" b="-2667"/>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0CB103F0-89AF-4F32-BB5E-8CFC0C4B6169}"/>
              </a:ext>
            </a:extLst>
          </p:cNvPr>
          <p:cNvPicPr>
            <a:picLocks noChangeAspect="1"/>
          </p:cNvPicPr>
          <p:nvPr/>
        </p:nvPicPr>
        <p:blipFill>
          <a:blip r:embed="rId3"/>
          <a:stretch>
            <a:fillRect/>
          </a:stretch>
        </p:blipFill>
        <p:spPr>
          <a:xfrm>
            <a:off x="9249200" y="1902246"/>
            <a:ext cx="2335576" cy="1834308"/>
          </a:xfrm>
          <a:prstGeom prst="rect">
            <a:avLst/>
          </a:prstGeom>
        </p:spPr>
      </p:pic>
      <p:sp>
        <p:nvSpPr>
          <p:cNvPr id="4" name="Rectangle 3">
            <a:extLst>
              <a:ext uri="{FF2B5EF4-FFF2-40B4-BE49-F238E27FC236}">
                <a16:creationId xmlns:a16="http://schemas.microsoft.com/office/drawing/2014/main" id="{5944B659-408A-4787-84F3-1B7743530E8B}"/>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34059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647041" cy="523220"/>
          </a:xfrm>
          <a:prstGeom prst="rect">
            <a:avLst/>
          </a:prstGeom>
          <a:noFill/>
        </p:spPr>
        <p:txBody>
          <a:bodyPr wrap="none" rtlCol="0">
            <a:spAutoFit/>
          </a:bodyPr>
          <a:lstStyle/>
          <a:p>
            <a:r>
              <a:rPr lang="en-AU" sz="2800" b="1" cap="small" dirty="0">
                <a:solidFill>
                  <a:schemeClr val="bg1"/>
                </a:solidFill>
                <a:latin typeface="+mj-lt"/>
              </a:rPr>
              <a:t>7.7 Stationary point of a surface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2335063"/>
              </a:xfrm>
              <a:prstGeom prst="rect">
                <a:avLst/>
              </a:prstGeom>
              <a:noFill/>
            </p:spPr>
            <p:txBody>
              <a:bodyPr wrap="square">
                <a:spAutoFit/>
              </a:bodyPr>
              <a:lstStyle/>
              <a:p>
                <a:r>
                  <a:rPr lang="en-AU" sz="2400" dirty="0">
                    <a:latin typeface="+mj-lt"/>
                  </a:rPr>
                  <a:t>Definition (Stationary point). Given a function </a:t>
                </a:r>
                <a14:m>
                  <m:oMath xmlns:m="http://schemas.openxmlformats.org/officeDocument/2006/math">
                    <m:r>
                      <a:rPr lang="en-AU" sz="2400" i="1">
                        <a:latin typeface="Cambria Math" panose="02040503050406030204" pitchFamily="18" charset="0"/>
                      </a:rPr>
                      <m:t>𝑧</m:t>
                    </m:r>
                    <m:r>
                      <a:rPr lang="en-AU" sz="2400" i="1">
                        <a:latin typeface="Cambria Math" panose="02040503050406030204" pitchFamily="18" charset="0"/>
                      </a:rPr>
                      <m:t>=</m:t>
                    </m:r>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 </m:t>
                    </m:r>
                  </m:oMath>
                </a14:m>
                <a:r>
                  <a:rPr lang="en-AU" sz="2400" dirty="0">
                    <a:latin typeface="+mj-lt"/>
                  </a:rPr>
                  <a:t>with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differentiable in </a:t>
                </a:r>
                <a14:m>
                  <m:oMath xmlns:m="http://schemas.openxmlformats.org/officeDocument/2006/math">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 a point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 is said to be a stationary point if:</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=0      </m:t>
                      </m:r>
                      <m:r>
                        <a:rPr lang="en-AU" sz="2400" b="1" i="0" smtClean="0">
                          <a:latin typeface="Cambria Math" panose="02040503050406030204" pitchFamily="18" charset="0"/>
                          <a:ea typeface="Cambria Math" panose="02040503050406030204" pitchFamily="18" charset="0"/>
                        </a:rPr>
                        <m:t>𝐚𝐧𝐝</m:t>
                      </m:r>
                      <m:r>
                        <a:rPr lang="en-AU" sz="2400" b="0" i="1" smtClean="0">
                          <a:latin typeface="Cambria Math" panose="02040503050406030204" pitchFamily="18" charset="0"/>
                          <a:ea typeface="Cambria Math" panose="02040503050406030204" pitchFamily="18" charset="0"/>
                        </a:rPr>
                        <m:t>     </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=0</m:t>
                      </m:r>
                    </m:oMath>
                  </m:oMathPara>
                </a14:m>
                <a:endParaRPr lang="en-AU" sz="2400" dirty="0">
                  <a:latin typeface="+mj-lt"/>
                </a:endParaRPr>
              </a:p>
              <a:p>
                <a:r>
                  <a:rPr lang="en-AU" sz="2400" dirty="0">
                    <a:latin typeface="+mj-lt"/>
                  </a:rPr>
                  <a:t>There are three principal types of stationary points that are particularly important: maxima, minima and saddle points.</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2335063"/>
              </a:xfrm>
              <a:prstGeom prst="rect">
                <a:avLst/>
              </a:prstGeom>
              <a:blipFill>
                <a:blip r:embed="rId2"/>
                <a:stretch>
                  <a:fillRect l="-832" t="-2089" r="-988" b="-4961"/>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CB723D66-5CED-40CE-A7FC-C17222D2DB92}"/>
              </a:ext>
            </a:extLst>
          </p:cNvPr>
          <p:cNvPicPr>
            <a:picLocks noChangeAspect="1"/>
          </p:cNvPicPr>
          <p:nvPr/>
        </p:nvPicPr>
        <p:blipFill>
          <a:blip r:embed="rId3"/>
          <a:stretch>
            <a:fillRect/>
          </a:stretch>
        </p:blipFill>
        <p:spPr>
          <a:xfrm>
            <a:off x="2075500" y="3357282"/>
            <a:ext cx="8040999" cy="2581726"/>
          </a:xfrm>
          <a:prstGeom prst="rect">
            <a:avLst/>
          </a:prstGeom>
        </p:spPr>
      </p:pic>
    </p:spTree>
    <p:extLst>
      <p:ext uri="{BB962C8B-B14F-4D97-AF65-F5344CB8AC3E}">
        <p14:creationId xmlns:p14="http://schemas.microsoft.com/office/powerpoint/2010/main" val="268597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647041" cy="523220"/>
          </a:xfrm>
          <a:prstGeom prst="rect">
            <a:avLst/>
          </a:prstGeom>
          <a:noFill/>
        </p:spPr>
        <p:txBody>
          <a:bodyPr wrap="none" rtlCol="0">
            <a:spAutoFit/>
          </a:bodyPr>
          <a:lstStyle/>
          <a:p>
            <a:r>
              <a:rPr lang="en-AU" sz="2800" b="1" cap="small" dirty="0">
                <a:solidFill>
                  <a:schemeClr val="bg1"/>
                </a:solidFill>
                <a:latin typeface="+mj-lt"/>
              </a:rPr>
              <a:t>7.7 Stationary point of a surface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963815"/>
                <a:ext cx="11733640" cy="4524315"/>
              </a:xfrm>
              <a:prstGeom prst="rect">
                <a:avLst/>
              </a:prstGeom>
              <a:noFill/>
            </p:spPr>
            <p:txBody>
              <a:bodyPr wrap="square">
                <a:spAutoFit/>
              </a:bodyPr>
              <a:lstStyle/>
              <a:p>
                <a:r>
                  <a:rPr lang="en-AU" sz="2400" dirty="0">
                    <a:latin typeface="+mj-lt"/>
                  </a:rPr>
                  <a:t>Definition (Relative maximum, relative minimum and saddle point). Consider a function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and a point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a:t>
                </a:r>
              </a:p>
              <a:p>
                <a:pPr marL="342900" indent="-342900">
                  <a:buFont typeface="Arial" panose="020B0604020202020204" pitchFamily="34" charset="0"/>
                  <a:buChar char="•"/>
                </a:pPr>
                <a:r>
                  <a:rPr lang="en-AU" sz="2400" dirty="0">
                    <a:latin typeface="+mj-lt"/>
                  </a:rPr>
                  <a:t>Point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oMath>
                </a14:m>
                <a:r>
                  <a:rPr lang="en-AU" sz="2400" dirty="0">
                    <a:latin typeface="+mj-lt"/>
                  </a:rPr>
                  <a:t> is said to be a relative maximum if, for every point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in every open disk centred on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we have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oMath>
                  </m:oMathPara>
                </a14:m>
                <a:endParaRPr lang="en-AU" sz="2400" dirty="0">
                  <a:latin typeface="+mj-lt"/>
                </a:endParaRPr>
              </a:p>
              <a:p>
                <a:pPr marL="342900" indent="-342900">
                  <a:buFont typeface="Arial" panose="020B0604020202020204" pitchFamily="34" charset="0"/>
                  <a:buChar char="•"/>
                </a:pPr>
                <a:r>
                  <a:rPr lang="en-AU" sz="2400" dirty="0">
                    <a:latin typeface="+mj-lt"/>
                  </a:rPr>
                  <a:t>Point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oMath>
                </a14:m>
                <a:r>
                  <a:rPr lang="en-AU" sz="2400" dirty="0">
                    <a:latin typeface="+mj-lt"/>
                  </a:rPr>
                  <a:t> is said to be a relative minimum if, for every point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oMath>
                </a14:m>
                <a:r>
                  <a:rPr lang="en-AU" sz="2400" dirty="0">
                    <a:latin typeface="+mj-lt"/>
                  </a:rPr>
                  <a:t> in every open disk centred on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we have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oMath>
                  </m:oMathPara>
                </a14:m>
                <a:endParaRPr lang="en-AU" sz="2400" dirty="0">
                  <a:latin typeface="+mj-lt"/>
                </a:endParaRPr>
              </a:p>
              <a:p>
                <a:pPr marL="342900" indent="-342900">
                  <a:buFont typeface="Arial" panose="020B0604020202020204" pitchFamily="34" charset="0"/>
                  <a:buChar char="•"/>
                </a:pPr>
                <a:r>
                  <a:rPr lang="en-AU" sz="2400" dirty="0">
                    <a:latin typeface="+mj-lt"/>
                  </a:rPr>
                  <a:t>Point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oMath>
                </a14:m>
                <a:r>
                  <a:rPr lang="en-AU" sz="2400" dirty="0">
                    <a:latin typeface="+mj-lt"/>
                  </a:rPr>
                  <a:t> is said to be a saddle point if</a:t>
                </a:r>
              </a:p>
              <a:p>
                <a:pPr marL="447675"/>
                <a:r>
                  <a:rPr lang="en-AU" sz="2400" dirty="0">
                    <a:latin typeface="+mj-lt"/>
                  </a:rPr>
                  <a:t>1. It is stationary</a:t>
                </a:r>
              </a:p>
              <a:p>
                <a:pPr marL="717550" indent="-269875"/>
                <a:r>
                  <a:rPr lang="en-AU" sz="2400" dirty="0">
                    <a:latin typeface="+mj-lt"/>
                  </a:rPr>
                  <a:t>2. For every open disc centred on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there are some points in the disc such that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m:t>
                    </m:r>
                    <m:r>
                      <a:rPr lang="en-AU" sz="2400" i="1">
                        <a:latin typeface="Cambria Math" panose="02040503050406030204" pitchFamily="18" charset="0"/>
                        <a:ea typeface="Cambria Math" panose="02040503050406030204" pitchFamily="18" charset="0"/>
                      </a:rPr>
                      <m:t>𝑓</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r>
                      <a:rPr lang="en-AU" sz="2400" i="1">
                        <a:latin typeface="Cambria Math" panose="02040503050406030204" pitchFamily="18" charset="0"/>
                        <a:ea typeface="Cambria Math" panose="02040503050406030204" pitchFamily="18" charset="0"/>
                      </a:rPr>
                      <m:t>)</m:t>
                    </m:r>
                  </m:oMath>
                </a14:m>
                <a:r>
                  <a:rPr lang="en-AU" sz="2400" dirty="0">
                    <a:latin typeface="+mj-lt"/>
                  </a:rPr>
                  <a:t> and other points in the disc such that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r>
                      <a:rPr lang="en-AU" sz="2400" i="1">
                        <a:latin typeface="Cambria Math" panose="02040503050406030204" pitchFamily="18" charset="0"/>
                      </a:rPr>
                      <m:t>)≥</m:t>
                    </m:r>
                    <m:r>
                      <a:rPr lang="en-AU" sz="2400" i="1">
                        <a:latin typeface="Cambria Math" panose="02040503050406030204" pitchFamily="18" charset="0"/>
                        <a:ea typeface="Cambria Math" panose="02040503050406030204" pitchFamily="18" charset="0"/>
                      </a:rPr>
                      <m:t>𝑓</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𝑎</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r>
                      <a:rPr lang="en-AU" sz="2400" i="1">
                        <a:latin typeface="Cambria Math" panose="02040503050406030204" pitchFamily="18" charset="0"/>
                        <a:ea typeface="Cambria Math" panose="02040503050406030204" pitchFamily="18" charset="0"/>
                      </a:rPr>
                      <m:t>)</m:t>
                    </m:r>
                  </m:oMath>
                </a14:m>
                <a:r>
                  <a:rPr lang="en-AU" sz="2400" dirty="0">
                    <a:latin typeface="+mj-lt"/>
                  </a:rPr>
                  <a:t>.</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963815"/>
                <a:ext cx="11733640" cy="4524315"/>
              </a:xfrm>
              <a:prstGeom prst="rect">
                <a:avLst/>
              </a:prstGeom>
              <a:blipFill>
                <a:blip r:embed="rId2"/>
                <a:stretch>
                  <a:fillRect l="-832" t="-1078" b="-2156"/>
                </a:stretch>
              </a:blipFill>
            </p:spPr>
            <p:txBody>
              <a:bodyPr/>
              <a:lstStyle/>
              <a:p>
                <a:r>
                  <a:rPr lang="en-GB">
                    <a:noFill/>
                  </a:rPr>
                  <a:t> </a:t>
                </a:r>
              </a:p>
            </p:txBody>
          </p:sp>
        </mc:Fallback>
      </mc:AlternateContent>
    </p:spTree>
    <p:extLst>
      <p:ext uri="{BB962C8B-B14F-4D97-AF65-F5344CB8AC3E}">
        <p14:creationId xmlns:p14="http://schemas.microsoft.com/office/powerpoint/2010/main" val="216512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647041" cy="523220"/>
          </a:xfrm>
          <a:prstGeom prst="rect">
            <a:avLst/>
          </a:prstGeom>
          <a:noFill/>
        </p:spPr>
        <p:txBody>
          <a:bodyPr wrap="none" rtlCol="0">
            <a:spAutoFit/>
          </a:bodyPr>
          <a:lstStyle/>
          <a:p>
            <a:r>
              <a:rPr lang="en-AU" sz="2800" b="1" cap="small" dirty="0">
                <a:solidFill>
                  <a:schemeClr val="bg1"/>
                </a:solidFill>
                <a:latin typeface="+mj-lt"/>
              </a:rPr>
              <a:t>7.7 Stationary point of a surface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963815"/>
                <a:ext cx="11733640" cy="4447821"/>
              </a:xfrm>
              <a:prstGeom prst="rect">
                <a:avLst/>
              </a:prstGeom>
              <a:noFill/>
            </p:spPr>
            <p:txBody>
              <a:bodyPr wrap="square">
                <a:spAutoFit/>
              </a:bodyPr>
              <a:lstStyle/>
              <a:p>
                <a:r>
                  <a:rPr lang="en-AU" sz="2400" dirty="0">
                    <a:latin typeface="+mj-lt"/>
                  </a:rPr>
                  <a:t>Theorem (Conditions for maxima and minima). Consider a function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and a point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 If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is a relative maximum or relative minimum, one of the following two conditions must occur:</a:t>
                </a:r>
              </a:p>
              <a:p>
                <a:r>
                  <a:rPr lang="en-AU" sz="2400" dirty="0">
                    <a:latin typeface="+mj-lt"/>
                  </a:rPr>
                  <a:t>1.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oMath>
                </a14:m>
                <a:r>
                  <a:rPr lang="en-AU" sz="2400" dirty="0">
                    <a:latin typeface="+mj-lt"/>
                  </a:rPr>
                  <a:t> is stationary, i.e.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den>
                    </m:f>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=0     </m:t>
                    </m:r>
                    <m:r>
                      <a:rPr lang="en-AU" sz="2400" b="1" i="0" smtClean="0">
                        <a:latin typeface="Cambria Math" panose="02040503050406030204" pitchFamily="18" charset="0"/>
                        <a:ea typeface="Cambria Math" panose="02040503050406030204" pitchFamily="18" charset="0"/>
                      </a:rPr>
                      <m:t>𝐚𝐧𝐝</m:t>
                    </m:r>
                    <m:r>
                      <a:rPr lang="en-AU" sz="2400" b="0" i="1" smtClean="0">
                        <a:latin typeface="Cambria Math" panose="02040503050406030204" pitchFamily="18" charset="0"/>
                        <a:ea typeface="Cambria Math" panose="02040503050406030204" pitchFamily="18" charset="0"/>
                      </a:rPr>
                      <m:t>     </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=0</m:t>
                    </m:r>
                  </m:oMath>
                </a14:m>
                <a:endParaRPr lang="en-AU" sz="2400" dirty="0">
                  <a:latin typeface="+mj-lt"/>
                </a:endParaRPr>
              </a:p>
              <a:p>
                <a:r>
                  <a:rPr lang="en-AU" sz="2400" dirty="0">
                    <a:latin typeface="+mj-lt"/>
                  </a:rPr>
                  <a:t>or</a:t>
                </a:r>
              </a:p>
              <a:p>
                <a:r>
                  <a:rPr lang="en-AU" sz="2400" dirty="0">
                    <a:latin typeface="+mj-lt"/>
                  </a:rPr>
                  <a:t>2. One or both of the partial derivatives do not exist at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oMath>
                </a14:m>
                <a:r>
                  <a:rPr lang="en-AU" sz="2400" dirty="0">
                    <a:latin typeface="+mj-lt"/>
                  </a:rPr>
                  <a:t>.</a:t>
                </a:r>
              </a:p>
              <a:p>
                <a:endParaRPr lang="en-AU" sz="2400" dirty="0">
                  <a:latin typeface="+mj-lt"/>
                </a:endParaRPr>
              </a:p>
              <a:p>
                <a:r>
                  <a:rPr lang="en-AU" sz="2400" dirty="0">
                    <a:latin typeface="+mj-lt"/>
                  </a:rPr>
                  <a:t>Note. There are points that are maxima or minima but not stationary. Sometimes these points are called critical and at least one of the two first derivatives (possibly both) does not exist.</a:t>
                </a:r>
              </a:p>
              <a:p>
                <a:r>
                  <a:rPr lang="en-AU" sz="2400" dirty="0">
                    <a:latin typeface="+mj-lt"/>
                  </a:rPr>
                  <a:t>Typical example is a cone like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e>
                    </m:rad>
                  </m:oMath>
                </a14:m>
                <a:r>
                  <a:rPr lang="en-AU" sz="2400" dirty="0">
                    <a:latin typeface="+mj-lt"/>
                  </a:rPr>
                  <a:t> which clearly has a minimum at the origin, but neither of its partial derivatives exist at the origin.</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963815"/>
                <a:ext cx="11733640" cy="4447821"/>
              </a:xfrm>
              <a:prstGeom prst="rect">
                <a:avLst/>
              </a:prstGeom>
              <a:blipFill>
                <a:blip r:embed="rId2"/>
                <a:stretch>
                  <a:fillRect l="-832" t="-1096" r="-520" b="-2055"/>
                </a:stretch>
              </a:blipFill>
            </p:spPr>
            <p:txBody>
              <a:bodyPr/>
              <a:lstStyle/>
              <a:p>
                <a:r>
                  <a:rPr lang="en-GB">
                    <a:noFill/>
                  </a:rPr>
                  <a:t> </a:t>
                </a:r>
              </a:p>
            </p:txBody>
          </p:sp>
        </mc:Fallback>
      </mc:AlternateContent>
    </p:spTree>
    <p:extLst>
      <p:ext uri="{BB962C8B-B14F-4D97-AF65-F5344CB8AC3E}">
        <p14:creationId xmlns:p14="http://schemas.microsoft.com/office/powerpoint/2010/main" val="3255577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647041" cy="523220"/>
          </a:xfrm>
          <a:prstGeom prst="rect">
            <a:avLst/>
          </a:prstGeom>
          <a:noFill/>
        </p:spPr>
        <p:txBody>
          <a:bodyPr wrap="none" rtlCol="0">
            <a:spAutoFit/>
          </a:bodyPr>
          <a:lstStyle/>
          <a:p>
            <a:r>
              <a:rPr lang="en-AU" sz="2800" b="1" cap="small" dirty="0">
                <a:solidFill>
                  <a:schemeClr val="bg1"/>
                </a:solidFill>
                <a:latin typeface="+mj-lt"/>
              </a:rPr>
              <a:t>7.7 Stationary point of a surface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963815"/>
                <a:ext cx="11733640" cy="5478744"/>
              </a:xfrm>
              <a:prstGeom prst="rect">
                <a:avLst/>
              </a:prstGeom>
              <a:noFill/>
            </p:spPr>
            <p:txBody>
              <a:bodyPr wrap="square">
                <a:spAutoFit/>
              </a:bodyPr>
              <a:lstStyle/>
              <a:p>
                <a:r>
                  <a:rPr lang="en-AU" sz="2400" dirty="0">
                    <a:latin typeface="+mj-lt"/>
                  </a:rPr>
                  <a:t>Theorem (The second derivative test). Consider a function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and a point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rPr>
                  <a:t>. If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is stationary and the second derivatives of </a:t>
                </a:r>
                <a14:m>
                  <m:oMath xmlns:m="http://schemas.openxmlformats.org/officeDocument/2006/math">
                    <m:r>
                      <a:rPr lang="en-AU" sz="2400" i="1">
                        <a:latin typeface="Cambria Math" panose="02040503050406030204" pitchFamily="18" charset="0"/>
                      </a:rPr>
                      <m:t>𝑓</m:t>
                    </m:r>
                  </m:oMath>
                </a14:m>
                <a:r>
                  <a:rPr lang="en-AU" sz="2400" dirty="0">
                    <a:latin typeface="+mj-lt"/>
                  </a:rPr>
                  <a:t> are continuous in an open disc centred at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evaluate at </a:t>
                </a:r>
                <a14:m>
                  <m:oMath xmlns:m="http://schemas.openxmlformats.org/officeDocument/2006/math">
                    <m:d>
                      <m:dPr>
                        <m:ctrlPr>
                          <a:rPr lang="en-AU" sz="2400" i="1">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the following quantity</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𝐻</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den>
                      </m:f>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𝑦</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d>
                            <m:dPr>
                              <m:ctrlPr>
                                <a:rPr lang="en-AU" sz="2400" b="0" i="1" smtClean="0">
                                  <a:latin typeface="Cambria Math" panose="02040503050406030204" pitchFamily="18" charset="0"/>
                                  <a:ea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𝑓</m:t>
                                  </m:r>
                                </m:num>
                                <m:den>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den>
                              </m:f>
                            </m:e>
                          </m:d>
                        </m:e>
                        <m:sup>
                          <m:r>
                            <a:rPr lang="en-AU" sz="2400" b="0" i="1" smtClean="0">
                              <a:latin typeface="Cambria Math" panose="02040503050406030204" pitchFamily="18" charset="0"/>
                              <a:ea typeface="Cambria Math" panose="02040503050406030204" pitchFamily="18" charset="0"/>
                            </a:rPr>
                            <m:t>2</m:t>
                          </m:r>
                        </m:sup>
                      </m:sSup>
                    </m:oMath>
                  </m:oMathPara>
                </a14:m>
                <a:endParaRPr lang="en-AU" sz="2400" dirty="0">
                  <a:latin typeface="+mj-lt"/>
                </a:endParaRPr>
              </a:p>
              <a:p>
                <a:r>
                  <a:rPr lang="en-AU" sz="2400" dirty="0">
                    <a:latin typeface="+mj-lt"/>
                  </a:rPr>
                  <a:t>Then </a:t>
                </a:r>
                <a14:m>
                  <m:oMath xmlns:m="http://schemas.openxmlformats.org/officeDocument/2006/math">
                    <m:d>
                      <m:dPr>
                        <m:ctrlPr>
                          <a:rPr lang="en-AU" sz="2400" i="1" smtClean="0">
                            <a:latin typeface="Cambria Math" panose="02040503050406030204" pitchFamily="18" charset="0"/>
                          </a:rPr>
                        </m:ctrlPr>
                      </m:dPr>
                      <m:e>
                        <m:r>
                          <a:rPr lang="en-AU" sz="2400" i="1">
                            <a:latin typeface="Cambria Math" panose="02040503050406030204" pitchFamily="18" charset="0"/>
                          </a:rPr>
                          <m:t>𝑎</m:t>
                        </m:r>
                        <m:r>
                          <a:rPr lang="en-AU" sz="2400" i="1">
                            <a:latin typeface="Cambria Math" panose="02040503050406030204" pitchFamily="18" charset="0"/>
                          </a:rPr>
                          <m:t>,</m:t>
                        </m:r>
                        <m:r>
                          <a:rPr lang="en-AU" sz="2400" i="1">
                            <a:latin typeface="Cambria Math" panose="02040503050406030204" pitchFamily="18" charset="0"/>
                          </a:rPr>
                          <m:t>𝑏</m:t>
                        </m:r>
                      </m:e>
                    </m:d>
                  </m:oMath>
                </a14:m>
                <a:r>
                  <a:rPr lang="en-AU" sz="2400" dirty="0">
                    <a:latin typeface="+mj-lt"/>
                  </a:rPr>
                  <a:t> is</a:t>
                </a:r>
              </a:p>
              <a:p>
                <a:r>
                  <a:rPr lang="en-AU" sz="2400" dirty="0">
                    <a:latin typeface="+mj-lt"/>
                  </a:rPr>
                  <a:t>(a) a relative maximum if </a:t>
                </a:r>
                <a14:m>
                  <m:oMath xmlns:m="http://schemas.openxmlformats.org/officeDocument/2006/math">
                    <m:r>
                      <a:rPr lang="en-AU" sz="2400" b="0" i="1" smtClean="0">
                        <a:latin typeface="Cambria Math" panose="02040503050406030204" pitchFamily="18" charset="0"/>
                      </a:rPr>
                      <m:t>𝐻</m:t>
                    </m:r>
                    <m:r>
                      <a:rPr lang="en-AU" sz="2400" b="0" i="1" smtClean="0">
                        <a:latin typeface="Cambria Math" panose="02040503050406030204" pitchFamily="18" charset="0"/>
                      </a:rPr>
                      <m:t>&gt;0</m:t>
                    </m:r>
                  </m:oMath>
                </a14:m>
                <a:r>
                  <a:rPr lang="en-AU" sz="2400" dirty="0">
                    <a:latin typeface="+mj-lt"/>
                  </a:rPr>
                  <a:t> and </a:t>
                </a:r>
                <a14:m>
                  <m:oMath xmlns:m="http://schemas.openxmlformats.org/officeDocument/2006/math">
                    <m:f>
                      <m:fPr>
                        <m:ctrlPr>
                          <a:rPr lang="en-AU" sz="2400" i="1">
                            <a:latin typeface="Cambria Math" panose="02040503050406030204" pitchFamily="18" charset="0"/>
                          </a:rPr>
                        </m:ctrlPr>
                      </m:fPr>
                      <m:num>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m:t>
                            </m:r>
                          </m:e>
                          <m:sup>
                            <m:r>
                              <a:rPr lang="en-AU" sz="2400" i="1">
                                <a:latin typeface="Cambria Math" panose="02040503050406030204" pitchFamily="18" charset="0"/>
                                <a:ea typeface="Cambria Math" panose="02040503050406030204" pitchFamily="18" charset="0"/>
                              </a:rPr>
                              <m:t>2</m:t>
                            </m:r>
                          </m:sup>
                        </m:sSup>
                        <m:r>
                          <a:rPr lang="en-AU" sz="2400" i="1">
                            <a:latin typeface="Cambria Math" panose="02040503050406030204" pitchFamily="18" charset="0"/>
                            <a:ea typeface="Cambria Math" panose="02040503050406030204" pitchFamily="18" charset="0"/>
                          </a:rPr>
                          <m:t>𝑓</m:t>
                        </m:r>
                      </m:num>
                      <m:den>
                        <m:r>
                          <a:rPr lang="en-AU" sz="2400" i="1">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𝑥</m:t>
                            </m:r>
                          </m:e>
                          <m:sup>
                            <m:r>
                              <a:rPr lang="en-AU" sz="2400" i="1">
                                <a:latin typeface="Cambria Math" panose="02040503050406030204" pitchFamily="18" charset="0"/>
                                <a:ea typeface="Cambria Math" panose="02040503050406030204" pitchFamily="18" charset="0"/>
                              </a:rPr>
                              <m:t>2</m:t>
                            </m:r>
                          </m:sup>
                        </m:sSup>
                      </m:den>
                    </m:f>
                    <m:r>
                      <a:rPr lang="en-AU" sz="2400" b="0" i="0" smtClean="0">
                        <a:latin typeface="Cambria Math" panose="02040503050406030204" pitchFamily="18" charset="0"/>
                        <a:ea typeface="Cambria Math" panose="02040503050406030204" pitchFamily="18" charset="0"/>
                      </a:rPr>
                      <m:t>&lt;0</m:t>
                    </m:r>
                  </m:oMath>
                </a14:m>
                <a:endParaRPr lang="en-AU" sz="2400" dirty="0">
                  <a:latin typeface="+mj-lt"/>
                </a:endParaRPr>
              </a:p>
              <a:p>
                <a:r>
                  <a:rPr lang="en-AU" sz="2400" dirty="0">
                    <a:latin typeface="+mj-lt"/>
                  </a:rPr>
                  <a:t>(b) a relative minimum if </a:t>
                </a:r>
                <a14:m>
                  <m:oMath xmlns:m="http://schemas.openxmlformats.org/officeDocument/2006/math">
                    <m:r>
                      <a:rPr lang="en-AU" sz="2400" b="0" i="1" smtClean="0">
                        <a:latin typeface="Cambria Math" panose="02040503050406030204" pitchFamily="18" charset="0"/>
                      </a:rPr>
                      <m:t>𝐻</m:t>
                    </m:r>
                    <m:r>
                      <a:rPr lang="en-AU" sz="2400" b="0" i="1" smtClean="0">
                        <a:latin typeface="Cambria Math" panose="02040503050406030204" pitchFamily="18" charset="0"/>
                      </a:rPr>
                      <m:t>&gt;0</m:t>
                    </m:r>
                  </m:oMath>
                </a14:m>
                <a:r>
                  <a:rPr lang="en-AU" sz="2400" dirty="0">
                    <a:latin typeface="+mj-lt"/>
                  </a:rPr>
                  <a:t> and </a:t>
                </a:r>
                <a14:m>
                  <m:oMath xmlns:m="http://schemas.openxmlformats.org/officeDocument/2006/math">
                    <m:f>
                      <m:fPr>
                        <m:ctrlPr>
                          <a:rPr lang="en-AU" sz="2400" i="1">
                            <a:latin typeface="Cambria Math" panose="02040503050406030204" pitchFamily="18" charset="0"/>
                          </a:rPr>
                        </m:ctrlPr>
                      </m:fPr>
                      <m:num>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m:t>
                            </m:r>
                          </m:e>
                          <m:sup>
                            <m:r>
                              <a:rPr lang="en-AU" sz="2400" i="1">
                                <a:latin typeface="Cambria Math" panose="02040503050406030204" pitchFamily="18" charset="0"/>
                                <a:ea typeface="Cambria Math" panose="02040503050406030204" pitchFamily="18" charset="0"/>
                              </a:rPr>
                              <m:t>2</m:t>
                            </m:r>
                          </m:sup>
                        </m:sSup>
                        <m:r>
                          <a:rPr lang="en-AU" sz="2400" i="1">
                            <a:latin typeface="Cambria Math" panose="02040503050406030204" pitchFamily="18" charset="0"/>
                            <a:ea typeface="Cambria Math" panose="02040503050406030204" pitchFamily="18" charset="0"/>
                          </a:rPr>
                          <m:t>𝑓</m:t>
                        </m:r>
                      </m:num>
                      <m:den>
                        <m:r>
                          <a:rPr lang="en-AU" sz="2400" i="1">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𝑥</m:t>
                            </m:r>
                          </m:e>
                          <m:sup>
                            <m:r>
                              <a:rPr lang="en-AU" sz="2400" i="1">
                                <a:latin typeface="Cambria Math" panose="02040503050406030204" pitchFamily="18" charset="0"/>
                                <a:ea typeface="Cambria Math" panose="02040503050406030204" pitchFamily="18" charset="0"/>
                              </a:rPr>
                              <m:t>2</m:t>
                            </m:r>
                          </m:sup>
                        </m:sSup>
                      </m:den>
                    </m:f>
                    <m:r>
                      <a:rPr lang="en-AU" sz="2400" b="0" i="0" smtClean="0">
                        <a:latin typeface="Cambria Math" panose="02040503050406030204" pitchFamily="18" charset="0"/>
                        <a:ea typeface="Cambria Math" panose="02040503050406030204" pitchFamily="18" charset="0"/>
                      </a:rPr>
                      <m:t>&gt;0</m:t>
                    </m:r>
                  </m:oMath>
                </a14:m>
                <a:endParaRPr lang="en-AU" sz="2400" dirty="0">
                  <a:latin typeface="+mj-lt"/>
                </a:endParaRPr>
              </a:p>
              <a:p>
                <a:r>
                  <a:rPr lang="en-AU" sz="2400" dirty="0">
                    <a:latin typeface="+mj-lt"/>
                  </a:rPr>
                  <a:t>(c) a saddle point if </a:t>
                </a:r>
                <a14:m>
                  <m:oMath xmlns:m="http://schemas.openxmlformats.org/officeDocument/2006/math">
                    <m:r>
                      <a:rPr lang="en-AU" sz="2400" b="0" i="1" smtClean="0">
                        <a:latin typeface="Cambria Math" panose="02040503050406030204" pitchFamily="18" charset="0"/>
                      </a:rPr>
                      <m:t>𝐻</m:t>
                    </m:r>
                    <m:r>
                      <a:rPr lang="en-AU" sz="2400" b="0" i="1" smtClean="0">
                        <a:latin typeface="Cambria Math" panose="02040503050406030204" pitchFamily="18" charset="0"/>
                      </a:rPr>
                      <m:t>&lt;0</m:t>
                    </m:r>
                  </m:oMath>
                </a14:m>
                <a:endParaRPr lang="en-AU" sz="2400" dirty="0">
                  <a:latin typeface="+mj-lt"/>
                </a:endParaRPr>
              </a:p>
              <a:p>
                <a:r>
                  <a:rPr lang="en-AU" sz="2400" dirty="0">
                    <a:latin typeface="+mj-lt"/>
                  </a:rPr>
                  <a:t>The test is inconclusive if </a:t>
                </a:r>
                <a14:m>
                  <m:oMath xmlns:m="http://schemas.openxmlformats.org/officeDocument/2006/math">
                    <m:r>
                      <a:rPr lang="en-AU" sz="2400" b="0" i="1" smtClean="0">
                        <a:latin typeface="Cambria Math" panose="02040503050406030204" pitchFamily="18" charset="0"/>
                      </a:rPr>
                      <m:t>𝐻</m:t>
                    </m:r>
                    <m:r>
                      <a:rPr lang="en-AU" sz="2400" b="0" i="1" smtClean="0">
                        <a:latin typeface="Cambria Math" panose="02040503050406030204" pitchFamily="18" charset="0"/>
                      </a:rPr>
                      <m:t>=0</m:t>
                    </m:r>
                  </m:oMath>
                </a14:m>
                <a:r>
                  <a:rPr lang="en-AU" sz="2400" dirty="0">
                    <a:latin typeface="+mj-lt"/>
                  </a:rPr>
                  <a:t>. There are other ways to classify the point but we will not consider them here. The quantity </a:t>
                </a:r>
                <a14:m>
                  <m:oMath xmlns:m="http://schemas.openxmlformats.org/officeDocument/2006/math">
                    <m:r>
                      <a:rPr lang="en-AU" sz="2400" i="1">
                        <a:latin typeface="Cambria Math" panose="02040503050406030204" pitchFamily="18" charset="0"/>
                      </a:rPr>
                      <m:t>𝐻</m:t>
                    </m:r>
                  </m:oMath>
                </a14:m>
                <a:r>
                  <a:rPr lang="en-AU" sz="2400" dirty="0">
                    <a:latin typeface="+mj-lt"/>
                  </a:rPr>
                  <a:t> is called the Hessian, in honour of mathematician Ludwig Otto Hess (1811-1874) and is part of a general theory to evaluate the so-called curvature of  </a:t>
                </a:r>
              </a:p>
              <a:p>
                <a:r>
                  <a:rPr lang="en-AU" sz="2400" dirty="0">
                    <a:latin typeface="+mj-lt"/>
                  </a:rPr>
                  <a:t>                   geometric objects.</a:t>
                </a: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963815"/>
                <a:ext cx="11733640" cy="5478744"/>
              </a:xfrm>
              <a:prstGeom prst="rect">
                <a:avLst/>
              </a:prstGeom>
              <a:blipFill>
                <a:blip r:embed="rId2"/>
                <a:stretch>
                  <a:fillRect l="-832" t="-890" r="-52" b="-1557"/>
                </a:stretch>
              </a:blipFill>
            </p:spPr>
            <p:txBody>
              <a:bodyPr/>
              <a:lstStyle/>
              <a:p>
                <a:r>
                  <a:rPr lang="en-GB">
                    <a:noFill/>
                  </a:rPr>
                  <a:t> </a:t>
                </a:r>
              </a:p>
            </p:txBody>
          </p:sp>
        </mc:Fallback>
      </mc:AlternateContent>
    </p:spTree>
    <p:extLst>
      <p:ext uri="{BB962C8B-B14F-4D97-AF65-F5344CB8AC3E}">
        <p14:creationId xmlns:p14="http://schemas.microsoft.com/office/powerpoint/2010/main" val="4240375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66655" y="0"/>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773871" cy="523220"/>
          </a:xfrm>
          <a:prstGeom prst="rect">
            <a:avLst/>
          </a:prstGeom>
          <a:noFill/>
        </p:spPr>
        <p:txBody>
          <a:bodyPr wrap="none" rtlCol="0">
            <a:spAutoFit/>
          </a:bodyPr>
          <a:lstStyle/>
          <a:p>
            <a:r>
              <a:rPr lang="en-AU" sz="2800" b="1" cap="small" dirty="0">
                <a:solidFill>
                  <a:schemeClr val="bg1"/>
                </a:solidFill>
                <a:latin typeface="+mj-lt"/>
              </a:rPr>
              <a:t>7.7 Stationary points of a surface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461665"/>
              </a:xfrm>
              <a:prstGeom prst="rect">
                <a:avLst/>
              </a:prstGeom>
              <a:noFill/>
            </p:spPr>
            <p:txBody>
              <a:bodyPr wrap="square">
                <a:spAutoFit/>
              </a:bodyPr>
              <a:lstStyle/>
              <a:p>
                <a:r>
                  <a:rPr lang="en-AU" sz="2400" dirty="0">
                    <a:latin typeface="+mj-lt"/>
                  </a:rPr>
                  <a:t>Example. Find the stationary points and their nature for the function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oMath>
                </a14:m>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461665"/>
              </a:xfrm>
              <a:prstGeom prst="rect">
                <a:avLst/>
              </a:prstGeom>
              <a:blipFill>
                <a:blip r:embed="rId2"/>
                <a:stretch>
                  <a:fillRect l="-832" t="-10526" b="-28947"/>
                </a:stretch>
              </a:blipFill>
            </p:spPr>
            <p:txBody>
              <a:bodyPr/>
              <a:lstStyle/>
              <a:p>
                <a:r>
                  <a:rPr lang="en-GB">
                    <a:noFill/>
                  </a:rPr>
                  <a:t> </a:t>
                </a:r>
              </a:p>
            </p:txBody>
          </p:sp>
        </mc:Fallback>
      </mc:AlternateContent>
    </p:spTree>
    <p:extLst>
      <p:ext uri="{BB962C8B-B14F-4D97-AF65-F5344CB8AC3E}">
        <p14:creationId xmlns:p14="http://schemas.microsoft.com/office/powerpoint/2010/main" val="1925111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66655" y="0"/>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773871" cy="523220"/>
          </a:xfrm>
          <a:prstGeom prst="rect">
            <a:avLst/>
          </a:prstGeom>
          <a:noFill/>
        </p:spPr>
        <p:txBody>
          <a:bodyPr wrap="none" rtlCol="0">
            <a:spAutoFit/>
          </a:bodyPr>
          <a:lstStyle/>
          <a:p>
            <a:r>
              <a:rPr lang="en-AU" sz="2800" b="1" cap="small" dirty="0">
                <a:solidFill>
                  <a:schemeClr val="bg1"/>
                </a:solidFill>
                <a:latin typeface="+mj-lt"/>
              </a:rPr>
              <a:t>7.7 Stationary points of a surface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985078"/>
              </a:xfrm>
              <a:prstGeom prst="rect">
                <a:avLst/>
              </a:prstGeom>
              <a:noFill/>
            </p:spPr>
            <p:txBody>
              <a:bodyPr wrap="square">
                <a:spAutoFit/>
              </a:bodyPr>
              <a:lstStyle/>
              <a:p>
                <a:r>
                  <a:rPr lang="en-AU" sz="2400" dirty="0">
                    <a:latin typeface="+mj-lt"/>
                  </a:rPr>
                  <a:t>Example. Find the stationary points and their nature for the function</a:t>
                </a:r>
              </a:p>
              <a:p>
                <a:r>
                  <a:rPr lang="en-AU" sz="2400" dirty="0">
                    <a:latin typeface="+mj-lt"/>
                  </a:rPr>
                  <a:t>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3</m:t>
                        </m:r>
                      </m:den>
                    </m:f>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oMath>
                </a14:m>
                <a:endParaRPr lang="en-AU" sz="2400" dirty="0">
                  <a:latin typeface="+mj-lt"/>
                </a:endParaRPr>
              </a:p>
            </p:txBody>
          </p:sp>
        </mc:Choice>
        <mc:Fallback xmlns="">
          <p:sp>
            <p:nvSpPr>
              <p:cNvPr id="10" name="TextBox 9">
                <a:extLst>
                  <a:ext uri="{FF2B5EF4-FFF2-40B4-BE49-F238E27FC236}">
                    <a16:creationId xmlns:a16="http://schemas.microsoft.com/office/drawing/2014/main" id="{5690EAC3-31BA-495A-9938-E45C7C654FA6}"/>
                  </a:ext>
                </a:extLst>
              </p:cNvPr>
              <p:cNvSpPr txBox="1">
                <a:spLocks noRot="1" noChangeAspect="1" noMove="1" noResize="1" noEditPoints="1" noAdjustHandles="1" noChangeArrowheads="1" noChangeShapeType="1" noTextEdit="1"/>
              </p:cNvSpPr>
              <p:nvPr/>
            </p:nvSpPr>
            <p:spPr>
              <a:xfrm>
                <a:off x="162525" y="847274"/>
                <a:ext cx="11733640" cy="985078"/>
              </a:xfrm>
              <a:prstGeom prst="rect">
                <a:avLst/>
              </a:prstGeom>
              <a:blipFill>
                <a:blip r:embed="rId2"/>
                <a:stretch>
                  <a:fillRect l="-832" t="-4938"/>
                </a:stretch>
              </a:blipFill>
            </p:spPr>
            <p:txBody>
              <a:bodyPr/>
              <a:lstStyle/>
              <a:p>
                <a:r>
                  <a:rPr lang="en-GB">
                    <a:noFill/>
                  </a:rPr>
                  <a:t> </a:t>
                </a:r>
              </a:p>
            </p:txBody>
          </p:sp>
        </mc:Fallback>
      </mc:AlternateContent>
    </p:spTree>
    <p:extLst>
      <p:ext uri="{BB962C8B-B14F-4D97-AF65-F5344CB8AC3E}">
        <p14:creationId xmlns:p14="http://schemas.microsoft.com/office/powerpoint/2010/main" val="849783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66655" y="0"/>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773871" cy="523220"/>
          </a:xfrm>
          <a:prstGeom prst="rect">
            <a:avLst/>
          </a:prstGeom>
          <a:noFill/>
        </p:spPr>
        <p:txBody>
          <a:bodyPr wrap="none" rtlCol="0">
            <a:spAutoFit/>
          </a:bodyPr>
          <a:lstStyle/>
          <a:p>
            <a:r>
              <a:rPr lang="en-AU" sz="2800" b="1" cap="small" dirty="0">
                <a:solidFill>
                  <a:schemeClr val="bg1"/>
                </a:solidFill>
                <a:latin typeface="+mj-lt"/>
              </a:rPr>
              <a:t>7.7 Stationary points of a surface</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5690EAC3-31BA-495A-9938-E45C7C654FA6}"/>
              </a:ext>
            </a:extLst>
          </p:cNvPr>
          <p:cNvSpPr txBox="1"/>
          <p:nvPr/>
        </p:nvSpPr>
        <p:spPr>
          <a:xfrm>
            <a:off x="162525" y="847274"/>
            <a:ext cx="11733640" cy="1200329"/>
          </a:xfrm>
          <a:prstGeom prst="rect">
            <a:avLst/>
          </a:prstGeom>
          <a:noFill/>
        </p:spPr>
        <p:txBody>
          <a:bodyPr wrap="square">
            <a:spAutoFit/>
          </a:bodyPr>
          <a:lstStyle/>
          <a:p>
            <a:r>
              <a:rPr lang="en-AU" sz="2400" dirty="0">
                <a:latin typeface="+mj-lt"/>
              </a:rPr>
              <a:t>Practical example. An open tank, which is a cuboid with sides and base of thin sheet material, must have a volume of 4 cubic metres. Find the dimensions that minimise the area of sheet material.</a:t>
            </a:r>
          </a:p>
        </p:txBody>
      </p:sp>
      <p:pic>
        <p:nvPicPr>
          <p:cNvPr id="3" name="Picture 2">
            <a:extLst>
              <a:ext uri="{FF2B5EF4-FFF2-40B4-BE49-F238E27FC236}">
                <a16:creationId xmlns:a16="http://schemas.microsoft.com/office/drawing/2014/main" id="{A6C16BDE-E36F-4DB7-BFBF-2F9586F55FAA}"/>
              </a:ext>
            </a:extLst>
          </p:cNvPr>
          <p:cNvPicPr>
            <a:picLocks noChangeAspect="1"/>
          </p:cNvPicPr>
          <p:nvPr/>
        </p:nvPicPr>
        <p:blipFill>
          <a:blip r:embed="rId2"/>
          <a:stretch>
            <a:fillRect/>
          </a:stretch>
        </p:blipFill>
        <p:spPr>
          <a:xfrm>
            <a:off x="9537366" y="1740611"/>
            <a:ext cx="2225407" cy="1476260"/>
          </a:xfrm>
          <a:prstGeom prst="rect">
            <a:avLst/>
          </a:prstGeom>
        </p:spPr>
      </p:pic>
    </p:spTree>
    <p:extLst>
      <p:ext uri="{BB962C8B-B14F-4D97-AF65-F5344CB8AC3E}">
        <p14:creationId xmlns:p14="http://schemas.microsoft.com/office/powerpoint/2010/main" val="18068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4B5698-F21B-424B-872D-669013C7C4FD}"/>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Video 32" title="Fireworks">
            <a:hlinkClick r:id="" action="ppaction://media"/>
            <a:extLst>
              <a:ext uri="{FF2B5EF4-FFF2-40B4-BE49-F238E27FC236}">
                <a16:creationId xmlns:a16="http://schemas.microsoft.com/office/drawing/2014/main" id="{10C98077-1E43-E341-36D5-1EA1BDA130B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
        <p:nvSpPr>
          <p:cNvPr id="40" name="TextBox 39">
            <a:extLst>
              <a:ext uri="{FF2B5EF4-FFF2-40B4-BE49-F238E27FC236}">
                <a16:creationId xmlns:a16="http://schemas.microsoft.com/office/drawing/2014/main" id="{BD84F3D8-B047-9F23-9D5E-8AF230E9AB2A}"/>
              </a:ext>
            </a:extLst>
          </p:cNvPr>
          <p:cNvSpPr txBox="1"/>
          <p:nvPr/>
        </p:nvSpPr>
        <p:spPr>
          <a:xfrm>
            <a:off x="4338376" y="0"/>
            <a:ext cx="7853624" cy="6858000"/>
          </a:xfrm>
          <a:custGeom>
            <a:avLst/>
            <a:gdLst/>
            <a:ahLst/>
            <a:cxnLst/>
            <a:rect l="l" t="t" r="r" b="b"/>
            <a:pathLst>
              <a:path w="7853624" h="6858000">
                <a:moveTo>
                  <a:pt x="6158708" y="3900371"/>
                </a:moveTo>
                <a:lnTo>
                  <a:pt x="6158708" y="4193600"/>
                </a:lnTo>
                <a:lnTo>
                  <a:pt x="6445002" y="4193600"/>
                </a:lnTo>
                <a:lnTo>
                  <a:pt x="6445002" y="5252591"/>
                </a:lnTo>
                <a:lnTo>
                  <a:pt x="6796678" y="5252591"/>
                </a:lnTo>
                <a:lnTo>
                  <a:pt x="6796678" y="4193600"/>
                </a:lnTo>
                <a:lnTo>
                  <a:pt x="7087926" y="4193600"/>
                </a:lnTo>
                <a:lnTo>
                  <a:pt x="7087926" y="3900371"/>
                </a:lnTo>
                <a:close/>
                <a:moveTo>
                  <a:pt x="5648325" y="3900371"/>
                </a:moveTo>
                <a:lnTo>
                  <a:pt x="5648325" y="5252591"/>
                </a:lnTo>
                <a:lnTo>
                  <a:pt x="6000001" y="5252591"/>
                </a:lnTo>
                <a:lnTo>
                  <a:pt x="6000001" y="3900371"/>
                </a:lnTo>
                <a:close/>
                <a:moveTo>
                  <a:pt x="4010025" y="3900371"/>
                </a:moveTo>
                <a:lnTo>
                  <a:pt x="4361702" y="3900371"/>
                </a:lnTo>
                <a:lnTo>
                  <a:pt x="4710708" y="4346651"/>
                </a:lnTo>
                <a:lnTo>
                  <a:pt x="4706660" y="4377001"/>
                </a:lnTo>
                <a:cubicBezTo>
                  <a:pt x="4692195" y="4452884"/>
                  <a:pt x="4673077" y="4530198"/>
                  <a:pt x="4648927" y="4609059"/>
                </a:cubicBezTo>
                <a:lnTo>
                  <a:pt x="4603444" y="4733908"/>
                </a:lnTo>
                <a:lnTo>
                  <a:pt x="4361702" y="4424418"/>
                </a:lnTo>
                <a:lnTo>
                  <a:pt x="4361702" y="5240794"/>
                </a:lnTo>
                <a:lnTo>
                  <a:pt x="4354392" y="5252591"/>
                </a:lnTo>
                <a:lnTo>
                  <a:pt x="4010025" y="5252591"/>
                </a:lnTo>
                <a:close/>
                <a:moveTo>
                  <a:pt x="2543175" y="3900371"/>
                </a:moveTo>
                <a:lnTo>
                  <a:pt x="2894852" y="3900371"/>
                </a:lnTo>
                <a:lnTo>
                  <a:pt x="2894852" y="4631787"/>
                </a:lnTo>
                <a:cubicBezTo>
                  <a:pt x="2894852" y="4690503"/>
                  <a:pt x="2895842" y="4734380"/>
                  <a:pt x="2897823" y="4763418"/>
                </a:cubicBezTo>
                <a:cubicBezTo>
                  <a:pt x="2904428" y="4855134"/>
                  <a:pt x="2946365" y="4919133"/>
                  <a:pt x="3023634" y="4955416"/>
                </a:cubicBezTo>
                <a:cubicBezTo>
                  <a:pt x="3055335" y="4970595"/>
                  <a:pt x="3090337" y="4978185"/>
                  <a:pt x="3128642" y="4978185"/>
                </a:cubicBezTo>
                <a:cubicBezTo>
                  <a:pt x="3214497" y="4978185"/>
                  <a:pt x="3279219" y="4948161"/>
                  <a:pt x="3322807" y="4888114"/>
                </a:cubicBezTo>
                <a:cubicBezTo>
                  <a:pt x="3355168" y="4843907"/>
                  <a:pt x="3371348" y="4758464"/>
                  <a:pt x="3371348" y="4631787"/>
                </a:cubicBezTo>
                <a:lnTo>
                  <a:pt x="3371348" y="3900371"/>
                </a:lnTo>
                <a:lnTo>
                  <a:pt x="3723024" y="3900371"/>
                </a:lnTo>
                <a:lnTo>
                  <a:pt x="3723024" y="4680003"/>
                </a:lnTo>
                <a:cubicBezTo>
                  <a:pt x="3723024" y="4761235"/>
                  <a:pt x="3716420" y="4830580"/>
                  <a:pt x="3703211" y="4888037"/>
                </a:cubicBezTo>
                <a:cubicBezTo>
                  <a:pt x="3682738" y="4977194"/>
                  <a:pt x="3633867" y="5058426"/>
                  <a:pt x="3556597" y="5131733"/>
                </a:cubicBezTo>
                <a:cubicBezTo>
                  <a:pt x="3446967" y="5235420"/>
                  <a:pt x="3300352" y="5287263"/>
                  <a:pt x="3116754" y="5287263"/>
                </a:cubicBezTo>
                <a:cubicBezTo>
                  <a:pt x="2929854" y="5287263"/>
                  <a:pt x="2783900" y="5234429"/>
                  <a:pt x="2678893" y="5128761"/>
                </a:cubicBezTo>
                <a:cubicBezTo>
                  <a:pt x="2623417" y="5073286"/>
                  <a:pt x="2585442" y="5003611"/>
                  <a:pt x="2564969" y="4919737"/>
                </a:cubicBezTo>
                <a:cubicBezTo>
                  <a:pt x="2550440" y="4860299"/>
                  <a:pt x="2543175" y="4780387"/>
                  <a:pt x="2543175" y="4680003"/>
                </a:cubicBezTo>
                <a:close/>
                <a:moveTo>
                  <a:pt x="5288077" y="2295535"/>
                </a:moveTo>
                <a:cubicBezTo>
                  <a:pt x="5405272" y="2295535"/>
                  <a:pt x="5502936" y="2339896"/>
                  <a:pt x="5581073" y="2428620"/>
                </a:cubicBezTo>
                <a:cubicBezTo>
                  <a:pt x="5641988" y="2498151"/>
                  <a:pt x="5672444" y="2580590"/>
                  <a:pt x="5672444" y="2675939"/>
                </a:cubicBezTo>
                <a:cubicBezTo>
                  <a:pt x="5672444" y="2769307"/>
                  <a:pt x="5641988" y="2851416"/>
                  <a:pt x="5581073" y="2922267"/>
                </a:cubicBezTo>
                <a:cubicBezTo>
                  <a:pt x="5504929" y="3010991"/>
                  <a:pt x="5407263" y="3055353"/>
                  <a:pt x="5288077" y="3055353"/>
                </a:cubicBezTo>
                <a:cubicBezTo>
                  <a:pt x="5168891" y="3055353"/>
                  <a:pt x="5071556" y="3010656"/>
                  <a:pt x="4996071" y="2921261"/>
                </a:cubicBezTo>
                <a:cubicBezTo>
                  <a:pt x="4935158" y="2849089"/>
                  <a:pt x="4904700" y="2767315"/>
                  <a:pt x="4904700" y="2675939"/>
                </a:cubicBezTo>
                <a:cubicBezTo>
                  <a:pt x="4904700" y="2631577"/>
                  <a:pt x="4912646" y="2587876"/>
                  <a:pt x="4928538" y="2544835"/>
                </a:cubicBezTo>
                <a:cubicBezTo>
                  <a:pt x="4956348" y="2469350"/>
                  <a:pt x="5003029" y="2408929"/>
                  <a:pt x="5068581" y="2363571"/>
                </a:cubicBezTo>
                <a:cubicBezTo>
                  <a:pt x="5134134" y="2318213"/>
                  <a:pt x="5207299" y="2295535"/>
                  <a:pt x="5288077" y="2295535"/>
                </a:cubicBezTo>
                <a:close/>
                <a:moveTo>
                  <a:pt x="2980577" y="2288600"/>
                </a:moveTo>
                <a:lnTo>
                  <a:pt x="2980577" y="3054363"/>
                </a:lnTo>
                <a:lnTo>
                  <a:pt x="3060988" y="3054363"/>
                </a:lnTo>
                <a:cubicBezTo>
                  <a:pt x="3199306" y="3054363"/>
                  <a:pt x="3302879" y="3008344"/>
                  <a:pt x="3371708" y="2916308"/>
                </a:cubicBezTo>
                <a:cubicBezTo>
                  <a:pt x="3423995" y="2846117"/>
                  <a:pt x="3450139" y="2764343"/>
                  <a:pt x="3450139" y="2670986"/>
                </a:cubicBezTo>
                <a:cubicBezTo>
                  <a:pt x="3450139" y="2577629"/>
                  <a:pt x="3423995" y="2496185"/>
                  <a:pt x="3371708" y="2426655"/>
                </a:cubicBezTo>
                <a:cubicBezTo>
                  <a:pt x="3302219" y="2334618"/>
                  <a:pt x="3198646" y="2288600"/>
                  <a:pt x="3060988" y="2288600"/>
                </a:cubicBezTo>
                <a:close/>
                <a:moveTo>
                  <a:pt x="6257925" y="1995371"/>
                </a:moveTo>
                <a:lnTo>
                  <a:pt x="6257925" y="3347591"/>
                </a:lnTo>
                <a:lnTo>
                  <a:pt x="6609601" y="3347591"/>
                </a:lnTo>
                <a:lnTo>
                  <a:pt x="6609601" y="2812647"/>
                </a:lnTo>
                <a:lnTo>
                  <a:pt x="6994959" y="2812647"/>
                </a:lnTo>
                <a:lnTo>
                  <a:pt x="6994959" y="2519418"/>
                </a:lnTo>
                <a:lnTo>
                  <a:pt x="6609601" y="2519418"/>
                </a:lnTo>
                <a:lnTo>
                  <a:pt x="6609601" y="2288600"/>
                </a:lnTo>
                <a:lnTo>
                  <a:pt x="7032603" y="2288600"/>
                </a:lnTo>
                <a:lnTo>
                  <a:pt x="7032603" y="1995371"/>
                </a:lnTo>
                <a:close/>
                <a:moveTo>
                  <a:pt x="2628900" y="1995371"/>
                </a:moveTo>
                <a:lnTo>
                  <a:pt x="3147994" y="1995371"/>
                </a:lnTo>
                <a:cubicBezTo>
                  <a:pt x="3274796" y="1995371"/>
                  <a:pt x="3392352" y="2030704"/>
                  <a:pt x="3500661" y="2101370"/>
                </a:cubicBezTo>
                <a:cubicBezTo>
                  <a:pt x="3606989" y="2170054"/>
                  <a:pt x="3688552" y="2261853"/>
                  <a:pt x="3745349" y="2376767"/>
                </a:cubicBezTo>
                <a:cubicBezTo>
                  <a:pt x="3791578" y="2471868"/>
                  <a:pt x="3814693" y="2569941"/>
                  <a:pt x="3814693" y="2670986"/>
                </a:cubicBezTo>
                <a:cubicBezTo>
                  <a:pt x="3814693" y="2811656"/>
                  <a:pt x="3772261" y="2941925"/>
                  <a:pt x="3687396" y="3061793"/>
                </a:cubicBezTo>
                <a:cubicBezTo>
                  <a:pt x="3602532" y="3181660"/>
                  <a:pt x="3494057" y="3264708"/>
                  <a:pt x="3361972" y="3310938"/>
                </a:cubicBezTo>
                <a:cubicBezTo>
                  <a:pt x="3291967" y="3335373"/>
                  <a:pt x="3220641" y="3347591"/>
                  <a:pt x="3147994" y="3347591"/>
                </a:cubicBezTo>
                <a:lnTo>
                  <a:pt x="2628900" y="3347591"/>
                </a:lnTo>
                <a:close/>
                <a:moveTo>
                  <a:pt x="990600" y="1995371"/>
                </a:moveTo>
                <a:lnTo>
                  <a:pt x="1342277" y="1995371"/>
                </a:lnTo>
                <a:lnTo>
                  <a:pt x="1989163" y="2822554"/>
                </a:lnTo>
                <a:lnTo>
                  <a:pt x="1989163" y="1995371"/>
                </a:lnTo>
                <a:lnTo>
                  <a:pt x="2340839" y="1995371"/>
                </a:lnTo>
                <a:lnTo>
                  <a:pt x="2340839" y="3347591"/>
                </a:lnTo>
                <a:lnTo>
                  <a:pt x="1989163" y="3347591"/>
                </a:lnTo>
                <a:lnTo>
                  <a:pt x="1342277" y="2519418"/>
                </a:lnTo>
                <a:lnTo>
                  <a:pt x="1342277" y="3347591"/>
                </a:lnTo>
                <a:lnTo>
                  <a:pt x="990600" y="3347591"/>
                </a:lnTo>
                <a:close/>
                <a:moveTo>
                  <a:pt x="0" y="1995371"/>
                </a:moveTo>
                <a:lnTo>
                  <a:pt x="769725" y="1995371"/>
                </a:lnTo>
                <a:lnTo>
                  <a:pt x="769725" y="2288600"/>
                </a:lnTo>
                <a:lnTo>
                  <a:pt x="351677" y="2288600"/>
                </a:lnTo>
                <a:lnTo>
                  <a:pt x="351677" y="2519418"/>
                </a:lnTo>
                <a:lnTo>
                  <a:pt x="746941" y="2519418"/>
                </a:lnTo>
                <a:lnTo>
                  <a:pt x="746941" y="2812647"/>
                </a:lnTo>
                <a:lnTo>
                  <a:pt x="351677" y="2812647"/>
                </a:lnTo>
                <a:lnTo>
                  <a:pt x="351677" y="3054363"/>
                </a:lnTo>
                <a:lnTo>
                  <a:pt x="769725" y="3054363"/>
                </a:lnTo>
                <a:lnTo>
                  <a:pt x="769725" y="3347591"/>
                </a:lnTo>
                <a:lnTo>
                  <a:pt x="0" y="3347591"/>
                </a:lnTo>
                <a:close/>
                <a:moveTo>
                  <a:pt x="5288077" y="1954755"/>
                </a:moveTo>
                <a:cubicBezTo>
                  <a:pt x="5050324" y="1954755"/>
                  <a:pt x="4861773" y="2033676"/>
                  <a:pt x="4722424" y="2191518"/>
                </a:cubicBezTo>
                <a:cubicBezTo>
                  <a:pt x="4666948" y="2254258"/>
                  <a:pt x="4622699" y="2329711"/>
                  <a:pt x="4589678" y="2417878"/>
                </a:cubicBezTo>
                <a:cubicBezTo>
                  <a:pt x="4556656" y="2506045"/>
                  <a:pt x="4540146" y="2592065"/>
                  <a:pt x="4540146" y="2675939"/>
                </a:cubicBezTo>
                <a:cubicBezTo>
                  <a:pt x="4540146" y="2859537"/>
                  <a:pt x="4601236" y="3020681"/>
                  <a:pt x="4723414" y="3159370"/>
                </a:cubicBezTo>
                <a:cubicBezTo>
                  <a:pt x="4862764" y="3317212"/>
                  <a:pt x="5050984" y="3396132"/>
                  <a:pt x="5288077" y="3396132"/>
                </a:cubicBezTo>
                <a:cubicBezTo>
                  <a:pt x="5525830" y="3396132"/>
                  <a:pt x="5714382" y="3317212"/>
                  <a:pt x="5853731" y="3159370"/>
                </a:cubicBezTo>
                <a:cubicBezTo>
                  <a:pt x="5975910" y="3020681"/>
                  <a:pt x="6036999" y="2859537"/>
                  <a:pt x="6036999" y="2675939"/>
                </a:cubicBezTo>
                <a:cubicBezTo>
                  <a:pt x="6036999" y="2491681"/>
                  <a:pt x="5975910" y="2330207"/>
                  <a:pt x="5853731" y="2191518"/>
                </a:cubicBezTo>
                <a:cubicBezTo>
                  <a:pt x="5714382" y="2033676"/>
                  <a:pt x="5525830" y="1954755"/>
                  <a:pt x="5288077" y="1954755"/>
                </a:cubicBezTo>
                <a:close/>
                <a:moveTo>
                  <a:pt x="2910149" y="0"/>
                </a:moveTo>
                <a:lnTo>
                  <a:pt x="7853624" y="0"/>
                </a:lnTo>
                <a:lnTo>
                  <a:pt x="7853624" y="6858000"/>
                </a:lnTo>
                <a:lnTo>
                  <a:pt x="2910149" y="6858000"/>
                </a:lnTo>
                <a:cubicBezTo>
                  <a:pt x="3554141" y="6302871"/>
                  <a:pt x="3996886" y="5809599"/>
                  <a:pt x="4285550" y="5363686"/>
                </a:cubicBezTo>
                <a:lnTo>
                  <a:pt x="4354392" y="5252591"/>
                </a:lnTo>
                <a:lnTo>
                  <a:pt x="4361702" y="5252591"/>
                </a:lnTo>
                <a:lnTo>
                  <a:pt x="4361702" y="5240794"/>
                </a:lnTo>
                <a:lnTo>
                  <a:pt x="4367574" y="5231318"/>
                </a:lnTo>
                <a:cubicBezTo>
                  <a:pt x="4445070" y="5100342"/>
                  <a:pt x="4509123" y="4973498"/>
                  <a:pt x="4561007" y="4850395"/>
                </a:cubicBezTo>
                <a:lnTo>
                  <a:pt x="4603444" y="4733908"/>
                </a:lnTo>
                <a:lnTo>
                  <a:pt x="5008587" y="5252591"/>
                </a:lnTo>
                <a:lnTo>
                  <a:pt x="5360264" y="5252591"/>
                </a:lnTo>
                <a:lnTo>
                  <a:pt x="5360264" y="3900371"/>
                </a:lnTo>
                <a:lnTo>
                  <a:pt x="5008587" y="3900371"/>
                </a:lnTo>
                <a:lnTo>
                  <a:pt x="5008587" y="4727553"/>
                </a:lnTo>
                <a:lnTo>
                  <a:pt x="4710708" y="4346651"/>
                </a:lnTo>
                <a:lnTo>
                  <a:pt x="4736470" y="4153526"/>
                </a:lnTo>
                <a:cubicBezTo>
                  <a:pt x="4858224" y="2544477"/>
                  <a:pt x="2910149" y="1571625"/>
                  <a:pt x="291014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lnSpc>
                <a:spcPts val="15000"/>
              </a:lnSpc>
            </a:pPr>
            <a:endParaRPr lang="en-AU" sz="16000" dirty="0">
              <a:solidFill>
                <a:schemeClr val="bg1"/>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67720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000"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3"/>
                </p:tgtEl>
              </p:cMediaNode>
            </p:video>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3"/>
                                        </p:tgtEl>
                                      </p:cBhvr>
                                    </p:cmd>
                                  </p:childTnLst>
                                </p:cTn>
                              </p:par>
                            </p:childTnLst>
                          </p:cTn>
                        </p:par>
                      </p:childTnLst>
                    </p:cTn>
                  </p:par>
                </p:childTnLst>
              </p:cTn>
              <p:nextCondLst>
                <p:cond evt="onClick" delay="0">
                  <p:tgtEl>
                    <p:spTgt spid="33"/>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10406</TotalTime>
  <Words>2294</Words>
  <Application>Microsoft Office PowerPoint</Application>
  <PresentationFormat>Widescreen</PresentationFormat>
  <Paragraphs>141</Paragraphs>
  <Slides>28</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Aharoni</vt:lpstr>
      <vt:lpstr>Arial</vt:lpstr>
      <vt:lpstr>Calibri</vt:lpstr>
      <vt:lpstr>Calibri Light</vt:lpstr>
      <vt:lpstr>Cambria Math</vt:lpstr>
      <vt:lpstr>Times New Roman</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Paul Hernandez Martinez</cp:lastModifiedBy>
  <cp:revision>609</cp:revision>
  <dcterms:created xsi:type="dcterms:W3CDTF">2018-11-23T00:41:45Z</dcterms:created>
  <dcterms:modified xsi:type="dcterms:W3CDTF">2023-10-06T05:02:16Z</dcterms:modified>
</cp:coreProperties>
</file>